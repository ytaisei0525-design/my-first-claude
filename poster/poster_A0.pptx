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8784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8784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00" y="9288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000" y="9288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① PGD G4 の精密合成〔新〕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000" y="964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・Divergent法(全8段階)で単分散PGD G4を合成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・撹拌強化＋反応時間2倍で高世代を最適化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・収率90%, MALDI単一ピーク [M+Na]⁺=3488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10764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10764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MALDI(最適化前後) / 収率表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00" y="23184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8000" y="2318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000" y="2318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レオロジー｜自己修復性 (In vitro・目玉)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000" y="2354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・G′&gt;G″ 安定なゲルネットワーク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・大歪500%でゾル化 → 低歪で即 G′回復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・複数サイクルで再現 → 自己修復を実証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000" y="24660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000" y="24660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Time sweep / ステップ歪み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48000" y="9288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24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② ゲル化時間の制御 (In vitro)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02000" y="9648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・世代↑・PGD比↑でゲル化時間を短縮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・PG4-025: 2分 / PG3-1: 67分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・架橋点密度に依存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56000" y="10764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6000" y="10764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ゲル化時間 vs アミノ基比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248000" y="23184000"/>
            <a:ext cx="9780000" cy="1371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48000" y="2318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84000" y="2318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③ in vitro 分解性〔新〕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02000" y="23544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PBS中で分解、滞留期間を制御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・PG3-1:3日 / PG4-025:25日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数日〜数週間で任意に制御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56000" y="24660000"/>
            <a:ext cx="9564000" cy="12132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356000" y="24660000"/>
            <a:ext cx="9564000" cy="121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208000" y="9288000"/>
            <a:ext cx="9780000" cy="276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20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24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④ 生体適合性｜Live/Dead〔新〕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262000" y="9648000"/>
            <a:ext cx="9672000" cy="1584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・D1細胞を3次元ゲル内に包埋し培養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・1/5/9日とも死細胞はほぼ観察されず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・溶解後も毒性なし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化学架橋剤なしで高い細胞生存率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316000" y="11268000"/>
            <a:ext cx="9564000" cy="2552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316000" y="11268000"/>
            <a:ext cx="9564000" cy="255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Live/Dead 蛍光像
(PG3-1 / PG4-025 / PG4-0125 × 1・5・9日)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8000" y="37080000"/>
            <a:ext cx="29700000" cy="3888000"/>
          </a:xfrm>
          <a:prstGeom prst="roundRect">
            <a:avLst>
              <a:gd name="adj" fmla="val 4000"/>
            </a:avLst>
          </a:prstGeom>
          <a:solidFill>
            <a:srgbClr val="FBF3EE"/>
          </a:solidFill>
          <a:ln w="254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" y="37080000"/>
            <a:ext cx="29700000" cy="396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2000" y="37080000"/>
            <a:ext cx="29412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</a:rPr>
              <a:t>C. 実用性評価 ｜ 注入試験（In vitro → In vivo）〔新データ・目玉〕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0000" y="37548000"/>
            <a:ext cx="12337919" cy="33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0000" y="37548000"/>
            <a:ext cx="12337919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6000" y="37548000"/>
            <a:ext cx="12265919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C-1. in vitro 注入試験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4000" y="37908000"/>
            <a:ext cx="12229919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・赤色化PG4-0125をシリンジから吐出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・針内で高せん断 → ゾル化(シアシニング)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・吐出直後に即ゲル化、液だれせず形状保持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レオロジー挙動を実機操作で可視化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8000" y="39312000"/>
            <a:ext cx="12121919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8000" y="39312000"/>
            <a:ext cx="12121919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vitro 注入の連続写真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877919" y="37548000"/>
            <a:ext cx="17038080" cy="3312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2877919" y="37548000"/>
            <a:ext cx="17038080" cy="324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913919" y="37548000"/>
            <a:ext cx="1696608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C-2. in vivo マウス皮下注入試験（最重要・目玉）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931919" y="37908000"/>
            <a:ext cx="1693008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・香港大 Sang-Jin Lee 先生との共同研究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・PG4-0125(0.25 mL)をマウス背部皮下へ注入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・抵抗なく注入 → 生体内で即座に自己修復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局所に明瞭なドーム状デポを形成し実用性を実証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985919" y="39312000"/>
            <a:ext cx="1682208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985919" y="39312000"/>
            <a:ext cx="1682208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vivo マウス皮下デポ写真(大きく)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88000" y="41148000"/>
            <a:ext cx="29700000" cy="1368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6000" y="41220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6000" y="41868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