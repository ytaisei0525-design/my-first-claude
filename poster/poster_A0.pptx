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88000" y="288000"/>
            <a:ext cx="29700000" cy="2232000"/>
          </a:xfrm>
          <a:prstGeom prst="roundRect">
            <a:avLst>
              <a:gd name="adj" fmla="val 4000"/>
            </a:avLst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468000"/>
            <a:ext cx="29700000" cy="144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ポリグリセロールデンドリマーとグリコールキトサンの水素結合による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注入可能・自己修復型 超分子ハイドロゲルの創製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1944000"/>
            <a:ext cx="29700000" cy="43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E0F0"/>
                </a:solidFill>
                <a:latin typeface="Meiryo"/>
                <a:ea typeface="Meiryo"/>
              </a:rPr>
              <a:t>〇山道 大誠¹  Cho Iksung²³  田中 賢²³ （九州大学 工学部／工学府／先導物質化学研究所）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2700000"/>
            <a:ext cx="29700000" cy="432000"/>
          </a:xfrm>
          <a:prstGeom prst="rect">
            <a:avLst/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2700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Introduction ｜ 背景・着眼点・目的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化学療法の課題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・全身投与は腫瘍到達率 中央値0.7%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・骨髄抑制・脱毛など重篤な副作用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・PTXは水溶解度 &lt; 0.5 µg/mL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・可溶化剤 Cremophor EL が重篤毒性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無毒可溶化＋局所投与のDDSが必要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PTX/CrEL構造・0.7%模式図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着眼点: 2機能を1材料で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・PGD: 単分散・中間水・生体適合性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・単分子ハイドロトロープ機能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PTXを高可溶化(PEG400の約10倍)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・shear-thinning型: 注入後に自己修復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液だれせず患部に留まる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5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5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PGD構造 / 溶解度 / shear機構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0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20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4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目的・戦略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6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目的: ハイドロトロープ機能と自己修復性を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両立した注入ゲルの開発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戦略: PGD＋GCの水素結合(物理架橋)で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自発形成する超分子ハイドロゲルを利用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PGDがPTXを高濃度保持し局所徐放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31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1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PGD＋GC 超分子ゲル形成(中心図)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8000" y="8784000"/>
            <a:ext cx="29700000" cy="432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000" y="8784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Results &amp; Discussion ｜ データ（左→右で研究の流れ）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00" y="9288000"/>
            <a:ext cx="9780000" cy="396000"/>
          </a:xfrm>
          <a:prstGeom prst="rect">
            <a:avLst/>
          </a:prstGeom>
          <a:solidFill>
            <a:srgbClr val="C99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000" y="9288000"/>
            <a:ext cx="9780000" cy="39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① 合成・架橋メカニズム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248000" y="9288000"/>
            <a:ext cx="9780000" cy="39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8000" y="9288000"/>
            <a:ext cx="9780000" cy="39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② ゲル化・力学特性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208000" y="9288000"/>
            <a:ext cx="9780000" cy="39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208000" y="9288000"/>
            <a:ext cx="9780000" cy="39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③ 生体適合性(安全性)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00" y="9828000"/>
            <a:ext cx="9780000" cy="13446000"/>
          </a:xfrm>
          <a:prstGeom prst="roundRect">
            <a:avLst>
              <a:gd name="adj" fmla="val 4000"/>
            </a:avLst>
          </a:prstGeom>
          <a:solidFill>
            <a:srgbClr val="FDF0D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8000" y="9828000"/>
            <a:ext cx="9780000" cy="324000"/>
          </a:xfrm>
          <a:prstGeom prst="rect">
            <a:avLst/>
          </a:prstGeom>
          <a:solidFill>
            <a:srgbClr val="C99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4000" y="982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A. 高純度 PGD G4 の精密合成〔新〕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000" y="10188000"/>
            <a:ext cx="9672000" cy="1584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・Divergent法(全8段階)で合成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・撹拌強化＋反応時間2倍で最適化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・G3.5→G4 収率90%, 13.0 g 取得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・MALDI 単一ピーク [M+Na]⁺=3488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単分散の高品質体を確認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6000" y="11808000"/>
            <a:ext cx="9564000" cy="1135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6000" y="11808000"/>
            <a:ext cx="9564000" cy="1135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MALDI(1回目 vs 2回目) / 収率表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88000" y="23454000"/>
            <a:ext cx="9780000" cy="13446000"/>
          </a:xfrm>
          <a:prstGeom prst="roundRect">
            <a:avLst>
              <a:gd name="adj" fmla="val 4000"/>
            </a:avLst>
          </a:prstGeom>
          <a:solidFill>
            <a:srgbClr val="FDF0D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" y="23454000"/>
            <a:ext cx="9780000" cy="324000"/>
          </a:xfrm>
          <a:prstGeom prst="rect">
            <a:avLst/>
          </a:prstGeom>
          <a:solidFill>
            <a:srgbClr val="C99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4000" y="2345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B. 架橋点の同定: GCアセチル化〔新〕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000" y="23814000"/>
            <a:ext cx="9672000" cy="1584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・GCアミノ基を部分N-アセチル化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・DA↑でゲル化遅延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(DA 16.7%:1.5h → 90%:80h)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アミノ基が主架橋点と化学的に証明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アセチル化度で物性調整も可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6000" y="25434000"/>
            <a:ext cx="9564000" cy="1135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6000" y="25434000"/>
            <a:ext cx="9564000" cy="1135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DA vs ゲル化時間 / NMR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248000" y="9828000"/>
            <a:ext cx="9780000" cy="1344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248000" y="982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84000" y="982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C. ゲル化時間の制御 (In vitro)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02000" y="10188000"/>
            <a:ext cx="9672000" cy="129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・世代↑(G3→G4)で短縮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・PGD/GC比↑で短縮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・PG4-025: 2分 / PG3-1: 67分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(架橋点密度に依存)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56000" y="11520000"/>
            <a:ext cx="9564000" cy="11646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356000" y="11520000"/>
            <a:ext cx="9564000" cy="1164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ゲル化時間 vs アミノ基比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248000" y="23454000"/>
            <a:ext cx="9780000" cy="1344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48000" y="23454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84000" y="2345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D. レオロジー: 自己修復性 (目玉)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02000" y="23814000"/>
            <a:ext cx="9672000" cy="129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・G′&gt;G″ 安定なゲルネットワーク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・大歪500%でゾル化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・低歪に戻すと即 G′回復(自己修復)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・複数サイクルで再現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356000" y="25146000"/>
            <a:ext cx="9564000" cy="11646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356000" y="25146000"/>
            <a:ext cx="9564000" cy="1164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Time sweep / ステップ歪み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208000" y="9828000"/>
            <a:ext cx="9780000" cy="1344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0208000" y="982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244000" y="982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E. in vitro 分解性〔新〕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262000" y="10188000"/>
            <a:ext cx="9672000" cy="129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・37℃ PBS中の重量変化で評価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・PG3-1:3日 / PG4-0125:4日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・PG4-025:25日で完全溶解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滞留期間を数日〜数週間で制御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316000" y="11520000"/>
            <a:ext cx="9564000" cy="11646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316000" y="11520000"/>
            <a:ext cx="9564000" cy="1164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分解曲線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0208000" y="23454000"/>
            <a:ext cx="9780000" cy="1344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0208000" y="23454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244000" y="2345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F. 生体適合性 Live/Dead〔新〕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262000" y="23814000"/>
            <a:ext cx="9672000" cy="129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・D1細胞を3次元包埋し培養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・1/5/9日とも死細胞ほぼ無し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・溶解後も毒性なし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化学架橋剤なしで高生存率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316000" y="25146000"/>
            <a:ext cx="9564000" cy="11646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316000" y="25146000"/>
            <a:ext cx="9564000" cy="1164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蛍光像(PG3-1/4-025/4-0125)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8000" y="37080000"/>
            <a:ext cx="29700000" cy="3888000"/>
          </a:xfrm>
          <a:prstGeom prst="roundRect">
            <a:avLst>
              <a:gd name="adj" fmla="val 4000"/>
            </a:avLst>
          </a:prstGeom>
          <a:solidFill>
            <a:srgbClr val="FBF3EE"/>
          </a:solidFill>
          <a:ln w="254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88000" y="37080000"/>
            <a:ext cx="29700000" cy="396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2000" y="37080000"/>
            <a:ext cx="29412000" cy="39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</a:rPr>
              <a:t>C. 実用性評価 ｜ 注入試験（In vitro → In vivo）〔新データ・目玉〕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0000" y="37548000"/>
            <a:ext cx="14688000" cy="3312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60000" y="37548000"/>
            <a:ext cx="14688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96000" y="37548000"/>
            <a:ext cx="14616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C-1. in vitro 注入試験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4000" y="37908000"/>
            <a:ext cx="14580000" cy="136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・赤色化PG4-0125をシリンジから吐出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・針内で高せん断 → ゾル化(シアシニング)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・吐出直後に即ゲル化、液だれせず形状保持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レオロジー挙動を実機操作で可視化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68000" y="39312000"/>
            <a:ext cx="14472000" cy="14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8000" y="39312000"/>
            <a:ext cx="14472000" cy="14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vitro 注入の連続写真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5228000" y="37548000"/>
            <a:ext cx="14688000" cy="3312000"/>
          </a:xfrm>
          <a:prstGeom prst="roundRect">
            <a:avLst>
              <a:gd name="adj" fmla="val 4000"/>
            </a:avLst>
          </a:prstGeom>
          <a:solidFill>
            <a:srgbClr val="FFE3D3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5228000" y="37548000"/>
            <a:ext cx="14688000" cy="324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5264000" y="37548000"/>
            <a:ext cx="14616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C-2. in vivo マウス皮下注入試験（最重要）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282000" y="37908000"/>
            <a:ext cx="14580000" cy="136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・香港大 Sang-Jin Lee 先生との共同研究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・PG4-0125(0.25 mL)をマウス背部皮下へ注入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・抵抗なく注入 → 生体内で即座に自己修復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局所に明瞭なドーム状デポを形成し実用性を実証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5336000" y="39312000"/>
            <a:ext cx="14472000" cy="14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5336000" y="39312000"/>
            <a:ext cx="14472000" cy="14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vivo マウス皮下デポ写真(大きく)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88000" y="41148000"/>
            <a:ext cx="29700000" cy="1368000"/>
          </a:xfrm>
          <a:prstGeom prst="roundRect">
            <a:avLst>
              <a:gd name="adj" fmla="val 4000"/>
            </a:avLst>
          </a:prstGeom>
          <a:solidFill>
            <a:srgbClr val="D8F3DC"/>
          </a:solidFill>
          <a:ln w="1524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96000" y="41220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D6A4F"/>
                </a:solidFill>
                <a:latin typeface="Meiryo"/>
                <a:ea typeface="Meiryo"/>
              </a:rPr>
              <a:t>Conclusion:  単分散PGD G4を確立 → 水素結合で超分子ゲル形成（自己修復・分解性を制御・高生体適合性） → in vivoで局所デポを形成し実用性を実証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6000" y="41868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4A55"/>
                </a:solidFill>
                <a:latin typeface="Meiryo"/>
                <a:ea typeface="Meiryo"/>
              </a:rPr>
              <a:t>Future: PTX徐放定量(HPLC) / 担がんマウスで抗腫瘍効果 / PGD G5合成 / DSCで中間水評価　　Ref: Ooya Gels 2022 ; Cho &amp; Ooya 2018 ; Yamazaki Langmuir 2021 ほか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