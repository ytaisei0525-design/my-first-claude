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88000" y="288000"/>
            <a:ext cx="29700000" cy="2232000"/>
          </a:xfrm>
          <a:prstGeom prst="roundRect">
            <a:avLst>
              <a:gd name="adj" fmla="val 4000"/>
            </a:avLst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468000"/>
            <a:ext cx="29700000" cy="144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ポリグリセロールデンドリマーとグリコールキトサンの水素結合による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注入可能・自己修復型 超分子ハイドロゲルの創製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1944000"/>
            <a:ext cx="29700000" cy="43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E0F0"/>
                </a:solidFill>
                <a:latin typeface="Meiryo"/>
                <a:ea typeface="Meiryo"/>
              </a:rPr>
              <a:t>〇山道 大誠¹  Cho Iksung²³  田中 賢²³ （九州大学 工学部／工学府／先導物質化学研究所）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00" y="2700000"/>
            <a:ext cx="29700000" cy="432000"/>
          </a:xfrm>
          <a:prstGeom prst="rect">
            <a:avLst/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000" y="2700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Introduction ｜ 背景・着眼点・目的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00" y="3204000"/>
            <a:ext cx="9780000" cy="4176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化学療法の課題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000" y="3564000"/>
            <a:ext cx="9672000" cy="223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・全身投与は腫瘍到達率 中央値0.7%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・骨髄抑制・脱毛など重篤な副作用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・PTXは水溶解度 &lt; 0.5 µg/mL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・可溶化剤 Cremophor EL が重篤毒性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無毒可溶化＋局所投与のDDSが必要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5832000"/>
            <a:ext cx="9564000" cy="14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5832000"/>
            <a:ext cx="9564000" cy="14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PTX/CrEL構造・0.7%模式図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8000" y="3204000"/>
            <a:ext cx="9780000" cy="4176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着眼点: 2機能を1材料で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2000" y="3564000"/>
            <a:ext cx="9672000" cy="223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・PGD: 単分散・中間水・生体適合性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・単分子ハイドロトロープ機能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PTXを高可溶化(PEG400の約10倍)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・shear-thinning型: 注入後に自己修復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液だれせず患部に留まる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56000" y="5832000"/>
            <a:ext cx="9564000" cy="14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56000" y="5832000"/>
            <a:ext cx="9564000" cy="14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PGD構造 / 溶解度 / shear機構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208000" y="3204000"/>
            <a:ext cx="9780000" cy="4176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20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4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目的・戦略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62000" y="3564000"/>
            <a:ext cx="9672000" cy="223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目的: ハイドロトロープ機能と自己修復性を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両立した注入ゲルの開発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戦略: PGD＋GCの水素結合(物理架橋)で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自発形成する超分子ハイドロゲルを利用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PGDがPTXを高濃度保持し局所徐放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316000" y="5832000"/>
            <a:ext cx="9564000" cy="14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16000" y="5832000"/>
            <a:ext cx="9564000" cy="14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PGD＋GC 超分子ゲル形成(中心図)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8000" y="7560000"/>
            <a:ext cx="29700000" cy="432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2000" y="7560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Results &amp; Discussion ｜ データ（左→右で研究の流れ）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8000" y="8064000"/>
            <a:ext cx="9780000" cy="12924000"/>
          </a:xfrm>
          <a:prstGeom prst="roundRect">
            <a:avLst>
              <a:gd name="adj" fmla="val 4000"/>
            </a:avLst>
          </a:prstGeom>
          <a:solidFill>
            <a:srgbClr val="FDF0D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8000" y="8064000"/>
            <a:ext cx="9780000" cy="324000"/>
          </a:xfrm>
          <a:prstGeom prst="rect">
            <a:avLst/>
          </a:prstGeom>
          <a:solidFill>
            <a:srgbClr val="C99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4000" y="806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① PGD G4 の精密合成〔新〕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000" y="8424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・Divergent法(全8段階)で単分散PGD G4を合成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・撹拌強化＋反応時間2倍で高世代を最適化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・収率90%, MALDI単一ピーク [M+Na]⁺=3488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6000" y="9540000"/>
            <a:ext cx="9564000" cy="113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9540000"/>
            <a:ext cx="9564000" cy="113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MALDI(最適化前後) / 収率表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00" y="21168000"/>
            <a:ext cx="9780000" cy="12924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88000" y="2116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4000" y="2116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レオロジー｜自己修復性 (In vitro・目玉)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000" y="21528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・G′&gt;G″ 安定なゲルネットワーク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・大歪500%でゾル化 → 低歪で即 G′回復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・複数サイクルで再現 → 自己修復を実証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6000" y="22644000"/>
            <a:ext cx="9564000" cy="113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6000" y="22644000"/>
            <a:ext cx="9564000" cy="113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Time sweep / ステップ歪み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48000" y="8064000"/>
            <a:ext cx="9780000" cy="12924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248000" y="8064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84000" y="806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② ゲル化時間の制御 (In vitro)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02000" y="8424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・世代↑・PGD比↑でゲル化時間を短縮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・PG4-025: 2分 / PG3-1: 67分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・架橋点密度に依存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56000" y="9540000"/>
            <a:ext cx="9564000" cy="113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56000" y="9540000"/>
            <a:ext cx="9564000" cy="113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ゲル化時間 vs アミノ基比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248000" y="21168000"/>
            <a:ext cx="9780000" cy="12924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248000" y="2116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84000" y="2116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③ in vitro 分解性〔新〕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02000" y="21528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・37℃ PBS中で分解、滞留期間を制御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・PG3-1:3日 / PG4-025:25日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・→ 数日〜数週間で任意に制御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56000" y="22644000"/>
            <a:ext cx="9564000" cy="113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356000" y="22644000"/>
            <a:ext cx="9564000" cy="113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分解曲線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0208000" y="8064000"/>
            <a:ext cx="9780000" cy="12924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0208000" y="8064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44000" y="806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④ 生体適合性｜Live/Dead〔新〕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262000" y="8424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・D1細胞を3次元ゲル内に包埋し培養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・1/5/9日とも死細胞はほぼ無し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・→ 化学架橋剤なしで高生存率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316000" y="9540000"/>
            <a:ext cx="9564000" cy="113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316000" y="9540000"/>
            <a:ext cx="9564000" cy="113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Live/Dead 蛍光像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208000" y="21168000"/>
            <a:ext cx="9780000" cy="12924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0208000" y="2116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244000" y="2116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⑤ in vitro 注入試験〔新〕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262000" y="21528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・赤色化PG4-0125をシリンジから吐出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・針内でゾル化 → 吐出後に即ゲル化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・→ 液だれせず形状を保持(自己修復)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316000" y="22644000"/>
            <a:ext cx="9564000" cy="113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316000" y="22644000"/>
            <a:ext cx="9564000" cy="113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vitro 注入の連続写真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88000" y="34272000"/>
            <a:ext cx="29700000" cy="6840000"/>
          </a:xfrm>
          <a:prstGeom prst="roundRect">
            <a:avLst>
              <a:gd name="adj" fmla="val 4000"/>
            </a:avLst>
          </a:prstGeom>
          <a:solidFill>
            <a:srgbClr val="FFE3D3"/>
          </a:solidFill>
          <a:ln w="254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" y="34272000"/>
            <a:ext cx="29700000" cy="396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2000" y="34272000"/>
            <a:ext cx="29412000" cy="39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</a:rPr>
              <a:t>C. In vivo マウス皮下注入試験（実用性・目玉）〔新データ〕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8000" y="34740000"/>
            <a:ext cx="16632000" cy="630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  <a:latin typeface="Meiryo"/>
                <a:ea typeface="Meiryo"/>
              </a:rPr>
              <a:t>・香港大 Sang-Jin Lee 先生との共同研究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  <a:latin typeface="Meiryo"/>
                <a:ea typeface="Meiryo"/>
              </a:rPr>
              <a:t>・PG4-0125(0.25 mL)をマウス背部皮下へ注入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  <a:latin typeface="Meiryo"/>
                <a:ea typeface="Meiryo"/>
              </a:rPr>
              <a:t>・シアシニング性により抵抗なくスムーズに注入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  <a:latin typeface="Meiryo"/>
                <a:ea typeface="Meiryo"/>
              </a:rPr>
              <a:t>・皮下で即座に超分子ネットワークを再構築(自己修復)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22222"/>
                </a:solidFill>
                <a:latin typeface="Meiryo"/>
                <a:ea typeface="Meiryo"/>
              </a:rPr>
              <a:t>→ 局所に明瞭なドーム状デポを形成し定着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22222"/>
                </a:solidFill>
                <a:latin typeface="Meiryo"/>
                <a:ea typeface="Meiryo"/>
              </a:rPr>
              <a:t>→ 低侵襲な局所投与キャリアとしての実用性を実証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108000" y="34812000"/>
            <a:ext cx="11286000" cy="612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8108000" y="34812000"/>
            <a:ext cx="11286000" cy="612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vivo マウス皮下デポ写真(大きく)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8000" y="41292000"/>
            <a:ext cx="29700000" cy="1224000"/>
          </a:xfrm>
          <a:prstGeom prst="roundRect">
            <a:avLst>
              <a:gd name="adj" fmla="val 4000"/>
            </a:avLst>
          </a:prstGeom>
          <a:solidFill>
            <a:srgbClr val="D8F3DC"/>
          </a:solidFill>
          <a:ln w="1524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96000" y="41364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D6A4F"/>
                </a:solidFill>
                <a:latin typeface="Meiryo"/>
                <a:ea typeface="Meiryo"/>
              </a:rPr>
              <a:t>Conclusion:  単分散PGD G4を確立 → 水素結合で超分子ゲル形成（自己修復・分解性を制御・高生体適合性） → in vivoで局所デポを形成し実用性を実証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6000" y="42012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4A55"/>
                </a:solidFill>
                <a:latin typeface="Meiryo"/>
                <a:ea typeface="Meiryo"/>
              </a:rPr>
              <a:t>Future: PTX徐放定量(HPLC) / 担がんマウスで抗腫瘍効果 / PGD G5合成 / DSCで中間水評価　　Ref: Ooya Gels 2022 ; Cho &amp; Ooya 2018 ; Yamazaki Langmuir 2021 ほか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