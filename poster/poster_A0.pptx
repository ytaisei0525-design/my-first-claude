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784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784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9288000"/>
            <a:ext cx="9780000" cy="396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9288000"/>
            <a:ext cx="9780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① 合成・架橋メカニズム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8000" y="9288000"/>
            <a:ext cx="9780000" cy="39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8000" y="9288000"/>
            <a:ext cx="9780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② ゲル化・力学特性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208000" y="9288000"/>
            <a:ext cx="9780000" cy="39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08000" y="9288000"/>
            <a:ext cx="9780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③ 生体適合性・注入実証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00" y="9828000"/>
            <a:ext cx="9780000" cy="13950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8000" y="9828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000" y="982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A. 高純度 PGD G4 の精密合成〔新〕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" y="10188000"/>
            <a:ext cx="9672000" cy="158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・G3.5→G4 収率90%, 13.0 g 取得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・MALDI 単一ピーク [M+Na]⁺=3488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単分散の高品質体を確認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" y="11808000"/>
            <a:ext cx="9564000" cy="1186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" y="11808000"/>
            <a:ext cx="9564000" cy="1186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MALDI(1回目 vs 2回目) / 収率表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8000" y="23958000"/>
            <a:ext cx="9780000" cy="13950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" y="23958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4000" y="2395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B. 架橋点の同定: GCアセチル化〔新〕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000" y="24318000"/>
            <a:ext cx="9672000" cy="158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・GCアミノ基を部分N-アセチル化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・DA↑でゲル化遅延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(DA 16.7%:1.5h → 90%:80h)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アミノ基が主架橋点と化学的に証明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アセチル化度で物性調整も可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6000" y="25938000"/>
            <a:ext cx="9564000" cy="1186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6000" y="25938000"/>
            <a:ext cx="9564000" cy="1186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DA vs ゲル化時間 / NMR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248000" y="9828000"/>
            <a:ext cx="9780000" cy="13950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48000" y="982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84000" y="982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C. ゲル化時間の制御 (In vitro)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2000" y="10188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・世代↑(G3→G4)で短縮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・PGD/GC比↑で短縮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・PG4-025: 2分 / PG3-1: 67分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(架橋点密度に依存)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56000" y="11520000"/>
            <a:ext cx="9564000" cy="1215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56000" y="11520000"/>
            <a:ext cx="9564000" cy="1215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ゲル化時間 vs アミノ基比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48000" y="23958000"/>
            <a:ext cx="9780000" cy="13950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48000" y="2395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84000" y="2395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D. レオロジー: 自己修復性 (目玉)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2000" y="24318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・G′&gt;G″ 安定なゲルネットワーク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・大歪500%でゾル化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・低歪に戻すと即 G′回復(自己修復)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・複数サイクルで再現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356000" y="25650000"/>
            <a:ext cx="9564000" cy="1215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356000" y="25650000"/>
            <a:ext cx="9564000" cy="1215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Time sweep / ステップ歪み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208000" y="9828000"/>
            <a:ext cx="9780000" cy="9240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208000" y="982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244000" y="982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E. in vitro 分解性〔新〕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262000" y="10188000"/>
            <a:ext cx="9672000" cy="86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PBS中の重量変化で評価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・PG3-1:3日 / PG4-0125:4日 / PG4-025:25日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滞留期間を数日〜数週間で制御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316000" y="11088000"/>
            <a:ext cx="9564000" cy="787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316000" y="11088000"/>
            <a:ext cx="9564000" cy="787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208000" y="19248000"/>
            <a:ext cx="9780000" cy="9240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0208000" y="1924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244000" y="1924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F. 生体適合性 Live/Dead〔新〕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262000" y="19608000"/>
            <a:ext cx="9672000" cy="86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・D1細胞を3次元包埋し培養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・1/5/9日とも死細胞ほぼ無し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化学架橋剤なしで高生存率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316000" y="20508000"/>
            <a:ext cx="9564000" cy="787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316000" y="20508000"/>
            <a:ext cx="9564000" cy="787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蛍光像(PG3-1/4-025/4-0125)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208000" y="28668000"/>
            <a:ext cx="9780000" cy="9240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208000" y="2866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244000" y="2866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G. in vitro 注入試験〔新〕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262000" y="29028000"/>
            <a:ext cx="9672000" cy="86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・赤色化PG4-0125をシリンジ吐出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・針内でゾル化→吐出後に即ゲル化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液だれせず形状を保持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316000" y="29927999"/>
            <a:ext cx="9564000" cy="787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316000" y="29927999"/>
            <a:ext cx="9564000" cy="787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注入の連続写真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88000" y="38088000"/>
            <a:ext cx="29700000" cy="2808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88000" y="38088000"/>
            <a:ext cx="29700000" cy="396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2000" y="38088000"/>
            <a:ext cx="29412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</a:rPr>
              <a:t>C. In vivo 評価 ｜ マウス皮下注入試験（最重要・目玉）〔新データ〕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2000" y="38556000"/>
            <a:ext cx="17820000" cy="22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先生との共同研究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・PG4-0125(0.25 mL)をマウス背部皮下へ注入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・抵抗なくスムーズに注入 → 生体内で即座に自己修復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2222"/>
                </a:solidFill>
                <a:latin typeface="Meiryo"/>
                <a:ea typeface="Meiryo"/>
              </a:rPr>
              <a:t>→ 局所に明瞭なドーム状デポを形成。低侵襲な局所投与キャリアの実用性を実証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999000" y="38592000"/>
            <a:ext cx="10395000" cy="216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8999000" y="38592000"/>
            <a:ext cx="10395000" cy="216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vivo マウス皮下デポ写真(大きく)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88000" y="41076000"/>
            <a:ext cx="29700000" cy="1440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96000" y="41148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6000" y="41796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