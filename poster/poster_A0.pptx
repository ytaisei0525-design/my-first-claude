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000" y="288000"/>
            <a:ext cx="29700000" cy="2232000"/>
          </a:xfrm>
          <a:prstGeom prst="roundRect">
            <a:avLst>
              <a:gd name="adj" fmla="val 4000"/>
            </a:avLst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468000"/>
            <a:ext cx="29700000" cy="14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eiryo"/>
                <a:ea typeface="Meiryo"/>
              </a:rPr>
              <a:t>ポリグリセロールデンドリマーとグリコールキトサンの水素結合による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eiryo"/>
                <a:ea typeface="Meiryo"/>
              </a:rPr>
              <a:t>注入可能・自己修復型 超分子ハイドロゲルの創製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944000"/>
            <a:ext cx="2970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FE0F0"/>
                </a:solidFill>
                <a:latin typeface="Meiryo"/>
                <a:ea typeface="Meiryo"/>
              </a:rPr>
              <a:t>〇山道 大誠¹  Cho Iksung²³  田中 賢²³ （九州大学 工学部／工学府／先導物質化学研究所）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2700000"/>
            <a:ext cx="29700000" cy="4320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2700000"/>
            <a:ext cx="29412000" cy="43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</a:rPr>
              <a:t>Introduction ｜ 背景・着眼点・目的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3204000"/>
            <a:ext cx="9780000" cy="496800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3204000"/>
            <a:ext cx="9780000" cy="324000"/>
          </a:xfrm>
          <a:prstGeom prst="rect">
            <a:avLst/>
          </a:prstGeom>
          <a:solidFill>
            <a:srgbClr val="4A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3204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化学療法の課題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" y="3564000"/>
            <a:ext cx="9672000" cy="25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・全身投与は腫瘍到達率 中央値0.7%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・骨髄抑制・脱毛など重篤な副作用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・PTXは水溶解度 &lt; 0.5 µg/mL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・可溶化剤 Cremophor EL が重篤毒性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→ 無毒可溶化＋局所投与のDDSが必要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6120000"/>
            <a:ext cx="9564000" cy="1944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6120000"/>
            <a:ext cx="9564000" cy="194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PTX/CrEL構造・0.7%模式図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8000" y="3204000"/>
            <a:ext cx="9780000" cy="496800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8000" y="3204000"/>
            <a:ext cx="9780000" cy="324000"/>
          </a:xfrm>
          <a:prstGeom prst="rect">
            <a:avLst/>
          </a:prstGeom>
          <a:solidFill>
            <a:srgbClr val="4A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4000" y="3204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着眼点: 2機能を1材料で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2000" y="3564000"/>
            <a:ext cx="9672000" cy="25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・PGD: 単分散・中間水・生体適合性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・単分子ハイドロトロープ機能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  → PTXを高可溶化(PEG400の約10倍)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・shear-thinning型: 注入後に自己修復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  → 液だれせず患部に留まる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56000" y="6120000"/>
            <a:ext cx="9564000" cy="1944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6000" y="6120000"/>
            <a:ext cx="9564000" cy="194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PGD構造 / 溶解度 / shear機構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08000" y="3204000"/>
            <a:ext cx="9780000" cy="496800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208000" y="3204000"/>
            <a:ext cx="9780000" cy="324000"/>
          </a:xfrm>
          <a:prstGeom prst="rect">
            <a:avLst/>
          </a:prstGeom>
          <a:solidFill>
            <a:srgbClr val="4A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44000" y="3204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目的・戦略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62000" y="3564000"/>
            <a:ext cx="9672000" cy="25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目的: ハイドロトロープ機能と自己修復性を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両立した注入ゲルの開発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戦略: PGD＋GCの水素結合(物理架橋)で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自発形成する超分子ハイドロゲルを利用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→ PGDがPTXを高濃度保持し局所徐放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16000" y="6120000"/>
            <a:ext cx="9564000" cy="1944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16000" y="6120000"/>
            <a:ext cx="9564000" cy="194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PGD＋GC 超分子ゲル形成(中心図)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00" y="8352000"/>
            <a:ext cx="29700000" cy="432000"/>
          </a:xfrm>
          <a:prstGeom prst="rect">
            <a:avLst/>
          </a:prstGeom>
          <a:solidFill>
            <a:srgbClr val="33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8352000"/>
            <a:ext cx="29412000" cy="43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Meiryo"/>
                <a:ea typeface="Meiryo"/>
              </a:rPr>
              <a:t>Results &amp; Discussion ｜ データ（左→右で研究の流れ）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8000" y="8856000"/>
            <a:ext cx="9780000" cy="10632000"/>
          </a:xfrm>
          <a:prstGeom prst="roundRect">
            <a:avLst>
              <a:gd name="adj" fmla="val 4000"/>
            </a:avLst>
          </a:prstGeom>
          <a:solidFill>
            <a:srgbClr val="FDF0D5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000" y="8856000"/>
            <a:ext cx="9780000" cy="324000"/>
          </a:xfrm>
          <a:prstGeom prst="rect">
            <a:avLst/>
          </a:prstGeom>
          <a:solidFill>
            <a:srgbClr val="C99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000" y="8856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① PGD G4 の精密合成〔新〕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000" y="9216000"/>
            <a:ext cx="9672000" cy="9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・Divergent法(全8段階)で単分散PGD G4を合成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・撹拌強化＋反応時間2倍で高世代を最適化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・収率90%, MALDI単一ピーク [M+Na]⁺=3488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" y="10187999"/>
            <a:ext cx="9564000" cy="9192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" y="10187999"/>
            <a:ext cx="9564000" cy="919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MALDI(最適化前後) / 収率表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00" y="19667999"/>
            <a:ext cx="9780000" cy="10632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8000" y="19667999"/>
            <a:ext cx="9780000" cy="32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000" y="19667999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② 自己修復性 (レオロジー)〔目玉〕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000" y="20027999"/>
            <a:ext cx="9672000" cy="9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・せん断除去で G′ が即座に回復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・元の強固なゲル構造へ再構築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・複数サイクルで再現性よく回復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6000" y="20999999"/>
            <a:ext cx="9564000" cy="9192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6000" y="20999999"/>
            <a:ext cx="9564000" cy="919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ステップ歪みサイクル (G′/G″)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8000" y="30480000"/>
            <a:ext cx="9780000" cy="10632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0" y="30480000"/>
            <a:ext cx="9780000" cy="32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000" y="30480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③ シアシニング性 (レオロジー)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000" y="30840000"/>
            <a:ext cx="9672000" cy="9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・高せん断でゲルが流動化(ゾル化)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・粘度が急低下 → 注射針を通過可能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・大歪500%で G′&lt;G″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6000" y="31812000"/>
            <a:ext cx="9564000" cy="9192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6000" y="31812000"/>
            <a:ext cx="9564000" cy="919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せん断速度-粘度 / 大歪での G′低下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8000" y="8856000"/>
            <a:ext cx="9780000" cy="16038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48000" y="8856000"/>
            <a:ext cx="9780000" cy="32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4000" y="8856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④ In vitro 安全性｜Live/Dead〔新〕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2000" y="9216000"/>
            <a:ext cx="9672000" cy="129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・D1細胞を3次元ゲル内に包埋し培養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・1/5/9日とも死細胞はほぼ観察されず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・溶解後も毒性なし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・→ 化学架橋剤なしで高い細胞生存率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56000" y="10548000"/>
            <a:ext cx="9564000" cy="14238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56000" y="10548000"/>
            <a:ext cx="9564000" cy="14238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Live/Dead 蛍光像
(PG3-1 / PG4-025 / PG4-0125 ×1・5・9日)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8000" y="25074000"/>
            <a:ext cx="9780000" cy="16038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48000" y="25074000"/>
            <a:ext cx="9780000" cy="324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84000" y="25074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⑤ In vitro 分解性〔新〕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02000" y="25434000"/>
            <a:ext cx="9672000" cy="129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・37℃ PBS中の重量変化で分解を評価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・PG3-1:3日 / PG4-0125:4日 / PG4-025:25日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・世代・混合比で滞留期間を制御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・→ 数日〜数週間で任意に制御可能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56000" y="26766000"/>
            <a:ext cx="9564000" cy="14238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56000" y="26766000"/>
            <a:ext cx="9564000" cy="14238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分解曲線 (重量比 vs 時間)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208000" y="8856000"/>
            <a:ext cx="9780000" cy="16038000"/>
          </a:xfrm>
          <a:prstGeom prst="roundRect">
            <a:avLst>
              <a:gd name="adj" fmla="val 4000"/>
            </a:avLst>
          </a:prstGeom>
          <a:solidFill>
            <a:srgbClr val="FFE3D3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208000" y="8856000"/>
            <a:ext cx="9780000" cy="324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44000" y="8856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⑥ 注入試験 (In vitro &amp; In vivo)〔新〕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262000" y="9216000"/>
            <a:ext cx="9672000" cy="129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・in vitro: 赤色化ゲルをシリンジ吐出→即ゲル化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・in vivo: マウス背部皮下へ注入(0.25 mL)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・抵抗なく注入→局所にドーム状デポを形成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・香港大 Sang-Jin Lee 先生と共同研究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316000" y="10548000"/>
            <a:ext cx="9564000" cy="14238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316000" y="10548000"/>
            <a:ext cx="9564000" cy="14238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in vitro 注入写真 / in vivo マウス皮下デポ写真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208000" y="25074000"/>
            <a:ext cx="9780000" cy="16038000"/>
          </a:xfrm>
          <a:prstGeom prst="roundRect">
            <a:avLst>
              <a:gd name="adj" fmla="val 4000"/>
            </a:avLst>
          </a:prstGeom>
          <a:solidFill>
            <a:srgbClr val="FFE3D3"/>
          </a:solidFill>
          <a:ln w="12700">
            <a:solidFill>
              <a:srgbClr val="90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0208000" y="25074000"/>
            <a:ext cx="9780000" cy="324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244000" y="25074000"/>
            <a:ext cx="9708000" cy="324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⑦ In vivo 分解試験 (H&amp;E染色)〔要データ〕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62000" y="25434000"/>
            <a:ext cx="9672000" cy="129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・皮下デポの経時的な分解・吸収を評価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・H&amp;E染色で組織反応・分解挙動を観察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・(生分解性・生体適合性を組織学的に確認)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  <a:latin typeface="Meiryo"/>
                <a:ea typeface="Meiryo"/>
              </a:rPr>
              <a:t>※元データは別途ご提供をお願いします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316000" y="26766000"/>
            <a:ext cx="9564000" cy="14238000"/>
          </a:xfrm>
          <a:prstGeom prst="rect">
            <a:avLst/>
          </a:prstGeom>
          <a:solidFill>
            <a:srgbClr val="F0F3F6"/>
          </a:solidFill>
          <a:ln w="12700">
            <a:solidFill>
              <a:srgbClr val="B0BC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316000" y="26766000"/>
            <a:ext cx="9564000" cy="14238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0BCC7"/>
                </a:solidFill>
                <a:latin typeface="Meiryo"/>
                <a:ea typeface="Meiryo"/>
              </a:rPr>
              <a:t>【図を差し込み】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84"/>
                </a:solidFill>
                <a:latin typeface="Meiryo"/>
                <a:ea typeface="Meiryo"/>
              </a:rPr>
              <a:t>図: H&amp;E染色 組織像 (経時)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88000" y="41292000"/>
            <a:ext cx="29700000" cy="1224000"/>
          </a:xfrm>
          <a:prstGeom prst="roundRect">
            <a:avLst>
              <a:gd name="adj" fmla="val 4000"/>
            </a:avLst>
          </a:prstGeom>
          <a:solidFill>
            <a:srgbClr val="D8F3DC"/>
          </a:solidFill>
          <a:ln w="1524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6000" y="41364000"/>
            <a:ext cx="29484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A4F"/>
                </a:solidFill>
                <a:latin typeface="Meiryo"/>
                <a:ea typeface="Meiryo"/>
              </a:rPr>
              <a:t>Conclusion:  単分散PGD G4を確立 → 水素結合で超分子ゲル形成（自己修復・分解性を制御・高生体適合性） → in vivoで局所デポを形成し実用性を実証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6000" y="42012000"/>
            <a:ext cx="29484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A55"/>
                </a:solidFill>
                <a:latin typeface="Meiryo"/>
                <a:ea typeface="Meiryo"/>
              </a:rPr>
              <a:t>Future: PTX徐放定量(HPLC) / 担がんマウスで抗腫瘍効果 / PGD G5合成 / DSCで中間水評価　　Ref: Ooya Gels 2022 ; Cho &amp; Ooya 2018 ; Yamazaki Langmuir 2021 ほか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