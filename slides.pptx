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37</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16–32</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34–37</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37</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37</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37</a:t>
            </a:r>
          </a:p>
        </p:txBody>
      </p:sp>
      <p:sp>
        <p:nvSpPr>
          <p:cNvPr id="10" name="Rounded Rectangle 9"/>
          <p:cNvSpPr/>
          <p:nvPr/>
        </p:nvSpPr>
        <p:spPr>
          <a:xfrm>
            <a:off x="365760"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長期遅延剤</a:t>
            </a:r>
          </a:p>
        </p:txBody>
      </p:sp>
      <p:sp>
        <p:nvSpPr>
          <p:cNvPr id="13" name="TextBox 12"/>
          <p:cNvSpPr txBox="1"/>
          <p:nvPr/>
        </p:nvSpPr>
        <p:spPr>
          <a:xfrm>
            <a:off x="566928"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Long-term retardant</a:t>
            </a:r>
          </a:p>
        </p:txBody>
      </p:sp>
      <p:sp>
        <p:nvSpPr>
          <p:cNvPr id="14" name="Rectangle 13"/>
          <p:cNvSpPr/>
          <p:nvPr/>
        </p:nvSpPr>
        <p:spPr>
          <a:xfrm>
            <a:off x="566928"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16" name="TextBox 15"/>
          <p:cNvSpPr txBox="1"/>
          <p:nvPr/>
        </p:nvSpPr>
        <p:spPr>
          <a:xfrm>
            <a:off x="566928"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リン酸アンモニウム等の化学物質</a:t>
            </a:r>
          </a:p>
        </p:txBody>
      </p:sp>
      <p:sp>
        <p:nvSpPr>
          <p:cNvPr id="17" name="TextBox 16"/>
          <p:cNvSpPr txBox="1"/>
          <p:nvPr/>
        </p:nvSpPr>
        <p:spPr>
          <a:xfrm>
            <a:off x="566928"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18" name="TextBox 17"/>
          <p:cNvSpPr txBox="1"/>
          <p:nvPr/>
        </p:nvSpPr>
        <p:spPr>
          <a:xfrm>
            <a:off x="566928"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残留物がある限り効果が持続</a:t>
            </a:r>
          </a:p>
        </p:txBody>
      </p:sp>
      <p:sp>
        <p:nvSpPr>
          <p:cNvPr id="19" name="TextBox 18"/>
          <p:cNvSpPr txBox="1"/>
          <p:nvPr/>
        </p:nvSpPr>
        <p:spPr>
          <a:xfrm>
            <a:off x="566928"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20" name="TextBox 19"/>
          <p:cNvSpPr txBox="1"/>
          <p:nvPr/>
        </p:nvSpPr>
        <p:spPr>
          <a:xfrm>
            <a:off x="566928"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化学物質が対象物に残留する</a:t>
            </a:r>
          </a:p>
        </p:txBody>
      </p:sp>
      <p:sp>
        <p:nvSpPr>
          <p:cNvPr id="21" name="Rounded Rectangle 20"/>
          <p:cNvSpPr/>
          <p:nvPr/>
        </p:nvSpPr>
        <p:spPr>
          <a:xfrm>
            <a:off x="4252874"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54042"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泡消火剤</a:t>
            </a:r>
          </a:p>
        </p:txBody>
      </p:sp>
      <p:sp>
        <p:nvSpPr>
          <p:cNvPr id="24" name="TextBox 23"/>
          <p:cNvSpPr txBox="1"/>
          <p:nvPr/>
        </p:nvSpPr>
        <p:spPr>
          <a:xfrm>
            <a:off x="4454042"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Foam suppressant</a:t>
            </a:r>
          </a:p>
        </p:txBody>
      </p:sp>
      <p:sp>
        <p:nvSpPr>
          <p:cNvPr id="25" name="Rectangle 24"/>
          <p:cNvSpPr/>
          <p:nvPr/>
        </p:nvSpPr>
        <p:spPr>
          <a:xfrm>
            <a:off x="4454042"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4042"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27" name="TextBox 26"/>
          <p:cNvSpPr txBox="1"/>
          <p:nvPr/>
        </p:nvSpPr>
        <p:spPr>
          <a:xfrm>
            <a:off x="4454042"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界面活性剤（旧来はフッ素系）</a:t>
            </a:r>
          </a:p>
        </p:txBody>
      </p:sp>
      <p:sp>
        <p:nvSpPr>
          <p:cNvPr id="28" name="TextBox 27"/>
          <p:cNvSpPr txBox="1"/>
          <p:nvPr/>
        </p:nvSpPr>
        <p:spPr>
          <a:xfrm>
            <a:off x="4454042"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29" name="TextBox 28"/>
          <p:cNvSpPr txBox="1"/>
          <p:nvPr/>
        </p:nvSpPr>
        <p:spPr>
          <a:xfrm>
            <a:off x="4454042"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水分保持 15〜30分（短期的）</a:t>
            </a:r>
          </a:p>
        </p:txBody>
      </p:sp>
      <p:sp>
        <p:nvSpPr>
          <p:cNvPr id="30" name="TextBox 29"/>
          <p:cNvSpPr txBox="1"/>
          <p:nvPr/>
        </p:nvSpPr>
        <p:spPr>
          <a:xfrm>
            <a:off x="4454042"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31" name="TextBox 30"/>
          <p:cNvSpPr txBox="1"/>
          <p:nvPr/>
        </p:nvSpPr>
        <p:spPr>
          <a:xfrm>
            <a:off x="4454042"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乾燥で効果消失／フッ素系は生体蓄積・環境毒性</a:t>
            </a:r>
          </a:p>
        </p:txBody>
      </p:sp>
      <p:sp>
        <p:nvSpPr>
          <p:cNvPr id="32" name="Rounded Rectangle 31"/>
          <p:cNvSpPr/>
          <p:nvPr/>
        </p:nvSpPr>
        <p:spPr>
          <a:xfrm>
            <a:off x="8139988" y="859536"/>
            <a:ext cx="3685946" cy="497433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1156" y="1133856"/>
            <a:ext cx="3283610" cy="365760"/>
          </a:xfrm>
          <a:prstGeom prst="rect">
            <a:avLst/>
          </a:prstGeom>
          <a:noFill/>
        </p:spPr>
        <p:txBody>
          <a:bodyPr wrap="square" anchor="t" lIns="36000" rIns="36000" tIns="18000" bIns="18000">
            <a:spAutoFit/>
          </a:bodyPr>
          <a:lstStyle/>
          <a:p>
            <a:pPr algn="l"/>
            <a:r>
              <a:rPr sz="1800" b="1" i="0">
                <a:solidFill>
                  <a:srgbClr val="FFFFFF"/>
                </a:solidFill>
                <a:latin typeface="Noto Sans JP"/>
              </a:rPr>
              <a:t>水強化ゲル（WEG）</a:t>
            </a:r>
          </a:p>
        </p:txBody>
      </p:sp>
      <p:sp>
        <p:nvSpPr>
          <p:cNvPr id="35" name="TextBox 34"/>
          <p:cNvSpPr txBox="1"/>
          <p:nvPr/>
        </p:nvSpPr>
        <p:spPr>
          <a:xfrm>
            <a:off x="8341156" y="1536192"/>
            <a:ext cx="3283610" cy="237744"/>
          </a:xfrm>
          <a:prstGeom prst="rect">
            <a:avLst/>
          </a:prstGeom>
          <a:noFill/>
        </p:spPr>
        <p:txBody>
          <a:bodyPr wrap="square" anchor="t" lIns="36000" rIns="36000" tIns="18000" bIns="18000">
            <a:spAutoFit/>
          </a:bodyPr>
          <a:lstStyle/>
          <a:p>
            <a:pPr algn="l"/>
            <a:r>
              <a:rPr sz="1000" b="0" i="1">
                <a:solidFill>
                  <a:srgbClr val="A0B8D0"/>
                </a:solidFill>
                <a:latin typeface="Noto Sans JP"/>
              </a:rPr>
              <a:t>Water-enhancing gel</a:t>
            </a:r>
          </a:p>
        </p:txBody>
      </p:sp>
      <p:sp>
        <p:nvSpPr>
          <p:cNvPr id="36" name="Rectangle 35"/>
          <p:cNvSpPr/>
          <p:nvPr/>
        </p:nvSpPr>
        <p:spPr>
          <a:xfrm>
            <a:off x="8341156" y="1865376"/>
            <a:ext cx="3283610" cy="13716"/>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41156" y="201168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主成分</a:t>
            </a:r>
          </a:p>
        </p:txBody>
      </p:sp>
      <p:sp>
        <p:nvSpPr>
          <p:cNvPr id="38" name="TextBox 37"/>
          <p:cNvSpPr txBox="1"/>
          <p:nvPr/>
        </p:nvSpPr>
        <p:spPr>
          <a:xfrm>
            <a:off x="8341156" y="223113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高吸水性ポリマー（環境配慮型）</a:t>
            </a:r>
          </a:p>
        </p:txBody>
      </p:sp>
      <p:sp>
        <p:nvSpPr>
          <p:cNvPr id="39" name="TextBox 38"/>
          <p:cNvSpPr txBox="1"/>
          <p:nvPr/>
        </p:nvSpPr>
        <p:spPr>
          <a:xfrm>
            <a:off x="8341156" y="274320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効果・保持</a:t>
            </a:r>
          </a:p>
        </p:txBody>
      </p:sp>
      <p:sp>
        <p:nvSpPr>
          <p:cNvPr id="40" name="TextBox 39"/>
          <p:cNvSpPr txBox="1"/>
          <p:nvPr/>
        </p:nvSpPr>
        <p:spPr>
          <a:xfrm>
            <a:off x="8341156" y="296265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水分保持 30〜60分・建物保護に有効</a:t>
            </a:r>
          </a:p>
        </p:txBody>
      </p:sp>
      <p:sp>
        <p:nvSpPr>
          <p:cNvPr id="41" name="TextBox 40"/>
          <p:cNvSpPr txBox="1"/>
          <p:nvPr/>
        </p:nvSpPr>
        <p:spPr>
          <a:xfrm>
            <a:off x="8341156" y="3493008"/>
            <a:ext cx="3283610" cy="219456"/>
          </a:xfrm>
          <a:prstGeom prst="rect">
            <a:avLst/>
          </a:prstGeom>
          <a:noFill/>
        </p:spPr>
        <p:txBody>
          <a:bodyPr wrap="square" anchor="t" lIns="36000" rIns="36000" tIns="18000" bIns="18000">
            <a:spAutoFit/>
          </a:bodyPr>
          <a:lstStyle/>
          <a:p>
            <a:pPr algn="l"/>
            <a:r>
              <a:rPr sz="1000" b="1" i="0">
                <a:solidFill>
                  <a:srgbClr val="D4A574"/>
                </a:solidFill>
                <a:latin typeface="Noto Sans JP"/>
              </a:rPr>
              <a:t>課題</a:t>
            </a:r>
          </a:p>
        </p:txBody>
      </p:sp>
      <p:sp>
        <p:nvSpPr>
          <p:cNvPr id="42" name="TextBox 41"/>
          <p:cNvSpPr txBox="1"/>
          <p:nvPr/>
        </p:nvSpPr>
        <p:spPr>
          <a:xfrm>
            <a:off x="8341156" y="3712464"/>
            <a:ext cx="3283610" cy="1956816"/>
          </a:xfrm>
          <a:prstGeom prst="rect">
            <a:avLst/>
          </a:prstGeom>
          <a:noFill/>
        </p:spPr>
        <p:txBody>
          <a:bodyPr wrap="square" anchor="t" lIns="36000" rIns="36000" tIns="18000" bIns="18000">
            <a:spAutoFit/>
          </a:bodyPr>
          <a:lstStyle/>
          <a:p>
            <a:pPr algn="l"/>
            <a:r>
              <a:rPr sz="1200" b="1" i="0">
                <a:solidFill>
                  <a:srgbClr val="FFFFFF"/>
                </a:solidFill>
                <a:latin typeface="Noto Sans JP"/>
              </a:rPr>
              <a:t>高温・強風で乾燥すると効果を完全に喪失</a:t>
            </a:r>
          </a:p>
        </p:txBody>
      </p:sp>
      <p:sp>
        <p:nvSpPr>
          <p:cNvPr id="43" name="Rounded Rectangle 42"/>
          <p:cNvSpPr/>
          <p:nvPr/>
        </p:nvSpPr>
        <p:spPr>
          <a:xfrm>
            <a:off x="365760" y="5998464"/>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5760" y="5998464"/>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998464"/>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6" name="TextBox 45"/>
          <p:cNvSpPr txBox="1"/>
          <p:nvPr/>
        </p:nvSpPr>
        <p:spPr>
          <a:xfrm>
            <a:off x="960120" y="5998464"/>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37</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37</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37</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37</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37</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37</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37</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37</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37</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37</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37</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37</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37</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37</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37</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37</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37</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37</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37</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37</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37</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37</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37</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37</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37</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37</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