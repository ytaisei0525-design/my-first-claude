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36</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16–33</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35–36</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36</a:t>
            </a:r>
          </a:p>
        </p:txBody>
      </p:sp>
      <p:sp>
        <p:nvSpPr>
          <p:cNvPr id="10" name="Rounded Rectangle 9"/>
          <p:cNvSpPr/>
          <p:nvPr/>
        </p:nvSpPr>
        <p:spPr>
          <a:xfrm>
            <a:off x="365760"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042416"/>
            <a:ext cx="2276996" cy="777240"/>
          </a:xfrm>
          <a:prstGeom prst="rect">
            <a:avLst/>
          </a:prstGeom>
          <a:noFill/>
        </p:spPr>
        <p:txBody>
          <a:bodyPr wrap="square" anchor="ctr" lIns="36000" rIns="36000" tIns="18000" bIns="18000">
            <a:spAutoFit/>
          </a:bodyPr>
          <a:lstStyle/>
          <a:p>
            <a:pPr algn="ctr"/>
            <a:r>
              <a:rPr sz="4600" b="1" i="0">
                <a:solidFill>
                  <a:srgbClr val="1E293B"/>
                </a:solidFill>
                <a:latin typeface="Noto Sans JP"/>
              </a:rPr>
              <a:t>5</a:t>
            </a:r>
            <a:r>
              <a:rPr sz="2000" b="0" i="0">
                <a:solidFill>
                  <a:srgbClr val="475569"/>
                </a:solidFill>
                <a:latin typeface="Noto Sans JP"/>
              </a:rPr>
              <a:t>倍</a:t>
            </a:r>
          </a:p>
        </p:txBody>
      </p:sp>
      <p:sp>
        <p:nvSpPr>
          <p:cNvPr id="12" name="TextBox 11"/>
          <p:cNvSpPr txBox="1"/>
          <p:nvPr/>
        </p:nvSpPr>
        <p:spPr>
          <a:xfrm>
            <a:off x="457200"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大規模山火事の増加</a:t>
            </a:r>
          </a:p>
        </p:txBody>
      </p:sp>
      <p:sp>
        <p:nvSpPr>
          <p:cNvPr id="13" name="TextBox 12"/>
          <p:cNvSpPr txBox="1"/>
          <p:nvPr/>
        </p:nvSpPr>
        <p:spPr>
          <a:xfrm>
            <a:off x="457200"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過去30年で焼失面積拡大</a:t>
            </a:r>
          </a:p>
        </p:txBody>
      </p:sp>
      <p:sp>
        <p:nvSpPr>
          <p:cNvPr id="14" name="Rounded Rectangle 13"/>
          <p:cNvSpPr/>
          <p:nvPr/>
        </p:nvSpPr>
        <p:spPr>
          <a:xfrm>
            <a:off x="2734196"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4196" y="1042416"/>
            <a:ext cx="2276996" cy="777240"/>
          </a:xfrm>
          <a:prstGeom prst="rect">
            <a:avLst/>
          </a:prstGeom>
          <a:noFill/>
        </p:spPr>
        <p:txBody>
          <a:bodyPr wrap="square" anchor="ctr" lIns="36000" rIns="36000" tIns="18000" bIns="18000">
            <a:spAutoFit/>
          </a:bodyPr>
          <a:lstStyle/>
          <a:p>
            <a:pPr algn="ctr"/>
            <a:r>
              <a:rPr sz="4000" b="1" i="0">
                <a:solidFill>
                  <a:srgbClr val="1E293B"/>
                </a:solidFill>
                <a:latin typeface="Noto Sans JP"/>
              </a:rPr>
              <a:t>400</a:t>
            </a:r>
            <a:r>
              <a:rPr sz="1800" b="0" i="0">
                <a:solidFill>
                  <a:srgbClr val="475569"/>
                </a:solidFill>
                <a:latin typeface="Noto Sans JP"/>
              </a:rPr>
              <a:t>万km²</a:t>
            </a:r>
          </a:p>
        </p:txBody>
      </p:sp>
      <p:sp>
        <p:nvSpPr>
          <p:cNvPr id="16" name="TextBox 15"/>
          <p:cNvSpPr txBox="1"/>
          <p:nvPr/>
        </p:nvSpPr>
        <p:spPr>
          <a:xfrm>
            <a:off x="2825636"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年間焼失面積（世界）</a:t>
            </a:r>
          </a:p>
        </p:txBody>
      </p:sp>
      <p:sp>
        <p:nvSpPr>
          <p:cNvPr id="17" name="TextBox 16"/>
          <p:cNvSpPr txBox="1"/>
          <p:nvPr/>
        </p:nvSpPr>
        <p:spPr>
          <a:xfrm>
            <a:off x="2825636"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気候変動・干ばつが要因</a:t>
            </a:r>
          </a:p>
        </p:txBody>
      </p:sp>
      <p:sp>
        <p:nvSpPr>
          <p:cNvPr id="18" name="Rounded Rectangle 17"/>
          <p:cNvSpPr/>
          <p:nvPr/>
        </p:nvSpPr>
        <p:spPr>
          <a:xfrm>
            <a:off x="5102632"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02632" y="1042416"/>
            <a:ext cx="2276996" cy="777240"/>
          </a:xfrm>
          <a:prstGeom prst="rect">
            <a:avLst/>
          </a:prstGeom>
          <a:noFill/>
        </p:spPr>
        <p:txBody>
          <a:bodyPr wrap="square" anchor="ctr" lIns="36000" rIns="36000" tIns="18000" bIns="18000">
            <a:spAutoFit/>
          </a:bodyPr>
          <a:lstStyle/>
          <a:p>
            <a:pPr algn="ctr"/>
            <a:r>
              <a:rPr sz="4200" b="1" i="0">
                <a:solidFill>
                  <a:srgbClr val="1E293B"/>
                </a:solidFill>
                <a:latin typeface="Noto Sans JP"/>
              </a:rPr>
              <a:t>4500</a:t>
            </a:r>
            <a:r>
              <a:rPr sz="1800" b="0" i="0">
                <a:solidFill>
                  <a:srgbClr val="475569"/>
                </a:solidFill>
                <a:latin typeface="Noto Sans JP"/>
              </a:rPr>
              <a:t>万人</a:t>
            </a:r>
          </a:p>
        </p:txBody>
      </p:sp>
      <p:sp>
        <p:nvSpPr>
          <p:cNvPr id="20" name="TextBox 19"/>
          <p:cNvSpPr txBox="1"/>
          <p:nvPr/>
        </p:nvSpPr>
        <p:spPr>
          <a:xfrm>
            <a:off x="5194072"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米国WUI居住者</a:t>
            </a:r>
          </a:p>
        </p:txBody>
      </p:sp>
      <p:sp>
        <p:nvSpPr>
          <p:cNvPr id="21" name="TextBox 20"/>
          <p:cNvSpPr txBox="1"/>
          <p:nvPr/>
        </p:nvSpPr>
        <p:spPr>
          <a:xfrm>
            <a:off x="5194072"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境界帯のリスク層</a:t>
            </a:r>
          </a:p>
        </p:txBody>
      </p:sp>
      <p:sp>
        <p:nvSpPr>
          <p:cNvPr id="22" name="Rounded Rectangle 21"/>
          <p:cNvSpPr/>
          <p:nvPr/>
        </p:nvSpPr>
        <p:spPr>
          <a:xfrm>
            <a:off x="365760" y="2596896"/>
            <a:ext cx="7013868"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724912"/>
            <a:ext cx="6648108"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用語</a:t>
            </a:r>
          </a:p>
        </p:txBody>
      </p:sp>
      <p:sp>
        <p:nvSpPr>
          <p:cNvPr id="24" name="TextBox 23"/>
          <p:cNvSpPr txBox="1"/>
          <p:nvPr/>
        </p:nvSpPr>
        <p:spPr>
          <a:xfrm>
            <a:off x="548640" y="2980944"/>
            <a:ext cx="6648108" cy="502920"/>
          </a:xfrm>
          <a:prstGeom prst="rect">
            <a:avLst/>
          </a:prstGeom>
          <a:noFill/>
        </p:spPr>
        <p:txBody>
          <a:bodyPr wrap="square" anchor="t" lIns="36000" rIns="36000" tIns="18000" bIns="18000">
            <a:spAutoFit/>
          </a:bodyPr>
          <a:lstStyle/>
          <a:p>
            <a:pPr algn="l"/>
            <a:r>
              <a:rPr sz="1300" b="0" i="0">
                <a:solidFill>
                  <a:srgbClr val="1E293B"/>
                </a:solidFill>
                <a:latin typeface="Noto Sans JP"/>
              </a:rPr>
              <a:t>WUI（Wildland-Urban Interface）：野生地と都市の境界帯。山火事被害が住宅に直接及ぶ高リスク領域</a:t>
            </a:r>
          </a:p>
        </p:txBody>
      </p:sp>
      <p:sp>
        <p:nvSpPr>
          <p:cNvPr id="25" name="Rounded Rectangle 24"/>
          <p:cNvSpPr/>
          <p:nvPr/>
        </p:nvSpPr>
        <p:spPr>
          <a:xfrm>
            <a:off x="365760" y="3675888"/>
            <a:ext cx="7013868"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675888"/>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675888"/>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3675888"/>
            <a:ext cx="6328068"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気候変動により乾燥・強風期間が延長 → 従来の消火戦略では対応が追いつかない</a:t>
            </a:r>
          </a:p>
        </p:txBody>
      </p:sp>
      <p:sp>
        <p:nvSpPr>
          <p:cNvPr id="29" name="Rounded Rectangle 28"/>
          <p:cNvSpPr/>
          <p:nvPr/>
        </p:nvSpPr>
        <p:spPr>
          <a:xfrm>
            <a:off x="7562508" y="859536"/>
            <a:ext cx="426342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32" name="TextBox 31"/>
          <p:cNvSpPr txBox="1"/>
          <p:nvPr/>
        </p:nvSpPr>
        <p:spPr>
          <a:xfrm>
            <a:off x="7562508" y="859536"/>
            <a:ext cx="426342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7562508" y="510235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直炎接触下での燃焼過程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365760"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1</a:t>
            </a:r>
          </a:p>
        </p:txBody>
      </p:sp>
      <p:sp>
        <p:nvSpPr>
          <p:cNvPr id="18" name="TextBox 17"/>
          <p:cNvSpPr txBox="1"/>
          <p:nvPr/>
        </p:nvSpPr>
        <p:spPr>
          <a:xfrm>
            <a:off x="548640"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ゲル散布</a:t>
            </a:r>
          </a:p>
        </p:txBody>
      </p:sp>
      <p:sp>
        <p:nvSpPr>
          <p:cNvPr id="19" name="TextBox 18"/>
          <p:cNvSpPr txBox="1"/>
          <p:nvPr/>
        </p:nvSpPr>
        <p:spPr>
          <a:xfrm>
            <a:off x="548640"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セルロース系ゲルを建物・植生にスプレー塗布</a:t>
            </a:r>
          </a:p>
        </p:txBody>
      </p:sp>
      <p:sp>
        <p:nvSpPr>
          <p:cNvPr id="20" name="Rounded Rectangle 19"/>
          <p:cNvSpPr/>
          <p:nvPr/>
        </p:nvSpPr>
        <p:spPr>
          <a:xfrm>
            <a:off x="3262807"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62807"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45687"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2</a:t>
            </a:r>
          </a:p>
        </p:txBody>
      </p:sp>
      <p:sp>
        <p:nvSpPr>
          <p:cNvPr id="23" name="TextBox 22"/>
          <p:cNvSpPr txBox="1"/>
          <p:nvPr/>
        </p:nvSpPr>
        <p:spPr>
          <a:xfrm>
            <a:off x="3445687"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火炎接触</a:t>
            </a:r>
          </a:p>
        </p:txBody>
      </p:sp>
      <p:sp>
        <p:nvSpPr>
          <p:cNvPr id="24" name="TextBox 23"/>
          <p:cNvSpPr txBox="1"/>
          <p:nvPr/>
        </p:nvSpPr>
        <p:spPr>
          <a:xfrm>
            <a:off x="3445687"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水分が蒸発し、ゲルが発泡しながら粒子が凝集</a:t>
            </a:r>
          </a:p>
        </p:txBody>
      </p:sp>
      <p:sp>
        <p:nvSpPr>
          <p:cNvPr id="25" name="Rounded Rectangle 24"/>
          <p:cNvSpPr/>
          <p:nvPr/>
        </p:nvSpPr>
        <p:spPr>
          <a:xfrm>
            <a:off x="6159855"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59855"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2735"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3</a:t>
            </a:r>
          </a:p>
        </p:txBody>
      </p:sp>
      <p:sp>
        <p:nvSpPr>
          <p:cNvPr id="28" name="TextBox 27"/>
          <p:cNvSpPr txBox="1"/>
          <p:nvPr/>
        </p:nvSpPr>
        <p:spPr>
          <a:xfrm>
            <a:off x="6342735"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エアロゲル形成</a:t>
            </a:r>
          </a:p>
        </p:txBody>
      </p:sp>
      <p:sp>
        <p:nvSpPr>
          <p:cNvPr id="29" name="TextBox 28"/>
          <p:cNvSpPr txBox="1"/>
          <p:nvPr/>
        </p:nvSpPr>
        <p:spPr>
          <a:xfrm>
            <a:off x="6342735"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シリカ粒子が焼結し多孔質エアロゲル層が生成</a:t>
            </a:r>
          </a:p>
        </p:txBody>
      </p:sp>
      <p:sp>
        <p:nvSpPr>
          <p:cNvPr id="30" name="Rounded Rectangle 29"/>
          <p:cNvSpPr/>
          <p:nvPr/>
        </p:nvSpPr>
        <p:spPr>
          <a:xfrm>
            <a:off x="9056903"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056903"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9783"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4</a:t>
            </a:r>
          </a:p>
        </p:txBody>
      </p:sp>
      <p:sp>
        <p:nvSpPr>
          <p:cNvPr id="33" name="TextBox 32"/>
          <p:cNvSpPr txBox="1"/>
          <p:nvPr/>
        </p:nvSpPr>
        <p:spPr>
          <a:xfrm>
            <a:off x="9239783"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継続保護</a:t>
            </a:r>
          </a:p>
        </p:txBody>
      </p:sp>
      <p:sp>
        <p:nvSpPr>
          <p:cNvPr id="34" name="TextBox 33"/>
          <p:cNvSpPr txBox="1"/>
          <p:nvPr/>
        </p:nvSpPr>
        <p:spPr>
          <a:xfrm>
            <a:off x="9239783"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超低熱伝導率の断熱層が基材を継続的に守る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36</a:t>
            </a:r>
          </a:p>
        </p:txBody>
      </p:sp>
      <p:sp>
        <p:nvSpPr>
          <p:cNvPr id="10" name="Rectangle 9"/>
          <p:cNvSpPr/>
          <p:nvPr/>
        </p:nvSpPr>
        <p:spPr>
          <a:xfrm>
            <a:off x="365760" y="859536"/>
            <a:ext cx="7472275" cy="5852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859536"/>
            <a:ext cx="1509761"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技術</a:t>
            </a:r>
          </a:p>
        </p:txBody>
      </p:sp>
      <p:sp>
        <p:nvSpPr>
          <p:cNvPr id="12" name="TextBox 11"/>
          <p:cNvSpPr txBox="1"/>
          <p:nvPr/>
        </p:nvSpPr>
        <p:spPr>
          <a:xfrm>
            <a:off x="2058401" y="859536"/>
            <a:ext cx="2043495"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主成分</a:t>
            </a:r>
          </a:p>
        </p:txBody>
      </p:sp>
      <p:sp>
        <p:nvSpPr>
          <p:cNvPr id="13" name="TextBox 12"/>
          <p:cNvSpPr txBox="1"/>
          <p:nvPr/>
        </p:nvSpPr>
        <p:spPr>
          <a:xfrm>
            <a:off x="4193337" y="859536"/>
            <a:ext cx="2043495"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特徴</a:t>
            </a:r>
          </a:p>
        </p:txBody>
      </p:sp>
      <p:sp>
        <p:nvSpPr>
          <p:cNvPr id="14" name="TextBox 13"/>
          <p:cNvSpPr txBox="1"/>
          <p:nvPr/>
        </p:nvSpPr>
        <p:spPr>
          <a:xfrm>
            <a:off x="6328273" y="859536"/>
            <a:ext cx="1509761"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限界</a:t>
            </a:r>
          </a:p>
        </p:txBody>
      </p:sp>
      <p:sp>
        <p:nvSpPr>
          <p:cNvPr id="15" name="Rectangle 14"/>
          <p:cNvSpPr/>
          <p:nvPr/>
        </p:nvSpPr>
        <p:spPr>
          <a:xfrm>
            <a:off x="365760" y="1444752"/>
            <a:ext cx="7472275" cy="585216"/>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444752"/>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水のみ</a:t>
            </a:r>
          </a:p>
        </p:txBody>
      </p:sp>
      <p:sp>
        <p:nvSpPr>
          <p:cNvPr id="17" name="TextBox 16"/>
          <p:cNvSpPr txBox="1"/>
          <p:nvPr/>
        </p:nvSpPr>
        <p:spPr>
          <a:xfrm>
            <a:off x="2058401" y="1444752"/>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H₂O</a:t>
            </a:r>
          </a:p>
        </p:txBody>
      </p:sp>
      <p:sp>
        <p:nvSpPr>
          <p:cNvPr id="18" name="TextBox 17"/>
          <p:cNvSpPr txBox="1"/>
          <p:nvPr/>
        </p:nvSpPr>
        <p:spPr>
          <a:xfrm>
            <a:off x="4193337" y="1444752"/>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蒸発潜熱による冷却</a:t>
            </a:r>
          </a:p>
        </p:txBody>
      </p:sp>
      <p:sp>
        <p:nvSpPr>
          <p:cNvPr id="19" name="TextBox 18"/>
          <p:cNvSpPr txBox="1"/>
          <p:nvPr/>
        </p:nvSpPr>
        <p:spPr>
          <a:xfrm>
            <a:off x="6328273" y="1444752"/>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即座に流失・蒸発</a:t>
            </a:r>
          </a:p>
        </p:txBody>
      </p:sp>
      <p:sp>
        <p:nvSpPr>
          <p:cNvPr id="20" name="Rectangle 19"/>
          <p:cNvSpPr/>
          <p:nvPr/>
        </p:nvSpPr>
        <p:spPr>
          <a:xfrm>
            <a:off x="365760" y="2029968"/>
            <a:ext cx="7472275" cy="585216"/>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029968"/>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Phos-Chek</a:t>
            </a:r>
          </a:p>
        </p:txBody>
      </p:sp>
      <p:sp>
        <p:nvSpPr>
          <p:cNvPr id="22" name="TextBox 21"/>
          <p:cNvSpPr txBox="1"/>
          <p:nvPr/>
        </p:nvSpPr>
        <p:spPr>
          <a:xfrm>
            <a:off x="2058401" y="2029968"/>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リン酸アンモニウム</a:t>
            </a:r>
          </a:p>
        </p:txBody>
      </p:sp>
      <p:sp>
        <p:nvSpPr>
          <p:cNvPr id="23" name="TextBox 22"/>
          <p:cNvSpPr txBox="1"/>
          <p:nvPr/>
        </p:nvSpPr>
        <p:spPr>
          <a:xfrm>
            <a:off x="4193337" y="2029968"/>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樹木・地表に直接散布</a:t>
            </a:r>
          </a:p>
        </p:txBody>
      </p:sp>
      <p:sp>
        <p:nvSpPr>
          <p:cNvPr id="24" name="TextBox 23"/>
          <p:cNvSpPr txBox="1"/>
          <p:nvPr/>
        </p:nvSpPr>
        <p:spPr>
          <a:xfrm>
            <a:off x="6328273" y="2029968"/>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土壌・水系への残留</a:t>
            </a:r>
          </a:p>
        </p:txBody>
      </p:sp>
      <p:sp>
        <p:nvSpPr>
          <p:cNvPr id="25" name="Rectangle 24"/>
          <p:cNvSpPr/>
          <p:nvPr/>
        </p:nvSpPr>
        <p:spPr>
          <a:xfrm>
            <a:off x="365760" y="2615184"/>
            <a:ext cx="7472275" cy="585216"/>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2615184"/>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a:t>
            </a:r>
          </a:p>
        </p:txBody>
      </p:sp>
      <p:sp>
        <p:nvSpPr>
          <p:cNvPr id="27" name="TextBox 26"/>
          <p:cNvSpPr txBox="1"/>
          <p:nvPr/>
        </p:nvSpPr>
        <p:spPr>
          <a:xfrm>
            <a:off x="2058401" y="2615184"/>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架橋ポリアクリレート</a:t>
            </a:r>
          </a:p>
        </p:txBody>
      </p:sp>
      <p:sp>
        <p:nvSpPr>
          <p:cNvPr id="28" name="TextBox 27"/>
          <p:cNvSpPr txBox="1"/>
          <p:nvPr/>
        </p:nvSpPr>
        <p:spPr>
          <a:xfrm>
            <a:off x="4193337" y="2615184"/>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水を高濃度に保持</a:t>
            </a:r>
          </a:p>
        </p:txBody>
      </p:sp>
      <p:sp>
        <p:nvSpPr>
          <p:cNvPr id="29" name="TextBox 28"/>
          <p:cNvSpPr txBox="1"/>
          <p:nvPr/>
        </p:nvSpPr>
        <p:spPr>
          <a:xfrm>
            <a:off x="6328273" y="2615184"/>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水蒸発後は機能消失</a:t>
            </a:r>
          </a:p>
        </p:txBody>
      </p:sp>
      <p:sp>
        <p:nvSpPr>
          <p:cNvPr id="30" name="Rectangle 29"/>
          <p:cNvSpPr/>
          <p:nvPr/>
        </p:nvSpPr>
        <p:spPr>
          <a:xfrm>
            <a:off x="365760" y="3200400"/>
            <a:ext cx="7472275" cy="585216"/>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200400"/>
            <a:ext cx="1509761" cy="585216"/>
          </a:xfrm>
          <a:prstGeom prst="rect">
            <a:avLst/>
          </a:prstGeom>
          <a:noFill/>
        </p:spPr>
        <p:txBody>
          <a:bodyPr wrap="square" anchor="ctr" lIns="36000" rIns="36000" tIns="18000" bIns="18000">
            <a:spAutoFit/>
          </a:bodyPr>
          <a:lstStyle/>
          <a:p>
            <a:pPr algn="l"/>
            <a:r>
              <a:rPr sz="1100" b="1" i="0">
                <a:solidFill>
                  <a:srgbClr val="3B5174"/>
                </a:solidFill>
                <a:latin typeface="Noto Sans JP"/>
              </a:rPr>
              <a:t>本研究 WEG</a:t>
            </a:r>
          </a:p>
        </p:txBody>
      </p:sp>
      <p:sp>
        <p:nvSpPr>
          <p:cNvPr id="32" name="TextBox 31"/>
          <p:cNvSpPr txBox="1"/>
          <p:nvPr/>
        </p:nvSpPr>
        <p:spPr>
          <a:xfrm>
            <a:off x="2058401" y="3200400"/>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セルロース系＋シリカ</a:t>
            </a:r>
          </a:p>
        </p:txBody>
      </p:sp>
      <p:sp>
        <p:nvSpPr>
          <p:cNvPr id="33" name="TextBox 32"/>
          <p:cNvSpPr txBox="1"/>
          <p:nvPr/>
        </p:nvSpPr>
        <p:spPr>
          <a:xfrm>
            <a:off x="4193337" y="3200400"/>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加熱でエアロゲル層形成</a:t>
            </a:r>
          </a:p>
        </p:txBody>
      </p:sp>
      <p:sp>
        <p:nvSpPr>
          <p:cNvPr id="34" name="TextBox 33"/>
          <p:cNvSpPr txBox="1"/>
          <p:nvPr/>
        </p:nvSpPr>
        <p:spPr>
          <a:xfrm>
            <a:off x="6328273" y="3200400"/>
            <a:ext cx="1509761" cy="585216"/>
          </a:xfrm>
          <a:prstGeom prst="rect">
            <a:avLst/>
          </a:prstGeom>
          <a:noFill/>
        </p:spPr>
        <p:txBody>
          <a:bodyPr wrap="square" anchor="ctr" lIns="36000" rIns="36000" tIns="18000" bIns="18000">
            <a:spAutoFit/>
          </a:bodyPr>
          <a:lstStyle/>
          <a:p>
            <a:pPr algn="l"/>
            <a:r>
              <a:rPr sz="1100" b="1" i="0">
                <a:solidFill>
                  <a:srgbClr val="5B8C5A"/>
                </a:solidFill>
                <a:latin typeface="Noto Sans JP"/>
              </a:rPr>
              <a:t>水蒸発後も継続保護</a:t>
            </a:r>
          </a:p>
        </p:txBody>
      </p:sp>
      <p:sp>
        <p:nvSpPr>
          <p:cNvPr id="35" name="Rounded Rectangle 34"/>
          <p:cNvSpPr/>
          <p:nvPr/>
        </p:nvSpPr>
        <p:spPr>
          <a:xfrm>
            <a:off x="365760" y="3986784"/>
            <a:ext cx="7472275" cy="6400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986784"/>
            <a:ext cx="54864" cy="64008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986784"/>
            <a:ext cx="365760" cy="64008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8" name="TextBox 37"/>
          <p:cNvSpPr txBox="1"/>
          <p:nvPr/>
        </p:nvSpPr>
        <p:spPr>
          <a:xfrm>
            <a:off x="960120" y="3986784"/>
            <a:ext cx="6786475" cy="640080"/>
          </a:xfrm>
          <a:prstGeom prst="rect">
            <a:avLst/>
          </a:prstGeom>
          <a:noFill/>
        </p:spPr>
        <p:txBody>
          <a:bodyPr wrap="square" anchor="ctr" lIns="36000" rIns="36000" tIns="18000" bIns="18000">
            <a:spAutoFit/>
          </a:bodyPr>
          <a:lstStyle/>
          <a:p>
            <a:pPr algn="l"/>
            <a:r>
              <a:rPr sz="1300" b="1" i="0">
                <a:solidFill>
                  <a:srgbClr val="FFFFFF"/>
                </a:solidFill>
                <a:latin typeface="Noto Sans JP"/>
              </a:rPr>
              <a:t>課題：既存WEGは「水のキャリア」止まりで、水分喪失と同時に保護機能が失われる</a:t>
            </a:r>
          </a:p>
        </p:txBody>
      </p:sp>
      <p:sp>
        <p:nvSpPr>
          <p:cNvPr id="39" name="Rounded Rectangle 38"/>
          <p:cNvSpPr/>
          <p:nvPr/>
        </p:nvSpPr>
        <p:spPr>
          <a:xfrm>
            <a:off x="8020915" y="859536"/>
            <a:ext cx="3805019" cy="3840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3064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3064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42" name="TextBox 41"/>
          <p:cNvSpPr txBox="1"/>
          <p:nvPr/>
        </p:nvSpPr>
        <p:spPr>
          <a:xfrm>
            <a:off x="8020915" y="859536"/>
            <a:ext cx="3805019" cy="3840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3" name="TextBox 42"/>
          <p:cNvSpPr txBox="1"/>
          <p:nvPr/>
        </p:nvSpPr>
        <p:spPr>
          <a:xfrm>
            <a:off x="8020915" y="4736592"/>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300秒後の比較：Water vs 本研究WEG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36</a:t>
            </a:r>
          </a:p>
        </p:txBody>
      </p:sp>
      <p:sp>
        <p:nvSpPr>
          <p:cNvPr id="10" name="Rounded Rectangle 9"/>
          <p:cNvSpPr/>
          <p:nvPr/>
        </p:nvSpPr>
        <p:spPr>
          <a:xfrm>
            <a:off x="365760" y="859536"/>
            <a:ext cx="3328324" cy="31089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32832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96256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DESIGN CONCEPT</a:t>
            </a:r>
          </a:p>
        </p:txBody>
      </p:sp>
      <p:sp>
        <p:nvSpPr>
          <p:cNvPr id="13" name="TextBox 12"/>
          <p:cNvSpPr txBox="1"/>
          <p:nvPr/>
        </p:nvSpPr>
        <p:spPr>
          <a:xfrm>
            <a:off x="548640" y="1261872"/>
            <a:ext cx="296256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設計コンセプト</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セルロースポリマー(HEC, MC, MHEC)が水溶性ゲル骨格を形成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コロイダルシリカ粒子(CSP)を均一分散</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加熱時に水が発泡し多孔構造を形成</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シリカ粒子が焼結しエアロゲル層に転換</a:t>
            </a:r>
          </a:p>
        </p:txBody>
      </p:sp>
      <p:sp>
        <p:nvSpPr>
          <p:cNvPr id="22" name="Rounded Rectangle 21"/>
          <p:cNvSpPr/>
          <p:nvPr/>
        </p:nvSpPr>
        <p:spPr>
          <a:xfrm>
            <a:off x="3822100" y="859536"/>
            <a:ext cx="3328324" cy="310896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4980" y="1024128"/>
            <a:ext cx="2962564" cy="219456"/>
          </a:xfrm>
          <a:prstGeom prst="rect">
            <a:avLst/>
          </a:prstGeom>
          <a:noFill/>
        </p:spPr>
        <p:txBody>
          <a:bodyPr wrap="square" anchor="t" lIns="36000" rIns="36000" tIns="18000" bIns="18000">
            <a:spAutoFit/>
          </a:bodyPr>
          <a:lstStyle/>
          <a:p>
            <a:pPr algn="l"/>
            <a:r>
              <a:rPr sz="1000" b="1" i="0">
                <a:solidFill>
                  <a:srgbClr val="A0B8D0"/>
                </a:solidFill>
                <a:latin typeface="Noto Sans JP"/>
              </a:rPr>
              <a:t>INNOVATION</a:t>
            </a:r>
          </a:p>
        </p:txBody>
      </p:sp>
      <p:sp>
        <p:nvSpPr>
          <p:cNvPr id="24" name="TextBox 23"/>
          <p:cNvSpPr txBox="1"/>
          <p:nvPr/>
        </p:nvSpPr>
        <p:spPr>
          <a:xfrm>
            <a:off x="4004980" y="1261872"/>
            <a:ext cx="2962564" cy="329184"/>
          </a:xfrm>
          <a:prstGeom prst="rect">
            <a:avLst/>
          </a:prstGeom>
          <a:noFill/>
        </p:spPr>
        <p:txBody>
          <a:bodyPr wrap="square" anchor="t" lIns="36000" rIns="36000" tIns="18000" bIns="18000">
            <a:spAutoFit/>
          </a:bodyPr>
          <a:lstStyle/>
          <a:p>
            <a:pPr algn="l"/>
            <a:r>
              <a:rPr sz="1500" b="1" i="0">
                <a:solidFill>
                  <a:srgbClr val="FFFFFF"/>
                </a:solidFill>
                <a:latin typeface="Noto Sans JP"/>
              </a:rPr>
              <a:t>3つの革新ポイント</a:t>
            </a:r>
          </a:p>
        </p:txBody>
      </p:sp>
      <p:sp>
        <p:nvSpPr>
          <p:cNvPr id="25" name="TextBox 24"/>
          <p:cNvSpPr txBox="1"/>
          <p:nvPr/>
        </p:nvSpPr>
        <p:spPr>
          <a:xfrm>
            <a:off x="4004980" y="162763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26" name="TextBox 25"/>
          <p:cNvSpPr txBox="1"/>
          <p:nvPr/>
        </p:nvSpPr>
        <p:spPr>
          <a:xfrm>
            <a:off x="4206148" y="162763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水分依存からの脱却：熱で活性化する固体保護層</a:t>
            </a:r>
          </a:p>
        </p:txBody>
      </p:sp>
      <p:sp>
        <p:nvSpPr>
          <p:cNvPr id="27" name="TextBox 26"/>
          <p:cNvSpPr txBox="1"/>
          <p:nvPr/>
        </p:nvSpPr>
        <p:spPr>
          <a:xfrm>
            <a:off x="4004980" y="190195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28" name="TextBox 27"/>
          <p:cNvSpPr txBox="1"/>
          <p:nvPr/>
        </p:nvSpPr>
        <p:spPr>
          <a:xfrm>
            <a:off x="4206148" y="190195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持続可能：天然由来・食品添加物グレード</a:t>
            </a:r>
          </a:p>
        </p:txBody>
      </p:sp>
      <p:sp>
        <p:nvSpPr>
          <p:cNvPr id="29" name="TextBox 28"/>
          <p:cNvSpPr txBox="1"/>
          <p:nvPr/>
        </p:nvSpPr>
        <p:spPr>
          <a:xfrm>
            <a:off x="4004980" y="217627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30" name="TextBox 29"/>
          <p:cNvSpPr txBox="1"/>
          <p:nvPr/>
        </p:nvSpPr>
        <p:spPr>
          <a:xfrm>
            <a:off x="4206148" y="217627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既存散布インフラと互換：噴霧可能な流体</a:t>
            </a:r>
          </a:p>
        </p:txBody>
      </p:sp>
      <p:sp>
        <p:nvSpPr>
          <p:cNvPr id="31" name="Rounded Rectangle 30"/>
          <p:cNvSpPr/>
          <p:nvPr/>
        </p:nvSpPr>
        <p:spPr>
          <a:xfrm>
            <a:off x="365760" y="4197096"/>
            <a:ext cx="678466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41970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41970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4197096"/>
            <a:ext cx="609886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"Heat-Activated Formation of Silica Aerogels"</a:t>
            </a:r>
          </a:p>
          <a:p>
            <a:pPr algn="l"/>
            <a:r>
              <a:rPr sz="1300" b="1" i="0">
                <a:solidFill>
                  <a:srgbClr val="1E293B"/>
                </a:solidFill>
                <a:latin typeface="Noto Sans JP"/>
              </a:rPr>
              <a:t>— 火炎接触をトリガーに、ゲル自身がエアロゲル断熱材へ変態する</a:t>
            </a:r>
          </a:p>
        </p:txBody>
      </p:sp>
      <p:sp>
        <p:nvSpPr>
          <p:cNvPr id="35" name="Rounded Rectangle 34"/>
          <p:cNvSpPr/>
          <p:nvPr/>
        </p:nvSpPr>
        <p:spPr>
          <a:xfrm>
            <a:off x="7333305" y="859536"/>
            <a:ext cx="4492630"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4303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4303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38" name="TextBox 37"/>
          <p:cNvSpPr txBox="1"/>
          <p:nvPr/>
        </p:nvSpPr>
        <p:spPr>
          <a:xfrm>
            <a:off x="7333305" y="859536"/>
            <a:ext cx="4492630"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333305" y="5285232"/>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シリカエアロゲル形成の3段階（プレビュー）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36</a:t>
            </a:r>
          </a:p>
        </p:txBody>
      </p:sp>
      <p:sp>
        <p:nvSpPr>
          <p:cNvPr id="10" name="Rounded Rectangle 9"/>
          <p:cNvSpPr/>
          <p:nvPr/>
        </p:nvSpPr>
        <p:spPr>
          <a:xfrm>
            <a:off x="36576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A</a:t>
            </a:r>
          </a:p>
        </p:txBody>
      </p:sp>
      <p:sp>
        <p:nvSpPr>
          <p:cNvPr id="12" name="TextBox 11"/>
          <p:cNvSpPr txBox="1"/>
          <p:nvPr/>
        </p:nvSpPr>
        <p:spPr>
          <a:xfrm>
            <a:off x="54864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HEC</a:t>
            </a:r>
          </a:p>
        </p:txBody>
      </p:sp>
      <p:sp>
        <p:nvSpPr>
          <p:cNvPr id="13" name="TextBox 12"/>
          <p:cNvSpPr txBox="1"/>
          <p:nvPr/>
        </p:nvSpPr>
        <p:spPr>
          <a:xfrm>
            <a:off x="54864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Hydroxyethyl cellulose</a:t>
            </a:r>
          </a:p>
          <a:p>
            <a:pPr algn="l"/>
            <a:r>
              <a:rPr sz="1100" b="0" i="0">
                <a:solidFill>
                  <a:srgbClr val="475569"/>
                </a:solidFill>
                <a:latin typeface="Noto Sans JP"/>
              </a:rPr>
              <a:t>ヒドロキシエチルセルロース</a:t>
            </a:r>
          </a:p>
        </p:txBody>
      </p:sp>
      <p:sp>
        <p:nvSpPr>
          <p:cNvPr id="14" name="TextBox 13"/>
          <p:cNvSpPr txBox="1"/>
          <p:nvPr/>
        </p:nvSpPr>
        <p:spPr>
          <a:xfrm>
            <a:off x="54864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ベース粘性付与</a:t>
            </a:r>
          </a:p>
        </p:txBody>
      </p:sp>
      <p:sp>
        <p:nvSpPr>
          <p:cNvPr id="15" name="Rounded Rectangle 14"/>
          <p:cNvSpPr/>
          <p:nvPr/>
        </p:nvSpPr>
        <p:spPr>
          <a:xfrm>
            <a:off x="422849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137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B</a:t>
            </a:r>
          </a:p>
        </p:txBody>
      </p:sp>
      <p:sp>
        <p:nvSpPr>
          <p:cNvPr id="17" name="TextBox 16"/>
          <p:cNvSpPr txBox="1"/>
          <p:nvPr/>
        </p:nvSpPr>
        <p:spPr>
          <a:xfrm>
            <a:off x="441137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MC</a:t>
            </a:r>
          </a:p>
        </p:txBody>
      </p:sp>
      <p:sp>
        <p:nvSpPr>
          <p:cNvPr id="18" name="TextBox 17"/>
          <p:cNvSpPr txBox="1"/>
          <p:nvPr/>
        </p:nvSpPr>
        <p:spPr>
          <a:xfrm>
            <a:off x="441137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cellulose</a:t>
            </a:r>
          </a:p>
          <a:p>
            <a:pPr algn="l"/>
            <a:r>
              <a:rPr sz="1100" b="0" i="0">
                <a:solidFill>
                  <a:srgbClr val="475569"/>
                </a:solidFill>
                <a:latin typeface="Noto Sans JP"/>
              </a:rPr>
              <a:t>メチルセルロース</a:t>
            </a:r>
          </a:p>
        </p:txBody>
      </p:sp>
      <p:sp>
        <p:nvSpPr>
          <p:cNvPr id="19" name="TextBox 18"/>
          <p:cNvSpPr txBox="1"/>
          <p:nvPr/>
        </p:nvSpPr>
        <p:spPr>
          <a:xfrm>
            <a:off x="441137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加熱時にゲル化（熱可逆性）</a:t>
            </a:r>
          </a:p>
        </p:txBody>
      </p:sp>
      <p:sp>
        <p:nvSpPr>
          <p:cNvPr id="20" name="Rounded Rectangle 19"/>
          <p:cNvSpPr/>
          <p:nvPr/>
        </p:nvSpPr>
        <p:spPr>
          <a:xfrm>
            <a:off x="809122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410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C</a:t>
            </a:r>
          </a:p>
        </p:txBody>
      </p:sp>
      <p:sp>
        <p:nvSpPr>
          <p:cNvPr id="22" name="TextBox 21"/>
          <p:cNvSpPr txBox="1"/>
          <p:nvPr/>
        </p:nvSpPr>
        <p:spPr>
          <a:xfrm>
            <a:off x="827410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MHEC</a:t>
            </a:r>
          </a:p>
        </p:txBody>
      </p:sp>
      <p:sp>
        <p:nvSpPr>
          <p:cNvPr id="23" name="TextBox 22"/>
          <p:cNvSpPr txBox="1"/>
          <p:nvPr/>
        </p:nvSpPr>
        <p:spPr>
          <a:xfrm>
            <a:off x="827410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2-hydroxyethyl cellulose</a:t>
            </a:r>
          </a:p>
          <a:p>
            <a:pPr algn="l"/>
            <a:r>
              <a:rPr sz="1100" b="0" i="0">
                <a:solidFill>
                  <a:srgbClr val="475569"/>
                </a:solidFill>
                <a:latin typeface="Noto Sans JP"/>
              </a:rPr>
              <a:t>メチル2-ヒドロキシエチルセルロース</a:t>
            </a:r>
          </a:p>
        </p:txBody>
      </p:sp>
      <p:sp>
        <p:nvSpPr>
          <p:cNvPr id="24" name="TextBox 23"/>
          <p:cNvSpPr txBox="1"/>
          <p:nvPr/>
        </p:nvSpPr>
        <p:spPr>
          <a:xfrm>
            <a:off x="827410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AとBの特性を統合</a:t>
            </a:r>
          </a:p>
        </p:txBody>
      </p:sp>
      <p:sp>
        <p:nvSpPr>
          <p:cNvPr id="25" name="Rounded Rectangle 24"/>
          <p:cNvSpPr/>
          <p:nvPr/>
        </p:nvSpPr>
        <p:spPr>
          <a:xfrm>
            <a:off x="365760" y="3054096"/>
            <a:ext cx="11460175" cy="3246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 y="316382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316382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8" name="TextBox 27"/>
          <p:cNvSpPr txBox="1"/>
          <p:nvPr/>
        </p:nvSpPr>
        <p:spPr>
          <a:xfrm>
            <a:off x="365760" y="3054096"/>
            <a:ext cx="11460175" cy="3246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9" name="TextBox 28"/>
          <p:cNvSpPr txBox="1"/>
          <p:nvPr/>
        </p:nvSpPr>
        <p:spPr>
          <a:xfrm>
            <a:off x="365760" y="633679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各ポリマーの化学構造とコロイダルシリカ(CSP)との混合スキーム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36</a:t>
            </a:r>
          </a:p>
        </p:txBody>
      </p:sp>
      <p:sp>
        <p:nvSpPr>
          <p:cNvPr id="10" name="Rounded Rectangle 9"/>
          <p:cNvSpPr/>
          <p:nvPr/>
        </p:nvSpPr>
        <p:spPr>
          <a:xfrm>
            <a:off x="365760" y="859536"/>
            <a:ext cx="5409444"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0944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04368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 RESPONSE</a:t>
            </a:r>
          </a:p>
        </p:txBody>
      </p:sp>
      <p:sp>
        <p:nvSpPr>
          <p:cNvPr id="13" name="TextBox 12"/>
          <p:cNvSpPr txBox="1"/>
          <p:nvPr/>
        </p:nvSpPr>
        <p:spPr>
          <a:xfrm>
            <a:off x="548640" y="1261872"/>
            <a:ext cx="504368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逆熱応答（LCST挙動）</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MCは冷水（&lt;20°C）に溶解し低粘度溶液を形成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加熱でLCSTを超えてゲル化</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MCのゲル化開始温度：約 50–60°C（濃度依存）</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749808" y="245059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常温では液体 → 火炎接触で即座にゲル</a:t>
            </a:r>
          </a:p>
        </p:txBody>
      </p:sp>
      <p:sp>
        <p:nvSpPr>
          <p:cNvPr id="22" name="Rounded Rectangle 21"/>
          <p:cNvSpPr/>
          <p:nvPr/>
        </p:nvSpPr>
        <p:spPr>
          <a:xfrm>
            <a:off x="365760" y="4242816"/>
            <a:ext cx="5409444"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5" name="TextBox 24"/>
          <p:cNvSpPr txBox="1"/>
          <p:nvPr/>
        </p:nvSpPr>
        <p:spPr>
          <a:xfrm>
            <a:off x="960120" y="4242816"/>
            <a:ext cx="4723644"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火炎接触初期にMCがゲル化 → CSPを固定したまま発泡構造を維持</a:t>
            </a:r>
          </a:p>
        </p:txBody>
      </p:sp>
      <p:sp>
        <p:nvSpPr>
          <p:cNvPr id="26" name="Rounded Rectangle 25"/>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8" name="TextBox 27"/>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9" name="TextBox 28"/>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30" name="Rounded Rectangle 29"/>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32" name="TextBox 31"/>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33" name="TextBox 32"/>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4" name="Rounded Rectangle 33"/>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6" name="TextBox 35"/>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7" name="TextBox 36"/>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8" name="Rounded Rectangle 37"/>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40" name="Rounded Rectangle 39"/>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42" name="TextBox 41"/>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43" name="TextBox 42"/>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4" name="TextBox 43"/>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5" name="Rounded Rectangle 44"/>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7" name="TextBox 46"/>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8" name="TextBox 47"/>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9" name="TextBox 48"/>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0" name="Rounded Rectangle 49"/>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52" name="TextBox 51"/>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53" name="TextBox 52"/>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4" name="TextBox 53"/>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5" name="Rounded Rectangle 54"/>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7" name="TextBox 56"/>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8" name="TextBox 57"/>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36</a:t>
            </a:r>
          </a:p>
        </p:txBody>
      </p:sp>
      <p:sp>
        <p:nvSpPr>
          <p:cNvPr id="10" name="Rounded Rectangle 9"/>
          <p:cNvSpPr/>
          <p:nvPr/>
        </p:nvSpPr>
        <p:spPr>
          <a:xfrm>
            <a:off x="365760"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13" name="TextBox 12"/>
          <p:cNvSpPr txBox="1"/>
          <p:nvPr/>
        </p:nvSpPr>
        <p:spPr>
          <a:xfrm>
            <a:off x="1234440"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CSP</a:t>
            </a:r>
          </a:p>
        </p:txBody>
      </p:sp>
      <p:sp>
        <p:nvSpPr>
          <p:cNvPr id="14" name="TextBox 13"/>
          <p:cNvSpPr txBox="1"/>
          <p:nvPr/>
        </p:nvSpPr>
        <p:spPr>
          <a:xfrm>
            <a:off x="1234440"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Colloidal Silica Particles</a:t>
            </a:r>
          </a:p>
        </p:txBody>
      </p:sp>
      <p:sp>
        <p:nvSpPr>
          <p:cNvPr id="15" name="TextBox 14"/>
          <p:cNvSpPr txBox="1"/>
          <p:nvPr/>
        </p:nvSpPr>
        <p:spPr>
          <a:xfrm>
            <a:off x="640080"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6" name="TextBox 15"/>
          <p:cNvSpPr txBox="1"/>
          <p:nvPr/>
        </p:nvSpPr>
        <p:spPr>
          <a:xfrm>
            <a:off x="868680"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原液：水中で12 wt%濃度のコロイド分散液</a:t>
            </a:r>
          </a:p>
        </p:txBody>
      </p:sp>
      <p:sp>
        <p:nvSpPr>
          <p:cNvPr id="17" name="TextBox 16"/>
          <p:cNvSpPr txBox="1"/>
          <p:nvPr/>
        </p:nvSpPr>
        <p:spPr>
          <a:xfrm>
            <a:off x="640080"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8" name="TextBox 17"/>
          <p:cNvSpPr txBox="1"/>
          <p:nvPr/>
        </p:nvSpPr>
        <p:spPr>
          <a:xfrm>
            <a:off x="868680"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粒子サイズ：数十nmの単分散シリカ</a:t>
            </a:r>
          </a:p>
        </p:txBody>
      </p:sp>
      <p:sp>
        <p:nvSpPr>
          <p:cNvPr id="19" name="TextBox 18"/>
          <p:cNvSpPr txBox="1"/>
          <p:nvPr/>
        </p:nvSpPr>
        <p:spPr>
          <a:xfrm>
            <a:off x="640080"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0" name="TextBox 19"/>
          <p:cNvSpPr txBox="1"/>
          <p:nvPr/>
        </p:nvSpPr>
        <p:spPr>
          <a:xfrm>
            <a:off x="868680"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配合濃度：ゲル中 5 wt%</a:t>
            </a:r>
          </a:p>
        </p:txBody>
      </p:sp>
      <p:sp>
        <p:nvSpPr>
          <p:cNvPr id="21" name="TextBox 20"/>
          <p:cNvSpPr txBox="1"/>
          <p:nvPr/>
        </p:nvSpPr>
        <p:spPr>
          <a:xfrm>
            <a:off x="640080"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2" name="TextBox 21"/>
          <p:cNvSpPr txBox="1"/>
          <p:nvPr/>
        </p:nvSpPr>
        <p:spPr>
          <a:xfrm>
            <a:off x="868680"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加熱時に焼結 → silica aerogel に変態</a:t>
            </a:r>
          </a:p>
        </p:txBody>
      </p:sp>
      <p:sp>
        <p:nvSpPr>
          <p:cNvPr id="23" name="Rounded Rectangle 22"/>
          <p:cNvSpPr/>
          <p:nvPr/>
        </p:nvSpPr>
        <p:spPr>
          <a:xfrm>
            <a:off x="6178143"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1023"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26" name="TextBox 25"/>
          <p:cNvSpPr txBox="1"/>
          <p:nvPr/>
        </p:nvSpPr>
        <p:spPr>
          <a:xfrm>
            <a:off x="7046823"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SDS（添加剤）</a:t>
            </a:r>
          </a:p>
        </p:txBody>
      </p:sp>
      <p:sp>
        <p:nvSpPr>
          <p:cNvPr id="27" name="TextBox 26"/>
          <p:cNvSpPr txBox="1"/>
          <p:nvPr/>
        </p:nvSpPr>
        <p:spPr>
          <a:xfrm>
            <a:off x="7046823"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Sodium Dodecyl Sulfate</a:t>
            </a:r>
          </a:p>
        </p:txBody>
      </p:sp>
      <p:sp>
        <p:nvSpPr>
          <p:cNvPr id="28" name="TextBox 27"/>
          <p:cNvSpPr txBox="1"/>
          <p:nvPr/>
        </p:nvSpPr>
        <p:spPr>
          <a:xfrm>
            <a:off x="6452463"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9" name="TextBox 28"/>
          <p:cNvSpPr txBox="1"/>
          <p:nvPr/>
        </p:nvSpPr>
        <p:spPr>
          <a:xfrm>
            <a:off x="6681063"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陰イオン性界面活性剤</a:t>
            </a:r>
          </a:p>
        </p:txBody>
      </p:sp>
      <p:sp>
        <p:nvSpPr>
          <p:cNvPr id="30" name="TextBox 29"/>
          <p:cNvSpPr txBox="1"/>
          <p:nvPr/>
        </p:nvSpPr>
        <p:spPr>
          <a:xfrm>
            <a:off x="6452463"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81063"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役割：発泡を促進し多孔構造を強化</a:t>
            </a:r>
          </a:p>
        </p:txBody>
      </p:sp>
      <p:sp>
        <p:nvSpPr>
          <p:cNvPr id="32" name="TextBox 31"/>
          <p:cNvSpPr txBox="1"/>
          <p:nvPr/>
        </p:nvSpPr>
        <p:spPr>
          <a:xfrm>
            <a:off x="6452463"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81063"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添加濃度：0.1 wt% ・ 0.5 wt% の2水準</a:t>
            </a:r>
          </a:p>
        </p:txBody>
      </p:sp>
      <p:sp>
        <p:nvSpPr>
          <p:cNvPr id="34" name="TextBox 33"/>
          <p:cNvSpPr txBox="1"/>
          <p:nvPr/>
        </p:nvSpPr>
        <p:spPr>
          <a:xfrm>
            <a:off x="6452463"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81063"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SEMで気泡サイズ・分布を制御確認</a:t>
            </a:r>
          </a:p>
        </p:txBody>
      </p:sp>
      <p:sp>
        <p:nvSpPr>
          <p:cNvPr id="36" name="Rounded Rectangle 35"/>
          <p:cNvSpPr/>
          <p:nvPr/>
        </p:nvSpPr>
        <p:spPr>
          <a:xfrm>
            <a:off x="365760" y="497433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497433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97433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497433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36</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4930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ポリマー種を変えて(HEC+MC vs MHEC)機能差を比較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37673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SDS濃度を2水準で発泡構造への影響を検証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04164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市販品AquaGel-Kとの直接比較</a:t>
            </a:r>
          </a:p>
        </p:txBody>
      </p:sp>
      <p:sp>
        <p:nvSpPr>
          <p:cNvPr id="39" name="Rounded Rectangle 38"/>
          <p:cNvSpPr/>
          <p:nvPr/>
        </p:nvSpPr>
        <p:spPr>
          <a:xfrm>
            <a:off x="6187287"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記法の読み方</a:t>
            </a:r>
          </a:p>
        </p:txBody>
      </p:sp>
      <p:sp>
        <p:nvSpPr>
          <p:cNvPr id="42" name="TextBox 41"/>
          <p:cNvSpPr txBox="1"/>
          <p:nvPr/>
        </p:nvSpPr>
        <p:spPr>
          <a:xfrm>
            <a:off x="6370167" y="3493008"/>
            <a:ext cx="5272887" cy="1645920"/>
          </a:xfrm>
          <a:prstGeom prst="rect">
            <a:avLst/>
          </a:prstGeom>
          <a:noFill/>
        </p:spPr>
        <p:txBody>
          <a:bodyPr wrap="square" anchor="t" lIns="36000" rIns="36000" tIns="18000" bIns="18000">
            <a:spAutoFit/>
          </a:bodyPr>
          <a:lstStyle/>
          <a:p>
            <a:pPr algn="l"/>
            <a:r>
              <a:rPr sz="1400" b="0" i="0">
                <a:solidFill>
                  <a:srgbClr val="475569"/>
                </a:solidFill>
                <a:latin typeface="Noto Sans JP"/>
              </a:rPr>
              <a:t>HEC+MC/CSP/SDS 1-5-0.1</a:t>
            </a:r>
          </a:p>
          <a:p>
            <a:pPr algn="l"/>
            <a:r>
              <a:rPr sz="1400" b="0" i="0">
                <a:solidFill>
                  <a:srgbClr val="475569"/>
                </a:solidFill>
                <a:latin typeface="Noto Sans JP"/>
              </a:rPr>
              <a:t>→ HEC+MC 1 wt% ／ CSP 5 wt% ／ SDS 0.1 wt%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36</a:t>
            </a:r>
          </a:p>
        </p:txBody>
      </p:sp>
      <p:sp>
        <p:nvSpPr>
          <p:cNvPr id="10" name="Rounded Rectangle 9"/>
          <p:cNvSpPr/>
          <p:nvPr/>
        </p:nvSpPr>
        <p:spPr>
          <a:xfrm>
            <a:off x="365760"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振動周波数掃引（G', G''）</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定常流動掃引（粘度 vs 剪断速度）</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Herschel-Bulkleyモデル適合</a:t>
            </a:r>
          </a:p>
        </p:txBody>
      </p:sp>
      <p:sp>
        <p:nvSpPr>
          <p:cNvPr id="20" name="Rounded Rectangle 19"/>
          <p:cNvSpPr/>
          <p:nvPr/>
        </p:nvSpPr>
        <p:spPr>
          <a:xfrm>
            <a:off x="4231538"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31538"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4418"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3" name="TextBox 22"/>
          <p:cNvSpPr txBox="1"/>
          <p:nvPr/>
        </p:nvSpPr>
        <p:spPr>
          <a:xfrm>
            <a:off x="4414418"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燃焼試験（Time-to-char）</a:t>
            </a:r>
          </a:p>
        </p:txBody>
      </p:sp>
      <p:sp>
        <p:nvSpPr>
          <p:cNvPr id="24" name="TextBox 23"/>
          <p:cNvSpPr txBox="1"/>
          <p:nvPr/>
        </p:nvSpPr>
        <p:spPr>
          <a:xfrm>
            <a:off x="4414418"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5" name="TextBox 24"/>
          <p:cNvSpPr txBox="1"/>
          <p:nvPr/>
        </p:nvSpPr>
        <p:spPr>
          <a:xfrm>
            <a:off x="4615586"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ブタンバーナーで木材を加熱</a:t>
            </a:r>
          </a:p>
        </p:txBody>
      </p:sp>
      <p:sp>
        <p:nvSpPr>
          <p:cNvPr id="26" name="TextBox 25"/>
          <p:cNvSpPr txBox="1"/>
          <p:nvPr/>
        </p:nvSpPr>
        <p:spPr>
          <a:xfrm>
            <a:off x="4414418"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4615586"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炭化開始までの時間を計測</a:t>
            </a:r>
          </a:p>
        </p:txBody>
      </p:sp>
      <p:sp>
        <p:nvSpPr>
          <p:cNvPr id="28" name="TextBox 27"/>
          <p:cNvSpPr txBox="1"/>
          <p:nvPr/>
        </p:nvSpPr>
        <p:spPr>
          <a:xfrm>
            <a:off x="4414418"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4615586"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120 s / 300 s時点を写真比較</a:t>
            </a:r>
          </a:p>
        </p:txBody>
      </p:sp>
      <p:sp>
        <p:nvSpPr>
          <p:cNvPr id="30" name="Rounded Rectangle 29"/>
          <p:cNvSpPr/>
          <p:nvPr/>
        </p:nvSpPr>
        <p:spPr>
          <a:xfrm>
            <a:off x="8097316"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7316"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0196"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3" name="TextBox 32"/>
          <p:cNvSpPr txBox="1"/>
          <p:nvPr/>
        </p:nvSpPr>
        <p:spPr>
          <a:xfrm>
            <a:off x="8280196"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発泡指数測定</a:t>
            </a:r>
          </a:p>
        </p:txBody>
      </p:sp>
      <p:sp>
        <p:nvSpPr>
          <p:cNvPr id="34" name="TextBox 33"/>
          <p:cNvSpPr txBox="1"/>
          <p:nvPr/>
        </p:nvSpPr>
        <p:spPr>
          <a:xfrm>
            <a:off x="8280196"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8481364"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燃焼後の発泡層厚さを計測</a:t>
            </a:r>
          </a:p>
        </p:txBody>
      </p:sp>
      <p:sp>
        <p:nvSpPr>
          <p:cNvPr id="36" name="TextBox 35"/>
          <p:cNvSpPr txBox="1"/>
          <p:nvPr/>
        </p:nvSpPr>
        <p:spPr>
          <a:xfrm>
            <a:off x="8280196"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7" name="TextBox 36"/>
          <p:cNvSpPr txBox="1"/>
          <p:nvPr/>
        </p:nvSpPr>
        <p:spPr>
          <a:xfrm>
            <a:off x="8481364"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初期厚さに対する比 = Foaming Index</a:t>
            </a:r>
          </a:p>
        </p:txBody>
      </p:sp>
      <p:sp>
        <p:nvSpPr>
          <p:cNvPr id="38" name="Rounded Rectangle 37"/>
          <p:cNvSpPr/>
          <p:nvPr/>
        </p:nvSpPr>
        <p:spPr>
          <a:xfrm>
            <a:off x="365760"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1" name="TextBox 40"/>
          <p:cNvSpPr txBox="1"/>
          <p:nvPr/>
        </p:nvSpPr>
        <p:spPr>
          <a:xfrm>
            <a:off x="548640"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SEM形態観察</a:t>
            </a:r>
          </a:p>
        </p:txBody>
      </p:sp>
      <p:sp>
        <p:nvSpPr>
          <p:cNvPr id="42" name="TextBox 41"/>
          <p:cNvSpPr txBox="1"/>
          <p:nvPr/>
        </p:nvSpPr>
        <p:spPr>
          <a:xfrm>
            <a:off x="548640"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749808"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SDS濃度別の発泡構造</a:t>
            </a:r>
          </a:p>
        </p:txBody>
      </p:sp>
      <p:sp>
        <p:nvSpPr>
          <p:cNvPr id="44" name="TextBox 43"/>
          <p:cNvSpPr txBox="1"/>
          <p:nvPr/>
        </p:nvSpPr>
        <p:spPr>
          <a:xfrm>
            <a:off x="548640"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749808"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燃焼時間別(0/1/2/4分)の焼結進行</a:t>
            </a:r>
          </a:p>
        </p:txBody>
      </p:sp>
      <p:sp>
        <p:nvSpPr>
          <p:cNvPr id="46" name="Rounded Rectangle 45"/>
          <p:cNvSpPr/>
          <p:nvPr/>
        </p:nvSpPr>
        <p:spPr>
          <a:xfrm>
            <a:off x="4231538"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31538"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14418"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49" name="TextBox 48"/>
          <p:cNvSpPr txBox="1"/>
          <p:nvPr/>
        </p:nvSpPr>
        <p:spPr>
          <a:xfrm>
            <a:off x="4414418"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分光分析</a:t>
            </a:r>
          </a:p>
        </p:txBody>
      </p:sp>
      <p:sp>
        <p:nvSpPr>
          <p:cNvPr id="50" name="TextBox 49"/>
          <p:cNvSpPr txBox="1"/>
          <p:nvPr/>
        </p:nvSpPr>
        <p:spPr>
          <a:xfrm>
            <a:off x="4414418"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4615586"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FT-IR（化学結合）</a:t>
            </a:r>
          </a:p>
        </p:txBody>
      </p:sp>
      <p:sp>
        <p:nvSpPr>
          <p:cNvPr id="52" name="TextBox 51"/>
          <p:cNvSpPr txBox="1"/>
          <p:nvPr/>
        </p:nvSpPr>
        <p:spPr>
          <a:xfrm>
            <a:off x="4414418"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4615586"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XPS（表面組成）</a:t>
            </a:r>
          </a:p>
        </p:txBody>
      </p:sp>
      <p:sp>
        <p:nvSpPr>
          <p:cNvPr id="54" name="Rounded Rectangle 53"/>
          <p:cNvSpPr/>
          <p:nvPr/>
        </p:nvSpPr>
        <p:spPr>
          <a:xfrm>
            <a:off x="8097316"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97316"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80196"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57" name="TextBox 56"/>
          <p:cNvSpPr txBox="1"/>
          <p:nvPr/>
        </p:nvSpPr>
        <p:spPr>
          <a:xfrm>
            <a:off x="8280196"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熱分析</a:t>
            </a:r>
          </a:p>
        </p:txBody>
      </p:sp>
      <p:sp>
        <p:nvSpPr>
          <p:cNvPr id="58" name="TextBox 57"/>
          <p:cNvSpPr txBox="1"/>
          <p:nvPr/>
        </p:nvSpPr>
        <p:spPr>
          <a:xfrm>
            <a:off x="8280196"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9" name="TextBox 58"/>
          <p:cNvSpPr txBox="1"/>
          <p:nvPr/>
        </p:nvSpPr>
        <p:spPr>
          <a:xfrm>
            <a:off x="8481364"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TGA（熱重量分析）</a:t>
            </a:r>
          </a:p>
        </p:txBody>
      </p:sp>
      <p:sp>
        <p:nvSpPr>
          <p:cNvPr id="60" name="TextBox 59"/>
          <p:cNvSpPr txBox="1"/>
          <p:nvPr/>
        </p:nvSpPr>
        <p:spPr>
          <a:xfrm>
            <a:off x="8280196"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61" name="TextBox 60"/>
          <p:cNvSpPr txBox="1"/>
          <p:nvPr/>
        </p:nvSpPr>
        <p:spPr>
          <a:xfrm>
            <a:off x="8481364"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接触角測定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木材・コンクリート・金属板で接触角評価</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WEGは低接触角 → 高い濡れ性</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HEC+MCはセルロース-木材間で特に親和性が高い</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垂直面付着試験</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垂直に立てた基板にゲルを塗布</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 ≫ G'' → 重力に抵抗して流れ落ちない</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AquaGel-Kと同等以上の垂直面保持性</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スプレー散布適性</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高せん断（ノズル内）で粘度が急低下</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基材到達後すぐに高粘度を回復 → 付着維持</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既存消防ホース・ノズルと完全互換</a:t>
            </a:r>
          </a:p>
        </p:txBody>
      </p:sp>
      <p:sp>
        <p:nvSpPr>
          <p:cNvPr id="40" name="Rounded Rectangle 39"/>
          <p:cNvSpPr/>
          <p:nvPr/>
        </p:nvSpPr>
        <p:spPr>
          <a:xfrm>
            <a:off x="365760" y="442569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65760" y="44256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4256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960120" y="442569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AquaGel-Kよりも本研究WEGの方が高弾性</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Power-law index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0.108</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1-5</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Power-law index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0.188</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1-5</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レオロジー③：Herschel-Bulkley モデルパラメータ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36</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σ = τ₀ + K · γ̇ⁿ  （τ₀：降伏応力, K：稠度係数, n：流動指数）</a:t>
            </a:r>
          </a:p>
        </p:txBody>
      </p:sp>
      <p:sp>
        <p:nvSpPr>
          <p:cNvPr id="14" name="Rectangle 13"/>
          <p:cNvSpPr/>
          <p:nvPr/>
        </p:nvSpPr>
        <p:spPr>
          <a:xfrm>
            <a:off x="365760" y="1636776"/>
            <a:ext cx="11460175" cy="4343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4365294"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913934" y="1636776"/>
            <a:ext cx="1818589"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τ₀ (Pa)</a:t>
            </a:r>
          </a:p>
        </p:txBody>
      </p:sp>
      <p:sp>
        <p:nvSpPr>
          <p:cNvPr id="17" name="TextBox 16"/>
          <p:cNvSpPr txBox="1"/>
          <p:nvPr/>
        </p:nvSpPr>
        <p:spPr>
          <a:xfrm>
            <a:off x="6823963" y="1636776"/>
            <a:ext cx="1818589"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K (Pa·sⁿ)</a:t>
            </a:r>
          </a:p>
        </p:txBody>
      </p:sp>
      <p:sp>
        <p:nvSpPr>
          <p:cNvPr id="18" name="TextBox 17"/>
          <p:cNvSpPr txBox="1"/>
          <p:nvPr/>
        </p:nvSpPr>
        <p:spPr>
          <a:xfrm>
            <a:off x="8733993" y="1636776"/>
            <a:ext cx="1500250"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n</a:t>
            </a:r>
          </a:p>
        </p:txBody>
      </p:sp>
      <p:sp>
        <p:nvSpPr>
          <p:cNvPr id="19" name="TextBox 18"/>
          <p:cNvSpPr txBox="1"/>
          <p:nvPr/>
        </p:nvSpPr>
        <p:spPr>
          <a:xfrm>
            <a:off x="10325684" y="1636776"/>
            <a:ext cx="1500250"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R²</a:t>
            </a:r>
          </a:p>
        </p:txBody>
      </p:sp>
      <p:sp>
        <p:nvSpPr>
          <p:cNvPr id="20" name="Rectangle 19"/>
          <p:cNvSpPr/>
          <p:nvPr/>
        </p:nvSpPr>
        <p:spPr>
          <a:xfrm>
            <a:off x="365760" y="207111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07111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22" name="TextBox 21"/>
          <p:cNvSpPr txBox="1"/>
          <p:nvPr/>
        </p:nvSpPr>
        <p:spPr>
          <a:xfrm>
            <a:off x="4913934" y="207111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0.31</a:t>
            </a:r>
          </a:p>
        </p:txBody>
      </p:sp>
      <p:sp>
        <p:nvSpPr>
          <p:cNvPr id="23" name="TextBox 22"/>
          <p:cNvSpPr txBox="1"/>
          <p:nvPr/>
        </p:nvSpPr>
        <p:spPr>
          <a:xfrm>
            <a:off x="6823963" y="207111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0.85</a:t>
            </a:r>
          </a:p>
        </p:txBody>
      </p:sp>
      <p:sp>
        <p:nvSpPr>
          <p:cNvPr id="24" name="TextBox 23"/>
          <p:cNvSpPr txBox="1"/>
          <p:nvPr/>
        </p:nvSpPr>
        <p:spPr>
          <a:xfrm>
            <a:off x="8733993" y="207111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0.52</a:t>
            </a:r>
          </a:p>
        </p:txBody>
      </p:sp>
      <p:sp>
        <p:nvSpPr>
          <p:cNvPr id="25" name="TextBox 24"/>
          <p:cNvSpPr txBox="1"/>
          <p:nvPr/>
        </p:nvSpPr>
        <p:spPr>
          <a:xfrm>
            <a:off x="10325684" y="207111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26" name="Rectangle 25"/>
          <p:cNvSpPr/>
          <p:nvPr/>
        </p:nvSpPr>
        <p:spPr>
          <a:xfrm>
            <a:off x="365760" y="2505456"/>
            <a:ext cx="11460175" cy="43434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505456"/>
            <a:ext cx="4365294"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8" name="TextBox 27"/>
          <p:cNvSpPr txBox="1"/>
          <p:nvPr/>
        </p:nvSpPr>
        <p:spPr>
          <a:xfrm>
            <a:off x="4913934" y="250545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0.59</a:t>
            </a:r>
          </a:p>
        </p:txBody>
      </p:sp>
      <p:sp>
        <p:nvSpPr>
          <p:cNvPr id="29" name="TextBox 28"/>
          <p:cNvSpPr txBox="1"/>
          <p:nvPr/>
        </p:nvSpPr>
        <p:spPr>
          <a:xfrm>
            <a:off x="6823963" y="250545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2.04</a:t>
            </a:r>
          </a:p>
        </p:txBody>
      </p:sp>
      <p:sp>
        <p:nvSpPr>
          <p:cNvPr id="30" name="TextBox 29"/>
          <p:cNvSpPr txBox="1"/>
          <p:nvPr/>
        </p:nvSpPr>
        <p:spPr>
          <a:xfrm>
            <a:off x="8733993" y="2505456"/>
            <a:ext cx="1500250" cy="434340"/>
          </a:xfrm>
          <a:prstGeom prst="rect">
            <a:avLst/>
          </a:prstGeom>
          <a:noFill/>
        </p:spPr>
        <p:txBody>
          <a:bodyPr wrap="square" anchor="ctr" lIns="36000" rIns="36000" tIns="18000" bIns="18000">
            <a:spAutoFit/>
          </a:bodyPr>
          <a:lstStyle/>
          <a:p>
            <a:pPr algn="l"/>
            <a:r>
              <a:rPr sz="1100" b="1" i="0">
                <a:solidFill>
                  <a:srgbClr val="B08442"/>
                </a:solidFill>
                <a:latin typeface="Noto Sans JP"/>
              </a:rPr>
              <a:t>0.108</a:t>
            </a:r>
          </a:p>
        </p:txBody>
      </p:sp>
      <p:sp>
        <p:nvSpPr>
          <p:cNvPr id="31" name="TextBox 30"/>
          <p:cNvSpPr txBox="1"/>
          <p:nvPr/>
        </p:nvSpPr>
        <p:spPr>
          <a:xfrm>
            <a:off x="10325684" y="250545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32" name="Rectangle 31"/>
          <p:cNvSpPr/>
          <p:nvPr/>
        </p:nvSpPr>
        <p:spPr>
          <a:xfrm>
            <a:off x="365760" y="293979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293979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HEC+MC/CSP/SDS 1-5-0.1</a:t>
            </a:r>
          </a:p>
        </p:txBody>
      </p:sp>
      <p:sp>
        <p:nvSpPr>
          <p:cNvPr id="34" name="TextBox 33"/>
          <p:cNvSpPr txBox="1"/>
          <p:nvPr/>
        </p:nvSpPr>
        <p:spPr>
          <a:xfrm>
            <a:off x="4913934" y="293979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0.54</a:t>
            </a:r>
          </a:p>
        </p:txBody>
      </p:sp>
      <p:sp>
        <p:nvSpPr>
          <p:cNvPr id="35" name="TextBox 34"/>
          <p:cNvSpPr txBox="1"/>
          <p:nvPr/>
        </p:nvSpPr>
        <p:spPr>
          <a:xfrm>
            <a:off x="6823963" y="293979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1.87</a:t>
            </a:r>
          </a:p>
        </p:txBody>
      </p:sp>
      <p:sp>
        <p:nvSpPr>
          <p:cNvPr id="36" name="TextBox 35"/>
          <p:cNvSpPr txBox="1"/>
          <p:nvPr/>
        </p:nvSpPr>
        <p:spPr>
          <a:xfrm>
            <a:off x="8733993" y="293979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0.115</a:t>
            </a:r>
          </a:p>
        </p:txBody>
      </p:sp>
      <p:sp>
        <p:nvSpPr>
          <p:cNvPr id="37" name="TextBox 36"/>
          <p:cNvSpPr txBox="1"/>
          <p:nvPr/>
        </p:nvSpPr>
        <p:spPr>
          <a:xfrm>
            <a:off x="10325684" y="293979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38" name="Rectangle 37"/>
          <p:cNvSpPr/>
          <p:nvPr/>
        </p:nvSpPr>
        <p:spPr>
          <a:xfrm>
            <a:off x="365760" y="3374136"/>
            <a:ext cx="11460175" cy="43434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37413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HEC+MC/CSP/SDS 1-5-0.5</a:t>
            </a:r>
          </a:p>
        </p:txBody>
      </p:sp>
      <p:sp>
        <p:nvSpPr>
          <p:cNvPr id="40" name="TextBox 39"/>
          <p:cNvSpPr txBox="1"/>
          <p:nvPr/>
        </p:nvSpPr>
        <p:spPr>
          <a:xfrm>
            <a:off x="4913934" y="337413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0.48</a:t>
            </a:r>
          </a:p>
        </p:txBody>
      </p:sp>
      <p:sp>
        <p:nvSpPr>
          <p:cNvPr id="41" name="TextBox 40"/>
          <p:cNvSpPr txBox="1"/>
          <p:nvPr/>
        </p:nvSpPr>
        <p:spPr>
          <a:xfrm>
            <a:off x="6823963" y="337413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1.65</a:t>
            </a:r>
          </a:p>
        </p:txBody>
      </p:sp>
      <p:sp>
        <p:nvSpPr>
          <p:cNvPr id="42" name="TextBox 41"/>
          <p:cNvSpPr txBox="1"/>
          <p:nvPr/>
        </p:nvSpPr>
        <p:spPr>
          <a:xfrm>
            <a:off x="8733993" y="337413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0.122</a:t>
            </a:r>
          </a:p>
        </p:txBody>
      </p:sp>
      <p:sp>
        <p:nvSpPr>
          <p:cNvPr id="43" name="TextBox 42"/>
          <p:cNvSpPr txBox="1"/>
          <p:nvPr/>
        </p:nvSpPr>
        <p:spPr>
          <a:xfrm>
            <a:off x="10325684" y="337413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44" name="Rectangle 43"/>
          <p:cNvSpPr/>
          <p:nvPr/>
        </p:nvSpPr>
        <p:spPr>
          <a:xfrm>
            <a:off x="365760" y="380847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808476"/>
            <a:ext cx="4365294"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46" name="TextBox 45"/>
          <p:cNvSpPr txBox="1"/>
          <p:nvPr/>
        </p:nvSpPr>
        <p:spPr>
          <a:xfrm>
            <a:off x="4913934" y="380847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0.41</a:t>
            </a:r>
          </a:p>
        </p:txBody>
      </p:sp>
      <p:sp>
        <p:nvSpPr>
          <p:cNvPr id="47" name="TextBox 46"/>
          <p:cNvSpPr txBox="1"/>
          <p:nvPr/>
        </p:nvSpPr>
        <p:spPr>
          <a:xfrm>
            <a:off x="6823963" y="380847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1.43</a:t>
            </a:r>
          </a:p>
        </p:txBody>
      </p:sp>
      <p:sp>
        <p:nvSpPr>
          <p:cNvPr id="48" name="TextBox 47"/>
          <p:cNvSpPr txBox="1"/>
          <p:nvPr/>
        </p:nvSpPr>
        <p:spPr>
          <a:xfrm>
            <a:off x="8733993" y="3808476"/>
            <a:ext cx="1500250" cy="434340"/>
          </a:xfrm>
          <a:prstGeom prst="rect">
            <a:avLst/>
          </a:prstGeom>
          <a:noFill/>
        </p:spPr>
        <p:txBody>
          <a:bodyPr wrap="square" anchor="ctr" lIns="36000" rIns="36000" tIns="18000" bIns="18000">
            <a:spAutoFit/>
          </a:bodyPr>
          <a:lstStyle/>
          <a:p>
            <a:pPr algn="l"/>
            <a:r>
              <a:rPr sz="1100" b="1" i="0">
                <a:solidFill>
                  <a:srgbClr val="B08442"/>
                </a:solidFill>
                <a:latin typeface="Noto Sans JP"/>
              </a:rPr>
              <a:t>0.188</a:t>
            </a:r>
          </a:p>
        </p:txBody>
      </p:sp>
      <p:sp>
        <p:nvSpPr>
          <p:cNvPr id="49" name="TextBox 48"/>
          <p:cNvSpPr txBox="1"/>
          <p:nvPr/>
        </p:nvSpPr>
        <p:spPr>
          <a:xfrm>
            <a:off x="10325684" y="380847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50" name="Rounded Rectangle 49"/>
          <p:cNvSpPr/>
          <p:nvPr/>
        </p:nvSpPr>
        <p:spPr>
          <a:xfrm>
            <a:off x="365760"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30352"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降伏応力 τ₀</a:t>
            </a:r>
          </a:p>
        </p:txBody>
      </p:sp>
      <p:sp>
        <p:nvSpPr>
          <p:cNvPr id="52" name="TextBox 51"/>
          <p:cNvSpPr txBox="1"/>
          <p:nvPr/>
        </p:nvSpPr>
        <p:spPr>
          <a:xfrm>
            <a:off x="530352"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流れ始めるのに必要な最小応力。WEGはAquaGel-Kの約2倍 → 垂直面での流れ落ち抵抗が高い</a:t>
            </a:r>
          </a:p>
        </p:txBody>
      </p:sp>
      <p:sp>
        <p:nvSpPr>
          <p:cNvPr id="53" name="Rounded Rectangle 52"/>
          <p:cNvSpPr/>
          <p:nvPr/>
        </p:nvSpPr>
        <p:spPr>
          <a:xfrm>
            <a:off x="4231538"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96130"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流動指数 n （&lt;&lt; 1）</a:t>
            </a:r>
          </a:p>
        </p:txBody>
      </p:sp>
      <p:sp>
        <p:nvSpPr>
          <p:cNvPr id="55" name="TextBox 54"/>
          <p:cNvSpPr txBox="1"/>
          <p:nvPr/>
        </p:nvSpPr>
        <p:spPr>
          <a:xfrm>
            <a:off x="4396130"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 の n=0.108 は強い剪断希薄化を示す。スプレー時の低粘度と静止時の高粘度を両立</a:t>
            </a:r>
          </a:p>
        </p:txBody>
      </p:sp>
      <p:sp>
        <p:nvSpPr>
          <p:cNvPr id="56" name="Rounded Rectangle 55"/>
          <p:cNvSpPr/>
          <p:nvPr/>
        </p:nvSpPr>
        <p:spPr>
          <a:xfrm>
            <a:off x="8097316"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1908"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58" name="TextBox 57"/>
          <p:cNvSpPr txBox="1"/>
          <p:nvPr/>
        </p:nvSpPr>
        <p:spPr>
          <a:xfrm>
            <a:off x="8261908"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HEC+MC系はより低い n と高い K → より強い剪断希薄化。MHEC系は単一ポリマーで類似機能を実現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レオロジー④：動的降伏応力・粘弾性（tan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36</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動的降伏応力（Amplitude Sweep より）</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746717"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2266820"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~1.2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080141"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~1.1 Pa</a:t>
            </a:r>
          </a:p>
        </p:txBody>
      </p:sp>
      <p:sp>
        <p:nvSpPr>
          <p:cNvPr id="23" name="TextBox 22"/>
          <p:cNvSpPr txBox="1"/>
          <p:nvPr/>
        </p:nvSpPr>
        <p:spPr>
          <a:xfrm>
            <a:off x="365760" y="26426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4" name="Rounded Rectangle 23"/>
          <p:cNvSpPr/>
          <p:nvPr/>
        </p:nvSpPr>
        <p:spPr>
          <a:xfrm>
            <a:off x="2286000" y="27157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86000" y="2715768"/>
            <a:ext cx="173345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4287" y="26426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~0.9 Pa</a:t>
            </a:r>
          </a:p>
        </p:txBody>
      </p:sp>
      <p:sp>
        <p:nvSpPr>
          <p:cNvPr id="27" name="Rounded Rectangle 26"/>
          <p:cNvSpPr/>
          <p:nvPr/>
        </p:nvSpPr>
        <p:spPr>
          <a:xfrm>
            <a:off x="365760" y="32369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32369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2369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0" name="TextBox 29"/>
          <p:cNvSpPr txBox="1"/>
          <p:nvPr/>
        </p:nvSpPr>
        <p:spPr>
          <a:xfrm>
            <a:off x="960120" y="32369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G' = G'' クロスオーバー点での応力 = 動的降伏応力。WEGはAquaGel-Kの約3倍</a:t>
            </a:r>
          </a:p>
        </p:txBody>
      </p:sp>
      <p:sp>
        <p:nvSpPr>
          <p:cNvPr id="31" name="TextBox 30"/>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32" name="TextBox 31"/>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33" name="Rounded Rectangle 32"/>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344168"/>
            <a:ext cx="1333423"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~0.25</a:t>
            </a:r>
          </a:p>
        </p:txBody>
      </p:sp>
      <p:sp>
        <p:nvSpPr>
          <p:cNvPr id="36" name="TextBox 35"/>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7" name="Rounded Rectangle 36"/>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1801368"/>
            <a:ext cx="533369"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~0.10</a:t>
            </a:r>
          </a:p>
        </p:txBody>
      </p:sp>
      <p:sp>
        <p:nvSpPr>
          <p:cNvPr id="40" name="TextBox 39"/>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41" name="Rounded Rectangle 40"/>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153247" y="2258568"/>
            <a:ext cx="640043"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~0.12</a:t>
            </a:r>
          </a:p>
        </p:txBody>
      </p:sp>
      <p:sp>
        <p:nvSpPr>
          <p:cNvPr id="44" name="TextBox 43"/>
          <p:cNvSpPr txBox="1"/>
          <p:nvPr/>
        </p:nvSpPr>
        <p:spPr>
          <a:xfrm>
            <a:off x="6233007" y="26426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45" name="Rounded Rectangle 44"/>
          <p:cNvSpPr/>
          <p:nvPr/>
        </p:nvSpPr>
        <p:spPr>
          <a:xfrm>
            <a:off x="8153247" y="27157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153247" y="2715768"/>
            <a:ext cx="800054"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11535" y="26426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~0.15</a:t>
            </a:r>
          </a:p>
        </p:txBody>
      </p:sp>
      <p:sp>
        <p:nvSpPr>
          <p:cNvPr id="48" name="Rounded Rectangle 47"/>
          <p:cNvSpPr/>
          <p:nvPr/>
        </p:nvSpPr>
        <p:spPr>
          <a:xfrm>
            <a:off x="6233007" y="32369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33007" y="32369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15887" y="32369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6827367" y="32369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tan δ &lt;&lt; 1 → 全配合系が明確なゲル挙動。弾性成分が圧倒的に支配的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36</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より低い n=0.108 → 強い剪断希薄化</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9–10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 2.2–2.6</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n=0.188（HEC+MC より若干高い）</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10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36</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基板：松材（pine wood）薄板</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火炎源：ブタン直炎</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36</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620587"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206862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~7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7581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~9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~10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71891"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~10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本研究WEG群はAquaGel-K比で約40%延長、水のみと比べて約5倍の保護時間</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~2分で木材表面が炭化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~7分で炭化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~10分間、炭化を阻止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char：~2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char：~7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char：~10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~10</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水のみ（~2分）の約5倍、市販AquaGel-K（~7分）の約1.4倍の保護時間を達成</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1280160"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~2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384048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~7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~10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36</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71822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~2.2×</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2030630"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18119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 0.1 wt%が最適：均一な微細気泡を形成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緻密なシリカネットワーク。気孔少。</a:t>
            </a:r>
          </a:p>
        </p:txBody>
      </p:sp>
      <p:sp>
        <p:nvSpPr>
          <p:cNvPr id="18" name="Rounded Rectangle 17"/>
          <p:cNvSpPr/>
          <p:nvPr/>
        </p:nvSpPr>
        <p:spPr>
          <a:xfrm>
            <a:off x="422849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0.1% SDS（最適）</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均一な微細気泡。最高の発泡指数。</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4800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元素</a:t>
            </a:r>
          </a:p>
        </p:txBody>
      </p:sp>
      <p:sp>
        <p:nvSpPr>
          <p:cNvPr id="42" name="TextBox 41"/>
          <p:cNvSpPr txBox="1"/>
          <p:nvPr/>
        </p:nvSpPr>
        <p:spPr>
          <a:xfrm>
            <a:off x="8158276"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燃焼前</a:t>
            </a:r>
          </a:p>
        </p:txBody>
      </p:sp>
      <p:sp>
        <p:nvSpPr>
          <p:cNvPr id="43" name="TextBox 42"/>
          <p:cNvSpPr txBox="1"/>
          <p:nvPr/>
        </p:nvSpPr>
        <p:spPr>
          <a:xfrm>
            <a:off x="10037825"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44" name="Rectangle 43"/>
          <p:cNvSpPr/>
          <p:nvPr/>
        </p:nvSpPr>
        <p:spPr>
          <a:xfrm>
            <a:off x="6187287" y="1723644"/>
            <a:ext cx="5638647" cy="4800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72364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Si 2p</a:t>
            </a:r>
          </a:p>
        </p:txBody>
      </p:sp>
      <p:sp>
        <p:nvSpPr>
          <p:cNvPr id="46" name="TextBox 45"/>
          <p:cNvSpPr txBox="1"/>
          <p:nvPr/>
        </p:nvSpPr>
        <p:spPr>
          <a:xfrm>
            <a:off x="8158276" y="172364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~4</a:t>
            </a:r>
          </a:p>
        </p:txBody>
      </p:sp>
      <p:sp>
        <p:nvSpPr>
          <p:cNvPr id="47" name="TextBox 46"/>
          <p:cNvSpPr txBox="1"/>
          <p:nvPr/>
        </p:nvSpPr>
        <p:spPr>
          <a:xfrm>
            <a:off x="10037825" y="1723644"/>
            <a:ext cx="1788109" cy="480060"/>
          </a:xfrm>
          <a:prstGeom prst="rect">
            <a:avLst/>
          </a:prstGeom>
          <a:noFill/>
        </p:spPr>
        <p:txBody>
          <a:bodyPr wrap="square" anchor="ctr" lIns="36000" rIns="36000" tIns="18000" bIns="18000">
            <a:spAutoFit/>
          </a:bodyPr>
          <a:lstStyle/>
          <a:p>
            <a:pPr algn="l"/>
            <a:r>
              <a:rPr sz="1100" b="1" i="0">
                <a:solidFill>
                  <a:srgbClr val="5B8C5A"/>
                </a:solidFill>
                <a:latin typeface="Noto Sans JP"/>
              </a:rPr>
              <a:t>~33</a:t>
            </a:r>
          </a:p>
        </p:txBody>
      </p:sp>
      <p:sp>
        <p:nvSpPr>
          <p:cNvPr id="48" name="Rectangle 47"/>
          <p:cNvSpPr/>
          <p:nvPr/>
        </p:nvSpPr>
        <p:spPr>
          <a:xfrm>
            <a:off x="6187287" y="2203704"/>
            <a:ext cx="5638647" cy="4800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20370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C 1s</a:t>
            </a:r>
          </a:p>
        </p:txBody>
      </p:sp>
      <p:sp>
        <p:nvSpPr>
          <p:cNvPr id="50" name="TextBox 49"/>
          <p:cNvSpPr txBox="1"/>
          <p:nvPr/>
        </p:nvSpPr>
        <p:spPr>
          <a:xfrm>
            <a:off x="8158276" y="220370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~55</a:t>
            </a:r>
          </a:p>
        </p:txBody>
      </p:sp>
      <p:sp>
        <p:nvSpPr>
          <p:cNvPr id="51" name="TextBox 50"/>
          <p:cNvSpPr txBox="1"/>
          <p:nvPr/>
        </p:nvSpPr>
        <p:spPr>
          <a:xfrm>
            <a:off x="10037825" y="2203704"/>
            <a:ext cx="1788109" cy="480060"/>
          </a:xfrm>
          <a:prstGeom prst="rect">
            <a:avLst/>
          </a:prstGeom>
          <a:noFill/>
        </p:spPr>
        <p:txBody>
          <a:bodyPr wrap="square" anchor="ctr" lIns="36000" rIns="36000" tIns="18000" bIns="18000">
            <a:spAutoFit/>
          </a:bodyPr>
          <a:lstStyle/>
          <a:p>
            <a:pPr algn="l"/>
            <a:r>
              <a:rPr sz="1100" b="1" i="0">
                <a:solidFill>
                  <a:srgbClr val="A05656"/>
                </a:solidFill>
                <a:latin typeface="Noto Sans JP"/>
              </a:rPr>
              <a:t>~8</a:t>
            </a:r>
          </a:p>
        </p:txBody>
      </p:sp>
      <p:sp>
        <p:nvSpPr>
          <p:cNvPr id="52" name="Rectangle 51"/>
          <p:cNvSpPr/>
          <p:nvPr/>
        </p:nvSpPr>
        <p:spPr>
          <a:xfrm>
            <a:off x="6187287" y="2683764"/>
            <a:ext cx="5638647" cy="4800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78727" y="268376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O 1s</a:t>
            </a:r>
          </a:p>
        </p:txBody>
      </p:sp>
      <p:sp>
        <p:nvSpPr>
          <p:cNvPr id="54" name="TextBox 53"/>
          <p:cNvSpPr txBox="1"/>
          <p:nvPr/>
        </p:nvSpPr>
        <p:spPr>
          <a:xfrm>
            <a:off x="8158276" y="268376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~41</a:t>
            </a:r>
          </a:p>
        </p:txBody>
      </p:sp>
      <p:sp>
        <p:nvSpPr>
          <p:cNvPr id="55" name="TextBox 54"/>
          <p:cNvSpPr txBox="1"/>
          <p:nvPr/>
        </p:nvSpPr>
        <p:spPr>
          <a:xfrm>
            <a:off x="10037825" y="268376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~59</a:t>
            </a:r>
          </a:p>
        </p:txBody>
      </p:sp>
      <p:sp>
        <p:nvSpPr>
          <p:cNvPr id="56" name="Rounded Rectangle 55"/>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9" name="TextBox 58"/>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Si濃度が約8倍に増加、C濃度が激減 → 有機マトリクスが除去されシリカが露出</a:t>
            </a:r>
          </a:p>
        </p:txBody>
      </p:sp>
      <p:sp>
        <p:nvSpPr>
          <p:cNvPr id="60" name="Rounded Rectangle 59"/>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62" name="TextBox 61"/>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 5× 向上</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水蒸発後も継続保護</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36</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G''（ゲル挙動）</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n = 0.108–0.188</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降伏応力 AquaGel-K の約3倍</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&lt;&lt; 1（弾性支配）</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Time to char ≈ 10 分</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水のみ（~2分）の約5倍</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AquaGel-K比 約40%延長</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300秒後も表面ほぼ無傷</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 2.2–2.6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 0.1% で均一微細気泡</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SEMで焼結進行を観察</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ネック形成 → 多孔質骨格</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FT-IR：燃焼後は純 SiO₂</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XPS：Si濃度 約8倍に増加</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TGA：シリカ残渣 ~5–8 wt%</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エアロゲル化を化学確認</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加熱により CSP が焼結し、ゲルが多孔質シリカエアロゲル断熱層へ自己変態 ― 水蒸発後も火炎保護が継続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36</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Time to char ~10分</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水の約5倍、AquaGel-K比で約40%延長。火炎下の木材保護時間を大幅に拡張</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CSPが加熱で焼結 → 多孔質シリカ層が水蒸発後も継続的に断熱</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 0.108〜0.188 の剪断希薄化流体。既存のホース・ノズルで噴霧可能</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セルロース誘導体は食品グレード、シリカは無害な無機材料。低環境負荷</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火炎接触でMCがゲル化し構造を固定</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脱水・加熱でCSPが焼結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多孔質SiO₂エアロゲル断熱層を形成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実証された保護性能</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Time to char ~10分（水の約5倍）</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水蒸発後も保護が継続</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既存散布インフラと互換な流動特性</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WEGの新しい設計思想</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3000" b="1" i="0">
                <a:solidFill>
                  <a:srgbClr val="D4A574"/>
                </a:solidFill>
                <a:latin typeface="Noto Sans JP"/>
              </a:rPr>
              <a:t>5</a:t>
            </a:r>
            <a:r>
              <a:rPr sz="7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従来品（水）比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~10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090672"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Power-law n</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523036"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0.108</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