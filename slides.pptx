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高せん断で粘度が低下（噴霧・パイプ送液に適合）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せん断希薄化（粘度低下）</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粘度挙動</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可逆</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高せん断で低粘度→静止で回復</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動的降伏応力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HEC+MC/CSP（HB fit）</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せん断希薄化挙動</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高せん断で粘度が急低下</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レオロジー②：2つの降伏応力 — 静的（付着）と動的（噴霧）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降伏応力＝ゲルが流れ出す／流れ続けるのに必要な応力。本研究は2つの定義で評価（Fig. 2c–d・S3）</a:t>
            </a:r>
          </a:p>
        </p:txBody>
      </p:sp>
      <p:sp>
        <p:nvSpPr>
          <p:cNvPr id="14" name="Rounded Rectangle 13"/>
          <p:cNvSpPr/>
          <p:nvPr/>
        </p:nvSpPr>
        <p:spPr>
          <a:xfrm>
            <a:off x="365760" y="1609344"/>
            <a:ext cx="4492630" cy="3246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719072"/>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71907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7" name="TextBox 16"/>
          <p:cNvSpPr txBox="1"/>
          <p:nvPr/>
        </p:nvSpPr>
        <p:spPr>
          <a:xfrm>
            <a:off x="365760" y="1609344"/>
            <a:ext cx="4492630" cy="3246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4892040"/>
            <a:ext cx="44926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定常せん断フロースイープ → HB fit で動的降伏応力を算出</a:t>
            </a:r>
          </a:p>
        </p:txBody>
      </p:sp>
      <p:sp>
        <p:nvSpPr>
          <p:cNvPr id="19" name="Rounded Rectangle 18"/>
          <p:cNvSpPr/>
          <p:nvPr/>
        </p:nvSpPr>
        <p:spPr>
          <a:xfrm>
            <a:off x="5077846" y="1609344"/>
            <a:ext cx="6748089" cy="155448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7846" y="1609344"/>
            <a:ext cx="54864" cy="155448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79014" y="1719072"/>
            <a:ext cx="643719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静的降伏応力 σ_static（＝絶対降伏応力）</a:t>
            </a:r>
          </a:p>
        </p:txBody>
      </p:sp>
      <p:sp>
        <p:nvSpPr>
          <p:cNvPr id="22" name="TextBox 21"/>
          <p:cNvSpPr txBox="1"/>
          <p:nvPr/>
        </p:nvSpPr>
        <p:spPr>
          <a:xfrm>
            <a:off x="5279014" y="2066544"/>
            <a:ext cx="6437193" cy="457200"/>
          </a:xfrm>
          <a:prstGeom prst="rect">
            <a:avLst/>
          </a:prstGeom>
          <a:noFill/>
        </p:spPr>
        <p:txBody>
          <a:bodyPr wrap="square" anchor="t" lIns="36000" rIns="36000" tIns="18000" bIns="18000">
            <a:spAutoFit/>
          </a:bodyPr>
          <a:lstStyle/>
          <a:p>
            <a:pPr algn="l"/>
            <a:r>
              <a:rPr sz="1150" b="0" i="0">
                <a:solidFill>
                  <a:srgbClr val="334155"/>
                </a:solidFill>
                <a:latin typeface="Noto Sans JP"/>
              </a:rPr>
              <a:t>測定：大振幅振動（LAOS）の G' / G'' クロスオーバー応力</a:t>
            </a:r>
          </a:p>
        </p:txBody>
      </p:sp>
      <p:sp>
        <p:nvSpPr>
          <p:cNvPr id="23" name="TextBox 22"/>
          <p:cNvSpPr txBox="1"/>
          <p:nvPr/>
        </p:nvSpPr>
        <p:spPr>
          <a:xfrm>
            <a:off x="5279014" y="2505456"/>
            <a:ext cx="6437193" cy="585216"/>
          </a:xfrm>
          <a:prstGeom prst="rect">
            <a:avLst/>
          </a:prstGeom>
          <a:noFill/>
        </p:spPr>
        <p:txBody>
          <a:bodyPr wrap="square" anchor="t" lIns="36000" rIns="36000" tIns="18000" bIns="18000">
            <a:spAutoFit/>
          </a:bodyPr>
          <a:lstStyle/>
          <a:p>
            <a:pPr algn="l"/>
            <a:r>
              <a:rPr sz="1150" b="0" i="0">
                <a:solidFill>
                  <a:srgbClr val="475569"/>
                </a:solidFill>
                <a:latin typeface="Noto Sans JP"/>
              </a:rPr>
              <a:t>意味：流れ始める（変形開始）のに必要な応力</a:t>
            </a:r>
          </a:p>
          <a:p>
            <a:pPr algn="l"/>
            <a:r>
              <a:rPr sz="1150" b="0" i="0">
                <a:solidFill>
                  <a:srgbClr val="475569"/>
                </a:solidFill>
                <a:latin typeface="Noto Sans JP"/>
              </a:rPr>
              <a:t>→ 高いほど垂直・高所の燃料面に強く付着し、流れ出しにくい</a:t>
            </a:r>
          </a:p>
        </p:txBody>
      </p:sp>
      <p:sp>
        <p:nvSpPr>
          <p:cNvPr id="24" name="Rounded Rectangle 23"/>
          <p:cNvSpPr/>
          <p:nvPr/>
        </p:nvSpPr>
        <p:spPr>
          <a:xfrm>
            <a:off x="5077846" y="3300984"/>
            <a:ext cx="6748089" cy="1554480"/>
          </a:xfrm>
          <a:prstGeom prst="roundRect">
            <a:avLst>
              <a:gd name="adj" fmla="val 5000"/>
            </a:avLst>
          </a:prstGeom>
          <a:solidFill>
            <a:srgbClr val="F1F5F9"/>
          </a:solidFill>
          <a:ln w="1524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77846" y="3300984"/>
            <a:ext cx="54864" cy="155448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79014" y="3410712"/>
            <a:ext cx="643719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動的降伏応力 σ_dynamic</a:t>
            </a:r>
          </a:p>
        </p:txBody>
      </p:sp>
      <p:sp>
        <p:nvSpPr>
          <p:cNvPr id="27" name="TextBox 26"/>
          <p:cNvSpPr txBox="1"/>
          <p:nvPr/>
        </p:nvSpPr>
        <p:spPr>
          <a:xfrm>
            <a:off x="5279014" y="3758184"/>
            <a:ext cx="6437193" cy="274320"/>
          </a:xfrm>
          <a:prstGeom prst="rect">
            <a:avLst/>
          </a:prstGeom>
          <a:noFill/>
        </p:spPr>
        <p:txBody>
          <a:bodyPr wrap="square" anchor="t" lIns="36000" rIns="36000" tIns="18000" bIns="18000">
            <a:spAutoFit/>
          </a:bodyPr>
          <a:lstStyle/>
          <a:p>
            <a:pPr algn="l"/>
            <a:r>
              <a:rPr sz="1150" b="0" i="0">
                <a:solidFill>
                  <a:srgbClr val="334155"/>
                </a:solidFill>
                <a:latin typeface="Noto Sans JP"/>
              </a:rPr>
              <a:t>測定：フロースイープ（100→0.01 s⁻¹）を HB モデルにフィット</a:t>
            </a:r>
          </a:p>
        </p:txBody>
      </p:sp>
      <p:sp>
        <p:nvSpPr>
          <p:cNvPr id="28" name="TextBox 27"/>
          <p:cNvSpPr txBox="1"/>
          <p:nvPr/>
        </p:nvSpPr>
        <p:spPr>
          <a:xfrm>
            <a:off x="5279014" y="4069080"/>
            <a:ext cx="6437193" cy="731520"/>
          </a:xfrm>
          <a:prstGeom prst="rect">
            <a:avLst/>
          </a:prstGeom>
          <a:noFill/>
        </p:spPr>
        <p:txBody>
          <a:bodyPr wrap="square" anchor="t" lIns="36000" rIns="36000" tIns="18000" bIns="18000">
            <a:spAutoFit/>
          </a:bodyPr>
          <a:lstStyle/>
          <a:p>
            <a:pPr algn="l"/>
            <a:r>
              <a:rPr sz="1150" b="0" i="0">
                <a:solidFill>
                  <a:srgbClr val="475569"/>
                </a:solidFill>
                <a:latin typeface="Noto Sans JP"/>
              </a:rPr>
              <a:t>意味：流れ続ける（流動維持）のに必要な応力 → 適度ならポンプ圧の制約内で噴霧可能</a:t>
            </a:r>
          </a:p>
          <a:p>
            <a:pPr algn="l"/>
            <a:r>
              <a:rPr sz="1150" b="0" i="0">
                <a:solidFill>
                  <a:srgbClr val="475569"/>
                </a:solidFill>
                <a:latin typeface="Noto Sans JP"/>
              </a:rPr>
              <a:t>実測（新鮮）：HEC+MC/CSP 33.34 Pa ／ MHEC/CSP 3.31 Pa</a:t>
            </a:r>
          </a:p>
        </p:txBody>
      </p:sp>
      <p:sp>
        <p:nvSpPr>
          <p:cNvPr id="29" name="Rounded Rectangle 28"/>
          <p:cNvSpPr/>
          <p:nvPr/>
        </p:nvSpPr>
        <p:spPr>
          <a:xfrm>
            <a:off x="365760" y="5056632"/>
            <a:ext cx="11460175" cy="56692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5760" y="5056632"/>
            <a:ext cx="54864" cy="56692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56632"/>
            <a:ext cx="365760" cy="56692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2" name="TextBox 31"/>
          <p:cNvSpPr txBox="1"/>
          <p:nvPr/>
        </p:nvSpPr>
        <p:spPr>
          <a:xfrm>
            <a:off x="960120" y="5056632"/>
            <a:ext cx="10774375" cy="566928"/>
          </a:xfrm>
          <a:prstGeom prst="rect">
            <a:avLst/>
          </a:prstGeom>
          <a:noFill/>
        </p:spPr>
        <p:txBody>
          <a:bodyPr wrap="square" anchor="ctr" lIns="36000" rIns="36000" tIns="18000" bIns="18000">
            <a:spAutoFit/>
          </a:bodyPr>
          <a:lstStyle/>
          <a:p>
            <a:pPr algn="l"/>
            <a:r>
              <a:rPr sz="1300" b="1" i="0">
                <a:solidFill>
                  <a:srgbClr val="FFFFFF"/>
                </a:solidFill>
                <a:latin typeface="Noto Sans JP"/>
              </a:rPr>
              <a:t>高い静的降伏応力（付着）と適度な動的降伏応力（噴霧）の両立が実用化の鍵。界面活性剤（SDS）添加は両降伏応力を下げ、付着・安定性に影響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レオロジー③：動的降伏応力の経時変化と長期安定性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動的降伏応力：定常フロースイープを HB モデルにフィットして算出（σ_d）。流動状態を維持するのに必要な応力（Fig. S7）</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1）</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動的降伏応力（Day 455）</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動的降伏応力（HB fit）</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定常フロースイープを HB モデルにフィットして測定。HEC+MC/CSPは33.34 Pa、MHEC/CSPは3.31 Pa（Day 1）</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HEC+MC系は経時で剛性化（33.34→68.9 Pa）。MHEC系は変化が穏やかで単一ポリマーにより製造も簡便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せん断希薄化（高せん断で低粘度）</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せん断希薄化挙動</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実証</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