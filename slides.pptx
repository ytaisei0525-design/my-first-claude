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93992"/>
            <a:ext cx="12191695" cy="6400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0"/>
            <a:ext cx="7315200" cy="365760"/>
          </a:xfrm>
          <a:prstGeom prst="rect">
            <a:avLst/>
          </a:prstGeom>
          <a:noFill/>
        </p:spPr>
        <p:txBody>
          <a:bodyPr wrap="square" anchor="t" lIns="36000" rIns="36000" tIns="18000" bIns="18000">
            <a:spAutoFit/>
          </a:bodyPr>
          <a:lstStyle/>
          <a:p>
            <a:pPr algn="l"/>
            <a:r>
              <a:rPr sz="1100" b="1" i="0">
                <a:solidFill>
                  <a:srgbClr val="889AB0"/>
                </a:solidFill>
                <a:latin typeface="Noto Sans JP"/>
              </a:rPr>
              <a:t>RESEARCH PRESENTATION  ·  2024</a:t>
            </a:r>
          </a:p>
        </p:txBody>
      </p:sp>
      <p:sp>
        <p:nvSpPr>
          <p:cNvPr id="6" name="TextBox 5"/>
          <p:cNvSpPr txBox="1"/>
          <p:nvPr/>
        </p:nvSpPr>
        <p:spPr>
          <a:xfrm>
            <a:off x="7162495" y="457200"/>
            <a:ext cx="4572000" cy="365760"/>
          </a:xfrm>
          <a:prstGeom prst="rect">
            <a:avLst/>
          </a:prstGeom>
          <a:noFill/>
        </p:spPr>
        <p:txBody>
          <a:bodyPr wrap="square" anchor="t" lIns="36000" rIns="36000" tIns="18000" bIns="18000">
            <a:spAutoFit/>
          </a:bodyPr>
          <a:lstStyle/>
          <a:p>
            <a:pPr algn="r"/>
            <a:r>
              <a:rPr sz="1100" b="0" i="0">
                <a:solidFill>
                  <a:srgbClr val="889AB0"/>
                </a:solidFill>
                <a:latin typeface="Noto Sans JP"/>
              </a:rPr>
              <a:t>Adv. Mater.  ·  Dong et al., 2024</a:t>
            </a:r>
          </a:p>
        </p:txBody>
      </p:sp>
      <p:sp>
        <p:nvSpPr>
          <p:cNvPr id="7" name="TextBox 6"/>
          <p:cNvSpPr txBox="1"/>
          <p:nvPr/>
        </p:nvSpPr>
        <p:spPr>
          <a:xfrm>
            <a:off x="731520" y="1554480"/>
            <a:ext cx="10698480" cy="411480"/>
          </a:xfrm>
          <a:prstGeom prst="rect">
            <a:avLst/>
          </a:prstGeom>
          <a:noFill/>
        </p:spPr>
        <p:txBody>
          <a:bodyPr wrap="square" anchor="t" lIns="36000" rIns="36000" tIns="18000" bIns="18000">
            <a:spAutoFit/>
          </a:bodyPr>
          <a:lstStyle/>
          <a:p>
            <a:pPr algn="ctr"/>
            <a:r>
              <a:rPr sz="1200" b="1" i="0">
                <a:solidFill>
                  <a:srgbClr val="889AB0"/>
                </a:solidFill>
                <a:latin typeface="Noto Sans JP"/>
              </a:rPr>
              <a:t>WATER-ENHANCING GELS  ·  ADVANCED MATERIALS 2024</a:t>
            </a:r>
          </a:p>
        </p:txBody>
      </p:sp>
      <p:sp>
        <p:nvSpPr>
          <p:cNvPr id="8" name="TextBox 7"/>
          <p:cNvSpPr txBox="1"/>
          <p:nvPr/>
        </p:nvSpPr>
        <p:spPr>
          <a:xfrm>
            <a:off x="457200" y="2103120"/>
            <a:ext cx="11247120" cy="1097280"/>
          </a:xfrm>
          <a:prstGeom prst="rect">
            <a:avLst/>
          </a:prstGeom>
          <a:noFill/>
        </p:spPr>
        <p:txBody>
          <a:bodyPr wrap="square" anchor="t" lIns="36000" rIns="36000" tIns="18000" bIns="18000">
            <a:spAutoFit/>
          </a:bodyPr>
          <a:lstStyle/>
          <a:p>
            <a:pPr algn="ctr"/>
            <a:r>
              <a:rPr sz="4400" b="1" i="0">
                <a:solidFill>
                  <a:srgbClr val="FFFFFF"/>
                </a:solidFill>
                <a:latin typeface="Noto Sans JP"/>
              </a:rPr>
              <a:t>山火事から守る</a:t>
            </a:r>
          </a:p>
        </p:txBody>
      </p:sp>
      <p:sp>
        <p:nvSpPr>
          <p:cNvPr id="9" name="TextBox 8"/>
          <p:cNvSpPr txBox="1"/>
          <p:nvPr/>
        </p:nvSpPr>
        <p:spPr>
          <a:xfrm>
            <a:off x="457200" y="2926080"/>
            <a:ext cx="11247120" cy="914400"/>
          </a:xfrm>
          <a:prstGeom prst="rect">
            <a:avLst/>
          </a:prstGeom>
          <a:noFill/>
        </p:spPr>
        <p:txBody>
          <a:bodyPr wrap="square" anchor="t" lIns="36000" rIns="36000" tIns="18000" bIns="18000">
            <a:spAutoFit/>
          </a:bodyPr>
          <a:lstStyle/>
          <a:p>
            <a:pPr algn="ctr"/>
            <a:r>
              <a:rPr sz="4400" b="1" i="0">
                <a:solidFill>
                  <a:srgbClr val="D4A574"/>
                </a:solidFill>
                <a:latin typeface="Noto Sans JP"/>
              </a:rPr>
              <a:t>熱活性化シリカエアロゲル</a:t>
            </a:r>
          </a:p>
        </p:txBody>
      </p:sp>
      <p:sp>
        <p:nvSpPr>
          <p:cNvPr id="10" name="TextBox 9"/>
          <p:cNvSpPr txBox="1"/>
          <p:nvPr/>
        </p:nvSpPr>
        <p:spPr>
          <a:xfrm>
            <a:off x="914400" y="4114800"/>
            <a:ext cx="10332720" cy="914400"/>
          </a:xfrm>
          <a:prstGeom prst="rect">
            <a:avLst/>
          </a:prstGeom>
          <a:noFill/>
        </p:spPr>
        <p:txBody>
          <a:bodyPr wrap="square" anchor="t" lIns="36000" rIns="36000" tIns="18000" bIns="18000">
            <a:spAutoFit/>
          </a:bodyPr>
          <a:lstStyle/>
          <a:p>
            <a:pPr algn="ctr"/>
            <a:r>
              <a:rPr sz="1500" b="0" i="0">
                <a:solidFill>
                  <a:srgbClr val="B8CCE2"/>
                </a:solidFill>
                <a:latin typeface="Noto Sans JP"/>
              </a:rPr>
              <a:t>セルロース系ポリマー × コロイダルシリカ粒子で実現した、</a:t>
            </a:r>
          </a:p>
          <a:p>
            <a:pPr algn="ctr"/>
            <a:r>
              <a:rPr sz="1500" b="0" i="0">
                <a:solidFill>
                  <a:srgbClr val="B8CCE2"/>
                </a:solidFill>
                <a:latin typeface="Noto Sans JP"/>
              </a:rPr>
              <a:t>加熱時に自己発泡してエアロゲル層を形成する次世代難燃ゲル</a:t>
            </a:r>
          </a:p>
        </p:txBody>
      </p:sp>
      <p:sp>
        <p:nvSpPr>
          <p:cNvPr id="11" name="TextBox 10"/>
          <p:cNvSpPr txBox="1"/>
          <p:nvPr/>
        </p:nvSpPr>
        <p:spPr>
          <a:xfrm>
            <a:off x="457200" y="5486400"/>
            <a:ext cx="11247120" cy="365760"/>
          </a:xfrm>
          <a:prstGeom prst="rect">
            <a:avLst/>
          </a:prstGeom>
          <a:noFill/>
        </p:spPr>
        <p:txBody>
          <a:bodyPr wrap="square" anchor="t" lIns="36000" rIns="36000" tIns="18000" bIns="18000">
            <a:spAutoFit/>
          </a:bodyPr>
          <a:lstStyle/>
          <a:p>
            <a:pPr algn="ctr"/>
            <a:r>
              <a:rPr sz="1200" b="0" i="0">
                <a:solidFill>
                  <a:srgbClr val="889CB4"/>
                </a:solidFill>
                <a:latin typeface="Noto Sans JP"/>
              </a:rPr>
              <a:t>材料化学 / 防火工学    ·    Stanford University, Appel Lab    ·    Adv. Mater. 36, 2407375</a:t>
            </a:r>
          </a:p>
        </p:txBody>
      </p:sp>
      <p:sp>
        <p:nvSpPr>
          <p:cNvPr id="12" name="TextBox 11"/>
          <p:cNvSpPr txBox="1"/>
          <p:nvPr/>
        </p:nvSpPr>
        <p:spPr>
          <a:xfrm>
            <a:off x="457200" y="6035040"/>
            <a:ext cx="7315200" cy="274320"/>
          </a:xfrm>
          <a:prstGeom prst="rect">
            <a:avLst/>
          </a:prstGeom>
          <a:noFill/>
        </p:spPr>
        <p:txBody>
          <a:bodyPr wrap="square" anchor="t" lIns="36000" rIns="36000" tIns="18000" bIns="18000">
            <a:spAutoFit/>
          </a:bodyPr>
          <a:lstStyle/>
          <a:p>
            <a:pPr algn="l"/>
            <a:r>
              <a:rPr sz="1000" b="0" i="0">
                <a:solidFill>
                  <a:srgbClr val="667788"/>
                </a:solidFill>
                <a:latin typeface="Noto Sans JP"/>
              </a:rPr>
              <a:t>DOI: 10.1002/adma.202407375</a:t>
            </a:r>
          </a:p>
        </p:txBody>
      </p:sp>
      <p:sp>
        <p:nvSpPr>
          <p:cNvPr id="13" name="TextBox 12"/>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 / 43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Contents</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発表の構成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 / 43</a:t>
            </a:r>
          </a:p>
        </p:txBody>
      </p:sp>
      <p:sp>
        <p:nvSpPr>
          <p:cNvPr id="10" name="Rounded Rectangle 9"/>
          <p:cNvSpPr/>
          <p:nvPr/>
        </p:nvSpPr>
        <p:spPr>
          <a:xfrm>
            <a:off x="365760"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48640"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1</a:t>
            </a:r>
          </a:p>
        </p:txBody>
      </p:sp>
      <p:sp>
        <p:nvSpPr>
          <p:cNvPr id="14" name="TextBox 13"/>
          <p:cNvSpPr txBox="1"/>
          <p:nvPr/>
        </p:nvSpPr>
        <p:spPr>
          <a:xfrm>
            <a:off x="548640"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研究背景</a:t>
            </a:r>
          </a:p>
        </p:txBody>
      </p:sp>
      <p:sp>
        <p:nvSpPr>
          <p:cNvPr id="15" name="TextBox 14"/>
          <p:cNvSpPr txBox="1"/>
          <p:nvPr/>
        </p:nvSpPr>
        <p:spPr>
          <a:xfrm>
            <a:off x="548640"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山火事の現状、既存技術（Phos-Chek, AquaGel-K）の限界、本研究の革新点</a:t>
            </a:r>
          </a:p>
        </p:txBody>
      </p:sp>
      <p:sp>
        <p:nvSpPr>
          <p:cNvPr id="16" name="TextBox 15"/>
          <p:cNvSpPr txBox="1"/>
          <p:nvPr/>
        </p:nvSpPr>
        <p:spPr>
          <a:xfrm>
            <a:off x="548640"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4–7</a:t>
            </a:r>
          </a:p>
        </p:txBody>
      </p:sp>
      <p:sp>
        <p:nvSpPr>
          <p:cNvPr id="17" name="Rounded Rectangle 16"/>
          <p:cNvSpPr/>
          <p:nvPr/>
        </p:nvSpPr>
        <p:spPr>
          <a:xfrm>
            <a:off x="3262807"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45687"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0" name="TextBox 19"/>
          <p:cNvSpPr txBox="1"/>
          <p:nvPr/>
        </p:nvSpPr>
        <p:spPr>
          <a:xfrm>
            <a:off x="3445687"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2</a:t>
            </a:r>
          </a:p>
        </p:txBody>
      </p:sp>
      <p:sp>
        <p:nvSpPr>
          <p:cNvPr id="21" name="TextBox 20"/>
          <p:cNvSpPr txBox="1"/>
          <p:nvPr/>
        </p:nvSpPr>
        <p:spPr>
          <a:xfrm>
            <a:off x="3445687"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材料・方法</a:t>
            </a:r>
          </a:p>
        </p:txBody>
      </p:sp>
      <p:sp>
        <p:nvSpPr>
          <p:cNvPr id="22" name="TextBox 21"/>
          <p:cNvSpPr txBox="1"/>
          <p:nvPr/>
        </p:nvSpPr>
        <p:spPr>
          <a:xfrm>
            <a:off x="3445687"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セルロース系ポリマー、CSP、配合系（5種）、評価手法</a:t>
            </a:r>
          </a:p>
        </p:txBody>
      </p:sp>
      <p:sp>
        <p:nvSpPr>
          <p:cNvPr id="23" name="TextBox 22"/>
          <p:cNvSpPr txBox="1"/>
          <p:nvPr/>
        </p:nvSpPr>
        <p:spPr>
          <a:xfrm>
            <a:off x="3445687"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9–16</a:t>
            </a:r>
          </a:p>
        </p:txBody>
      </p:sp>
      <p:sp>
        <p:nvSpPr>
          <p:cNvPr id="24" name="Rounded Rectangle 23"/>
          <p:cNvSpPr/>
          <p:nvPr/>
        </p:nvSpPr>
        <p:spPr>
          <a:xfrm>
            <a:off x="6159855"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2735"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7" name="TextBox 26"/>
          <p:cNvSpPr txBox="1"/>
          <p:nvPr/>
        </p:nvSpPr>
        <p:spPr>
          <a:xfrm>
            <a:off x="6342735"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3</a:t>
            </a:r>
          </a:p>
        </p:txBody>
      </p:sp>
      <p:sp>
        <p:nvSpPr>
          <p:cNvPr id="28" name="TextBox 27"/>
          <p:cNvSpPr txBox="1"/>
          <p:nvPr/>
        </p:nvSpPr>
        <p:spPr>
          <a:xfrm>
            <a:off x="6342735"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実験結果</a:t>
            </a:r>
          </a:p>
        </p:txBody>
      </p:sp>
      <p:sp>
        <p:nvSpPr>
          <p:cNvPr id="29" name="TextBox 28"/>
          <p:cNvSpPr txBox="1"/>
          <p:nvPr/>
        </p:nvSpPr>
        <p:spPr>
          <a:xfrm>
            <a:off x="6342735"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レオロジー、燃焼試験、発泡指数、SEM観察、メカニズム</a:t>
            </a:r>
          </a:p>
        </p:txBody>
      </p:sp>
      <p:sp>
        <p:nvSpPr>
          <p:cNvPr id="30" name="TextBox 29"/>
          <p:cNvSpPr txBox="1"/>
          <p:nvPr/>
        </p:nvSpPr>
        <p:spPr>
          <a:xfrm>
            <a:off x="6342735"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18–34</a:t>
            </a:r>
          </a:p>
        </p:txBody>
      </p:sp>
      <p:sp>
        <p:nvSpPr>
          <p:cNvPr id="31" name="Rounded Rectangle 30"/>
          <p:cNvSpPr/>
          <p:nvPr/>
        </p:nvSpPr>
        <p:spPr>
          <a:xfrm>
            <a:off x="9056903"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39783"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34" name="TextBox 33"/>
          <p:cNvSpPr txBox="1"/>
          <p:nvPr/>
        </p:nvSpPr>
        <p:spPr>
          <a:xfrm>
            <a:off x="9239783"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4</a:t>
            </a:r>
          </a:p>
        </p:txBody>
      </p:sp>
      <p:sp>
        <p:nvSpPr>
          <p:cNvPr id="35" name="TextBox 34"/>
          <p:cNvSpPr txBox="1"/>
          <p:nvPr/>
        </p:nvSpPr>
        <p:spPr>
          <a:xfrm>
            <a:off x="9239783"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考察・まとめ</a:t>
            </a:r>
          </a:p>
        </p:txBody>
      </p:sp>
      <p:sp>
        <p:nvSpPr>
          <p:cNvPr id="36" name="TextBox 35"/>
          <p:cNvSpPr txBox="1"/>
          <p:nvPr/>
        </p:nvSpPr>
        <p:spPr>
          <a:xfrm>
            <a:off x="9239783"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実装シナリオ、既存品との比較、結論と今後の展望</a:t>
            </a:r>
          </a:p>
        </p:txBody>
      </p:sp>
      <p:sp>
        <p:nvSpPr>
          <p:cNvPr id="37" name="TextBox 36"/>
          <p:cNvSpPr txBox="1"/>
          <p:nvPr/>
        </p:nvSpPr>
        <p:spPr>
          <a:xfrm>
            <a:off x="9239783"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36–39</a:t>
            </a:r>
          </a:p>
        </p:txBody>
      </p:sp>
      <p:sp>
        <p:nvSpPr>
          <p:cNvPr id="38" name="Rounded Rectangle 37"/>
          <p:cNvSpPr/>
          <p:nvPr/>
        </p:nvSpPr>
        <p:spPr>
          <a:xfrm>
            <a:off x="365760" y="4864608"/>
            <a:ext cx="11460175" cy="5029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4864608"/>
            <a:ext cx="54864" cy="502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4864608"/>
            <a:ext cx="365760" cy="5029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4864608"/>
            <a:ext cx="10774375" cy="502920"/>
          </a:xfrm>
          <a:prstGeom prst="rect">
            <a:avLst/>
          </a:prstGeom>
          <a:noFill/>
        </p:spPr>
        <p:txBody>
          <a:bodyPr wrap="square" anchor="ctr" lIns="36000" rIns="36000" tIns="18000" bIns="18000">
            <a:spAutoFit/>
          </a:bodyPr>
          <a:lstStyle/>
          <a:p>
            <a:pPr algn="l"/>
            <a:r>
              <a:rPr sz="1300" b="1" i="0">
                <a:solidFill>
                  <a:srgbClr val="1E293B"/>
                </a:solidFill>
                <a:latin typeface="Noto Sans JP"/>
              </a:rPr>
              <a:t>キーメッセージ：加熱時の発泡＋シリカ粒子の焼結によりエアロゲル層が自己形成され、市販品を超える長時間保護を実現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01</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1</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研究背景</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気候変動下の山火事被害と、既存難燃技術が抱える本質的な限界</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山火事の現状</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既存WEG / 難燃剤</a:t>
            </a:r>
          </a:p>
        </p:txBody>
      </p:sp>
      <p:sp>
        <p:nvSpPr>
          <p:cNvPr id="12" name="Rounded Rectangle 11"/>
          <p:cNvSpPr/>
          <p:nvPr/>
        </p:nvSpPr>
        <p:spPr>
          <a:xfrm>
            <a:off x="4736591"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本研究の革新</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 / 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山火事被害の深刻化とWUIリスク</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 / 43</a:t>
            </a:r>
          </a:p>
        </p:txBody>
      </p:sp>
      <p:sp>
        <p:nvSpPr>
          <p:cNvPr id="10" name="Rectangle 9"/>
          <p:cNvSpPr/>
          <p:nvPr/>
        </p:nvSpPr>
        <p:spPr>
          <a:xfrm>
            <a:off x="365760" y="859536"/>
            <a:ext cx="45720" cy="1645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4538953" cy="1005840"/>
          </a:xfrm>
          <a:prstGeom prst="rect">
            <a:avLst/>
          </a:prstGeom>
          <a:noFill/>
        </p:spPr>
        <p:txBody>
          <a:bodyPr wrap="square" anchor="t" lIns="36000" rIns="36000" tIns="18000" bIns="18000">
            <a:spAutoFit/>
          </a:bodyPr>
          <a:lstStyle/>
          <a:p>
            <a:pPr algn="l"/>
            <a:r>
              <a:rPr sz="6800" b="1" i="0">
                <a:solidFill>
                  <a:srgbClr val="1E293B"/>
                </a:solidFill>
                <a:latin typeface="Noto Sans JP"/>
              </a:rPr>
              <a:t>5×</a:t>
            </a:r>
          </a:p>
        </p:txBody>
      </p:sp>
      <p:sp>
        <p:nvSpPr>
          <p:cNvPr id="12" name="TextBox 11"/>
          <p:cNvSpPr txBox="1"/>
          <p:nvPr/>
        </p:nvSpPr>
        <p:spPr>
          <a:xfrm>
            <a:off x="530352" y="1847088"/>
            <a:ext cx="4538953" cy="292608"/>
          </a:xfrm>
          <a:prstGeom prst="rect">
            <a:avLst/>
          </a:prstGeom>
          <a:noFill/>
        </p:spPr>
        <p:txBody>
          <a:bodyPr wrap="square" anchor="t" lIns="36000" rIns="36000" tIns="18000" bIns="18000">
            <a:spAutoFit/>
          </a:bodyPr>
          <a:lstStyle/>
          <a:p>
            <a:pPr algn="l"/>
            <a:r>
              <a:rPr sz="1300" b="1" i="0">
                <a:solidFill>
                  <a:srgbClr val="334155"/>
                </a:solidFill>
                <a:latin typeface="Noto Sans JP"/>
              </a:rPr>
              <a:t>大規模山火事の増加（過去30年）</a:t>
            </a:r>
          </a:p>
        </p:txBody>
      </p:sp>
      <p:sp>
        <p:nvSpPr>
          <p:cNvPr id="13" name="TextBox 12"/>
          <p:cNvSpPr txBox="1"/>
          <p:nvPr/>
        </p:nvSpPr>
        <p:spPr>
          <a:xfrm>
            <a:off x="530352" y="2139696"/>
            <a:ext cx="4538953"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気候変動・可燃物の蓄積が主要因（米・欧・豪）</a:t>
            </a:r>
          </a:p>
        </p:txBody>
      </p:sp>
      <p:sp>
        <p:nvSpPr>
          <p:cNvPr id="14" name="Rectangle 13"/>
          <p:cNvSpPr/>
          <p:nvPr/>
        </p:nvSpPr>
        <p:spPr>
          <a:xfrm>
            <a:off x="530352" y="2560320"/>
            <a:ext cx="3527659"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2761488"/>
            <a:ext cx="45720" cy="146304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2761488"/>
            <a:ext cx="4538953" cy="822960"/>
          </a:xfrm>
          <a:prstGeom prst="rect">
            <a:avLst/>
          </a:prstGeom>
          <a:noFill/>
        </p:spPr>
        <p:txBody>
          <a:bodyPr wrap="square" anchor="t" lIns="36000" rIns="36000" tIns="18000" bIns="18000">
            <a:spAutoFit/>
          </a:bodyPr>
          <a:lstStyle/>
          <a:p>
            <a:pPr algn="l"/>
            <a:r>
              <a:rPr sz="4000" b="1" i="0">
                <a:solidFill>
                  <a:srgbClr val="1E293B"/>
                </a:solidFill>
                <a:latin typeface="Noto Sans JP"/>
              </a:rPr>
              <a:t>4500万人</a:t>
            </a:r>
          </a:p>
        </p:txBody>
      </p:sp>
      <p:sp>
        <p:nvSpPr>
          <p:cNvPr id="17" name="TextBox 16"/>
          <p:cNvSpPr txBox="1"/>
          <p:nvPr/>
        </p:nvSpPr>
        <p:spPr>
          <a:xfrm>
            <a:off x="530352" y="3584448"/>
            <a:ext cx="4538953" cy="292608"/>
          </a:xfrm>
          <a:prstGeom prst="rect">
            <a:avLst/>
          </a:prstGeom>
          <a:noFill/>
        </p:spPr>
        <p:txBody>
          <a:bodyPr wrap="square" anchor="t" lIns="36000" rIns="36000" tIns="18000" bIns="18000">
            <a:spAutoFit/>
          </a:bodyPr>
          <a:lstStyle/>
          <a:p>
            <a:pPr algn="l"/>
            <a:r>
              <a:rPr sz="1300" b="1" i="0">
                <a:solidFill>
                  <a:srgbClr val="334155"/>
                </a:solidFill>
                <a:latin typeface="Noto Sans JP"/>
              </a:rPr>
              <a:t>米国WUI居住者</a:t>
            </a:r>
          </a:p>
        </p:txBody>
      </p:sp>
      <p:sp>
        <p:nvSpPr>
          <p:cNvPr id="18" name="TextBox 17"/>
          <p:cNvSpPr txBox="1"/>
          <p:nvPr/>
        </p:nvSpPr>
        <p:spPr>
          <a:xfrm>
            <a:off x="530352" y="3877056"/>
            <a:ext cx="4538953"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野生地と都市の境界帯（WUI）の高リスク層</a:t>
            </a:r>
          </a:p>
        </p:txBody>
      </p:sp>
      <p:sp>
        <p:nvSpPr>
          <p:cNvPr id="19" name="Rectangle 18"/>
          <p:cNvSpPr/>
          <p:nvPr/>
        </p:nvSpPr>
        <p:spPr>
          <a:xfrm>
            <a:off x="530352" y="4315968"/>
            <a:ext cx="423319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352" y="4480560"/>
            <a:ext cx="4538953" cy="640080"/>
          </a:xfrm>
          <a:prstGeom prst="rect">
            <a:avLst/>
          </a:prstGeom>
          <a:noFill/>
        </p:spPr>
        <p:txBody>
          <a:bodyPr wrap="square" anchor="t" lIns="36000" rIns="36000" tIns="18000" bIns="18000">
            <a:spAutoFit/>
          </a:bodyPr>
          <a:lstStyle/>
          <a:p>
            <a:pPr algn="l"/>
            <a:r>
              <a:rPr sz="1200" b="0" i="1">
                <a:solidFill>
                  <a:srgbClr val="475569"/>
                </a:solidFill>
                <a:latin typeface="Noto Sans JP"/>
              </a:rPr>
              <a:t>経済・インフラ・自然資源・WUI住民に甚大な被害 ─</a:t>
            </a:r>
          </a:p>
          <a:p>
            <a:pPr algn="l"/>
            <a:r>
              <a:rPr sz="1200" b="0" i="1">
                <a:solidFill>
                  <a:srgbClr val="475569"/>
                </a:solidFill>
                <a:latin typeface="Noto Sans JP"/>
              </a:rPr>
              <a:t>環境に優しい新たな火災遅延剤の開発が急務</a:t>
            </a:r>
          </a:p>
        </p:txBody>
      </p:sp>
      <p:sp>
        <p:nvSpPr>
          <p:cNvPr id="21" name="Rounded Rectangle 20"/>
          <p:cNvSpPr/>
          <p:nvPr/>
        </p:nvSpPr>
        <p:spPr>
          <a:xfrm>
            <a:off x="5252185" y="859536"/>
            <a:ext cx="6573749" cy="29260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361913"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61913"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Image</a:t>
            </a:r>
          </a:p>
        </p:txBody>
      </p:sp>
      <p:sp>
        <p:nvSpPr>
          <p:cNvPr id="24" name="TextBox 23"/>
          <p:cNvSpPr txBox="1"/>
          <p:nvPr/>
        </p:nvSpPr>
        <p:spPr>
          <a:xfrm>
            <a:off x="5252185" y="859536"/>
            <a:ext cx="6573749" cy="29260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5" name="TextBox 24"/>
          <p:cNvSpPr txBox="1"/>
          <p:nvPr/>
        </p:nvSpPr>
        <p:spPr>
          <a:xfrm>
            <a:off x="5252185" y="3822192"/>
            <a:ext cx="657374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山火事・WUI境界帯（写真）</a:t>
            </a:r>
          </a:p>
        </p:txBody>
      </p:sp>
      <p:sp>
        <p:nvSpPr>
          <p:cNvPr id="26" name="Rounded Rectangle 25"/>
          <p:cNvSpPr/>
          <p:nvPr/>
        </p:nvSpPr>
        <p:spPr>
          <a:xfrm>
            <a:off x="5252185" y="4206240"/>
            <a:ext cx="6573749" cy="18288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361913" y="4315968"/>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61913" y="431596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29" name="TextBox 28"/>
          <p:cNvSpPr txBox="1"/>
          <p:nvPr/>
        </p:nvSpPr>
        <p:spPr>
          <a:xfrm>
            <a:off x="5252185" y="4206240"/>
            <a:ext cx="6573749" cy="182880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0" name="TextBox 29"/>
          <p:cNvSpPr txBox="1"/>
          <p:nvPr/>
        </p:nvSpPr>
        <p:spPr>
          <a:xfrm>
            <a:off x="5361913" y="5687568"/>
            <a:ext cx="6354293"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1" name="TextBox 30"/>
          <p:cNvSpPr txBox="1"/>
          <p:nvPr/>
        </p:nvSpPr>
        <p:spPr>
          <a:xfrm>
            <a:off x="5252185" y="6071616"/>
            <a:ext cx="657374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山火事の大規模化・年間焼失面積の経年トレンド</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2/5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本研究のアプローチ：4段階の保護プロセス</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5 / 43</a:t>
            </a:r>
          </a:p>
        </p:txBody>
      </p:sp>
      <p:sp>
        <p:nvSpPr>
          <p:cNvPr id="10" name="Rounded Rectangle 9"/>
          <p:cNvSpPr/>
          <p:nvPr/>
        </p:nvSpPr>
        <p:spPr>
          <a:xfrm>
            <a:off x="365760" y="859536"/>
            <a:ext cx="11460175" cy="32004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1a</a:t>
            </a:r>
          </a:p>
        </p:txBody>
      </p:sp>
      <p:sp>
        <p:nvSpPr>
          <p:cNvPr id="13" name="TextBox 12"/>
          <p:cNvSpPr txBox="1"/>
          <p:nvPr/>
        </p:nvSpPr>
        <p:spPr>
          <a:xfrm>
            <a:off x="365760" y="859536"/>
            <a:ext cx="11460175" cy="32004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40965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難燃ゲル散布 → 火炎接触 → 熱活性化エアロゲル形成 → 構造物の保護</a:t>
            </a:r>
          </a:p>
        </p:txBody>
      </p:sp>
      <p:sp>
        <p:nvSpPr>
          <p:cNvPr id="15" name="Rounded Rectangle 14"/>
          <p:cNvSpPr/>
          <p:nvPr/>
        </p:nvSpPr>
        <p:spPr>
          <a:xfrm>
            <a:off x="1549107"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49107"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1</a:t>
            </a:r>
          </a:p>
        </p:txBody>
      </p:sp>
      <p:sp>
        <p:nvSpPr>
          <p:cNvPr id="17" name="Rectangle 16"/>
          <p:cNvSpPr/>
          <p:nvPr/>
        </p:nvSpPr>
        <p:spPr>
          <a:xfrm>
            <a:off x="3171367"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ゲル散布</a:t>
            </a:r>
          </a:p>
        </p:txBody>
      </p:sp>
      <p:sp>
        <p:nvSpPr>
          <p:cNvPr id="19" name="TextBox 18"/>
          <p:cNvSpPr txBox="1"/>
          <p:nvPr/>
        </p:nvSpPr>
        <p:spPr>
          <a:xfrm>
            <a:off x="365760"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セルロース系ゲルを</a:t>
            </a:r>
          </a:p>
          <a:p>
            <a:pPr algn="ctr"/>
            <a:r>
              <a:rPr sz="1100" b="0" i="0">
                <a:solidFill>
                  <a:srgbClr val="475569"/>
                </a:solidFill>
                <a:latin typeface="Noto Sans JP"/>
              </a:rPr>
              <a:t>建物・植生にスプレー塗布</a:t>
            </a:r>
          </a:p>
        </p:txBody>
      </p:sp>
      <p:sp>
        <p:nvSpPr>
          <p:cNvPr id="20" name="Rounded Rectangle 19"/>
          <p:cNvSpPr/>
          <p:nvPr/>
        </p:nvSpPr>
        <p:spPr>
          <a:xfrm>
            <a:off x="4446155"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46155"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2</a:t>
            </a:r>
          </a:p>
        </p:txBody>
      </p:sp>
      <p:sp>
        <p:nvSpPr>
          <p:cNvPr id="22" name="Rectangle 21"/>
          <p:cNvSpPr/>
          <p:nvPr/>
        </p:nvSpPr>
        <p:spPr>
          <a:xfrm>
            <a:off x="6068415"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62807"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火炎接触</a:t>
            </a:r>
          </a:p>
        </p:txBody>
      </p:sp>
      <p:sp>
        <p:nvSpPr>
          <p:cNvPr id="24" name="TextBox 23"/>
          <p:cNvSpPr txBox="1"/>
          <p:nvPr/>
        </p:nvSpPr>
        <p:spPr>
          <a:xfrm>
            <a:off x="3262807"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水分蒸発、ゲルが発泡</a:t>
            </a:r>
          </a:p>
          <a:p>
            <a:pPr algn="ctr"/>
            <a:r>
              <a:rPr sz="1100" b="0" i="0">
                <a:solidFill>
                  <a:srgbClr val="475569"/>
                </a:solidFill>
                <a:latin typeface="Noto Sans JP"/>
              </a:rPr>
              <a:t>しながら粒子が凝集</a:t>
            </a:r>
          </a:p>
        </p:txBody>
      </p:sp>
      <p:sp>
        <p:nvSpPr>
          <p:cNvPr id="25" name="Rounded Rectangle 24"/>
          <p:cNvSpPr/>
          <p:nvPr/>
        </p:nvSpPr>
        <p:spPr>
          <a:xfrm>
            <a:off x="7343203"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43203"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3</a:t>
            </a:r>
          </a:p>
        </p:txBody>
      </p:sp>
      <p:sp>
        <p:nvSpPr>
          <p:cNvPr id="27" name="Rectangle 26"/>
          <p:cNvSpPr/>
          <p:nvPr/>
        </p:nvSpPr>
        <p:spPr>
          <a:xfrm>
            <a:off x="8965463"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59855"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エアロゲル形成</a:t>
            </a:r>
          </a:p>
        </p:txBody>
      </p:sp>
      <p:sp>
        <p:nvSpPr>
          <p:cNvPr id="29" name="TextBox 28"/>
          <p:cNvSpPr txBox="1"/>
          <p:nvPr/>
        </p:nvSpPr>
        <p:spPr>
          <a:xfrm>
            <a:off x="6159855"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シリカ粒子が焼結し</a:t>
            </a:r>
          </a:p>
          <a:p>
            <a:pPr algn="ctr"/>
            <a:r>
              <a:rPr sz="1100" b="0" i="0">
                <a:solidFill>
                  <a:srgbClr val="475569"/>
                </a:solidFill>
                <a:latin typeface="Noto Sans JP"/>
              </a:rPr>
              <a:t>多孔質断熱層を形成</a:t>
            </a:r>
          </a:p>
        </p:txBody>
      </p:sp>
      <p:sp>
        <p:nvSpPr>
          <p:cNvPr id="30" name="Rounded Rectangle 29"/>
          <p:cNvSpPr/>
          <p:nvPr/>
        </p:nvSpPr>
        <p:spPr>
          <a:xfrm>
            <a:off x="10240251"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0251"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4</a:t>
            </a:r>
          </a:p>
        </p:txBody>
      </p:sp>
      <p:sp>
        <p:nvSpPr>
          <p:cNvPr id="32" name="TextBox 31"/>
          <p:cNvSpPr txBox="1"/>
          <p:nvPr/>
        </p:nvSpPr>
        <p:spPr>
          <a:xfrm>
            <a:off x="9056903"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継続保護</a:t>
            </a:r>
          </a:p>
        </p:txBody>
      </p:sp>
      <p:sp>
        <p:nvSpPr>
          <p:cNvPr id="33" name="TextBox 32"/>
          <p:cNvSpPr txBox="1"/>
          <p:nvPr/>
        </p:nvSpPr>
        <p:spPr>
          <a:xfrm>
            <a:off x="9056903"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超低熱伝導の断熱層が</a:t>
            </a:r>
          </a:p>
          <a:p>
            <a:pPr algn="ctr"/>
            <a:r>
              <a:rPr sz="1100" b="0" i="0">
                <a:solidFill>
                  <a:srgbClr val="475569"/>
                </a:solidFill>
                <a:latin typeface="Noto Sans JP"/>
              </a:rPr>
              <a:t>基材を継続的に守る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3/5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既存の山火事用消火剤と、その限界（米国森林局の3分類）</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6 / 43</a:t>
            </a:r>
          </a:p>
        </p:txBody>
      </p:sp>
      <p:sp>
        <p:nvSpPr>
          <p:cNvPr id="10" name="Rounded Rectangle 9"/>
          <p:cNvSpPr/>
          <p:nvPr/>
        </p:nvSpPr>
        <p:spPr>
          <a:xfrm>
            <a:off x="365760" y="859536"/>
            <a:ext cx="3685946" cy="5047488"/>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685946"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024128"/>
            <a:ext cx="3320186" cy="1078992"/>
          </a:xfrm>
          <a:prstGeom prst="roundRect">
            <a:avLst>
              <a:gd name="adj" fmla="val 3000"/>
            </a:avLst>
          </a:prstGeom>
          <a:solidFill>
            <a:srgbClr val="A8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1865741"/>
            <a:ext cx="3320186" cy="237378"/>
          </a:xfrm>
          <a:prstGeom prst="rect">
            <a:avLst/>
          </a:prstGeom>
          <a:solidFill>
            <a:srgbClr val="6AA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1865741"/>
            <a:ext cx="3320186" cy="16459"/>
          </a:xfrm>
          <a:prstGeom prst="rect">
            <a:avLst/>
          </a:prstGeom>
          <a:solidFill>
            <a:srgbClr val="4E88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80658" y="1261506"/>
            <a:ext cx="996055" cy="86319"/>
          </a:xfrm>
          <a:prstGeom prst="rect">
            <a:avLst/>
          </a:prstGeom>
          <a:solidFill>
            <a:srgbClr val="556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159554" y="1175186"/>
            <a:ext cx="332018" cy="237378"/>
          </a:xfrm>
          <a:prstGeom prst="rect">
            <a:avLst/>
          </a:prstGeom>
          <a:solidFill>
            <a:srgbClr val="556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13860" y="1153607"/>
            <a:ext cx="132807" cy="129479"/>
          </a:xfrm>
          <a:prstGeom prst="rect">
            <a:avLst/>
          </a:prstGeom>
          <a:solidFill>
            <a:srgbClr val="556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710705" y="1498884"/>
            <a:ext cx="132807" cy="94951"/>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009521" y="1595993"/>
            <a:ext cx="119526" cy="84161"/>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2275136" y="1520464"/>
            <a:ext cx="126167" cy="88477"/>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943118" y="1725472"/>
            <a:ext cx="106245" cy="75529"/>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2474348" y="1649943"/>
            <a:ext cx="112886" cy="79845"/>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208733" y="1779422"/>
            <a:ext cx="99605" cy="71213"/>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2607155" y="1563624"/>
            <a:ext cx="92965" cy="66897"/>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2212848"/>
            <a:ext cx="3320186" cy="329184"/>
          </a:xfrm>
          <a:prstGeom prst="rect">
            <a:avLst/>
          </a:prstGeom>
          <a:noFill/>
        </p:spPr>
        <p:txBody>
          <a:bodyPr wrap="square" anchor="t" lIns="36000" rIns="36000" tIns="18000" bIns="18000">
            <a:spAutoFit/>
          </a:bodyPr>
          <a:lstStyle/>
          <a:p>
            <a:pPr algn="l"/>
            <a:r>
              <a:rPr sz="1600" b="1" i="0">
                <a:solidFill>
                  <a:srgbClr val="1E293B"/>
                </a:solidFill>
                <a:latin typeface="Noto Sans JP"/>
              </a:rPr>
              <a:t>長期遅延剤</a:t>
            </a:r>
          </a:p>
        </p:txBody>
      </p:sp>
      <p:sp>
        <p:nvSpPr>
          <p:cNvPr id="26" name="TextBox 25"/>
          <p:cNvSpPr txBox="1"/>
          <p:nvPr/>
        </p:nvSpPr>
        <p:spPr>
          <a:xfrm>
            <a:off x="548640" y="2542032"/>
            <a:ext cx="3320186" cy="201168"/>
          </a:xfrm>
          <a:prstGeom prst="rect">
            <a:avLst/>
          </a:prstGeom>
          <a:noFill/>
        </p:spPr>
        <p:txBody>
          <a:bodyPr wrap="square" anchor="t" lIns="36000" rIns="36000" tIns="18000" bIns="18000">
            <a:spAutoFit/>
          </a:bodyPr>
          <a:lstStyle/>
          <a:p>
            <a:pPr algn="l"/>
            <a:r>
              <a:rPr sz="900" b="0" i="1">
                <a:solidFill>
                  <a:srgbClr val="64748B"/>
                </a:solidFill>
                <a:latin typeface="Noto Sans JP"/>
              </a:rPr>
              <a:t>Long-term retardant</a:t>
            </a:r>
          </a:p>
        </p:txBody>
      </p:sp>
      <p:sp>
        <p:nvSpPr>
          <p:cNvPr id="27" name="Rectangle 26"/>
          <p:cNvSpPr/>
          <p:nvPr/>
        </p:nvSpPr>
        <p:spPr>
          <a:xfrm>
            <a:off x="548640" y="2798064"/>
            <a:ext cx="3320186"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2889504"/>
            <a:ext cx="3320186" cy="201168"/>
          </a:xfrm>
          <a:prstGeom prst="rect">
            <a:avLst/>
          </a:prstGeom>
          <a:noFill/>
        </p:spPr>
        <p:txBody>
          <a:bodyPr wrap="square" anchor="t" lIns="36000" rIns="36000" tIns="18000" bIns="18000">
            <a:spAutoFit/>
          </a:bodyPr>
          <a:lstStyle/>
          <a:p>
            <a:pPr algn="l"/>
            <a:r>
              <a:rPr sz="900" b="1" i="0">
                <a:solidFill>
                  <a:srgbClr val="3B5174"/>
                </a:solidFill>
                <a:latin typeface="Noto Sans JP"/>
              </a:rPr>
              <a:t>例</a:t>
            </a:r>
          </a:p>
        </p:txBody>
      </p:sp>
      <p:sp>
        <p:nvSpPr>
          <p:cNvPr id="29" name="TextBox 28"/>
          <p:cNvSpPr txBox="1"/>
          <p:nvPr/>
        </p:nvSpPr>
        <p:spPr>
          <a:xfrm>
            <a:off x="548640" y="3072384"/>
            <a:ext cx="3320186" cy="365760"/>
          </a:xfrm>
          <a:prstGeom prst="rect">
            <a:avLst/>
          </a:prstGeom>
          <a:noFill/>
        </p:spPr>
        <p:txBody>
          <a:bodyPr wrap="square" anchor="t" lIns="36000" rIns="36000" tIns="18000" bIns="18000">
            <a:spAutoFit/>
          </a:bodyPr>
          <a:lstStyle/>
          <a:p>
            <a:pPr algn="l"/>
            <a:r>
              <a:rPr sz="1100" b="1" i="0">
                <a:solidFill>
                  <a:srgbClr val="475569"/>
                </a:solidFill>
                <a:latin typeface="Noto Sans JP"/>
              </a:rPr>
              <a:t>Phos-Chek（リン酸塩系スラリー）</a:t>
            </a:r>
          </a:p>
        </p:txBody>
      </p:sp>
      <p:sp>
        <p:nvSpPr>
          <p:cNvPr id="30" name="TextBox 29"/>
          <p:cNvSpPr txBox="1"/>
          <p:nvPr/>
        </p:nvSpPr>
        <p:spPr>
          <a:xfrm>
            <a:off x="548640" y="3493008"/>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主成分</a:t>
            </a:r>
          </a:p>
        </p:txBody>
      </p:sp>
      <p:sp>
        <p:nvSpPr>
          <p:cNvPr id="31" name="TextBox 30"/>
          <p:cNvSpPr txBox="1"/>
          <p:nvPr/>
        </p:nvSpPr>
        <p:spPr>
          <a:xfrm>
            <a:off x="548640" y="3675888"/>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リン酸アンモニウム等の化学物質</a:t>
            </a:r>
          </a:p>
        </p:txBody>
      </p:sp>
      <p:sp>
        <p:nvSpPr>
          <p:cNvPr id="32" name="TextBox 31"/>
          <p:cNvSpPr txBox="1"/>
          <p:nvPr/>
        </p:nvSpPr>
        <p:spPr>
          <a:xfrm>
            <a:off x="548640" y="4096512"/>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効果・保持</a:t>
            </a:r>
          </a:p>
        </p:txBody>
      </p:sp>
      <p:sp>
        <p:nvSpPr>
          <p:cNvPr id="33" name="TextBox 32"/>
          <p:cNvSpPr txBox="1"/>
          <p:nvPr/>
        </p:nvSpPr>
        <p:spPr>
          <a:xfrm>
            <a:off x="548640" y="4279391"/>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残留物がある限り効果が持続</a:t>
            </a:r>
          </a:p>
        </p:txBody>
      </p:sp>
      <p:sp>
        <p:nvSpPr>
          <p:cNvPr id="34" name="TextBox 33"/>
          <p:cNvSpPr txBox="1"/>
          <p:nvPr/>
        </p:nvSpPr>
        <p:spPr>
          <a:xfrm>
            <a:off x="548640" y="4700016"/>
            <a:ext cx="3320186" cy="201168"/>
          </a:xfrm>
          <a:prstGeom prst="rect">
            <a:avLst/>
          </a:prstGeom>
          <a:noFill/>
        </p:spPr>
        <p:txBody>
          <a:bodyPr wrap="square" anchor="t" lIns="36000" rIns="36000" tIns="18000" bIns="18000">
            <a:spAutoFit/>
          </a:bodyPr>
          <a:lstStyle/>
          <a:p>
            <a:pPr algn="l"/>
            <a:r>
              <a:rPr sz="900" b="1" i="0">
                <a:solidFill>
                  <a:srgbClr val="A05656"/>
                </a:solidFill>
                <a:latin typeface="Noto Sans JP"/>
              </a:rPr>
              <a:t>課題</a:t>
            </a:r>
          </a:p>
        </p:txBody>
      </p:sp>
      <p:sp>
        <p:nvSpPr>
          <p:cNvPr id="35" name="TextBox 34"/>
          <p:cNvSpPr txBox="1"/>
          <p:nvPr/>
        </p:nvSpPr>
        <p:spPr>
          <a:xfrm>
            <a:off x="548640" y="4882896"/>
            <a:ext cx="3320186" cy="859536"/>
          </a:xfrm>
          <a:prstGeom prst="rect">
            <a:avLst/>
          </a:prstGeom>
          <a:noFill/>
        </p:spPr>
        <p:txBody>
          <a:bodyPr wrap="square" anchor="t" lIns="36000" rIns="36000" tIns="18000" bIns="18000">
            <a:spAutoFit/>
          </a:bodyPr>
          <a:lstStyle/>
          <a:p>
            <a:pPr algn="l"/>
            <a:r>
              <a:rPr sz="1100" b="1" i="0">
                <a:solidFill>
                  <a:srgbClr val="A05656"/>
                </a:solidFill>
                <a:latin typeface="Noto Sans JP"/>
              </a:rPr>
              <a:t>化学物質が対象物に残留する</a:t>
            </a:r>
          </a:p>
        </p:txBody>
      </p:sp>
      <p:sp>
        <p:nvSpPr>
          <p:cNvPr id="36" name="Rounded Rectangle 35"/>
          <p:cNvSpPr/>
          <p:nvPr/>
        </p:nvSpPr>
        <p:spPr>
          <a:xfrm>
            <a:off x="4252874" y="859536"/>
            <a:ext cx="3685946" cy="5047488"/>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252874" y="859536"/>
            <a:ext cx="3685946"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4435754" y="1024128"/>
            <a:ext cx="3320186" cy="1078992"/>
          </a:xfrm>
          <a:prstGeom prst="roundRect">
            <a:avLst>
              <a:gd name="adj" fmla="val 3000"/>
            </a:avLst>
          </a:prstGeom>
          <a:solidFill>
            <a:srgbClr val="BEE0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502158" y="1563624"/>
            <a:ext cx="232413" cy="431596"/>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01763" y="1412565"/>
            <a:ext cx="332018" cy="302117"/>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867378" y="1488094"/>
            <a:ext cx="132807" cy="151058"/>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5033387" y="1261506"/>
            <a:ext cx="464826" cy="32369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5365406" y="1175186"/>
            <a:ext cx="531229" cy="34527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5763828" y="1229136"/>
            <a:ext cx="464826" cy="30211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129049" y="1175186"/>
            <a:ext cx="498027" cy="32369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6494269" y="1239926"/>
            <a:ext cx="431624" cy="28053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6826288" y="1196766"/>
            <a:ext cx="464826" cy="30211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7158307" y="1283086"/>
            <a:ext cx="398422" cy="258958"/>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199397" y="1498884"/>
            <a:ext cx="498027" cy="323697"/>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564617" y="1434144"/>
            <a:ext cx="531229" cy="345277"/>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63040" y="1498884"/>
            <a:ext cx="464826" cy="30211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328260" y="1434144"/>
            <a:ext cx="464826" cy="302117"/>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693481" y="1498884"/>
            <a:ext cx="431624" cy="28053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7058701" y="1412565"/>
            <a:ext cx="398422" cy="258958"/>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7357518" y="1347825"/>
            <a:ext cx="332018" cy="215798"/>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435754" y="2212848"/>
            <a:ext cx="3320186" cy="329184"/>
          </a:xfrm>
          <a:prstGeom prst="rect">
            <a:avLst/>
          </a:prstGeom>
          <a:noFill/>
        </p:spPr>
        <p:txBody>
          <a:bodyPr wrap="square" anchor="t" lIns="36000" rIns="36000" tIns="18000" bIns="18000">
            <a:spAutoFit/>
          </a:bodyPr>
          <a:lstStyle/>
          <a:p>
            <a:pPr algn="l"/>
            <a:r>
              <a:rPr sz="1600" b="1" i="0">
                <a:solidFill>
                  <a:srgbClr val="1E293B"/>
                </a:solidFill>
                <a:latin typeface="Noto Sans JP"/>
              </a:rPr>
              <a:t>泡消火剤</a:t>
            </a:r>
          </a:p>
        </p:txBody>
      </p:sp>
      <p:sp>
        <p:nvSpPr>
          <p:cNvPr id="57" name="TextBox 56"/>
          <p:cNvSpPr txBox="1"/>
          <p:nvPr/>
        </p:nvSpPr>
        <p:spPr>
          <a:xfrm>
            <a:off x="4435754" y="2542032"/>
            <a:ext cx="3320186" cy="201168"/>
          </a:xfrm>
          <a:prstGeom prst="rect">
            <a:avLst/>
          </a:prstGeom>
          <a:noFill/>
        </p:spPr>
        <p:txBody>
          <a:bodyPr wrap="square" anchor="t" lIns="36000" rIns="36000" tIns="18000" bIns="18000">
            <a:spAutoFit/>
          </a:bodyPr>
          <a:lstStyle/>
          <a:p>
            <a:pPr algn="l"/>
            <a:r>
              <a:rPr sz="900" b="0" i="1">
                <a:solidFill>
                  <a:srgbClr val="64748B"/>
                </a:solidFill>
                <a:latin typeface="Noto Sans JP"/>
              </a:rPr>
              <a:t>Foam suppressant</a:t>
            </a:r>
          </a:p>
        </p:txBody>
      </p:sp>
      <p:sp>
        <p:nvSpPr>
          <p:cNvPr id="58" name="Rectangle 57"/>
          <p:cNvSpPr/>
          <p:nvPr/>
        </p:nvSpPr>
        <p:spPr>
          <a:xfrm>
            <a:off x="4435754" y="2798064"/>
            <a:ext cx="3320186"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435754" y="2889504"/>
            <a:ext cx="3320186" cy="201168"/>
          </a:xfrm>
          <a:prstGeom prst="rect">
            <a:avLst/>
          </a:prstGeom>
          <a:noFill/>
        </p:spPr>
        <p:txBody>
          <a:bodyPr wrap="square" anchor="t" lIns="36000" rIns="36000" tIns="18000" bIns="18000">
            <a:spAutoFit/>
          </a:bodyPr>
          <a:lstStyle/>
          <a:p>
            <a:pPr algn="l"/>
            <a:r>
              <a:rPr sz="900" b="1" i="0">
                <a:solidFill>
                  <a:srgbClr val="3B5174"/>
                </a:solidFill>
                <a:latin typeface="Noto Sans JP"/>
              </a:rPr>
              <a:t>例</a:t>
            </a:r>
          </a:p>
        </p:txBody>
      </p:sp>
      <p:sp>
        <p:nvSpPr>
          <p:cNvPr id="60" name="TextBox 59"/>
          <p:cNvSpPr txBox="1"/>
          <p:nvPr/>
        </p:nvSpPr>
        <p:spPr>
          <a:xfrm>
            <a:off x="4435754" y="3072384"/>
            <a:ext cx="3320186" cy="365760"/>
          </a:xfrm>
          <a:prstGeom prst="rect">
            <a:avLst/>
          </a:prstGeom>
          <a:noFill/>
        </p:spPr>
        <p:txBody>
          <a:bodyPr wrap="square" anchor="t" lIns="36000" rIns="36000" tIns="18000" bIns="18000">
            <a:spAutoFit/>
          </a:bodyPr>
          <a:lstStyle/>
          <a:p>
            <a:pPr algn="l"/>
            <a:r>
              <a:rPr sz="1100" b="1" i="0">
                <a:solidFill>
                  <a:srgbClr val="475569"/>
                </a:solidFill>
                <a:latin typeface="Noto Sans JP"/>
              </a:rPr>
              <a:t>Class A フォーム／旧 AFFF</a:t>
            </a:r>
          </a:p>
        </p:txBody>
      </p:sp>
      <p:sp>
        <p:nvSpPr>
          <p:cNvPr id="61" name="TextBox 60"/>
          <p:cNvSpPr txBox="1"/>
          <p:nvPr/>
        </p:nvSpPr>
        <p:spPr>
          <a:xfrm>
            <a:off x="4435754" y="3493008"/>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主成分</a:t>
            </a:r>
          </a:p>
        </p:txBody>
      </p:sp>
      <p:sp>
        <p:nvSpPr>
          <p:cNvPr id="62" name="TextBox 61"/>
          <p:cNvSpPr txBox="1"/>
          <p:nvPr/>
        </p:nvSpPr>
        <p:spPr>
          <a:xfrm>
            <a:off x="4435754" y="3675888"/>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界面活性剤（旧来はフッ素系）</a:t>
            </a:r>
          </a:p>
        </p:txBody>
      </p:sp>
      <p:sp>
        <p:nvSpPr>
          <p:cNvPr id="63" name="TextBox 62"/>
          <p:cNvSpPr txBox="1"/>
          <p:nvPr/>
        </p:nvSpPr>
        <p:spPr>
          <a:xfrm>
            <a:off x="4435754" y="4096512"/>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効果・保持</a:t>
            </a:r>
          </a:p>
        </p:txBody>
      </p:sp>
      <p:sp>
        <p:nvSpPr>
          <p:cNvPr id="64" name="TextBox 63"/>
          <p:cNvSpPr txBox="1"/>
          <p:nvPr/>
        </p:nvSpPr>
        <p:spPr>
          <a:xfrm>
            <a:off x="4435754" y="4279391"/>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水分保持 15〜30分（短期的）</a:t>
            </a:r>
          </a:p>
        </p:txBody>
      </p:sp>
      <p:sp>
        <p:nvSpPr>
          <p:cNvPr id="65" name="TextBox 64"/>
          <p:cNvSpPr txBox="1"/>
          <p:nvPr/>
        </p:nvSpPr>
        <p:spPr>
          <a:xfrm>
            <a:off x="4435754" y="4700016"/>
            <a:ext cx="3320186" cy="201168"/>
          </a:xfrm>
          <a:prstGeom prst="rect">
            <a:avLst/>
          </a:prstGeom>
          <a:noFill/>
        </p:spPr>
        <p:txBody>
          <a:bodyPr wrap="square" anchor="t" lIns="36000" rIns="36000" tIns="18000" bIns="18000">
            <a:spAutoFit/>
          </a:bodyPr>
          <a:lstStyle/>
          <a:p>
            <a:pPr algn="l"/>
            <a:r>
              <a:rPr sz="900" b="1" i="0">
                <a:solidFill>
                  <a:srgbClr val="A05656"/>
                </a:solidFill>
                <a:latin typeface="Noto Sans JP"/>
              </a:rPr>
              <a:t>課題</a:t>
            </a:r>
          </a:p>
        </p:txBody>
      </p:sp>
      <p:sp>
        <p:nvSpPr>
          <p:cNvPr id="66" name="TextBox 65"/>
          <p:cNvSpPr txBox="1"/>
          <p:nvPr/>
        </p:nvSpPr>
        <p:spPr>
          <a:xfrm>
            <a:off x="4435754" y="4882896"/>
            <a:ext cx="3320186" cy="859536"/>
          </a:xfrm>
          <a:prstGeom prst="rect">
            <a:avLst/>
          </a:prstGeom>
          <a:noFill/>
        </p:spPr>
        <p:txBody>
          <a:bodyPr wrap="square" anchor="t" lIns="36000" rIns="36000" tIns="18000" bIns="18000">
            <a:spAutoFit/>
          </a:bodyPr>
          <a:lstStyle/>
          <a:p>
            <a:pPr algn="l"/>
            <a:r>
              <a:rPr sz="1100" b="1" i="0">
                <a:solidFill>
                  <a:srgbClr val="A05656"/>
                </a:solidFill>
                <a:latin typeface="Noto Sans JP"/>
              </a:rPr>
              <a:t>乾燥で効果消失／フッ素系は生体蓄積・環境毒性</a:t>
            </a:r>
          </a:p>
        </p:txBody>
      </p:sp>
      <p:sp>
        <p:nvSpPr>
          <p:cNvPr id="67" name="Rounded Rectangle 66"/>
          <p:cNvSpPr/>
          <p:nvPr/>
        </p:nvSpPr>
        <p:spPr>
          <a:xfrm>
            <a:off x="8139988" y="859536"/>
            <a:ext cx="3685946" cy="5047488"/>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8139988" y="859536"/>
            <a:ext cx="3685946" cy="457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ounded Rectangle 68"/>
          <p:cNvSpPr/>
          <p:nvPr/>
        </p:nvSpPr>
        <p:spPr>
          <a:xfrm>
            <a:off x="8322868" y="1024128"/>
            <a:ext cx="3320186" cy="1078992"/>
          </a:xfrm>
          <a:prstGeom prst="roundRect">
            <a:avLst>
              <a:gd name="adj" fmla="val 3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8322868" y="1973640"/>
            <a:ext cx="3320186" cy="129479"/>
          </a:xfrm>
          <a:prstGeom prst="rect">
            <a:avLst/>
          </a:prstGeom>
          <a:solidFill>
            <a:srgbClr val="2E4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9352126" y="1477304"/>
            <a:ext cx="1261670" cy="561075"/>
          </a:xfrm>
          <a:prstGeom prst="ellipse">
            <a:avLst/>
          </a:prstGeom>
          <a:solidFill>
            <a:srgbClr val="4AAA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9451732" y="1542044"/>
            <a:ext cx="1062459" cy="431596"/>
          </a:xfrm>
          <a:prstGeom prst="rect">
            <a:avLst/>
          </a:prstGeom>
          <a:solidFill>
            <a:srgbClr val="E8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Isosceles Triangle 72"/>
          <p:cNvSpPr/>
          <p:nvPr/>
        </p:nvSpPr>
        <p:spPr>
          <a:xfrm>
            <a:off x="9385328" y="1218346"/>
            <a:ext cx="1195267" cy="345277"/>
          </a:xfrm>
          <a:prstGeom prst="triangle">
            <a:avLst/>
          </a:prstGeom>
          <a:solidFill>
            <a:srgbClr val="CCD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9557977" y="1602467"/>
            <a:ext cx="276239" cy="129479"/>
          </a:xfrm>
          <a:prstGeom prst="rect">
            <a:avLst/>
          </a:prstGeom>
          <a:solidFill>
            <a:srgbClr val="70AA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10089207" y="1602467"/>
            <a:ext cx="276239" cy="129479"/>
          </a:xfrm>
          <a:prstGeom prst="rect">
            <a:avLst/>
          </a:prstGeom>
          <a:solidFill>
            <a:srgbClr val="70AA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9834217" y="1792370"/>
            <a:ext cx="297488" cy="181270"/>
          </a:xfrm>
          <a:prstGeom prst="rect">
            <a:avLst/>
          </a:prstGeom>
          <a:solidFill>
            <a:srgbClr val="70AA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8654887" y="1239926"/>
            <a:ext cx="92965" cy="82003"/>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820896" y="1477304"/>
            <a:ext cx="79684" cy="69055"/>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8986905" y="1347825"/>
            <a:ext cx="86324" cy="75529"/>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0979017" y="1261506"/>
            <a:ext cx="86324" cy="79845"/>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1111825" y="1477304"/>
            <a:ext cx="79684" cy="71213"/>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0846210" y="1606783"/>
            <a:ext cx="92965" cy="75529"/>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322868" y="2212848"/>
            <a:ext cx="3320186" cy="329184"/>
          </a:xfrm>
          <a:prstGeom prst="rect">
            <a:avLst/>
          </a:prstGeom>
          <a:noFill/>
        </p:spPr>
        <p:txBody>
          <a:bodyPr wrap="square" anchor="t" lIns="36000" rIns="36000" tIns="18000" bIns="18000">
            <a:spAutoFit/>
          </a:bodyPr>
          <a:lstStyle/>
          <a:p>
            <a:pPr algn="l"/>
            <a:r>
              <a:rPr sz="1600" b="1" i="0">
                <a:solidFill>
                  <a:srgbClr val="FFFFFF"/>
                </a:solidFill>
                <a:latin typeface="Noto Sans JP"/>
              </a:rPr>
              <a:t>水強化ゲル（WEG）</a:t>
            </a:r>
          </a:p>
        </p:txBody>
      </p:sp>
      <p:sp>
        <p:nvSpPr>
          <p:cNvPr id="84" name="TextBox 83"/>
          <p:cNvSpPr txBox="1"/>
          <p:nvPr/>
        </p:nvSpPr>
        <p:spPr>
          <a:xfrm>
            <a:off x="8322868" y="2542032"/>
            <a:ext cx="3320186" cy="201168"/>
          </a:xfrm>
          <a:prstGeom prst="rect">
            <a:avLst/>
          </a:prstGeom>
          <a:noFill/>
        </p:spPr>
        <p:txBody>
          <a:bodyPr wrap="square" anchor="t" lIns="36000" rIns="36000" tIns="18000" bIns="18000">
            <a:spAutoFit/>
          </a:bodyPr>
          <a:lstStyle/>
          <a:p>
            <a:pPr algn="l"/>
            <a:r>
              <a:rPr sz="900" b="0" i="1">
                <a:solidFill>
                  <a:srgbClr val="A0B8D0"/>
                </a:solidFill>
                <a:latin typeface="Noto Sans JP"/>
              </a:rPr>
              <a:t>Water-enhancing gel</a:t>
            </a:r>
          </a:p>
        </p:txBody>
      </p:sp>
      <p:sp>
        <p:nvSpPr>
          <p:cNvPr id="85" name="Rectangle 84"/>
          <p:cNvSpPr/>
          <p:nvPr/>
        </p:nvSpPr>
        <p:spPr>
          <a:xfrm>
            <a:off x="8322868" y="2798064"/>
            <a:ext cx="3320186" cy="10972"/>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322868" y="2889504"/>
            <a:ext cx="3320186" cy="201168"/>
          </a:xfrm>
          <a:prstGeom prst="rect">
            <a:avLst/>
          </a:prstGeom>
          <a:noFill/>
        </p:spPr>
        <p:txBody>
          <a:bodyPr wrap="square" anchor="t" lIns="36000" rIns="36000" tIns="18000" bIns="18000">
            <a:spAutoFit/>
          </a:bodyPr>
          <a:lstStyle/>
          <a:p>
            <a:pPr algn="l"/>
            <a:r>
              <a:rPr sz="900" b="1" i="0">
                <a:solidFill>
                  <a:srgbClr val="D4A574"/>
                </a:solidFill>
                <a:latin typeface="Noto Sans JP"/>
              </a:rPr>
              <a:t>例</a:t>
            </a:r>
          </a:p>
        </p:txBody>
      </p:sp>
      <p:sp>
        <p:nvSpPr>
          <p:cNvPr id="87" name="TextBox 86"/>
          <p:cNvSpPr txBox="1"/>
          <p:nvPr/>
        </p:nvSpPr>
        <p:spPr>
          <a:xfrm>
            <a:off x="8322868" y="3072384"/>
            <a:ext cx="3320186" cy="365760"/>
          </a:xfrm>
          <a:prstGeom prst="rect">
            <a:avLst/>
          </a:prstGeom>
          <a:noFill/>
        </p:spPr>
        <p:txBody>
          <a:bodyPr wrap="square" anchor="t" lIns="36000" rIns="36000" tIns="18000" bIns="18000">
            <a:spAutoFit/>
          </a:bodyPr>
          <a:lstStyle/>
          <a:p>
            <a:pPr algn="l"/>
            <a:r>
              <a:rPr sz="1100" b="1" i="0">
                <a:solidFill>
                  <a:srgbClr val="D8E2EE"/>
                </a:solidFill>
                <a:latin typeface="Noto Sans JP"/>
              </a:rPr>
              <a:t>Barricade／Thermo-Gel／AquaGel-K</a:t>
            </a:r>
          </a:p>
        </p:txBody>
      </p:sp>
      <p:sp>
        <p:nvSpPr>
          <p:cNvPr id="88" name="TextBox 87"/>
          <p:cNvSpPr txBox="1"/>
          <p:nvPr/>
        </p:nvSpPr>
        <p:spPr>
          <a:xfrm>
            <a:off x="8322868" y="3493008"/>
            <a:ext cx="3320186" cy="201168"/>
          </a:xfrm>
          <a:prstGeom prst="rect">
            <a:avLst/>
          </a:prstGeom>
          <a:noFill/>
        </p:spPr>
        <p:txBody>
          <a:bodyPr wrap="square" anchor="t" lIns="36000" rIns="36000" tIns="18000" bIns="18000">
            <a:spAutoFit/>
          </a:bodyPr>
          <a:lstStyle/>
          <a:p>
            <a:pPr algn="l"/>
            <a:r>
              <a:rPr sz="900" b="1" i="0">
                <a:solidFill>
                  <a:srgbClr val="88A0B8"/>
                </a:solidFill>
                <a:latin typeface="Noto Sans JP"/>
              </a:rPr>
              <a:t>主成分</a:t>
            </a:r>
          </a:p>
        </p:txBody>
      </p:sp>
      <p:sp>
        <p:nvSpPr>
          <p:cNvPr id="89" name="TextBox 88"/>
          <p:cNvSpPr txBox="1"/>
          <p:nvPr/>
        </p:nvSpPr>
        <p:spPr>
          <a:xfrm>
            <a:off x="8322868" y="3675888"/>
            <a:ext cx="3320186" cy="365760"/>
          </a:xfrm>
          <a:prstGeom prst="rect">
            <a:avLst/>
          </a:prstGeom>
          <a:noFill/>
        </p:spPr>
        <p:txBody>
          <a:bodyPr wrap="square" anchor="t" lIns="36000" rIns="36000" tIns="18000" bIns="18000">
            <a:spAutoFit/>
          </a:bodyPr>
          <a:lstStyle/>
          <a:p>
            <a:pPr algn="l"/>
            <a:r>
              <a:rPr sz="1100" b="0" i="0">
                <a:solidFill>
                  <a:srgbClr val="D8E2EE"/>
                </a:solidFill>
                <a:latin typeface="Noto Sans JP"/>
              </a:rPr>
              <a:t>高吸水性ポリマー（環境配慮型）</a:t>
            </a:r>
          </a:p>
        </p:txBody>
      </p:sp>
      <p:sp>
        <p:nvSpPr>
          <p:cNvPr id="90" name="TextBox 89"/>
          <p:cNvSpPr txBox="1"/>
          <p:nvPr/>
        </p:nvSpPr>
        <p:spPr>
          <a:xfrm>
            <a:off x="8322868" y="4096512"/>
            <a:ext cx="3320186" cy="201168"/>
          </a:xfrm>
          <a:prstGeom prst="rect">
            <a:avLst/>
          </a:prstGeom>
          <a:noFill/>
        </p:spPr>
        <p:txBody>
          <a:bodyPr wrap="square" anchor="t" lIns="36000" rIns="36000" tIns="18000" bIns="18000">
            <a:spAutoFit/>
          </a:bodyPr>
          <a:lstStyle/>
          <a:p>
            <a:pPr algn="l"/>
            <a:r>
              <a:rPr sz="900" b="1" i="0">
                <a:solidFill>
                  <a:srgbClr val="88A0B8"/>
                </a:solidFill>
                <a:latin typeface="Noto Sans JP"/>
              </a:rPr>
              <a:t>効果・保持</a:t>
            </a:r>
          </a:p>
        </p:txBody>
      </p:sp>
      <p:sp>
        <p:nvSpPr>
          <p:cNvPr id="91" name="TextBox 90"/>
          <p:cNvSpPr txBox="1"/>
          <p:nvPr/>
        </p:nvSpPr>
        <p:spPr>
          <a:xfrm>
            <a:off x="8322868" y="4279391"/>
            <a:ext cx="3320186" cy="365760"/>
          </a:xfrm>
          <a:prstGeom prst="rect">
            <a:avLst/>
          </a:prstGeom>
          <a:noFill/>
        </p:spPr>
        <p:txBody>
          <a:bodyPr wrap="square" anchor="t" lIns="36000" rIns="36000" tIns="18000" bIns="18000">
            <a:spAutoFit/>
          </a:bodyPr>
          <a:lstStyle/>
          <a:p>
            <a:pPr algn="l"/>
            <a:r>
              <a:rPr sz="1100" b="0" i="0">
                <a:solidFill>
                  <a:srgbClr val="D8E2EE"/>
                </a:solidFill>
                <a:latin typeface="Noto Sans JP"/>
              </a:rPr>
              <a:t>水分保持 30〜60分・建物保護に有効</a:t>
            </a:r>
          </a:p>
        </p:txBody>
      </p:sp>
      <p:sp>
        <p:nvSpPr>
          <p:cNvPr id="92" name="TextBox 91"/>
          <p:cNvSpPr txBox="1"/>
          <p:nvPr/>
        </p:nvSpPr>
        <p:spPr>
          <a:xfrm>
            <a:off x="8322868" y="4700016"/>
            <a:ext cx="3320186" cy="201168"/>
          </a:xfrm>
          <a:prstGeom prst="rect">
            <a:avLst/>
          </a:prstGeom>
          <a:noFill/>
        </p:spPr>
        <p:txBody>
          <a:bodyPr wrap="square" anchor="t" lIns="36000" rIns="36000" tIns="18000" bIns="18000">
            <a:spAutoFit/>
          </a:bodyPr>
          <a:lstStyle/>
          <a:p>
            <a:pPr algn="l"/>
            <a:r>
              <a:rPr sz="900" b="1" i="0">
                <a:solidFill>
                  <a:srgbClr val="D4A574"/>
                </a:solidFill>
                <a:latin typeface="Noto Sans JP"/>
              </a:rPr>
              <a:t>課題</a:t>
            </a:r>
          </a:p>
        </p:txBody>
      </p:sp>
      <p:sp>
        <p:nvSpPr>
          <p:cNvPr id="93" name="TextBox 92"/>
          <p:cNvSpPr txBox="1"/>
          <p:nvPr/>
        </p:nvSpPr>
        <p:spPr>
          <a:xfrm>
            <a:off x="8322868" y="4882896"/>
            <a:ext cx="3320186" cy="859536"/>
          </a:xfrm>
          <a:prstGeom prst="rect">
            <a:avLst/>
          </a:prstGeom>
          <a:noFill/>
        </p:spPr>
        <p:txBody>
          <a:bodyPr wrap="square" anchor="t" lIns="36000" rIns="36000" tIns="18000" bIns="18000">
            <a:spAutoFit/>
          </a:bodyPr>
          <a:lstStyle/>
          <a:p>
            <a:pPr algn="l"/>
            <a:r>
              <a:rPr sz="1100" b="1" i="0">
                <a:solidFill>
                  <a:srgbClr val="FFFFFF"/>
                </a:solidFill>
                <a:latin typeface="Noto Sans JP"/>
              </a:rPr>
              <a:t>高温・強風で乾燥すると効果を完全に喪失</a:t>
            </a:r>
          </a:p>
        </p:txBody>
      </p:sp>
      <p:sp>
        <p:nvSpPr>
          <p:cNvPr id="94" name="Rounded Rectangle 93"/>
          <p:cNvSpPr/>
          <p:nvPr/>
        </p:nvSpPr>
        <p:spPr>
          <a:xfrm>
            <a:off x="365760" y="6053328"/>
            <a:ext cx="11460175" cy="45720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365760" y="6053328"/>
            <a:ext cx="54864" cy="4572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548640" y="6053328"/>
            <a:ext cx="365760" cy="45720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97" name="TextBox 96"/>
          <p:cNvSpPr txBox="1"/>
          <p:nvPr/>
        </p:nvSpPr>
        <p:spPr>
          <a:xfrm>
            <a:off x="960120" y="6053328"/>
            <a:ext cx="10774375" cy="457200"/>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本研究は、環境配慮型WEGが持つ「乾燥すると無効になる」致命的な弱点を克服する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4/5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先行研究：PNP ゲル基盤の確立（Yu et al., PNAS 2016）</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7 / 43</a:t>
            </a:r>
          </a:p>
        </p:txBody>
      </p:sp>
      <p:sp>
        <p:nvSpPr>
          <p:cNvPr id="10" name="Rounded Rectangle 9"/>
          <p:cNvSpPr/>
          <p:nvPr/>
        </p:nvSpPr>
        <p:spPr>
          <a:xfrm>
            <a:off x="365760" y="859536"/>
            <a:ext cx="11460175" cy="56692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6692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6692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13" name="TextBox 12"/>
          <p:cNvSpPr txBox="1"/>
          <p:nvPr/>
        </p:nvSpPr>
        <p:spPr>
          <a:xfrm>
            <a:off x="960120" y="859536"/>
            <a:ext cx="10774375" cy="566928"/>
          </a:xfrm>
          <a:prstGeom prst="rect">
            <a:avLst/>
          </a:prstGeom>
          <a:noFill/>
        </p:spPr>
        <p:txBody>
          <a:bodyPr wrap="square" anchor="ctr" lIns="36000" rIns="36000" tIns="18000" bIns="18000">
            <a:spAutoFit/>
          </a:bodyPr>
          <a:lstStyle/>
          <a:p>
            <a:pPr algn="l"/>
            <a:r>
              <a:rPr sz="1300" b="1" i="0">
                <a:solidFill>
                  <a:srgbClr val="1E293B"/>
                </a:solidFill>
                <a:latin typeface="Noto Sans JP"/>
              </a:rPr>
              <a:t>同じ HEC+MC/CSP プラットフォームは、リン酸アンモニウム剤（Phos-Chek LC95A）の 「キャリア」として 2016 年に確立済み — 本研究はこの基盤の上に立つ</a:t>
            </a:r>
          </a:p>
        </p:txBody>
      </p:sp>
      <p:sp>
        <p:nvSpPr>
          <p:cNvPr id="14" name="Rounded Rectangle 13"/>
          <p:cNvSpPr/>
          <p:nvPr/>
        </p:nvSpPr>
        <p:spPr>
          <a:xfrm>
            <a:off x="365760" y="1572768"/>
            <a:ext cx="5592927"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1572768"/>
            <a:ext cx="5592927" cy="457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5216" y="1737360"/>
            <a:ext cx="5154015"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Yu et al., PNAS 2016 で確立済み</a:t>
            </a:r>
          </a:p>
        </p:txBody>
      </p:sp>
      <p:sp>
        <p:nvSpPr>
          <p:cNvPr id="17" name="TextBox 16"/>
          <p:cNvSpPr txBox="1"/>
          <p:nvPr/>
        </p:nvSpPr>
        <p:spPr>
          <a:xfrm>
            <a:off x="585216" y="2029968"/>
            <a:ext cx="5154015" cy="365760"/>
          </a:xfrm>
          <a:prstGeom prst="rect">
            <a:avLst/>
          </a:prstGeom>
          <a:noFill/>
        </p:spPr>
        <p:txBody>
          <a:bodyPr wrap="square" anchor="t" lIns="36000" rIns="36000" tIns="18000" bIns="18000">
            <a:spAutoFit/>
          </a:bodyPr>
          <a:lstStyle/>
          <a:p>
            <a:pPr algn="l"/>
            <a:r>
              <a:rPr sz="1500" b="1" i="0">
                <a:solidFill>
                  <a:srgbClr val="1E293B"/>
                </a:solidFill>
                <a:latin typeface="Noto Sans JP"/>
              </a:rPr>
              <a:t>PNP ゲル（HEC+MC + CSP）の基盤特性</a:t>
            </a:r>
          </a:p>
        </p:txBody>
      </p:sp>
      <p:sp>
        <p:nvSpPr>
          <p:cNvPr id="18" name="Rounded Rectangle 17"/>
          <p:cNvSpPr/>
          <p:nvPr/>
        </p:nvSpPr>
        <p:spPr>
          <a:xfrm>
            <a:off x="585216" y="2578608"/>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6" y="2578608"/>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PP 相互作用</a:t>
            </a:r>
          </a:p>
        </p:txBody>
      </p:sp>
      <p:sp>
        <p:nvSpPr>
          <p:cNvPr id="20" name="TextBox 19"/>
          <p:cNvSpPr txBox="1"/>
          <p:nvPr/>
        </p:nvSpPr>
        <p:spPr>
          <a:xfrm>
            <a:off x="2084832" y="2532888"/>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セルロース鎖が CSP 表面に選択吸着（非共有・多価）</a:t>
            </a:r>
          </a:p>
        </p:txBody>
      </p:sp>
      <p:sp>
        <p:nvSpPr>
          <p:cNvPr id="21" name="Rounded Rectangle 20"/>
          <p:cNvSpPr/>
          <p:nvPr/>
        </p:nvSpPr>
        <p:spPr>
          <a:xfrm>
            <a:off x="585216" y="3090672"/>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5216" y="3090672"/>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剪断希薄化</a:t>
            </a:r>
          </a:p>
        </p:txBody>
      </p:sp>
      <p:sp>
        <p:nvSpPr>
          <p:cNvPr id="23" name="TextBox 22"/>
          <p:cNvSpPr txBox="1"/>
          <p:nvPr/>
        </p:nvSpPr>
        <p:spPr>
          <a:xfrm>
            <a:off x="2084832" y="3044952"/>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高せん断で粘度が低下（噴霧・パイプ送液に適合）</a:t>
            </a:r>
          </a:p>
        </p:txBody>
      </p:sp>
      <p:sp>
        <p:nvSpPr>
          <p:cNvPr id="24" name="Rounded Rectangle 23"/>
          <p:cNvSpPr/>
          <p:nvPr/>
        </p:nvSpPr>
        <p:spPr>
          <a:xfrm>
            <a:off x="585216" y="3602736"/>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5216" y="3602736"/>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自己修復性</a:t>
            </a:r>
          </a:p>
        </p:txBody>
      </p:sp>
      <p:sp>
        <p:nvSpPr>
          <p:cNvPr id="26" name="TextBox 25"/>
          <p:cNvSpPr txBox="1"/>
          <p:nvPr/>
        </p:nvSpPr>
        <p:spPr>
          <a:xfrm>
            <a:off x="2084832" y="3557016"/>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応力解放で即座にゲル構造を回復</a:t>
            </a:r>
          </a:p>
        </p:txBody>
      </p:sp>
      <p:sp>
        <p:nvSpPr>
          <p:cNvPr id="27" name="Rounded Rectangle 26"/>
          <p:cNvSpPr/>
          <p:nvPr/>
        </p:nvSpPr>
        <p:spPr>
          <a:xfrm>
            <a:off x="585216" y="4114800"/>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5216" y="4114800"/>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スケーラビリティ</a:t>
            </a:r>
          </a:p>
        </p:txBody>
      </p:sp>
      <p:sp>
        <p:nvSpPr>
          <p:cNvPr id="29" name="TextBox 28"/>
          <p:cNvSpPr txBox="1"/>
          <p:nvPr/>
        </p:nvSpPr>
        <p:spPr>
          <a:xfrm>
            <a:off x="2084832" y="4069080"/>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0.5 mL → 15 L まで線形にスケール</a:t>
            </a:r>
          </a:p>
        </p:txBody>
      </p:sp>
      <p:sp>
        <p:nvSpPr>
          <p:cNvPr id="30" name="Rounded Rectangle 29"/>
          <p:cNvSpPr/>
          <p:nvPr/>
        </p:nvSpPr>
        <p:spPr>
          <a:xfrm>
            <a:off x="585216" y="4626864"/>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5216" y="4626864"/>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APP キャリア用途</a:t>
            </a:r>
          </a:p>
        </p:txBody>
      </p:sp>
      <p:sp>
        <p:nvSpPr>
          <p:cNvPr id="32" name="TextBox 31"/>
          <p:cNvSpPr txBox="1"/>
          <p:nvPr/>
        </p:nvSpPr>
        <p:spPr>
          <a:xfrm>
            <a:off x="2084832" y="4581144"/>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Phos-Chek LC95A を担持し、付着・耐降雨性を向上</a:t>
            </a:r>
          </a:p>
        </p:txBody>
      </p:sp>
      <p:sp>
        <p:nvSpPr>
          <p:cNvPr id="33" name="Rounded Rectangle 32"/>
          <p:cNvSpPr/>
          <p:nvPr/>
        </p:nvSpPr>
        <p:spPr>
          <a:xfrm>
            <a:off x="6233007" y="1572768"/>
            <a:ext cx="5592927" cy="384048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33007" y="1572768"/>
            <a:ext cx="5592927" cy="457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52463" y="1737360"/>
            <a:ext cx="5154015"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本研究で新たに獲得した機能</a:t>
            </a:r>
          </a:p>
        </p:txBody>
      </p:sp>
      <p:sp>
        <p:nvSpPr>
          <p:cNvPr id="36" name="TextBox 35"/>
          <p:cNvSpPr txBox="1"/>
          <p:nvPr/>
        </p:nvSpPr>
        <p:spPr>
          <a:xfrm>
            <a:off x="6452463" y="2029968"/>
            <a:ext cx="5154015" cy="365760"/>
          </a:xfrm>
          <a:prstGeom prst="rect">
            <a:avLst/>
          </a:prstGeom>
          <a:noFill/>
        </p:spPr>
        <p:txBody>
          <a:bodyPr wrap="square" anchor="t" lIns="36000" rIns="36000" tIns="18000" bIns="18000">
            <a:spAutoFit/>
          </a:bodyPr>
          <a:lstStyle/>
          <a:p>
            <a:pPr algn="l"/>
            <a:r>
              <a:rPr sz="1500" b="1" i="0">
                <a:solidFill>
                  <a:srgbClr val="FFFFFF"/>
                </a:solidFill>
                <a:latin typeface="Noto Sans JP"/>
              </a:rPr>
              <a:t>ゲル自体が「断熱層」へと変態する</a:t>
            </a:r>
          </a:p>
        </p:txBody>
      </p:sp>
      <p:sp>
        <p:nvSpPr>
          <p:cNvPr id="37" name="Rounded Rectangle 36"/>
          <p:cNvSpPr/>
          <p:nvPr/>
        </p:nvSpPr>
        <p:spPr>
          <a:xfrm>
            <a:off x="6452463" y="2578608"/>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52463" y="2578608"/>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自立型保護</a:t>
            </a:r>
          </a:p>
        </p:txBody>
      </p:sp>
      <p:sp>
        <p:nvSpPr>
          <p:cNvPr id="39" name="TextBox 38"/>
          <p:cNvSpPr txBox="1"/>
          <p:nvPr/>
        </p:nvSpPr>
        <p:spPr>
          <a:xfrm>
            <a:off x="7952079" y="2532888"/>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APP に依存せず、ゲル単独で延焼を抑制</a:t>
            </a:r>
          </a:p>
        </p:txBody>
      </p:sp>
      <p:sp>
        <p:nvSpPr>
          <p:cNvPr id="40" name="Rounded Rectangle 39"/>
          <p:cNvSpPr/>
          <p:nvPr/>
        </p:nvSpPr>
        <p:spPr>
          <a:xfrm>
            <a:off x="6452463" y="3090672"/>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52463" y="3090672"/>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熱活性化</a:t>
            </a:r>
          </a:p>
        </p:txBody>
      </p:sp>
      <p:sp>
        <p:nvSpPr>
          <p:cNvPr id="42" name="TextBox 41"/>
          <p:cNvSpPr txBox="1"/>
          <p:nvPr/>
        </p:nvSpPr>
        <p:spPr>
          <a:xfrm>
            <a:off x="7952079" y="3044952"/>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炎接触で水分蒸発 → CSP 焼結 → 多孔質シリカ</a:t>
            </a:r>
          </a:p>
        </p:txBody>
      </p:sp>
      <p:sp>
        <p:nvSpPr>
          <p:cNvPr id="43" name="Rounded Rectangle 42"/>
          <p:cNvSpPr/>
          <p:nvPr/>
        </p:nvSpPr>
        <p:spPr>
          <a:xfrm>
            <a:off x="6452463" y="3602736"/>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52463" y="3602736"/>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エアロゲル化</a:t>
            </a:r>
          </a:p>
        </p:txBody>
      </p:sp>
      <p:sp>
        <p:nvSpPr>
          <p:cNvPr id="45" name="TextBox 44"/>
          <p:cNvSpPr txBox="1"/>
          <p:nvPr/>
        </p:nvSpPr>
        <p:spPr>
          <a:xfrm>
            <a:off x="7952079" y="3557016"/>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断熱性の高い多孔質シリカ層を in situ で形成</a:t>
            </a:r>
          </a:p>
        </p:txBody>
      </p:sp>
      <p:sp>
        <p:nvSpPr>
          <p:cNvPr id="46" name="Rounded Rectangle 45"/>
          <p:cNvSpPr/>
          <p:nvPr/>
        </p:nvSpPr>
        <p:spPr>
          <a:xfrm>
            <a:off x="6452463" y="4114800"/>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52463" y="4114800"/>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乾燥耐性</a:t>
            </a:r>
          </a:p>
        </p:txBody>
      </p:sp>
      <p:sp>
        <p:nvSpPr>
          <p:cNvPr id="48" name="TextBox 47"/>
          <p:cNvSpPr txBox="1"/>
          <p:nvPr/>
        </p:nvSpPr>
        <p:spPr>
          <a:xfrm>
            <a:off x="7952079" y="4069080"/>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従来 WEG の致命的弱点「乾けば無効」を克服</a:t>
            </a:r>
          </a:p>
        </p:txBody>
      </p:sp>
      <p:sp>
        <p:nvSpPr>
          <p:cNvPr id="49" name="Rounded Rectangle 48"/>
          <p:cNvSpPr/>
          <p:nvPr/>
        </p:nvSpPr>
        <p:spPr>
          <a:xfrm>
            <a:off x="6452463" y="4626864"/>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52463" y="4626864"/>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長期安定性</a:t>
            </a:r>
          </a:p>
        </p:txBody>
      </p:sp>
      <p:sp>
        <p:nvSpPr>
          <p:cNvPr id="51" name="TextBox 50"/>
          <p:cNvSpPr txBox="1"/>
          <p:nvPr/>
        </p:nvSpPr>
        <p:spPr>
          <a:xfrm>
            <a:off x="7952079" y="4581144"/>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455 日後も降伏応力を維持（補足 3/3 参照）</a:t>
            </a:r>
          </a:p>
        </p:txBody>
      </p:sp>
      <p:sp>
        <p:nvSpPr>
          <p:cNvPr id="52" name="Rounded Rectangle 51"/>
          <p:cNvSpPr/>
          <p:nvPr/>
        </p:nvSpPr>
        <p:spPr>
          <a:xfrm>
            <a:off x="365760" y="5577840"/>
            <a:ext cx="11460175" cy="1060704"/>
          </a:xfrm>
          <a:prstGeom prst="roundRect">
            <a:avLst>
              <a:gd name="adj" fmla="val 5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365760" y="5577840"/>
            <a:ext cx="73152" cy="106070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40080" y="5577840"/>
            <a:ext cx="2194560" cy="1060704"/>
          </a:xfrm>
          <a:prstGeom prst="rect">
            <a:avLst/>
          </a:prstGeom>
          <a:noFill/>
        </p:spPr>
        <p:txBody>
          <a:bodyPr wrap="square" anchor="ctr" lIns="36000" rIns="36000" tIns="18000" bIns="18000">
            <a:spAutoFit/>
          </a:bodyPr>
          <a:lstStyle/>
          <a:p>
            <a:pPr algn="l"/>
            <a:r>
              <a:rPr sz="1300" b="1" i="0">
                <a:solidFill>
                  <a:srgbClr val="3B5174"/>
                </a:solidFill>
                <a:latin typeface="Noto Sans JP"/>
              </a:rPr>
              <a:t>POINT</a:t>
            </a:r>
          </a:p>
        </p:txBody>
      </p:sp>
      <p:sp>
        <p:nvSpPr>
          <p:cNvPr id="55" name="TextBox 54"/>
          <p:cNvSpPr txBox="1"/>
          <p:nvPr/>
        </p:nvSpPr>
        <p:spPr>
          <a:xfrm>
            <a:off x="2194560" y="5577840"/>
            <a:ext cx="9357055" cy="1060704"/>
          </a:xfrm>
          <a:prstGeom prst="rect">
            <a:avLst/>
          </a:prstGeom>
          <a:noFill/>
        </p:spPr>
        <p:txBody>
          <a:bodyPr wrap="square" anchor="ctr" lIns="36000" rIns="36000" tIns="18000" bIns="18000">
            <a:spAutoFit/>
          </a:bodyPr>
          <a:lstStyle/>
          <a:p>
            <a:pPr algn="l"/>
            <a:r>
              <a:rPr sz="1300" b="0" i="0">
                <a:solidFill>
                  <a:srgbClr val="334155"/>
                </a:solidFill>
                <a:latin typeface="Noto Sans JP"/>
              </a:rPr>
              <a:t>本研究の革新点：「化学物質を運ぶ容器」から「自ら断熱層になる材料」へ — PP ゲルの再定義</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5/5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本研究の核心：熱活性化エアロゲル形成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8 / 43</a:t>
            </a:r>
          </a:p>
        </p:txBody>
      </p:sp>
      <p:sp>
        <p:nvSpPr>
          <p:cNvPr id="10" name="Rectangle 9"/>
          <p:cNvSpPr/>
          <p:nvPr/>
        </p:nvSpPr>
        <p:spPr>
          <a:xfrm>
            <a:off x="365760" y="859536"/>
            <a:ext cx="45720" cy="13898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4080546" cy="475488"/>
          </a:xfrm>
          <a:prstGeom prst="rect">
            <a:avLst/>
          </a:prstGeom>
          <a:noFill/>
        </p:spPr>
        <p:txBody>
          <a:bodyPr wrap="square" anchor="t" lIns="36000" rIns="36000" tIns="18000" bIns="18000">
            <a:spAutoFit/>
          </a:bodyPr>
          <a:lstStyle/>
          <a:p>
            <a:pPr algn="l"/>
            <a:r>
              <a:rPr sz="2200" b="1" i="1">
                <a:solidFill>
                  <a:srgbClr val="1E293B"/>
                </a:solidFill>
                <a:latin typeface="Noto Sans JP"/>
              </a:rPr>
              <a:t>Heat-Activated</a:t>
            </a:r>
          </a:p>
        </p:txBody>
      </p:sp>
      <p:sp>
        <p:nvSpPr>
          <p:cNvPr id="12" name="TextBox 11"/>
          <p:cNvSpPr txBox="1"/>
          <p:nvPr/>
        </p:nvSpPr>
        <p:spPr>
          <a:xfrm>
            <a:off x="530352" y="1316736"/>
            <a:ext cx="4080546" cy="475488"/>
          </a:xfrm>
          <a:prstGeom prst="rect">
            <a:avLst/>
          </a:prstGeom>
          <a:noFill/>
        </p:spPr>
        <p:txBody>
          <a:bodyPr wrap="square" anchor="t" lIns="36000" rIns="36000" tIns="18000" bIns="18000">
            <a:spAutoFit/>
          </a:bodyPr>
          <a:lstStyle/>
          <a:p>
            <a:pPr algn="l"/>
            <a:r>
              <a:rPr sz="2200" b="1" i="1">
                <a:solidFill>
                  <a:srgbClr val="3B5174"/>
                </a:solidFill>
                <a:latin typeface="Noto Sans JP"/>
              </a:rPr>
              <a:t>Aerogel Formation</a:t>
            </a:r>
          </a:p>
        </p:txBody>
      </p:sp>
      <p:sp>
        <p:nvSpPr>
          <p:cNvPr id="13" name="TextBox 12"/>
          <p:cNvSpPr txBox="1"/>
          <p:nvPr/>
        </p:nvSpPr>
        <p:spPr>
          <a:xfrm>
            <a:off x="530352" y="1810512"/>
            <a:ext cx="4080546" cy="310896"/>
          </a:xfrm>
          <a:prstGeom prst="rect">
            <a:avLst/>
          </a:prstGeom>
          <a:noFill/>
        </p:spPr>
        <p:txBody>
          <a:bodyPr wrap="square" anchor="t" lIns="36000" rIns="36000" tIns="18000" bIns="18000">
            <a:spAutoFit/>
          </a:bodyPr>
          <a:lstStyle/>
          <a:p>
            <a:pPr algn="l"/>
            <a:r>
              <a:rPr sz="1100" b="0" i="0">
                <a:solidFill>
                  <a:srgbClr val="475569"/>
                </a:solidFill>
                <a:latin typeface="Noto Sans JP"/>
              </a:rPr>
              <a:t>火炎接触をトリガーに、ゲル自体が断熱材へ変態</a:t>
            </a:r>
          </a:p>
        </p:txBody>
      </p:sp>
      <p:sp>
        <p:nvSpPr>
          <p:cNvPr id="14" name="Rectangle 13"/>
          <p:cNvSpPr/>
          <p:nvPr/>
        </p:nvSpPr>
        <p:spPr>
          <a:xfrm>
            <a:off x="530352" y="2267712"/>
            <a:ext cx="3608367"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45059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01</a:t>
            </a:r>
          </a:p>
        </p:txBody>
      </p:sp>
      <p:sp>
        <p:nvSpPr>
          <p:cNvPr id="16" name="TextBox 15"/>
          <p:cNvSpPr txBox="1"/>
          <p:nvPr/>
        </p:nvSpPr>
        <p:spPr>
          <a:xfrm>
            <a:off x="786384" y="245059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材料構成</a:t>
            </a:r>
          </a:p>
        </p:txBody>
      </p:sp>
      <p:sp>
        <p:nvSpPr>
          <p:cNvPr id="17" name="TextBox 16"/>
          <p:cNvSpPr txBox="1"/>
          <p:nvPr/>
        </p:nvSpPr>
        <p:spPr>
          <a:xfrm>
            <a:off x="786384" y="270662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セルロース系バイオポリマー × コロイダルシリカの物理架橋</a:t>
            </a:r>
          </a:p>
        </p:txBody>
      </p:sp>
      <p:sp>
        <p:nvSpPr>
          <p:cNvPr id="18" name="TextBox 17"/>
          <p:cNvSpPr txBox="1"/>
          <p:nvPr/>
        </p:nvSpPr>
        <p:spPr>
          <a:xfrm>
            <a:off x="365760" y="309067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02</a:t>
            </a:r>
          </a:p>
        </p:txBody>
      </p:sp>
      <p:sp>
        <p:nvSpPr>
          <p:cNvPr id="19" name="TextBox 18"/>
          <p:cNvSpPr txBox="1"/>
          <p:nvPr/>
        </p:nvSpPr>
        <p:spPr>
          <a:xfrm>
            <a:off x="786384" y="309067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エアロゲル化</a:t>
            </a:r>
          </a:p>
        </p:txBody>
      </p:sp>
      <p:sp>
        <p:nvSpPr>
          <p:cNvPr id="20" name="TextBox 19"/>
          <p:cNvSpPr txBox="1"/>
          <p:nvPr/>
        </p:nvSpPr>
        <p:spPr>
          <a:xfrm>
            <a:off x="786384" y="334670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炎で水分が失われると多孔質シリカ網がその場形成</a:t>
            </a:r>
          </a:p>
        </p:txBody>
      </p:sp>
      <p:sp>
        <p:nvSpPr>
          <p:cNvPr id="21" name="TextBox 20"/>
          <p:cNvSpPr txBox="1"/>
          <p:nvPr/>
        </p:nvSpPr>
        <p:spPr>
          <a:xfrm>
            <a:off x="365760" y="373075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03</a:t>
            </a:r>
          </a:p>
        </p:txBody>
      </p:sp>
      <p:sp>
        <p:nvSpPr>
          <p:cNvPr id="22" name="TextBox 21"/>
          <p:cNvSpPr txBox="1"/>
          <p:nvPr/>
        </p:nvSpPr>
        <p:spPr>
          <a:xfrm>
            <a:off x="786384" y="373075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持続的防護</a:t>
            </a:r>
          </a:p>
        </p:txBody>
      </p:sp>
      <p:sp>
        <p:nvSpPr>
          <p:cNvPr id="23" name="TextBox 22"/>
          <p:cNvSpPr txBox="1"/>
          <p:nvPr/>
        </p:nvSpPr>
        <p:spPr>
          <a:xfrm>
            <a:off x="786384" y="398678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水分が枯渇した後も断熱バリアが発火を防ぐ</a:t>
            </a:r>
          </a:p>
        </p:txBody>
      </p:sp>
      <p:sp>
        <p:nvSpPr>
          <p:cNvPr id="24" name="TextBox 23"/>
          <p:cNvSpPr txBox="1"/>
          <p:nvPr/>
        </p:nvSpPr>
        <p:spPr>
          <a:xfrm>
            <a:off x="365760" y="437083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04</a:t>
            </a:r>
          </a:p>
        </p:txBody>
      </p:sp>
      <p:sp>
        <p:nvSpPr>
          <p:cNvPr id="25" name="TextBox 24"/>
          <p:cNvSpPr txBox="1"/>
          <p:nvPr/>
        </p:nvSpPr>
        <p:spPr>
          <a:xfrm>
            <a:off x="786384" y="437083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応用性・拡張性</a:t>
            </a:r>
          </a:p>
        </p:txBody>
      </p:sp>
      <p:sp>
        <p:nvSpPr>
          <p:cNvPr id="26" name="TextBox 25"/>
          <p:cNvSpPr txBox="1"/>
          <p:nvPr/>
        </p:nvSpPr>
        <p:spPr>
          <a:xfrm>
            <a:off x="786384" y="462686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噴霧・ポンプ送液に適した流動特性／大規模製造も可能</a:t>
            </a:r>
          </a:p>
        </p:txBody>
      </p:sp>
      <p:sp>
        <p:nvSpPr>
          <p:cNvPr id="27" name="Rounded Rectangle 26"/>
          <p:cNvSpPr/>
          <p:nvPr/>
        </p:nvSpPr>
        <p:spPr>
          <a:xfrm>
            <a:off x="4793778" y="859536"/>
            <a:ext cx="7032156" cy="28346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90350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0350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概念図</a:t>
            </a:r>
          </a:p>
        </p:txBody>
      </p:sp>
      <p:sp>
        <p:nvSpPr>
          <p:cNvPr id="30" name="TextBox 29"/>
          <p:cNvSpPr txBox="1"/>
          <p:nvPr/>
        </p:nvSpPr>
        <p:spPr>
          <a:xfrm>
            <a:off x="4793778" y="859536"/>
            <a:ext cx="7032156" cy="28346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4793778" y="3730752"/>
            <a:ext cx="70321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加熱トリガーでゲルが多孔質エアロゲル断熱層へ変態</a:t>
            </a:r>
          </a:p>
        </p:txBody>
      </p:sp>
      <p:sp>
        <p:nvSpPr>
          <p:cNvPr id="32" name="Rounded Rectangle 31"/>
          <p:cNvSpPr/>
          <p:nvPr/>
        </p:nvSpPr>
        <p:spPr>
          <a:xfrm>
            <a:off x="4793778" y="4078224"/>
            <a:ext cx="3433782" cy="20116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903506" y="4187952"/>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03506" y="418795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35" name="TextBox 34"/>
          <p:cNvSpPr txBox="1"/>
          <p:nvPr/>
        </p:nvSpPr>
        <p:spPr>
          <a:xfrm>
            <a:off x="4793778" y="4078224"/>
            <a:ext cx="3433782" cy="201168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6" name="TextBox 35"/>
          <p:cNvSpPr txBox="1"/>
          <p:nvPr/>
        </p:nvSpPr>
        <p:spPr>
          <a:xfrm>
            <a:off x="4903506" y="5742432"/>
            <a:ext cx="3214326"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7" name="TextBox 36"/>
          <p:cNvSpPr txBox="1"/>
          <p:nvPr/>
        </p:nvSpPr>
        <p:spPr>
          <a:xfrm>
            <a:off x="4793778" y="6126480"/>
            <a:ext cx="3433782"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シリカエアロゲルのSEM微細構造</a:t>
            </a:r>
          </a:p>
        </p:txBody>
      </p:sp>
      <p:sp>
        <p:nvSpPr>
          <p:cNvPr id="38" name="Rounded Rectangle 37"/>
          <p:cNvSpPr/>
          <p:nvPr/>
        </p:nvSpPr>
        <p:spPr>
          <a:xfrm>
            <a:off x="8392152" y="4078224"/>
            <a:ext cx="3433782" cy="20116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501880" y="4187952"/>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501880" y="418795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41" name="TextBox 40"/>
          <p:cNvSpPr txBox="1"/>
          <p:nvPr/>
        </p:nvSpPr>
        <p:spPr>
          <a:xfrm>
            <a:off x="8392152" y="4078224"/>
            <a:ext cx="3433782" cy="201168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42" name="TextBox 41"/>
          <p:cNvSpPr txBox="1"/>
          <p:nvPr/>
        </p:nvSpPr>
        <p:spPr>
          <a:xfrm>
            <a:off x="8501880" y="5742432"/>
            <a:ext cx="3214326"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43" name="TextBox 42"/>
          <p:cNvSpPr txBox="1"/>
          <p:nvPr/>
        </p:nvSpPr>
        <p:spPr>
          <a:xfrm>
            <a:off x="8392152" y="6126480"/>
            <a:ext cx="3433782"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エアロゲルの断熱性デモ（炎上の試料等）</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02</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2</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材料・実験方法</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セルロース系ポリマーとコロイダルシリカの組み合わせによる新規ゲル設計</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ポリマー成分</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シリカ粒子・界面活性剤</a:t>
            </a:r>
          </a:p>
        </p:txBody>
      </p:sp>
      <p:sp>
        <p:nvSpPr>
          <p:cNvPr id="12" name="Rounded Rectangle 11"/>
          <p:cNvSpPr/>
          <p:nvPr/>
        </p:nvSpPr>
        <p:spPr>
          <a:xfrm>
            <a:off x="4736591" y="4572000"/>
            <a:ext cx="1481328"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81328"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配合系（5種）</a:t>
            </a:r>
          </a:p>
        </p:txBody>
      </p:sp>
      <p:sp>
        <p:nvSpPr>
          <p:cNvPr id="14" name="Rounded Rectangle 13"/>
          <p:cNvSpPr/>
          <p:nvPr/>
        </p:nvSpPr>
        <p:spPr>
          <a:xfrm>
            <a:off x="6364223"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4223"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評価手法</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9 / 43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概要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材料構成：持続可能かつ高性能</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10 / 43</a:t>
            </a:r>
          </a:p>
        </p:txBody>
      </p:sp>
      <p:sp>
        <p:nvSpPr>
          <p:cNvPr id="10" name="TextBox 9"/>
          <p:cNvSpPr txBox="1"/>
          <p:nvPr/>
        </p:nvSpPr>
        <p:spPr>
          <a:xfrm>
            <a:off x="365760" y="859536"/>
            <a:ext cx="11460175" cy="457200"/>
          </a:xfrm>
          <a:prstGeom prst="rect">
            <a:avLst/>
          </a:prstGeom>
          <a:noFill/>
        </p:spPr>
        <p:txBody>
          <a:bodyPr wrap="square" anchor="ctr" lIns="36000" rIns="36000" tIns="18000" bIns="18000">
            <a:spAutoFit/>
          </a:bodyPr>
          <a:lstStyle/>
          <a:p>
            <a:pPr algn="l"/>
            <a:r>
              <a:rPr sz="1400" b="0" i="0">
                <a:solidFill>
                  <a:srgbClr val="334155"/>
                </a:solidFill>
                <a:latin typeface="Noto Sans JP"/>
              </a:rPr>
              <a:t>本ゲルは「骨格・機能・結合」を担う3要素で構成され、生分解性と高性能を両立します。</a:t>
            </a:r>
          </a:p>
        </p:txBody>
      </p:sp>
      <p:sp>
        <p:nvSpPr>
          <p:cNvPr id="11" name="Rounded Rectangle 10"/>
          <p:cNvSpPr/>
          <p:nvPr/>
        </p:nvSpPr>
        <p:spPr>
          <a:xfrm>
            <a:off x="365760" y="1444752"/>
            <a:ext cx="3637178" cy="5138928"/>
          </a:xfrm>
          <a:prstGeom prst="roundRect">
            <a:avLst>
              <a:gd name="adj" fmla="val 35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444752"/>
            <a:ext cx="3637178"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1719072"/>
            <a:ext cx="3637178" cy="512064"/>
          </a:xfrm>
          <a:prstGeom prst="rect">
            <a:avLst/>
          </a:prstGeom>
          <a:noFill/>
        </p:spPr>
        <p:txBody>
          <a:bodyPr wrap="square" anchor="ctr" lIns="36000" rIns="36000" tIns="18000" bIns="18000">
            <a:spAutoFit/>
          </a:bodyPr>
          <a:lstStyle/>
          <a:p>
            <a:pPr algn="ctr"/>
            <a:r>
              <a:rPr sz="3000" b="0" i="0">
                <a:solidFill>
                  <a:srgbClr val="3B5174"/>
                </a:solidFill>
                <a:latin typeface="Noto Sans JP"/>
              </a:rPr>
              <a:t>🌿</a:t>
            </a:r>
          </a:p>
        </p:txBody>
      </p:sp>
      <p:sp>
        <p:nvSpPr>
          <p:cNvPr id="14" name="TextBox 13"/>
          <p:cNvSpPr txBox="1"/>
          <p:nvPr/>
        </p:nvSpPr>
        <p:spPr>
          <a:xfrm>
            <a:off x="585216" y="2286000"/>
            <a:ext cx="3198266" cy="384048"/>
          </a:xfrm>
          <a:prstGeom prst="rect">
            <a:avLst/>
          </a:prstGeom>
          <a:noFill/>
        </p:spPr>
        <p:txBody>
          <a:bodyPr wrap="square" anchor="t" lIns="36000" rIns="36000" tIns="18000" bIns="18000">
            <a:spAutoFit/>
          </a:bodyPr>
          <a:lstStyle/>
          <a:p>
            <a:pPr algn="ctr"/>
            <a:r>
              <a:rPr sz="1700" b="1" i="0">
                <a:solidFill>
                  <a:srgbClr val="1E293B"/>
                </a:solidFill>
                <a:latin typeface="Noto Sans JP"/>
              </a:rPr>
              <a:t>セルロース誘導体</a:t>
            </a:r>
          </a:p>
        </p:txBody>
      </p:sp>
      <p:sp>
        <p:nvSpPr>
          <p:cNvPr id="15" name="TextBox 14"/>
          <p:cNvSpPr txBox="1"/>
          <p:nvPr/>
        </p:nvSpPr>
        <p:spPr>
          <a:xfrm>
            <a:off x="585216" y="2670048"/>
            <a:ext cx="3198266" cy="256032"/>
          </a:xfrm>
          <a:prstGeom prst="rect">
            <a:avLst/>
          </a:prstGeom>
          <a:noFill/>
        </p:spPr>
        <p:txBody>
          <a:bodyPr wrap="square" anchor="t" lIns="36000" rIns="36000" tIns="18000" bIns="18000">
            <a:spAutoFit/>
          </a:bodyPr>
          <a:lstStyle/>
          <a:p>
            <a:pPr algn="ctr"/>
            <a:r>
              <a:rPr sz="1000" b="0" i="1">
                <a:solidFill>
                  <a:srgbClr val="64748B"/>
                </a:solidFill>
                <a:latin typeface="Noto Sans JP"/>
              </a:rPr>
              <a:t>Cellulose derivatives</a:t>
            </a:r>
          </a:p>
        </p:txBody>
      </p:sp>
      <p:sp>
        <p:nvSpPr>
          <p:cNvPr id="16" name="Rectangle 15"/>
          <p:cNvSpPr/>
          <p:nvPr/>
        </p:nvSpPr>
        <p:spPr>
          <a:xfrm>
            <a:off x="658368" y="2999232"/>
            <a:ext cx="3051962"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5216" y="3127248"/>
            <a:ext cx="3198266" cy="914400"/>
          </a:xfrm>
          <a:prstGeom prst="rect">
            <a:avLst/>
          </a:prstGeom>
          <a:noFill/>
        </p:spPr>
        <p:txBody>
          <a:bodyPr wrap="square" anchor="t" lIns="36000" rIns="36000" tIns="18000" bIns="18000">
            <a:spAutoFit/>
          </a:bodyPr>
          <a:lstStyle/>
          <a:p>
            <a:pPr algn="ctr"/>
            <a:r>
              <a:rPr sz="1200" b="0" i="0">
                <a:solidFill>
                  <a:srgbClr val="475569"/>
                </a:solidFill>
                <a:latin typeface="Noto Sans JP"/>
              </a:rPr>
              <a:t>植物由来のバイオポリマー。ゲルネットワークの骨格を形成します。</a:t>
            </a:r>
          </a:p>
        </p:txBody>
      </p:sp>
      <p:sp>
        <p:nvSpPr>
          <p:cNvPr id="18" name="Rounded Rectangle 17"/>
          <p:cNvSpPr/>
          <p:nvPr/>
        </p:nvSpPr>
        <p:spPr>
          <a:xfrm>
            <a:off x="585216" y="4279392"/>
            <a:ext cx="841248"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6" y="4279392"/>
            <a:ext cx="841248"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3種</a:t>
            </a:r>
          </a:p>
        </p:txBody>
      </p:sp>
      <p:sp>
        <p:nvSpPr>
          <p:cNvPr id="20" name="TextBox 19"/>
          <p:cNvSpPr txBox="1"/>
          <p:nvPr/>
        </p:nvSpPr>
        <p:spPr>
          <a:xfrm>
            <a:off x="1517904" y="4242816"/>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HEC・MC・MHEC を使用</a:t>
            </a:r>
          </a:p>
        </p:txBody>
      </p:sp>
      <p:sp>
        <p:nvSpPr>
          <p:cNvPr id="21" name="Rounded Rectangle 20"/>
          <p:cNvSpPr/>
          <p:nvPr/>
        </p:nvSpPr>
        <p:spPr>
          <a:xfrm>
            <a:off x="585216" y="4956048"/>
            <a:ext cx="841248"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5216" y="4956048"/>
            <a:ext cx="841248"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生分解性</a:t>
            </a:r>
          </a:p>
        </p:txBody>
      </p:sp>
      <p:sp>
        <p:nvSpPr>
          <p:cNvPr id="23" name="TextBox 22"/>
          <p:cNvSpPr txBox="1"/>
          <p:nvPr/>
        </p:nvSpPr>
        <p:spPr>
          <a:xfrm>
            <a:off x="1517904" y="4919472"/>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環境負荷が低い</a:t>
            </a:r>
          </a:p>
        </p:txBody>
      </p:sp>
      <p:sp>
        <p:nvSpPr>
          <p:cNvPr id="24" name="Rounded Rectangle 23"/>
          <p:cNvSpPr/>
          <p:nvPr/>
        </p:nvSpPr>
        <p:spPr>
          <a:xfrm>
            <a:off x="585216" y="5632704"/>
            <a:ext cx="841248"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5216" y="5632704"/>
            <a:ext cx="841248"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役割</a:t>
            </a:r>
          </a:p>
        </p:txBody>
      </p:sp>
      <p:sp>
        <p:nvSpPr>
          <p:cNvPr id="26" name="TextBox 25"/>
          <p:cNvSpPr txBox="1"/>
          <p:nvPr/>
        </p:nvSpPr>
        <p:spPr>
          <a:xfrm>
            <a:off x="1517904" y="5596128"/>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粘性・構造の土台</a:t>
            </a:r>
          </a:p>
        </p:txBody>
      </p:sp>
      <p:sp>
        <p:nvSpPr>
          <p:cNvPr id="27" name="Rounded Rectangle 26"/>
          <p:cNvSpPr/>
          <p:nvPr/>
        </p:nvSpPr>
        <p:spPr>
          <a:xfrm>
            <a:off x="4277258" y="1444752"/>
            <a:ext cx="3637178" cy="5138928"/>
          </a:xfrm>
          <a:prstGeom prst="roundRect">
            <a:avLst>
              <a:gd name="adj" fmla="val 35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77258" y="1444752"/>
            <a:ext cx="3637178" cy="54864"/>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77258" y="1719072"/>
            <a:ext cx="3637178" cy="512064"/>
          </a:xfrm>
          <a:prstGeom prst="rect">
            <a:avLst/>
          </a:prstGeom>
          <a:noFill/>
        </p:spPr>
        <p:txBody>
          <a:bodyPr wrap="square" anchor="ctr" lIns="36000" rIns="36000" tIns="18000" bIns="18000">
            <a:spAutoFit/>
          </a:bodyPr>
          <a:lstStyle/>
          <a:p>
            <a:pPr algn="ctr"/>
            <a:r>
              <a:rPr sz="3000" b="0" i="0">
                <a:solidFill>
                  <a:srgbClr val="4A7C8C"/>
                </a:solidFill>
                <a:latin typeface="Noto Sans JP"/>
              </a:rPr>
              <a:t>◎</a:t>
            </a:r>
          </a:p>
        </p:txBody>
      </p:sp>
      <p:sp>
        <p:nvSpPr>
          <p:cNvPr id="30" name="TextBox 29"/>
          <p:cNvSpPr txBox="1"/>
          <p:nvPr/>
        </p:nvSpPr>
        <p:spPr>
          <a:xfrm>
            <a:off x="4496714" y="2286000"/>
            <a:ext cx="3198266" cy="384048"/>
          </a:xfrm>
          <a:prstGeom prst="rect">
            <a:avLst/>
          </a:prstGeom>
          <a:noFill/>
        </p:spPr>
        <p:txBody>
          <a:bodyPr wrap="square" anchor="t" lIns="36000" rIns="36000" tIns="18000" bIns="18000">
            <a:spAutoFit/>
          </a:bodyPr>
          <a:lstStyle/>
          <a:p>
            <a:pPr algn="ctr"/>
            <a:r>
              <a:rPr sz="1700" b="1" i="0">
                <a:solidFill>
                  <a:srgbClr val="1E293B"/>
                </a:solidFill>
                <a:latin typeface="Noto Sans JP"/>
              </a:rPr>
              <a:t>コロイダルシリカ（CSP）</a:t>
            </a:r>
          </a:p>
        </p:txBody>
      </p:sp>
      <p:sp>
        <p:nvSpPr>
          <p:cNvPr id="31" name="TextBox 30"/>
          <p:cNvSpPr txBox="1"/>
          <p:nvPr/>
        </p:nvSpPr>
        <p:spPr>
          <a:xfrm>
            <a:off x="4496714" y="2670048"/>
            <a:ext cx="3198266" cy="256032"/>
          </a:xfrm>
          <a:prstGeom prst="rect">
            <a:avLst/>
          </a:prstGeom>
          <a:noFill/>
        </p:spPr>
        <p:txBody>
          <a:bodyPr wrap="square" anchor="t" lIns="36000" rIns="36000" tIns="18000" bIns="18000">
            <a:spAutoFit/>
          </a:bodyPr>
          <a:lstStyle/>
          <a:p>
            <a:pPr algn="ctr"/>
            <a:r>
              <a:rPr sz="1000" b="0" i="1">
                <a:solidFill>
                  <a:srgbClr val="64748B"/>
                </a:solidFill>
                <a:latin typeface="Noto Sans JP"/>
              </a:rPr>
              <a:t>Colloidal Silica Particles</a:t>
            </a:r>
          </a:p>
        </p:txBody>
      </p:sp>
      <p:sp>
        <p:nvSpPr>
          <p:cNvPr id="32" name="Rectangle 31"/>
          <p:cNvSpPr/>
          <p:nvPr/>
        </p:nvSpPr>
        <p:spPr>
          <a:xfrm>
            <a:off x="4569866" y="2999232"/>
            <a:ext cx="3051962"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496714" y="3127248"/>
            <a:ext cx="3198266" cy="914400"/>
          </a:xfrm>
          <a:prstGeom prst="rect">
            <a:avLst/>
          </a:prstGeom>
          <a:noFill/>
        </p:spPr>
        <p:txBody>
          <a:bodyPr wrap="square" anchor="t" lIns="36000" rIns="36000" tIns="18000" bIns="18000">
            <a:spAutoFit/>
          </a:bodyPr>
          <a:lstStyle/>
          <a:p>
            <a:pPr algn="ctr"/>
            <a:r>
              <a:rPr sz="1200" b="0" i="0">
                <a:solidFill>
                  <a:srgbClr val="475569"/>
                </a:solidFill>
                <a:latin typeface="Noto Sans JP"/>
              </a:rPr>
              <a:t>ポリマーと動的に相互作用し、熱でエアロゲルを形成する主役成分です。</a:t>
            </a:r>
          </a:p>
        </p:txBody>
      </p:sp>
      <p:sp>
        <p:nvSpPr>
          <p:cNvPr id="34" name="Rounded Rectangle 33"/>
          <p:cNvSpPr/>
          <p:nvPr/>
        </p:nvSpPr>
        <p:spPr>
          <a:xfrm>
            <a:off x="4496714" y="4279392"/>
            <a:ext cx="841248" cy="292608"/>
          </a:xfrm>
          <a:prstGeom prst="roundRect">
            <a:avLst>
              <a:gd name="adj" fmla="val 50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96714" y="4279392"/>
            <a:ext cx="841248" cy="292608"/>
          </a:xfrm>
          <a:prstGeom prst="rect">
            <a:avLst/>
          </a:prstGeom>
          <a:noFill/>
        </p:spPr>
        <p:txBody>
          <a:bodyPr wrap="square" anchor="ctr" lIns="36000" rIns="36000" tIns="18000" bIns="18000">
            <a:spAutoFit/>
          </a:bodyPr>
          <a:lstStyle/>
          <a:p>
            <a:pPr algn="ctr"/>
            <a:r>
              <a:rPr sz="1000" b="1" i="0">
                <a:solidFill>
                  <a:srgbClr val="4A7C8C"/>
                </a:solidFill>
                <a:latin typeface="Noto Sans JP"/>
              </a:rPr>
              <a:t>直径</a:t>
            </a:r>
          </a:p>
        </p:txBody>
      </p:sp>
      <p:sp>
        <p:nvSpPr>
          <p:cNvPr id="36" name="TextBox 35"/>
          <p:cNvSpPr txBox="1"/>
          <p:nvPr/>
        </p:nvSpPr>
        <p:spPr>
          <a:xfrm>
            <a:off x="5429402" y="4242816"/>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約 22 nm の単分散粒子</a:t>
            </a:r>
          </a:p>
        </p:txBody>
      </p:sp>
      <p:sp>
        <p:nvSpPr>
          <p:cNvPr id="37" name="Rounded Rectangle 36"/>
          <p:cNvSpPr/>
          <p:nvPr/>
        </p:nvSpPr>
        <p:spPr>
          <a:xfrm>
            <a:off x="4496714" y="4956048"/>
            <a:ext cx="841248" cy="292608"/>
          </a:xfrm>
          <a:prstGeom prst="roundRect">
            <a:avLst>
              <a:gd name="adj" fmla="val 50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496714" y="4956048"/>
            <a:ext cx="841248" cy="292608"/>
          </a:xfrm>
          <a:prstGeom prst="rect">
            <a:avLst/>
          </a:prstGeom>
          <a:noFill/>
        </p:spPr>
        <p:txBody>
          <a:bodyPr wrap="square" anchor="ctr" lIns="36000" rIns="36000" tIns="18000" bIns="18000">
            <a:spAutoFit/>
          </a:bodyPr>
          <a:lstStyle/>
          <a:p>
            <a:pPr algn="ctr"/>
            <a:r>
              <a:rPr sz="1000" b="1" i="0">
                <a:solidFill>
                  <a:srgbClr val="4A7C8C"/>
                </a:solidFill>
                <a:latin typeface="Noto Sans JP"/>
              </a:rPr>
              <a:t>焼結</a:t>
            </a:r>
          </a:p>
        </p:txBody>
      </p:sp>
      <p:sp>
        <p:nvSpPr>
          <p:cNvPr id="39" name="TextBox 38"/>
          <p:cNvSpPr txBox="1"/>
          <p:nvPr/>
        </p:nvSpPr>
        <p:spPr>
          <a:xfrm>
            <a:off x="5429402" y="4919472"/>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加熱でシリカ骨格を形成</a:t>
            </a:r>
          </a:p>
        </p:txBody>
      </p:sp>
      <p:sp>
        <p:nvSpPr>
          <p:cNvPr id="40" name="Rounded Rectangle 39"/>
          <p:cNvSpPr/>
          <p:nvPr/>
        </p:nvSpPr>
        <p:spPr>
          <a:xfrm>
            <a:off x="4496714" y="5632704"/>
            <a:ext cx="841248" cy="292608"/>
          </a:xfrm>
          <a:prstGeom prst="roundRect">
            <a:avLst>
              <a:gd name="adj" fmla="val 50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96714" y="5632704"/>
            <a:ext cx="841248" cy="292608"/>
          </a:xfrm>
          <a:prstGeom prst="rect">
            <a:avLst/>
          </a:prstGeom>
          <a:noFill/>
        </p:spPr>
        <p:txBody>
          <a:bodyPr wrap="square" anchor="ctr" lIns="36000" rIns="36000" tIns="18000" bIns="18000">
            <a:spAutoFit/>
          </a:bodyPr>
          <a:lstStyle/>
          <a:p>
            <a:pPr algn="ctr"/>
            <a:r>
              <a:rPr sz="1000" b="1" i="0">
                <a:solidFill>
                  <a:srgbClr val="4A7C8C"/>
                </a:solidFill>
                <a:latin typeface="Noto Sans JP"/>
              </a:rPr>
              <a:t>役割</a:t>
            </a:r>
          </a:p>
        </p:txBody>
      </p:sp>
      <p:sp>
        <p:nvSpPr>
          <p:cNvPr id="42" name="TextBox 41"/>
          <p:cNvSpPr txBox="1"/>
          <p:nvPr/>
        </p:nvSpPr>
        <p:spPr>
          <a:xfrm>
            <a:off x="5429402" y="5596128"/>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断熱エアロゲルの源</a:t>
            </a:r>
          </a:p>
        </p:txBody>
      </p:sp>
      <p:sp>
        <p:nvSpPr>
          <p:cNvPr id="43" name="Rounded Rectangle 42"/>
          <p:cNvSpPr/>
          <p:nvPr/>
        </p:nvSpPr>
        <p:spPr>
          <a:xfrm>
            <a:off x="8188756" y="1444752"/>
            <a:ext cx="3637178" cy="5138928"/>
          </a:xfrm>
          <a:prstGeom prst="roundRect">
            <a:avLst>
              <a:gd name="adj" fmla="val 35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188756" y="1444752"/>
            <a:ext cx="3637178" cy="54864"/>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188756" y="1719072"/>
            <a:ext cx="3637178" cy="512064"/>
          </a:xfrm>
          <a:prstGeom prst="rect">
            <a:avLst/>
          </a:prstGeom>
          <a:noFill/>
        </p:spPr>
        <p:txBody>
          <a:bodyPr wrap="square" anchor="ctr" lIns="36000" rIns="36000" tIns="18000" bIns="18000">
            <a:spAutoFit/>
          </a:bodyPr>
          <a:lstStyle/>
          <a:p>
            <a:pPr algn="ctr"/>
            <a:r>
              <a:rPr sz="3000" b="0" i="0">
                <a:solidFill>
                  <a:srgbClr val="9F7639"/>
                </a:solidFill>
                <a:latin typeface="Noto Sans JP"/>
              </a:rPr>
              <a:t>⬡</a:t>
            </a:r>
          </a:p>
        </p:txBody>
      </p:sp>
      <p:sp>
        <p:nvSpPr>
          <p:cNvPr id="46" name="TextBox 45"/>
          <p:cNvSpPr txBox="1"/>
          <p:nvPr/>
        </p:nvSpPr>
        <p:spPr>
          <a:xfrm>
            <a:off x="8408212" y="2286000"/>
            <a:ext cx="3198266" cy="384048"/>
          </a:xfrm>
          <a:prstGeom prst="rect">
            <a:avLst/>
          </a:prstGeom>
          <a:noFill/>
        </p:spPr>
        <p:txBody>
          <a:bodyPr wrap="square" anchor="t" lIns="36000" rIns="36000" tIns="18000" bIns="18000">
            <a:spAutoFit/>
          </a:bodyPr>
          <a:lstStyle/>
          <a:p>
            <a:pPr algn="ctr"/>
            <a:r>
              <a:rPr sz="1700" b="1" i="0">
                <a:solidFill>
                  <a:srgbClr val="1E293B"/>
                </a:solidFill>
                <a:latin typeface="Noto Sans JP"/>
              </a:rPr>
              <a:t>PP 相互作用</a:t>
            </a:r>
          </a:p>
        </p:txBody>
      </p:sp>
      <p:sp>
        <p:nvSpPr>
          <p:cNvPr id="47" name="TextBox 46"/>
          <p:cNvSpPr txBox="1"/>
          <p:nvPr/>
        </p:nvSpPr>
        <p:spPr>
          <a:xfrm>
            <a:off x="8408212" y="2670048"/>
            <a:ext cx="3198266" cy="256032"/>
          </a:xfrm>
          <a:prstGeom prst="rect">
            <a:avLst/>
          </a:prstGeom>
          <a:noFill/>
        </p:spPr>
        <p:txBody>
          <a:bodyPr wrap="square" anchor="t" lIns="36000" rIns="36000" tIns="18000" bIns="18000">
            <a:spAutoFit/>
          </a:bodyPr>
          <a:lstStyle/>
          <a:p>
            <a:pPr algn="ctr"/>
            <a:r>
              <a:rPr sz="1000" b="0" i="1">
                <a:solidFill>
                  <a:srgbClr val="64748B"/>
                </a:solidFill>
                <a:latin typeface="Noto Sans JP"/>
              </a:rPr>
              <a:t>Polymer–Particle Interaction</a:t>
            </a:r>
          </a:p>
        </p:txBody>
      </p:sp>
      <p:sp>
        <p:nvSpPr>
          <p:cNvPr id="48" name="Rectangle 47"/>
          <p:cNvSpPr/>
          <p:nvPr/>
        </p:nvSpPr>
        <p:spPr>
          <a:xfrm>
            <a:off x="8481364" y="2999232"/>
            <a:ext cx="3051962"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408212" y="3127248"/>
            <a:ext cx="3198266" cy="914400"/>
          </a:xfrm>
          <a:prstGeom prst="rect">
            <a:avLst/>
          </a:prstGeom>
          <a:noFill/>
        </p:spPr>
        <p:txBody>
          <a:bodyPr wrap="square" anchor="t" lIns="36000" rIns="36000" tIns="18000" bIns="18000">
            <a:spAutoFit/>
          </a:bodyPr>
          <a:lstStyle/>
          <a:p>
            <a:pPr algn="ctr"/>
            <a:r>
              <a:rPr sz="1200" b="0" i="0">
                <a:solidFill>
                  <a:srgbClr val="475569"/>
                </a:solidFill>
                <a:latin typeface="Noto Sans JP"/>
              </a:rPr>
              <a:t>動的な多価水素結合でネットワークを構築。共有結合に依存しません。</a:t>
            </a:r>
          </a:p>
        </p:txBody>
      </p:sp>
      <p:sp>
        <p:nvSpPr>
          <p:cNvPr id="50" name="Rounded Rectangle 49"/>
          <p:cNvSpPr/>
          <p:nvPr/>
        </p:nvSpPr>
        <p:spPr>
          <a:xfrm>
            <a:off x="8408212" y="4279392"/>
            <a:ext cx="841248" cy="292608"/>
          </a:xfrm>
          <a:prstGeom prst="roundRect">
            <a:avLst>
              <a:gd name="adj" fmla="val 50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408212" y="4279392"/>
            <a:ext cx="841248" cy="292608"/>
          </a:xfrm>
          <a:prstGeom prst="rect">
            <a:avLst/>
          </a:prstGeom>
          <a:noFill/>
        </p:spPr>
        <p:txBody>
          <a:bodyPr wrap="square" anchor="ctr" lIns="36000" rIns="36000" tIns="18000" bIns="18000">
            <a:spAutoFit/>
          </a:bodyPr>
          <a:lstStyle/>
          <a:p>
            <a:pPr algn="ctr"/>
            <a:r>
              <a:rPr sz="1000" b="1" i="0">
                <a:solidFill>
                  <a:srgbClr val="9F7639"/>
                </a:solidFill>
                <a:latin typeface="Noto Sans JP"/>
              </a:rPr>
              <a:t>結合</a:t>
            </a:r>
          </a:p>
        </p:txBody>
      </p:sp>
      <p:sp>
        <p:nvSpPr>
          <p:cNvPr id="52" name="TextBox 51"/>
          <p:cNvSpPr txBox="1"/>
          <p:nvPr/>
        </p:nvSpPr>
        <p:spPr>
          <a:xfrm>
            <a:off x="9340900" y="4242816"/>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動的・多価の水素結合</a:t>
            </a:r>
          </a:p>
        </p:txBody>
      </p:sp>
      <p:sp>
        <p:nvSpPr>
          <p:cNvPr id="53" name="Rounded Rectangle 52"/>
          <p:cNvSpPr/>
          <p:nvPr/>
        </p:nvSpPr>
        <p:spPr>
          <a:xfrm>
            <a:off x="8408212" y="4956048"/>
            <a:ext cx="841248" cy="292608"/>
          </a:xfrm>
          <a:prstGeom prst="roundRect">
            <a:avLst>
              <a:gd name="adj" fmla="val 50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408212" y="4956048"/>
            <a:ext cx="841248" cy="292608"/>
          </a:xfrm>
          <a:prstGeom prst="rect">
            <a:avLst/>
          </a:prstGeom>
          <a:noFill/>
        </p:spPr>
        <p:txBody>
          <a:bodyPr wrap="square" anchor="ctr" lIns="36000" rIns="36000" tIns="18000" bIns="18000">
            <a:spAutoFit/>
          </a:bodyPr>
          <a:lstStyle/>
          <a:p>
            <a:pPr algn="ctr"/>
            <a:r>
              <a:rPr sz="1000" b="1" i="0">
                <a:solidFill>
                  <a:srgbClr val="9F7639"/>
                </a:solidFill>
                <a:latin typeface="Noto Sans JP"/>
              </a:rPr>
              <a:t>自己修復</a:t>
            </a:r>
          </a:p>
        </p:txBody>
      </p:sp>
      <p:sp>
        <p:nvSpPr>
          <p:cNvPr id="55" name="TextBox 54"/>
          <p:cNvSpPr txBox="1"/>
          <p:nvPr/>
        </p:nvSpPr>
        <p:spPr>
          <a:xfrm>
            <a:off x="9340900" y="4919472"/>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ひずみ後にゲルが回復</a:t>
            </a:r>
          </a:p>
        </p:txBody>
      </p:sp>
      <p:sp>
        <p:nvSpPr>
          <p:cNvPr id="56" name="Rounded Rectangle 55"/>
          <p:cNvSpPr/>
          <p:nvPr/>
        </p:nvSpPr>
        <p:spPr>
          <a:xfrm>
            <a:off x="8408212" y="5632704"/>
            <a:ext cx="841248" cy="292608"/>
          </a:xfrm>
          <a:prstGeom prst="roundRect">
            <a:avLst>
              <a:gd name="adj" fmla="val 50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408212" y="5632704"/>
            <a:ext cx="841248" cy="292608"/>
          </a:xfrm>
          <a:prstGeom prst="rect">
            <a:avLst/>
          </a:prstGeom>
          <a:noFill/>
        </p:spPr>
        <p:txBody>
          <a:bodyPr wrap="square" anchor="ctr" lIns="36000" rIns="36000" tIns="18000" bIns="18000">
            <a:spAutoFit/>
          </a:bodyPr>
          <a:lstStyle/>
          <a:p>
            <a:pPr algn="ctr"/>
            <a:r>
              <a:rPr sz="1000" b="1" i="0">
                <a:solidFill>
                  <a:srgbClr val="9F7639"/>
                </a:solidFill>
                <a:latin typeface="Noto Sans JP"/>
              </a:rPr>
              <a:t>噴霧適性</a:t>
            </a:r>
          </a:p>
        </p:txBody>
      </p:sp>
      <p:sp>
        <p:nvSpPr>
          <p:cNvPr id="58" name="TextBox 57"/>
          <p:cNvSpPr txBox="1"/>
          <p:nvPr/>
        </p:nvSpPr>
        <p:spPr>
          <a:xfrm>
            <a:off x="9340900" y="5596128"/>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スプレー塗布が容易</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概要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噴霧・付着・耐火のメカニズム</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11 / 43</a:t>
            </a:r>
          </a:p>
        </p:txBody>
      </p:sp>
      <p:sp>
        <p:nvSpPr>
          <p:cNvPr id="10" name="TextBox 9"/>
          <p:cNvSpPr txBox="1"/>
          <p:nvPr/>
        </p:nvSpPr>
        <p:spPr>
          <a:xfrm>
            <a:off x="365760" y="859536"/>
            <a:ext cx="11460175" cy="475488"/>
          </a:xfrm>
          <a:prstGeom prst="rect">
            <a:avLst/>
          </a:prstGeom>
          <a:noFill/>
        </p:spPr>
        <p:txBody>
          <a:bodyPr wrap="square" anchor="ctr" lIns="36000" rIns="36000" tIns="18000" bIns="18000">
            <a:spAutoFit/>
          </a:bodyPr>
          <a:lstStyle/>
          <a:p>
            <a:pPr algn="l"/>
            <a:r>
              <a:rPr sz="1500" b="1" i="0">
                <a:solidFill>
                  <a:srgbClr val="1E293B"/>
                </a:solidFill>
                <a:latin typeface="Noto Sans JP"/>
              </a:rPr>
              <a:t>温度ではなく「せん断力」と「自己修復性」が、噴霧から付着までを支配します。</a:t>
            </a:r>
          </a:p>
        </p:txBody>
      </p:sp>
      <p:sp>
        <p:nvSpPr>
          <p:cNvPr id="11" name="Rounded Rectangle 10"/>
          <p:cNvSpPr/>
          <p:nvPr/>
        </p:nvSpPr>
        <p:spPr>
          <a:xfrm>
            <a:off x="365760"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463040"/>
            <a:ext cx="2659303"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627632"/>
            <a:ext cx="2293543" cy="310896"/>
          </a:xfrm>
          <a:prstGeom prst="rect">
            <a:avLst/>
          </a:prstGeom>
          <a:noFill/>
        </p:spPr>
        <p:txBody>
          <a:bodyPr wrap="square" anchor="t" lIns="36000" rIns="36000" tIns="18000" bIns="18000">
            <a:spAutoFit/>
          </a:bodyPr>
          <a:lstStyle/>
          <a:p>
            <a:pPr algn="l"/>
            <a:r>
              <a:rPr sz="1300" b="1" i="0">
                <a:solidFill>
                  <a:srgbClr val="3B5174"/>
                </a:solidFill>
                <a:latin typeface="Noto Sans JP"/>
              </a:rPr>
              <a:t>01</a:t>
            </a:r>
          </a:p>
        </p:txBody>
      </p:sp>
      <p:sp>
        <p:nvSpPr>
          <p:cNvPr id="14" name="TextBox 13"/>
          <p:cNvSpPr txBox="1"/>
          <p:nvPr/>
        </p:nvSpPr>
        <p:spPr>
          <a:xfrm>
            <a:off x="548640"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静止時</a:t>
            </a:r>
          </a:p>
        </p:txBody>
      </p:sp>
      <p:sp>
        <p:nvSpPr>
          <p:cNvPr id="15" name="TextBox 14"/>
          <p:cNvSpPr txBox="1"/>
          <p:nvPr/>
        </p:nvSpPr>
        <p:spPr>
          <a:xfrm>
            <a:off x="548640"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ゲル</a:t>
            </a:r>
          </a:p>
        </p:txBody>
      </p:sp>
      <p:sp>
        <p:nvSpPr>
          <p:cNvPr id="16" name="Rectangle 15"/>
          <p:cNvSpPr/>
          <p:nvPr/>
        </p:nvSpPr>
        <p:spPr>
          <a:xfrm>
            <a:off x="548640"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高粘度の弾性ゲル。G′ &gt; G″ で構造を保持。</a:t>
            </a:r>
          </a:p>
        </p:txBody>
      </p:sp>
      <p:sp>
        <p:nvSpPr>
          <p:cNvPr id="18" name="Rounded Rectangle 17"/>
          <p:cNvSpPr/>
          <p:nvPr/>
        </p:nvSpPr>
        <p:spPr>
          <a:xfrm>
            <a:off x="548640" y="4078224"/>
            <a:ext cx="2293543" cy="420624"/>
          </a:xfrm>
          <a:prstGeom prst="roundRect">
            <a:avLst>
              <a:gd name="adj" fmla="val 6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078224"/>
            <a:ext cx="2293543" cy="420624"/>
          </a:xfrm>
          <a:prstGeom prst="rect">
            <a:avLst/>
          </a:prstGeom>
          <a:noFill/>
        </p:spPr>
        <p:txBody>
          <a:bodyPr wrap="square" anchor="ctr" lIns="36000" rIns="36000" tIns="18000" bIns="18000">
            <a:spAutoFit/>
          </a:bodyPr>
          <a:lstStyle/>
          <a:p>
            <a:pPr algn="ctr"/>
            <a:r>
              <a:rPr sz="1100" b="1" i="0">
                <a:solidFill>
                  <a:srgbClr val="3B5174"/>
                </a:solidFill>
                <a:latin typeface="Noto Sans JP"/>
              </a:rPr>
              <a:t>降伏応力 ~33 Pa</a:t>
            </a:r>
          </a:p>
        </p:txBody>
      </p:sp>
      <p:sp>
        <p:nvSpPr>
          <p:cNvPr id="20" name="TextBox 19"/>
          <p:cNvSpPr txBox="1"/>
          <p:nvPr/>
        </p:nvSpPr>
        <p:spPr>
          <a:xfrm>
            <a:off x="3025063" y="1463040"/>
            <a:ext cx="274320" cy="3200400"/>
          </a:xfrm>
          <a:prstGeom prst="rect">
            <a:avLst/>
          </a:prstGeom>
          <a:noFill/>
        </p:spPr>
        <p:txBody>
          <a:bodyPr wrap="square" anchor="ctr" lIns="36000" rIns="36000" tIns="18000" bIns="18000">
            <a:spAutoFit/>
          </a:bodyPr>
          <a:lstStyle/>
          <a:p>
            <a:pPr algn="ctr"/>
            <a:r>
              <a:rPr sz="2000" b="0" i="0">
                <a:solidFill>
                  <a:srgbClr val="AAB4C0"/>
                </a:solidFill>
                <a:latin typeface="Noto Sans JP"/>
              </a:rPr>
              <a:t>→</a:t>
            </a:r>
          </a:p>
        </p:txBody>
      </p:sp>
      <p:sp>
        <p:nvSpPr>
          <p:cNvPr id="21" name="Rounded Rectangle 20"/>
          <p:cNvSpPr/>
          <p:nvPr/>
        </p:nvSpPr>
        <p:spPr>
          <a:xfrm>
            <a:off x="3299383"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99383" y="1463040"/>
            <a:ext cx="2659303" cy="54864"/>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82263" y="1627632"/>
            <a:ext cx="2293543" cy="310896"/>
          </a:xfrm>
          <a:prstGeom prst="rect">
            <a:avLst/>
          </a:prstGeom>
          <a:noFill/>
        </p:spPr>
        <p:txBody>
          <a:bodyPr wrap="square" anchor="t" lIns="36000" rIns="36000" tIns="18000" bIns="18000">
            <a:spAutoFit/>
          </a:bodyPr>
          <a:lstStyle/>
          <a:p>
            <a:pPr algn="l"/>
            <a:r>
              <a:rPr sz="1300" b="1" i="0">
                <a:solidFill>
                  <a:srgbClr val="4A7C8C"/>
                </a:solidFill>
                <a:latin typeface="Noto Sans JP"/>
              </a:rPr>
              <a:t>02</a:t>
            </a:r>
          </a:p>
        </p:txBody>
      </p:sp>
      <p:sp>
        <p:nvSpPr>
          <p:cNvPr id="24" name="TextBox 23"/>
          <p:cNvSpPr txBox="1"/>
          <p:nvPr/>
        </p:nvSpPr>
        <p:spPr>
          <a:xfrm>
            <a:off x="3482263"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噴霧時</a:t>
            </a:r>
          </a:p>
        </p:txBody>
      </p:sp>
      <p:sp>
        <p:nvSpPr>
          <p:cNvPr id="25" name="TextBox 24"/>
          <p:cNvSpPr txBox="1"/>
          <p:nvPr/>
        </p:nvSpPr>
        <p:spPr>
          <a:xfrm>
            <a:off x="3482263"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ゾル様</a:t>
            </a:r>
          </a:p>
        </p:txBody>
      </p:sp>
      <p:sp>
        <p:nvSpPr>
          <p:cNvPr id="26" name="Rectangle 25"/>
          <p:cNvSpPr/>
          <p:nvPr/>
        </p:nvSpPr>
        <p:spPr>
          <a:xfrm>
            <a:off x="3482263"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482263"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せん断ひずみで粘度が低下し、流動化。</a:t>
            </a:r>
          </a:p>
        </p:txBody>
      </p:sp>
      <p:sp>
        <p:nvSpPr>
          <p:cNvPr id="28" name="Rounded Rectangle 27"/>
          <p:cNvSpPr/>
          <p:nvPr/>
        </p:nvSpPr>
        <p:spPr>
          <a:xfrm>
            <a:off x="3482263" y="4078224"/>
            <a:ext cx="2293543" cy="420624"/>
          </a:xfrm>
          <a:prstGeom prst="roundRect">
            <a:avLst>
              <a:gd name="adj" fmla="val 6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82263" y="4078224"/>
            <a:ext cx="2293543" cy="420624"/>
          </a:xfrm>
          <a:prstGeom prst="rect">
            <a:avLst/>
          </a:prstGeom>
          <a:noFill/>
        </p:spPr>
        <p:txBody>
          <a:bodyPr wrap="square" anchor="ctr" lIns="36000" rIns="36000" tIns="18000" bIns="18000">
            <a:spAutoFit/>
          </a:bodyPr>
          <a:lstStyle/>
          <a:p>
            <a:pPr algn="ctr"/>
            <a:r>
              <a:rPr sz="1100" b="1" i="0">
                <a:solidFill>
                  <a:srgbClr val="4A7C8C"/>
                </a:solidFill>
                <a:latin typeface="Noto Sans JP"/>
              </a:rPr>
              <a:t>せん断希薄化（粘度低下）</a:t>
            </a:r>
          </a:p>
        </p:txBody>
      </p:sp>
      <p:sp>
        <p:nvSpPr>
          <p:cNvPr id="30" name="TextBox 29"/>
          <p:cNvSpPr txBox="1"/>
          <p:nvPr/>
        </p:nvSpPr>
        <p:spPr>
          <a:xfrm>
            <a:off x="5958687" y="1463040"/>
            <a:ext cx="274320" cy="3200400"/>
          </a:xfrm>
          <a:prstGeom prst="rect">
            <a:avLst/>
          </a:prstGeom>
          <a:noFill/>
        </p:spPr>
        <p:txBody>
          <a:bodyPr wrap="square" anchor="ctr" lIns="36000" rIns="36000" tIns="18000" bIns="18000">
            <a:spAutoFit/>
          </a:bodyPr>
          <a:lstStyle/>
          <a:p>
            <a:pPr algn="ctr"/>
            <a:r>
              <a:rPr sz="2000" b="0" i="0">
                <a:solidFill>
                  <a:srgbClr val="AAB4C0"/>
                </a:solidFill>
                <a:latin typeface="Noto Sans JP"/>
              </a:rPr>
              <a:t>→</a:t>
            </a:r>
          </a:p>
        </p:txBody>
      </p:sp>
      <p:sp>
        <p:nvSpPr>
          <p:cNvPr id="31" name="Rounded Rectangle 30"/>
          <p:cNvSpPr/>
          <p:nvPr/>
        </p:nvSpPr>
        <p:spPr>
          <a:xfrm>
            <a:off x="6233007"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3007" y="1463040"/>
            <a:ext cx="2659303" cy="54864"/>
          </a:xfrm>
          <a:prstGeom prst="rect">
            <a:avLst/>
          </a:prstGeom>
          <a:solidFill>
            <a:srgbClr val="5B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15887" y="1627632"/>
            <a:ext cx="2293543" cy="310896"/>
          </a:xfrm>
          <a:prstGeom prst="rect">
            <a:avLst/>
          </a:prstGeom>
          <a:noFill/>
        </p:spPr>
        <p:txBody>
          <a:bodyPr wrap="square" anchor="t" lIns="36000" rIns="36000" tIns="18000" bIns="18000">
            <a:spAutoFit/>
          </a:bodyPr>
          <a:lstStyle/>
          <a:p>
            <a:pPr algn="l"/>
            <a:r>
              <a:rPr sz="1300" b="1" i="0">
                <a:solidFill>
                  <a:srgbClr val="5B8C5A"/>
                </a:solidFill>
                <a:latin typeface="Noto Sans JP"/>
              </a:rPr>
              <a:t>03</a:t>
            </a:r>
          </a:p>
        </p:txBody>
      </p:sp>
      <p:sp>
        <p:nvSpPr>
          <p:cNvPr id="34" name="TextBox 33"/>
          <p:cNvSpPr txBox="1"/>
          <p:nvPr/>
        </p:nvSpPr>
        <p:spPr>
          <a:xfrm>
            <a:off x="6415887"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付着後</a:t>
            </a:r>
          </a:p>
        </p:txBody>
      </p:sp>
      <p:sp>
        <p:nvSpPr>
          <p:cNvPr id="35" name="TextBox 34"/>
          <p:cNvSpPr txBox="1"/>
          <p:nvPr/>
        </p:nvSpPr>
        <p:spPr>
          <a:xfrm>
            <a:off x="6415887"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自己修復ゲル</a:t>
            </a:r>
          </a:p>
        </p:txBody>
      </p:sp>
      <p:sp>
        <p:nvSpPr>
          <p:cNvPr id="36" name="Rectangle 35"/>
          <p:cNvSpPr/>
          <p:nvPr/>
        </p:nvSpPr>
        <p:spPr>
          <a:xfrm>
            <a:off x="6415887"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5887"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ひずみ解放で即座にゲル構造を回復。</a:t>
            </a:r>
          </a:p>
        </p:txBody>
      </p:sp>
      <p:sp>
        <p:nvSpPr>
          <p:cNvPr id="38" name="Rounded Rectangle 37"/>
          <p:cNvSpPr/>
          <p:nvPr/>
        </p:nvSpPr>
        <p:spPr>
          <a:xfrm>
            <a:off x="6415887" y="4078224"/>
            <a:ext cx="2293543" cy="420624"/>
          </a:xfrm>
          <a:prstGeom prst="roundRect">
            <a:avLst>
              <a:gd name="adj" fmla="val 6000"/>
            </a:avLst>
          </a:prstGeom>
          <a:solidFill>
            <a:srgbClr val="FFFFFF"/>
          </a:solidFill>
          <a:ln w="8890">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15887" y="4078224"/>
            <a:ext cx="2293543" cy="420624"/>
          </a:xfrm>
          <a:prstGeom prst="rect">
            <a:avLst/>
          </a:prstGeom>
          <a:noFill/>
        </p:spPr>
        <p:txBody>
          <a:bodyPr wrap="square" anchor="ctr" lIns="36000" rIns="36000" tIns="18000" bIns="18000">
            <a:spAutoFit/>
          </a:bodyPr>
          <a:lstStyle/>
          <a:p>
            <a:pPr algn="ctr"/>
            <a:r>
              <a:rPr sz="1100" b="1" i="0">
                <a:solidFill>
                  <a:srgbClr val="5B8C5A"/>
                </a:solidFill>
                <a:latin typeface="Noto Sans JP"/>
              </a:rPr>
              <a:t>G′ 回復率 ~90%</a:t>
            </a:r>
          </a:p>
        </p:txBody>
      </p:sp>
      <p:sp>
        <p:nvSpPr>
          <p:cNvPr id="40" name="TextBox 39"/>
          <p:cNvSpPr txBox="1"/>
          <p:nvPr/>
        </p:nvSpPr>
        <p:spPr>
          <a:xfrm>
            <a:off x="8892311" y="1463040"/>
            <a:ext cx="274320" cy="3200400"/>
          </a:xfrm>
          <a:prstGeom prst="rect">
            <a:avLst/>
          </a:prstGeom>
          <a:noFill/>
        </p:spPr>
        <p:txBody>
          <a:bodyPr wrap="square" anchor="ctr" lIns="36000" rIns="36000" tIns="18000" bIns="18000">
            <a:spAutoFit/>
          </a:bodyPr>
          <a:lstStyle/>
          <a:p>
            <a:pPr algn="ctr"/>
            <a:r>
              <a:rPr sz="2000" b="0" i="0">
                <a:solidFill>
                  <a:srgbClr val="AAB4C0"/>
                </a:solidFill>
                <a:latin typeface="Noto Sans JP"/>
              </a:rPr>
              <a:t>→</a:t>
            </a:r>
          </a:p>
        </p:txBody>
      </p:sp>
      <p:sp>
        <p:nvSpPr>
          <p:cNvPr id="41" name="Rounded Rectangle 40"/>
          <p:cNvSpPr/>
          <p:nvPr/>
        </p:nvSpPr>
        <p:spPr>
          <a:xfrm>
            <a:off x="9166631"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166631" y="1463040"/>
            <a:ext cx="2659303" cy="54864"/>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349511" y="1627632"/>
            <a:ext cx="2293543" cy="310896"/>
          </a:xfrm>
          <a:prstGeom prst="rect">
            <a:avLst/>
          </a:prstGeom>
          <a:noFill/>
        </p:spPr>
        <p:txBody>
          <a:bodyPr wrap="square" anchor="t" lIns="36000" rIns="36000" tIns="18000" bIns="18000">
            <a:spAutoFit/>
          </a:bodyPr>
          <a:lstStyle/>
          <a:p>
            <a:pPr algn="l"/>
            <a:r>
              <a:rPr sz="1300" b="1" i="0">
                <a:solidFill>
                  <a:srgbClr val="9F7639"/>
                </a:solidFill>
                <a:latin typeface="Noto Sans JP"/>
              </a:rPr>
              <a:t>04</a:t>
            </a:r>
          </a:p>
        </p:txBody>
      </p:sp>
      <p:sp>
        <p:nvSpPr>
          <p:cNvPr id="44" name="TextBox 43"/>
          <p:cNvSpPr txBox="1"/>
          <p:nvPr/>
        </p:nvSpPr>
        <p:spPr>
          <a:xfrm>
            <a:off x="9349511"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炎接触</a:t>
            </a:r>
          </a:p>
        </p:txBody>
      </p:sp>
      <p:sp>
        <p:nvSpPr>
          <p:cNvPr id="45" name="TextBox 44"/>
          <p:cNvSpPr txBox="1"/>
          <p:nvPr/>
        </p:nvSpPr>
        <p:spPr>
          <a:xfrm>
            <a:off x="9349511"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エアロゲル</a:t>
            </a:r>
          </a:p>
        </p:txBody>
      </p:sp>
      <p:sp>
        <p:nvSpPr>
          <p:cNvPr id="46" name="Rectangle 45"/>
          <p:cNvSpPr/>
          <p:nvPr/>
        </p:nvSpPr>
        <p:spPr>
          <a:xfrm>
            <a:off x="9349511"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349511"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CSP が焼結し多孔質シリカ層を形成。</a:t>
            </a:r>
          </a:p>
        </p:txBody>
      </p:sp>
      <p:sp>
        <p:nvSpPr>
          <p:cNvPr id="48" name="Rounded Rectangle 47"/>
          <p:cNvSpPr/>
          <p:nvPr/>
        </p:nvSpPr>
        <p:spPr>
          <a:xfrm>
            <a:off x="9349511" y="4078224"/>
            <a:ext cx="2293543" cy="420624"/>
          </a:xfrm>
          <a:prstGeom prst="roundRect">
            <a:avLst>
              <a:gd name="adj" fmla="val 6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349511" y="4078224"/>
            <a:ext cx="2293543" cy="420624"/>
          </a:xfrm>
          <a:prstGeom prst="rect">
            <a:avLst/>
          </a:prstGeom>
          <a:noFill/>
        </p:spPr>
        <p:txBody>
          <a:bodyPr wrap="square" anchor="ctr" lIns="36000" rIns="36000" tIns="18000" bIns="18000">
            <a:spAutoFit/>
          </a:bodyPr>
          <a:lstStyle/>
          <a:p>
            <a:pPr algn="ctr"/>
            <a:r>
              <a:rPr sz="1100" b="1" i="0">
                <a:solidFill>
                  <a:srgbClr val="9F7639"/>
                </a:solidFill>
                <a:latin typeface="Noto Sans JP"/>
              </a:rPr>
              <a:t>断熱バリアとして機能</a:t>
            </a:r>
          </a:p>
        </p:txBody>
      </p:sp>
      <p:sp>
        <p:nvSpPr>
          <p:cNvPr id="50" name="Rounded Rectangle 49"/>
          <p:cNvSpPr/>
          <p:nvPr/>
        </p:nvSpPr>
        <p:spPr>
          <a:xfrm>
            <a:off x="365760" y="4846320"/>
            <a:ext cx="11460175" cy="1755648"/>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365760" y="4846320"/>
            <a:ext cx="73152" cy="175564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0080" y="4846320"/>
            <a:ext cx="2194560" cy="1755648"/>
          </a:xfrm>
          <a:prstGeom prst="rect">
            <a:avLst/>
          </a:prstGeom>
          <a:noFill/>
        </p:spPr>
        <p:txBody>
          <a:bodyPr wrap="square" anchor="ctr" lIns="36000" rIns="36000" tIns="18000" bIns="18000">
            <a:spAutoFit/>
          </a:bodyPr>
          <a:lstStyle/>
          <a:p>
            <a:pPr algn="l"/>
            <a:r>
              <a:rPr sz="1300" b="1" i="0">
                <a:solidFill>
                  <a:srgbClr val="D4A574"/>
                </a:solidFill>
                <a:latin typeface="Noto Sans JP"/>
              </a:rPr>
              <a:t>POINT</a:t>
            </a:r>
          </a:p>
        </p:txBody>
      </p:sp>
      <p:sp>
        <p:nvSpPr>
          <p:cNvPr id="53" name="TextBox 52"/>
          <p:cNvSpPr txBox="1"/>
          <p:nvPr/>
        </p:nvSpPr>
        <p:spPr>
          <a:xfrm>
            <a:off x="2194560" y="4846320"/>
            <a:ext cx="9357055" cy="1755648"/>
          </a:xfrm>
          <a:prstGeom prst="rect">
            <a:avLst/>
          </a:prstGeom>
          <a:noFill/>
        </p:spPr>
        <p:txBody>
          <a:bodyPr wrap="square" anchor="ctr" lIns="36000" rIns="36000" tIns="18000" bIns="18000">
            <a:spAutoFit/>
          </a:bodyPr>
          <a:lstStyle/>
          <a:p>
            <a:pPr algn="l"/>
            <a:r>
              <a:rPr sz="1300" b="0" i="0">
                <a:solidFill>
                  <a:srgbClr val="FFFFFF"/>
                </a:solidFill>
                <a:latin typeface="Noto Sans JP"/>
              </a:rPr>
              <a:t>MC の温度応答性（LCST）に頼らず、レオロジー特性だけで「飛ばす→留める→固める」を実現する点が本材料の核心です。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1/6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使用したセルロース系ポリマー</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12 / 43</a:t>
            </a:r>
          </a:p>
        </p:txBody>
      </p:sp>
      <p:sp>
        <p:nvSpPr>
          <p:cNvPr id="10" name="TextBox 9"/>
          <p:cNvSpPr txBox="1"/>
          <p:nvPr/>
        </p:nvSpPr>
        <p:spPr>
          <a:xfrm>
            <a:off x="365760" y="85953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A</a:t>
            </a:r>
          </a:p>
        </p:txBody>
      </p:sp>
      <p:sp>
        <p:nvSpPr>
          <p:cNvPr id="11" name="TextBox 10"/>
          <p:cNvSpPr txBox="1"/>
          <p:nvPr/>
        </p:nvSpPr>
        <p:spPr>
          <a:xfrm>
            <a:off x="1234440" y="106070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HEC</a:t>
            </a:r>
          </a:p>
        </p:txBody>
      </p:sp>
      <p:sp>
        <p:nvSpPr>
          <p:cNvPr id="12" name="TextBox 11"/>
          <p:cNvSpPr txBox="1"/>
          <p:nvPr/>
        </p:nvSpPr>
        <p:spPr>
          <a:xfrm>
            <a:off x="1234440" y="149961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Hydroxyethyl cellulose</a:t>
            </a:r>
          </a:p>
        </p:txBody>
      </p:sp>
      <p:sp>
        <p:nvSpPr>
          <p:cNvPr id="13" name="TextBox 12"/>
          <p:cNvSpPr txBox="1"/>
          <p:nvPr/>
        </p:nvSpPr>
        <p:spPr>
          <a:xfrm>
            <a:off x="1234440" y="177393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ベース粘性を付与する骨格成分</a:t>
            </a:r>
          </a:p>
        </p:txBody>
      </p:sp>
      <p:sp>
        <p:nvSpPr>
          <p:cNvPr id="14" name="Rectangle 13"/>
          <p:cNvSpPr/>
          <p:nvPr/>
        </p:nvSpPr>
        <p:spPr>
          <a:xfrm>
            <a:off x="365760" y="2761488"/>
            <a:ext cx="619336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77977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B</a:t>
            </a:r>
          </a:p>
        </p:txBody>
      </p:sp>
      <p:sp>
        <p:nvSpPr>
          <p:cNvPr id="16" name="TextBox 15"/>
          <p:cNvSpPr txBox="1"/>
          <p:nvPr/>
        </p:nvSpPr>
        <p:spPr>
          <a:xfrm>
            <a:off x="1234440" y="298094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MC</a:t>
            </a:r>
          </a:p>
        </p:txBody>
      </p:sp>
      <p:sp>
        <p:nvSpPr>
          <p:cNvPr id="17" name="TextBox 16"/>
          <p:cNvSpPr txBox="1"/>
          <p:nvPr/>
        </p:nvSpPr>
        <p:spPr>
          <a:xfrm>
            <a:off x="1234440" y="341985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Methyl cellulose</a:t>
            </a:r>
          </a:p>
        </p:txBody>
      </p:sp>
      <p:sp>
        <p:nvSpPr>
          <p:cNvPr id="18" name="TextBox 17"/>
          <p:cNvSpPr txBox="1"/>
          <p:nvPr/>
        </p:nvSpPr>
        <p:spPr>
          <a:xfrm>
            <a:off x="1234440" y="369417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加熱でゲル化（熱可逆性）── 火炎保護の鍵</a:t>
            </a:r>
          </a:p>
        </p:txBody>
      </p:sp>
      <p:sp>
        <p:nvSpPr>
          <p:cNvPr id="19" name="Rectangle 18"/>
          <p:cNvSpPr/>
          <p:nvPr/>
        </p:nvSpPr>
        <p:spPr>
          <a:xfrm>
            <a:off x="365760" y="4681728"/>
            <a:ext cx="619336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470001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C</a:t>
            </a:r>
          </a:p>
        </p:txBody>
      </p:sp>
      <p:sp>
        <p:nvSpPr>
          <p:cNvPr id="21" name="TextBox 20"/>
          <p:cNvSpPr txBox="1"/>
          <p:nvPr/>
        </p:nvSpPr>
        <p:spPr>
          <a:xfrm>
            <a:off x="1234440" y="490118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MHEC</a:t>
            </a:r>
          </a:p>
        </p:txBody>
      </p:sp>
      <p:sp>
        <p:nvSpPr>
          <p:cNvPr id="22" name="TextBox 21"/>
          <p:cNvSpPr txBox="1"/>
          <p:nvPr/>
        </p:nvSpPr>
        <p:spPr>
          <a:xfrm>
            <a:off x="1234440" y="534009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Methyl 2-hydroxyethyl cellulose</a:t>
            </a:r>
          </a:p>
        </p:txBody>
      </p:sp>
      <p:sp>
        <p:nvSpPr>
          <p:cNvPr id="23" name="TextBox 22"/>
          <p:cNvSpPr txBox="1"/>
          <p:nvPr/>
        </p:nvSpPr>
        <p:spPr>
          <a:xfrm>
            <a:off x="1234440" y="561441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AとBの特性を併せ持つ複合型</a:t>
            </a:r>
          </a:p>
        </p:txBody>
      </p:sp>
      <p:sp>
        <p:nvSpPr>
          <p:cNvPr id="24" name="Rounded Rectangle 23"/>
          <p:cNvSpPr/>
          <p:nvPr/>
        </p:nvSpPr>
        <p:spPr>
          <a:xfrm>
            <a:off x="6742008" y="859536"/>
            <a:ext cx="5083926" cy="30175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8517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17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1b/c</a:t>
            </a:r>
          </a:p>
        </p:txBody>
      </p:sp>
      <p:sp>
        <p:nvSpPr>
          <p:cNvPr id="27" name="TextBox 26"/>
          <p:cNvSpPr txBox="1"/>
          <p:nvPr/>
        </p:nvSpPr>
        <p:spPr>
          <a:xfrm>
            <a:off x="6742008" y="859536"/>
            <a:ext cx="5083926" cy="30175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6742008" y="3913632"/>
            <a:ext cx="50839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各ポリマーの化学構造とCSP混合スキーム</a:t>
            </a:r>
          </a:p>
        </p:txBody>
      </p:sp>
      <p:sp>
        <p:nvSpPr>
          <p:cNvPr id="29" name="Rounded Rectangle 28"/>
          <p:cNvSpPr/>
          <p:nvPr/>
        </p:nvSpPr>
        <p:spPr>
          <a:xfrm>
            <a:off x="6742008" y="4297680"/>
            <a:ext cx="5083926" cy="18288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1736" y="4407408"/>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1736" y="440740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32" name="TextBox 31"/>
          <p:cNvSpPr txBox="1"/>
          <p:nvPr/>
        </p:nvSpPr>
        <p:spPr>
          <a:xfrm>
            <a:off x="6742008" y="4297680"/>
            <a:ext cx="5083926" cy="182880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3" name="TextBox 32"/>
          <p:cNvSpPr txBox="1"/>
          <p:nvPr/>
        </p:nvSpPr>
        <p:spPr>
          <a:xfrm>
            <a:off x="6851736" y="5779008"/>
            <a:ext cx="4864470"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4" name="TextBox 33"/>
          <p:cNvSpPr txBox="1"/>
          <p:nvPr/>
        </p:nvSpPr>
        <p:spPr>
          <a:xfrm>
            <a:off x="6742008" y="6163056"/>
            <a:ext cx="50839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セルロースの分子構造（参考）</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2/6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レオロジー設計：せん断希薄化と自己修復性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13 / 43</a:t>
            </a:r>
          </a:p>
        </p:txBody>
      </p:sp>
      <p:sp>
        <p:nvSpPr>
          <p:cNvPr id="10" name="Rounded Rectangle 9"/>
          <p:cNvSpPr/>
          <p:nvPr/>
        </p:nvSpPr>
        <p:spPr>
          <a:xfrm>
            <a:off x="365760" y="859536"/>
            <a:ext cx="5409444" cy="2468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a:t>
            </a:r>
          </a:p>
        </p:txBody>
      </p:sp>
      <p:sp>
        <p:nvSpPr>
          <p:cNvPr id="13" name="TextBox 12"/>
          <p:cNvSpPr txBox="1"/>
          <p:nvPr/>
        </p:nvSpPr>
        <p:spPr>
          <a:xfrm>
            <a:off x="365760" y="859536"/>
            <a:ext cx="5409444" cy="2468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364992"/>
            <a:ext cx="540944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せん断速度（シアシニング挙動）</a:t>
            </a:r>
          </a:p>
        </p:txBody>
      </p:sp>
      <p:sp>
        <p:nvSpPr>
          <p:cNvPr id="15" name="Rectangle 14"/>
          <p:cNvSpPr/>
          <p:nvPr/>
        </p:nvSpPr>
        <p:spPr>
          <a:xfrm>
            <a:off x="365760" y="3511296"/>
            <a:ext cx="4868499"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 y="367588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せん断希薄化</a:t>
            </a:r>
          </a:p>
        </p:txBody>
      </p:sp>
      <p:sp>
        <p:nvSpPr>
          <p:cNvPr id="17" name="TextBox 16"/>
          <p:cNvSpPr txBox="1"/>
          <p:nvPr/>
        </p:nvSpPr>
        <p:spPr>
          <a:xfrm>
            <a:off x="1408175" y="367588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高せん断で粘度が急低下（噴霧時に低粘度化）</a:t>
            </a:r>
          </a:p>
        </p:txBody>
      </p:sp>
      <p:sp>
        <p:nvSpPr>
          <p:cNvPr id="18" name="TextBox 17"/>
          <p:cNvSpPr txBox="1"/>
          <p:nvPr/>
        </p:nvSpPr>
        <p:spPr>
          <a:xfrm>
            <a:off x="365760" y="404164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降伏応力</a:t>
            </a:r>
          </a:p>
        </p:txBody>
      </p:sp>
      <p:sp>
        <p:nvSpPr>
          <p:cNvPr id="19" name="TextBox 18"/>
          <p:cNvSpPr txBox="1"/>
          <p:nvPr/>
        </p:nvSpPr>
        <p:spPr>
          <a:xfrm>
            <a:off x="1408175" y="404164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~33 Pa（静止時のゲル構造を維持）</a:t>
            </a:r>
          </a:p>
        </p:txBody>
      </p:sp>
      <p:sp>
        <p:nvSpPr>
          <p:cNvPr id="20" name="TextBox 19"/>
          <p:cNvSpPr txBox="1"/>
          <p:nvPr/>
        </p:nvSpPr>
        <p:spPr>
          <a:xfrm>
            <a:off x="365760" y="440740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自己修復性</a:t>
            </a:r>
          </a:p>
        </p:txBody>
      </p:sp>
      <p:sp>
        <p:nvSpPr>
          <p:cNvPr id="21" name="TextBox 20"/>
          <p:cNvSpPr txBox="1"/>
          <p:nvPr/>
        </p:nvSpPr>
        <p:spPr>
          <a:xfrm>
            <a:off x="1408175" y="440740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ひずみ除去後 G' が ~90% 回復</a:t>
            </a:r>
          </a:p>
        </p:txBody>
      </p:sp>
      <p:sp>
        <p:nvSpPr>
          <p:cNvPr id="22" name="Rounded Rectangle 21"/>
          <p:cNvSpPr/>
          <p:nvPr/>
        </p:nvSpPr>
        <p:spPr>
          <a:xfrm>
            <a:off x="595808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8610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粘度挙動</a:t>
            </a:r>
          </a:p>
        </p:txBody>
      </p:sp>
      <p:sp>
        <p:nvSpPr>
          <p:cNvPr id="24" name="TextBox 23"/>
          <p:cNvSpPr txBox="1"/>
          <p:nvPr/>
        </p:nvSpPr>
        <p:spPr>
          <a:xfrm>
            <a:off x="6086100" y="1225296"/>
            <a:ext cx="1638958"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可逆</a:t>
            </a:r>
          </a:p>
        </p:txBody>
      </p:sp>
      <p:sp>
        <p:nvSpPr>
          <p:cNvPr id="25" name="TextBox 24"/>
          <p:cNvSpPr txBox="1"/>
          <p:nvPr/>
        </p:nvSpPr>
        <p:spPr>
          <a:xfrm>
            <a:off x="608610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高せん断で低粘度→静止で回復</a:t>
            </a:r>
          </a:p>
        </p:txBody>
      </p:sp>
      <p:sp>
        <p:nvSpPr>
          <p:cNvPr id="26" name="Rounded Rectangle 25"/>
          <p:cNvSpPr/>
          <p:nvPr/>
        </p:nvSpPr>
        <p:spPr>
          <a:xfrm>
            <a:off x="794451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7253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動的降伏応力</a:t>
            </a:r>
          </a:p>
        </p:txBody>
      </p:sp>
      <p:sp>
        <p:nvSpPr>
          <p:cNvPr id="28" name="TextBox 27"/>
          <p:cNvSpPr txBox="1"/>
          <p:nvPr/>
        </p:nvSpPr>
        <p:spPr>
          <a:xfrm>
            <a:off x="8072530" y="1225296"/>
            <a:ext cx="1638958"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~33 Pa</a:t>
            </a:r>
          </a:p>
        </p:txBody>
      </p:sp>
      <p:sp>
        <p:nvSpPr>
          <p:cNvPr id="29" name="TextBox 28"/>
          <p:cNvSpPr txBox="1"/>
          <p:nvPr/>
        </p:nvSpPr>
        <p:spPr>
          <a:xfrm>
            <a:off x="807253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HEC+MC/CSP（HB fit）</a:t>
            </a:r>
          </a:p>
        </p:txBody>
      </p:sp>
      <p:sp>
        <p:nvSpPr>
          <p:cNvPr id="30" name="Rounded Rectangle 29"/>
          <p:cNvSpPr/>
          <p:nvPr/>
        </p:nvSpPr>
        <p:spPr>
          <a:xfrm>
            <a:off x="993094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96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G' 回復率</a:t>
            </a:r>
          </a:p>
        </p:txBody>
      </p:sp>
      <p:sp>
        <p:nvSpPr>
          <p:cNvPr id="32" name="TextBox 31"/>
          <p:cNvSpPr txBox="1"/>
          <p:nvPr/>
        </p:nvSpPr>
        <p:spPr>
          <a:xfrm>
            <a:off x="10058960" y="1225296"/>
            <a:ext cx="1638958" cy="411480"/>
          </a:xfrm>
          <a:prstGeom prst="rect">
            <a:avLst/>
          </a:prstGeom>
          <a:noFill/>
        </p:spPr>
        <p:txBody>
          <a:bodyPr wrap="square" anchor="t" lIns="36000" rIns="36000" tIns="18000" bIns="18000">
            <a:spAutoFit/>
          </a:bodyPr>
          <a:lstStyle/>
          <a:p>
            <a:pPr algn="l"/>
            <a:r>
              <a:rPr sz="2000" b="1" i="0">
                <a:solidFill>
                  <a:srgbClr val="5B8C5A"/>
                </a:solidFill>
                <a:latin typeface="Noto Sans JP"/>
              </a:rPr>
              <a:t>~90%</a:t>
            </a:r>
          </a:p>
        </p:txBody>
      </p:sp>
      <p:sp>
        <p:nvSpPr>
          <p:cNvPr id="33" name="TextBox 32"/>
          <p:cNvSpPr txBox="1"/>
          <p:nvPr/>
        </p:nvSpPr>
        <p:spPr>
          <a:xfrm>
            <a:off x="1005896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1000秒後</a:t>
            </a:r>
          </a:p>
        </p:txBody>
      </p:sp>
      <p:sp>
        <p:nvSpPr>
          <p:cNvPr id="34" name="Rounded Rectangle 33"/>
          <p:cNvSpPr/>
          <p:nvPr/>
        </p:nvSpPr>
        <p:spPr>
          <a:xfrm>
            <a:off x="5958084" y="2414016"/>
            <a:ext cx="5867851" cy="246888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40964" y="2578608"/>
            <a:ext cx="5502091" cy="274320"/>
          </a:xfrm>
          <a:prstGeom prst="rect">
            <a:avLst/>
          </a:prstGeom>
          <a:noFill/>
        </p:spPr>
        <p:txBody>
          <a:bodyPr wrap="square" anchor="t" lIns="36000" rIns="36000" tIns="18000" bIns="18000">
            <a:spAutoFit/>
          </a:bodyPr>
          <a:lstStyle/>
          <a:p>
            <a:pPr algn="l"/>
            <a:r>
              <a:rPr sz="1100" b="1" i="0">
                <a:solidFill>
                  <a:srgbClr val="A0B8D0"/>
                </a:solidFill>
                <a:latin typeface="Noto Sans JP"/>
              </a:rPr>
              <a:t>噴霧〜耐火プロセス</a:t>
            </a:r>
          </a:p>
        </p:txBody>
      </p:sp>
      <p:sp>
        <p:nvSpPr>
          <p:cNvPr id="36" name="Rounded Rectangle 35"/>
          <p:cNvSpPr/>
          <p:nvPr/>
        </p:nvSpPr>
        <p:spPr>
          <a:xfrm>
            <a:off x="6140964"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32404"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静止時</a:t>
            </a:r>
          </a:p>
        </p:txBody>
      </p:sp>
      <p:sp>
        <p:nvSpPr>
          <p:cNvPr id="38" name="TextBox 37"/>
          <p:cNvSpPr txBox="1"/>
          <p:nvPr/>
        </p:nvSpPr>
        <p:spPr>
          <a:xfrm>
            <a:off x="6232404"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ゲル状態</a:t>
            </a:r>
          </a:p>
        </p:txBody>
      </p:sp>
      <p:sp>
        <p:nvSpPr>
          <p:cNvPr id="39" name="TextBox 38"/>
          <p:cNvSpPr txBox="1"/>
          <p:nvPr/>
        </p:nvSpPr>
        <p:spPr>
          <a:xfrm>
            <a:off x="6232404"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G' &gt; G''</a:t>
            </a:r>
          </a:p>
        </p:txBody>
      </p:sp>
      <p:sp>
        <p:nvSpPr>
          <p:cNvPr id="40" name="TextBox 39"/>
          <p:cNvSpPr txBox="1"/>
          <p:nvPr/>
        </p:nvSpPr>
        <p:spPr>
          <a:xfrm>
            <a:off x="7310746"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1" name="Rounded Rectangle 40"/>
          <p:cNvSpPr/>
          <p:nvPr/>
        </p:nvSpPr>
        <p:spPr>
          <a:xfrm>
            <a:off x="7402186"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93626"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噴霧時</a:t>
            </a:r>
          </a:p>
        </p:txBody>
      </p:sp>
      <p:sp>
        <p:nvSpPr>
          <p:cNvPr id="43" name="TextBox 42"/>
          <p:cNvSpPr txBox="1"/>
          <p:nvPr/>
        </p:nvSpPr>
        <p:spPr>
          <a:xfrm>
            <a:off x="7493626"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せん断希薄化</a:t>
            </a:r>
          </a:p>
        </p:txBody>
      </p:sp>
      <p:sp>
        <p:nvSpPr>
          <p:cNvPr id="44" name="TextBox 43"/>
          <p:cNvSpPr txBox="1"/>
          <p:nvPr/>
        </p:nvSpPr>
        <p:spPr>
          <a:xfrm>
            <a:off x="7493626"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低粘度・ゾル様</a:t>
            </a:r>
          </a:p>
        </p:txBody>
      </p:sp>
      <p:sp>
        <p:nvSpPr>
          <p:cNvPr id="45" name="TextBox 44"/>
          <p:cNvSpPr txBox="1"/>
          <p:nvPr/>
        </p:nvSpPr>
        <p:spPr>
          <a:xfrm>
            <a:off x="8571969"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6" name="Rounded Rectangle 45"/>
          <p:cNvSpPr/>
          <p:nvPr/>
        </p:nvSpPr>
        <p:spPr>
          <a:xfrm>
            <a:off x="8663409"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754849"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付着後</a:t>
            </a:r>
          </a:p>
        </p:txBody>
      </p:sp>
      <p:sp>
        <p:nvSpPr>
          <p:cNvPr id="48" name="TextBox 47"/>
          <p:cNvSpPr txBox="1"/>
          <p:nvPr/>
        </p:nvSpPr>
        <p:spPr>
          <a:xfrm>
            <a:off x="8754849"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自己修復</a:t>
            </a:r>
          </a:p>
        </p:txBody>
      </p:sp>
      <p:sp>
        <p:nvSpPr>
          <p:cNvPr id="49" name="TextBox 48"/>
          <p:cNvSpPr txBox="1"/>
          <p:nvPr/>
        </p:nvSpPr>
        <p:spPr>
          <a:xfrm>
            <a:off x="8754849"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G' 回復</a:t>
            </a:r>
          </a:p>
        </p:txBody>
      </p:sp>
      <p:sp>
        <p:nvSpPr>
          <p:cNvPr id="50" name="TextBox 49"/>
          <p:cNvSpPr txBox="1"/>
          <p:nvPr/>
        </p:nvSpPr>
        <p:spPr>
          <a:xfrm>
            <a:off x="9833192"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51" name="Rounded Rectangle 50"/>
          <p:cNvSpPr/>
          <p:nvPr/>
        </p:nvSpPr>
        <p:spPr>
          <a:xfrm>
            <a:off x="9924632"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016072"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炎接触</a:t>
            </a:r>
          </a:p>
        </p:txBody>
      </p:sp>
      <p:sp>
        <p:nvSpPr>
          <p:cNvPr id="53" name="TextBox 52"/>
          <p:cNvSpPr txBox="1"/>
          <p:nvPr/>
        </p:nvSpPr>
        <p:spPr>
          <a:xfrm>
            <a:off x="10016072"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エアロゲル化</a:t>
            </a:r>
          </a:p>
        </p:txBody>
      </p:sp>
      <p:sp>
        <p:nvSpPr>
          <p:cNvPr id="54" name="TextBox 53"/>
          <p:cNvSpPr txBox="1"/>
          <p:nvPr/>
        </p:nvSpPr>
        <p:spPr>
          <a:xfrm>
            <a:off x="10016072"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多孔質シリカ層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3/6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コロイダルシリカ粒子(CSP)と界面活性剤(SDS)</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14 / 43</a:t>
            </a:r>
          </a:p>
        </p:txBody>
      </p:sp>
      <p:sp>
        <p:nvSpPr>
          <p:cNvPr id="10" name="Rounded Rectangle 9"/>
          <p:cNvSpPr/>
          <p:nvPr/>
        </p:nvSpPr>
        <p:spPr>
          <a:xfrm>
            <a:off x="365760" y="859536"/>
            <a:ext cx="5647791"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TEM</a:t>
            </a:r>
          </a:p>
        </p:txBody>
      </p:sp>
      <p:sp>
        <p:nvSpPr>
          <p:cNvPr id="13" name="TextBox 12"/>
          <p:cNvSpPr txBox="1"/>
          <p:nvPr/>
        </p:nvSpPr>
        <p:spPr>
          <a:xfrm>
            <a:off x="365760" y="859536"/>
            <a:ext cx="5647791"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CSP粒子（22 nm、単分散）</a:t>
            </a:r>
          </a:p>
        </p:txBody>
      </p:sp>
      <p:sp>
        <p:nvSpPr>
          <p:cNvPr id="15" name="TextBox 14"/>
          <p:cNvSpPr txBox="1"/>
          <p:nvPr/>
        </p:nvSpPr>
        <p:spPr>
          <a:xfrm>
            <a:off x="365760" y="3218688"/>
            <a:ext cx="5647791"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CSP — Colloidal Silica Particles</a:t>
            </a:r>
          </a:p>
        </p:txBody>
      </p:sp>
      <p:sp>
        <p:nvSpPr>
          <p:cNvPr id="16" name="TextBox 15"/>
          <p:cNvSpPr txBox="1"/>
          <p:nvPr/>
        </p:nvSpPr>
        <p:spPr>
          <a:xfrm>
            <a:off x="365760" y="3566160"/>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566928" y="3566160"/>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LUDOX TM-50（原液 50 wt%）→ 15 wt%に希釈（pH 9）</a:t>
            </a:r>
          </a:p>
        </p:txBody>
      </p:sp>
      <p:sp>
        <p:nvSpPr>
          <p:cNvPr id="18" name="TextBox 17"/>
          <p:cNvSpPr txBox="1"/>
          <p:nvPr/>
        </p:nvSpPr>
        <p:spPr>
          <a:xfrm>
            <a:off x="365760" y="3877056"/>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566928" y="3877056"/>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粒子サイズ：22 nm（単分散）</a:t>
            </a:r>
          </a:p>
        </p:txBody>
      </p:sp>
      <p:sp>
        <p:nvSpPr>
          <p:cNvPr id="20" name="TextBox 19"/>
          <p:cNvSpPr txBox="1"/>
          <p:nvPr/>
        </p:nvSpPr>
        <p:spPr>
          <a:xfrm>
            <a:off x="365760" y="4187952"/>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1" name="TextBox 20"/>
          <p:cNvSpPr txBox="1"/>
          <p:nvPr/>
        </p:nvSpPr>
        <p:spPr>
          <a:xfrm>
            <a:off x="566928" y="4187952"/>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配合濃度：ゲル中 5 wt%</a:t>
            </a:r>
          </a:p>
        </p:txBody>
      </p:sp>
      <p:sp>
        <p:nvSpPr>
          <p:cNvPr id="22" name="TextBox 21"/>
          <p:cNvSpPr txBox="1"/>
          <p:nvPr/>
        </p:nvSpPr>
        <p:spPr>
          <a:xfrm>
            <a:off x="365760" y="4498848"/>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3" name="TextBox 22"/>
          <p:cNvSpPr txBox="1"/>
          <p:nvPr/>
        </p:nvSpPr>
        <p:spPr>
          <a:xfrm>
            <a:off x="566928" y="4498848"/>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加熱時に焼結 → silica aerogel に変態</a:t>
            </a:r>
          </a:p>
        </p:txBody>
      </p:sp>
      <p:sp>
        <p:nvSpPr>
          <p:cNvPr id="24" name="Rounded Rectangle 23"/>
          <p:cNvSpPr/>
          <p:nvPr/>
        </p:nvSpPr>
        <p:spPr>
          <a:xfrm>
            <a:off x="6178143" y="859536"/>
            <a:ext cx="5647791"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87871"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87871"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SEM</a:t>
            </a:r>
          </a:p>
        </p:txBody>
      </p:sp>
      <p:sp>
        <p:nvSpPr>
          <p:cNvPr id="27" name="TextBox 26"/>
          <p:cNvSpPr txBox="1"/>
          <p:nvPr/>
        </p:nvSpPr>
        <p:spPr>
          <a:xfrm>
            <a:off x="6178143" y="859536"/>
            <a:ext cx="5647791"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6178143" y="309067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SDS添加量による発泡構造の変化</a:t>
            </a:r>
          </a:p>
        </p:txBody>
      </p:sp>
      <p:sp>
        <p:nvSpPr>
          <p:cNvPr id="29" name="TextBox 28"/>
          <p:cNvSpPr txBox="1"/>
          <p:nvPr/>
        </p:nvSpPr>
        <p:spPr>
          <a:xfrm>
            <a:off x="6178143" y="3218688"/>
            <a:ext cx="5647791"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SDS — Sodium Dodecyl Sulfate</a:t>
            </a:r>
          </a:p>
        </p:txBody>
      </p:sp>
      <p:sp>
        <p:nvSpPr>
          <p:cNvPr id="30" name="TextBox 29"/>
          <p:cNvSpPr txBox="1"/>
          <p:nvPr/>
        </p:nvSpPr>
        <p:spPr>
          <a:xfrm>
            <a:off x="6178143" y="3566160"/>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1" name="TextBox 30"/>
          <p:cNvSpPr txBox="1"/>
          <p:nvPr/>
        </p:nvSpPr>
        <p:spPr>
          <a:xfrm>
            <a:off x="6379311" y="3566160"/>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陰イオン性界面活性剤（添加剤）</a:t>
            </a:r>
          </a:p>
        </p:txBody>
      </p:sp>
      <p:sp>
        <p:nvSpPr>
          <p:cNvPr id="32" name="TextBox 31"/>
          <p:cNvSpPr txBox="1"/>
          <p:nvPr/>
        </p:nvSpPr>
        <p:spPr>
          <a:xfrm>
            <a:off x="6178143" y="3877056"/>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3" name="TextBox 32"/>
          <p:cNvSpPr txBox="1"/>
          <p:nvPr/>
        </p:nvSpPr>
        <p:spPr>
          <a:xfrm>
            <a:off x="6379311" y="3877056"/>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SDS添加でも Foaming Index は改善しなかった</a:t>
            </a:r>
          </a:p>
        </p:txBody>
      </p:sp>
      <p:sp>
        <p:nvSpPr>
          <p:cNvPr id="34" name="TextBox 33"/>
          <p:cNvSpPr txBox="1"/>
          <p:nvPr/>
        </p:nvSpPr>
        <p:spPr>
          <a:xfrm>
            <a:off x="6178143" y="4187952"/>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6379311" y="4187952"/>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添加濃度：0.1 wt% ・ 0.5 wt% の2水準</a:t>
            </a:r>
          </a:p>
        </p:txBody>
      </p:sp>
      <p:sp>
        <p:nvSpPr>
          <p:cNvPr id="36" name="TextBox 35"/>
          <p:cNvSpPr txBox="1"/>
          <p:nvPr/>
        </p:nvSpPr>
        <p:spPr>
          <a:xfrm>
            <a:off x="6178143" y="4498848"/>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6379311" y="4498848"/>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SDS量増加で気泡が粗大化（SEM確認）</a:t>
            </a:r>
          </a:p>
        </p:txBody>
      </p:sp>
      <p:sp>
        <p:nvSpPr>
          <p:cNvPr id="38" name="Rounded Rectangle 37"/>
          <p:cNvSpPr/>
          <p:nvPr/>
        </p:nvSpPr>
        <p:spPr>
          <a:xfrm>
            <a:off x="365760" y="6053328"/>
            <a:ext cx="11460175" cy="65836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6053328"/>
            <a:ext cx="54864" cy="65836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6053328"/>
            <a:ext cx="365760" cy="65836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6053328"/>
            <a:ext cx="10774375" cy="658368"/>
          </a:xfrm>
          <a:prstGeom prst="rect">
            <a:avLst/>
          </a:prstGeom>
          <a:noFill/>
        </p:spPr>
        <p:txBody>
          <a:bodyPr wrap="square" anchor="ctr" lIns="36000" rIns="36000" tIns="18000" bIns="18000">
            <a:spAutoFit/>
          </a:bodyPr>
          <a:lstStyle/>
          <a:p>
            <a:pPr algn="l"/>
            <a:r>
              <a:rPr sz="1300" b="1" i="0">
                <a:solidFill>
                  <a:srgbClr val="1E293B"/>
                </a:solidFill>
                <a:latin typeface="Noto Sans JP"/>
              </a:rPr>
              <a:t>CSPの焼結温度域とセルロースの熱分解温度が重なるため、熱応答が同期して断熱層を形成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4/6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評価した5種類の配合系</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15 / 43</a:t>
            </a:r>
          </a:p>
        </p:txBody>
      </p:sp>
      <p:sp>
        <p:nvSpPr>
          <p:cNvPr id="10" name="Rounded Rectangle 9"/>
          <p:cNvSpPr/>
          <p:nvPr/>
        </p:nvSpPr>
        <p:spPr>
          <a:xfrm>
            <a:off x="365760" y="859536"/>
            <a:ext cx="1999427" cy="173736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対照</a:t>
            </a:r>
          </a:p>
        </p:txBody>
      </p:sp>
      <p:sp>
        <p:nvSpPr>
          <p:cNvPr id="12" name="TextBox 11"/>
          <p:cNvSpPr txBox="1"/>
          <p:nvPr/>
        </p:nvSpPr>
        <p:spPr>
          <a:xfrm>
            <a:off x="457200"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AquaGel-K</a:t>
            </a:r>
          </a:p>
        </p:txBody>
      </p:sp>
      <p:sp>
        <p:nvSpPr>
          <p:cNvPr id="13" name="TextBox 12"/>
          <p:cNvSpPr txBox="1"/>
          <p:nvPr/>
        </p:nvSpPr>
        <p:spPr>
          <a:xfrm>
            <a:off x="457200"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0.5 wt%</a:t>
            </a:r>
          </a:p>
          <a:p>
            <a:pPr algn="ctr"/>
            <a:r>
              <a:rPr sz="1000" b="0" i="0">
                <a:solidFill>
                  <a:srgbClr val="64748B"/>
                </a:solidFill>
                <a:latin typeface="Noto Sans JP"/>
              </a:rPr>
              <a:t>市販WEG基準</a:t>
            </a:r>
          </a:p>
        </p:txBody>
      </p:sp>
      <p:sp>
        <p:nvSpPr>
          <p:cNvPr id="14" name="Rounded Rectangle 13"/>
          <p:cNvSpPr/>
          <p:nvPr/>
        </p:nvSpPr>
        <p:spPr>
          <a:xfrm>
            <a:off x="2456627"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48067"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1</a:t>
            </a:r>
          </a:p>
        </p:txBody>
      </p:sp>
      <p:sp>
        <p:nvSpPr>
          <p:cNvPr id="16" name="TextBox 15"/>
          <p:cNvSpPr txBox="1"/>
          <p:nvPr/>
        </p:nvSpPr>
        <p:spPr>
          <a:xfrm>
            <a:off x="2548067"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a:t>
            </a:r>
          </a:p>
        </p:txBody>
      </p:sp>
      <p:sp>
        <p:nvSpPr>
          <p:cNvPr id="17" name="TextBox 16"/>
          <p:cNvSpPr txBox="1"/>
          <p:nvPr/>
        </p:nvSpPr>
        <p:spPr>
          <a:xfrm>
            <a:off x="2548067"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HEC+MC 1 wt%</a:t>
            </a:r>
          </a:p>
          <a:p>
            <a:pPr algn="ctr"/>
            <a:r>
              <a:rPr sz="1000" b="0" i="0">
                <a:solidFill>
                  <a:srgbClr val="64748B"/>
                </a:solidFill>
                <a:latin typeface="Noto Sans JP"/>
              </a:rPr>
              <a:t>CSP 5 wt%</a:t>
            </a:r>
          </a:p>
        </p:txBody>
      </p:sp>
      <p:sp>
        <p:nvSpPr>
          <p:cNvPr id="18" name="Rounded Rectangle 17"/>
          <p:cNvSpPr/>
          <p:nvPr/>
        </p:nvSpPr>
        <p:spPr>
          <a:xfrm>
            <a:off x="4547494"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38934"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2</a:t>
            </a:r>
          </a:p>
        </p:txBody>
      </p:sp>
      <p:sp>
        <p:nvSpPr>
          <p:cNvPr id="20" name="TextBox 19"/>
          <p:cNvSpPr txBox="1"/>
          <p:nvPr/>
        </p:nvSpPr>
        <p:spPr>
          <a:xfrm>
            <a:off x="4638934"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MHEC / CSP</a:t>
            </a:r>
          </a:p>
        </p:txBody>
      </p:sp>
      <p:sp>
        <p:nvSpPr>
          <p:cNvPr id="21" name="TextBox 20"/>
          <p:cNvSpPr txBox="1"/>
          <p:nvPr/>
        </p:nvSpPr>
        <p:spPr>
          <a:xfrm>
            <a:off x="4638934"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MHEC 1 wt%</a:t>
            </a:r>
          </a:p>
          <a:p>
            <a:pPr algn="ctr"/>
            <a:r>
              <a:rPr sz="1000" b="0" i="0">
                <a:solidFill>
                  <a:srgbClr val="64748B"/>
                </a:solidFill>
                <a:latin typeface="Noto Sans JP"/>
              </a:rPr>
              <a:t>CSP 5 wt%</a:t>
            </a:r>
          </a:p>
        </p:txBody>
      </p:sp>
      <p:sp>
        <p:nvSpPr>
          <p:cNvPr id="22" name="Rounded Rectangle 21"/>
          <p:cNvSpPr/>
          <p:nvPr/>
        </p:nvSpPr>
        <p:spPr>
          <a:xfrm>
            <a:off x="6638361"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29801"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3</a:t>
            </a:r>
          </a:p>
        </p:txBody>
      </p:sp>
      <p:sp>
        <p:nvSpPr>
          <p:cNvPr id="24" name="TextBox 23"/>
          <p:cNvSpPr txBox="1"/>
          <p:nvPr/>
        </p:nvSpPr>
        <p:spPr>
          <a:xfrm>
            <a:off x="6729801"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5" name="TextBox 24"/>
          <p:cNvSpPr txBox="1"/>
          <p:nvPr/>
        </p:nvSpPr>
        <p:spPr>
          <a:xfrm>
            <a:off x="6729801"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0.1 wt%</a:t>
            </a:r>
          </a:p>
        </p:txBody>
      </p:sp>
      <p:sp>
        <p:nvSpPr>
          <p:cNvPr id="26" name="Rounded Rectangle 25"/>
          <p:cNvSpPr/>
          <p:nvPr/>
        </p:nvSpPr>
        <p:spPr>
          <a:xfrm>
            <a:off x="8729228"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0668"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4</a:t>
            </a:r>
          </a:p>
        </p:txBody>
      </p:sp>
      <p:sp>
        <p:nvSpPr>
          <p:cNvPr id="28" name="TextBox 27"/>
          <p:cNvSpPr txBox="1"/>
          <p:nvPr/>
        </p:nvSpPr>
        <p:spPr>
          <a:xfrm>
            <a:off x="8820668"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9" name="TextBox 28"/>
          <p:cNvSpPr txBox="1"/>
          <p:nvPr/>
        </p:nvSpPr>
        <p:spPr>
          <a:xfrm>
            <a:off x="8820668"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0.5 wt%</a:t>
            </a:r>
          </a:p>
        </p:txBody>
      </p:sp>
      <p:sp>
        <p:nvSpPr>
          <p:cNvPr id="30" name="Rounded Rectangle 29"/>
          <p:cNvSpPr/>
          <p:nvPr/>
        </p:nvSpPr>
        <p:spPr>
          <a:xfrm>
            <a:off x="365760" y="2962656"/>
            <a:ext cx="3710330"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2962656"/>
            <a:ext cx="3710330"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127248"/>
            <a:ext cx="3344570"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配合設計の意図</a:t>
            </a:r>
          </a:p>
        </p:txBody>
      </p:sp>
      <p:sp>
        <p:nvSpPr>
          <p:cNvPr id="33" name="TextBox 32"/>
          <p:cNvSpPr txBox="1"/>
          <p:nvPr/>
        </p:nvSpPr>
        <p:spPr>
          <a:xfrm>
            <a:off x="548640" y="349300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4" name="TextBox 33"/>
          <p:cNvSpPr txBox="1"/>
          <p:nvPr/>
        </p:nvSpPr>
        <p:spPr>
          <a:xfrm>
            <a:off x="749808" y="349300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ポリマー種を変えて機能差を比較</a:t>
            </a:r>
          </a:p>
        </p:txBody>
      </p:sp>
      <p:sp>
        <p:nvSpPr>
          <p:cNvPr id="35" name="TextBox 34"/>
          <p:cNvSpPr txBox="1"/>
          <p:nvPr/>
        </p:nvSpPr>
        <p:spPr>
          <a:xfrm>
            <a:off x="548640" y="376732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6" name="TextBox 35"/>
          <p:cNvSpPr txBox="1"/>
          <p:nvPr/>
        </p:nvSpPr>
        <p:spPr>
          <a:xfrm>
            <a:off x="749808" y="376732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SDS濃度を2水準で発泡構造を検証</a:t>
            </a:r>
          </a:p>
        </p:txBody>
      </p:sp>
      <p:sp>
        <p:nvSpPr>
          <p:cNvPr id="37" name="TextBox 36"/>
          <p:cNvSpPr txBox="1"/>
          <p:nvPr/>
        </p:nvSpPr>
        <p:spPr>
          <a:xfrm>
            <a:off x="548640" y="404164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8" name="TextBox 37"/>
          <p:cNvSpPr txBox="1"/>
          <p:nvPr/>
        </p:nvSpPr>
        <p:spPr>
          <a:xfrm>
            <a:off x="749808" y="404164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市販品AquaGel-Kと直接比較</a:t>
            </a:r>
          </a:p>
        </p:txBody>
      </p:sp>
      <p:sp>
        <p:nvSpPr>
          <p:cNvPr id="39" name="Rounded Rectangle 38"/>
          <p:cNvSpPr/>
          <p:nvPr/>
        </p:nvSpPr>
        <p:spPr>
          <a:xfrm>
            <a:off x="4240682" y="2962656"/>
            <a:ext cx="3710330"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240682" y="2962656"/>
            <a:ext cx="3710330"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23562" y="3127248"/>
            <a:ext cx="3344570"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記法の読み方</a:t>
            </a:r>
          </a:p>
        </p:txBody>
      </p:sp>
      <p:sp>
        <p:nvSpPr>
          <p:cNvPr id="42" name="TextBox 41"/>
          <p:cNvSpPr txBox="1"/>
          <p:nvPr/>
        </p:nvSpPr>
        <p:spPr>
          <a:xfrm>
            <a:off x="4423562" y="3493008"/>
            <a:ext cx="3344570" cy="1645920"/>
          </a:xfrm>
          <a:prstGeom prst="rect">
            <a:avLst/>
          </a:prstGeom>
          <a:noFill/>
        </p:spPr>
        <p:txBody>
          <a:bodyPr wrap="square" anchor="t" lIns="36000" rIns="36000" tIns="18000" bIns="18000">
            <a:spAutoFit/>
          </a:bodyPr>
          <a:lstStyle/>
          <a:p>
            <a:pPr algn="l"/>
            <a:r>
              <a:rPr sz="1300" b="0" i="0">
                <a:solidFill>
                  <a:srgbClr val="475569"/>
                </a:solidFill>
                <a:latin typeface="Noto Sans JP"/>
              </a:rPr>
              <a:t>HEC+MC/CSP/SDS 1-5-0.1</a:t>
            </a:r>
          </a:p>
          <a:p>
            <a:pPr algn="l"/>
            <a:r>
              <a:rPr sz="1300" b="0" i="0">
                <a:solidFill>
                  <a:srgbClr val="475569"/>
                </a:solidFill>
                <a:latin typeface="Noto Sans JP"/>
              </a:rPr>
              <a:t>→ HEC+MC 1 wt%</a:t>
            </a:r>
          </a:p>
          <a:p>
            <a:pPr algn="l"/>
            <a:r>
              <a:rPr sz="1300" b="0" i="0">
                <a:solidFill>
                  <a:srgbClr val="475569"/>
                </a:solidFill>
                <a:latin typeface="Noto Sans JP"/>
              </a:rPr>
              <a:t>／ CSP 5 wt%</a:t>
            </a:r>
          </a:p>
          <a:p>
            <a:pPr algn="l"/>
            <a:r>
              <a:rPr sz="1300" b="0" i="0">
                <a:solidFill>
                  <a:srgbClr val="475569"/>
                </a:solidFill>
                <a:latin typeface="Noto Sans JP"/>
              </a:rPr>
              <a:t>／ SDS 0.1 wt%</a:t>
            </a:r>
          </a:p>
        </p:txBody>
      </p:sp>
      <p:sp>
        <p:nvSpPr>
          <p:cNvPr id="43" name="Rounded Rectangle 42"/>
          <p:cNvSpPr/>
          <p:nvPr/>
        </p:nvSpPr>
        <p:spPr>
          <a:xfrm>
            <a:off x="8115604" y="2962656"/>
            <a:ext cx="3710330" cy="1975104"/>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225332" y="307238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5332" y="307238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46" name="TextBox 45"/>
          <p:cNvSpPr txBox="1"/>
          <p:nvPr/>
        </p:nvSpPr>
        <p:spPr>
          <a:xfrm>
            <a:off x="8115604" y="2962656"/>
            <a:ext cx="3710330" cy="1975104"/>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47" name="TextBox 46"/>
          <p:cNvSpPr txBox="1"/>
          <p:nvPr/>
        </p:nvSpPr>
        <p:spPr>
          <a:xfrm>
            <a:off x="8115604" y="4974336"/>
            <a:ext cx="3710330"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5配合系のゲル外観</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5/6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評価手法の全体像</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16 / 43</a:t>
            </a:r>
          </a:p>
        </p:txBody>
      </p:sp>
      <p:sp>
        <p:nvSpPr>
          <p:cNvPr id="10" name="Rounded Rectangle 9"/>
          <p:cNvSpPr/>
          <p:nvPr/>
        </p:nvSpPr>
        <p:spPr>
          <a:xfrm>
            <a:off x="365760" y="859536"/>
            <a:ext cx="3805019" cy="5449824"/>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Setup</a:t>
            </a:r>
          </a:p>
        </p:txBody>
      </p:sp>
      <p:sp>
        <p:nvSpPr>
          <p:cNvPr id="13" name="TextBox 12"/>
          <p:cNvSpPr txBox="1"/>
          <p:nvPr/>
        </p:nvSpPr>
        <p:spPr>
          <a:xfrm>
            <a:off x="365760" y="859536"/>
            <a:ext cx="3805019" cy="5449824"/>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6345936"/>
            <a:ext cx="380501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燃焼試験セットアップ（MAP-Proトーチ／合板基板）</a:t>
            </a:r>
          </a:p>
        </p:txBody>
      </p:sp>
      <p:sp>
        <p:nvSpPr>
          <p:cNvPr id="15" name="Rounded Rectangle 14"/>
          <p:cNvSpPr/>
          <p:nvPr/>
        </p:nvSpPr>
        <p:spPr>
          <a:xfrm>
            <a:off x="4353659" y="8595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53659" y="8595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6539" y="10241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8" name="TextBox 17"/>
          <p:cNvSpPr txBox="1"/>
          <p:nvPr/>
        </p:nvSpPr>
        <p:spPr>
          <a:xfrm>
            <a:off x="4536539" y="12618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レオロジー測定</a:t>
            </a:r>
          </a:p>
        </p:txBody>
      </p:sp>
      <p:sp>
        <p:nvSpPr>
          <p:cNvPr id="19" name="TextBox 18"/>
          <p:cNvSpPr txBox="1"/>
          <p:nvPr/>
        </p:nvSpPr>
        <p:spPr>
          <a:xfrm>
            <a:off x="4536539" y="16276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0" name="TextBox 19"/>
          <p:cNvSpPr txBox="1"/>
          <p:nvPr/>
        </p:nvSpPr>
        <p:spPr>
          <a:xfrm>
            <a:off x="4737707" y="16276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振動周波数掃引（G', G''）</a:t>
            </a:r>
          </a:p>
        </p:txBody>
      </p:sp>
      <p:sp>
        <p:nvSpPr>
          <p:cNvPr id="21" name="TextBox 20"/>
          <p:cNvSpPr txBox="1"/>
          <p:nvPr/>
        </p:nvSpPr>
        <p:spPr>
          <a:xfrm>
            <a:off x="4536539" y="19019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2" name="TextBox 21"/>
          <p:cNvSpPr txBox="1"/>
          <p:nvPr/>
        </p:nvSpPr>
        <p:spPr>
          <a:xfrm>
            <a:off x="4737707" y="19019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定常流動掃引（粘度）</a:t>
            </a:r>
          </a:p>
        </p:txBody>
      </p:sp>
      <p:sp>
        <p:nvSpPr>
          <p:cNvPr id="23" name="TextBox 22"/>
          <p:cNvSpPr txBox="1"/>
          <p:nvPr/>
        </p:nvSpPr>
        <p:spPr>
          <a:xfrm>
            <a:off x="4536539" y="217627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4" name="TextBox 23"/>
          <p:cNvSpPr txBox="1"/>
          <p:nvPr/>
        </p:nvSpPr>
        <p:spPr>
          <a:xfrm>
            <a:off x="4737707" y="217627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Herschel-Bulkley適合</a:t>
            </a:r>
          </a:p>
        </p:txBody>
      </p:sp>
      <p:sp>
        <p:nvSpPr>
          <p:cNvPr id="25" name="Rounded Rectangle 24"/>
          <p:cNvSpPr/>
          <p:nvPr/>
        </p:nvSpPr>
        <p:spPr>
          <a:xfrm>
            <a:off x="8158377" y="8595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58377" y="8595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41257" y="10241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BURN TEST</a:t>
            </a:r>
          </a:p>
        </p:txBody>
      </p:sp>
      <p:sp>
        <p:nvSpPr>
          <p:cNvPr id="28" name="TextBox 27"/>
          <p:cNvSpPr txBox="1"/>
          <p:nvPr/>
        </p:nvSpPr>
        <p:spPr>
          <a:xfrm>
            <a:off x="8341257" y="12618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燃焼試験</a:t>
            </a:r>
          </a:p>
        </p:txBody>
      </p:sp>
      <p:sp>
        <p:nvSpPr>
          <p:cNvPr id="29" name="TextBox 28"/>
          <p:cNvSpPr txBox="1"/>
          <p:nvPr/>
        </p:nvSpPr>
        <p:spPr>
          <a:xfrm>
            <a:off x="8341257" y="16276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0" name="TextBox 29"/>
          <p:cNvSpPr txBox="1"/>
          <p:nvPr/>
        </p:nvSpPr>
        <p:spPr>
          <a:xfrm>
            <a:off x="8542425" y="16276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MAP-Proトーチ(~2054°C)で加熱</a:t>
            </a:r>
          </a:p>
        </p:txBody>
      </p:sp>
      <p:sp>
        <p:nvSpPr>
          <p:cNvPr id="31" name="TextBox 30"/>
          <p:cNvSpPr txBox="1"/>
          <p:nvPr/>
        </p:nvSpPr>
        <p:spPr>
          <a:xfrm>
            <a:off x="8341257" y="19019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2" name="TextBox 31"/>
          <p:cNvSpPr txBox="1"/>
          <p:nvPr/>
        </p:nvSpPr>
        <p:spPr>
          <a:xfrm>
            <a:off x="8542425" y="19019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炭化開始までの時間を計測</a:t>
            </a:r>
          </a:p>
        </p:txBody>
      </p:sp>
      <p:sp>
        <p:nvSpPr>
          <p:cNvPr id="33" name="TextBox 32"/>
          <p:cNvSpPr txBox="1"/>
          <p:nvPr/>
        </p:nvSpPr>
        <p:spPr>
          <a:xfrm>
            <a:off x="8341257" y="217627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4" name="TextBox 33"/>
          <p:cNvSpPr txBox="1"/>
          <p:nvPr/>
        </p:nvSpPr>
        <p:spPr>
          <a:xfrm>
            <a:off x="8542425" y="217627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120/300 s時点を比較</a:t>
            </a:r>
          </a:p>
        </p:txBody>
      </p:sp>
      <p:sp>
        <p:nvSpPr>
          <p:cNvPr id="35" name="Rounded Rectangle 34"/>
          <p:cNvSpPr/>
          <p:nvPr/>
        </p:nvSpPr>
        <p:spPr>
          <a:xfrm>
            <a:off x="4353659" y="28407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53659" y="28407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6539" y="30053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a:t>
            </a:r>
          </a:p>
        </p:txBody>
      </p:sp>
      <p:sp>
        <p:nvSpPr>
          <p:cNvPr id="38" name="TextBox 37"/>
          <p:cNvSpPr txBox="1"/>
          <p:nvPr/>
        </p:nvSpPr>
        <p:spPr>
          <a:xfrm>
            <a:off x="4536539" y="32430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発泡指数測定</a:t>
            </a:r>
          </a:p>
        </p:txBody>
      </p:sp>
      <p:sp>
        <p:nvSpPr>
          <p:cNvPr id="39" name="TextBox 38"/>
          <p:cNvSpPr txBox="1"/>
          <p:nvPr/>
        </p:nvSpPr>
        <p:spPr>
          <a:xfrm>
            <a:off x="4536539" y="36088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0" name="TextBox 39"/>
          <p:cNvSpPr txBox="1"/>
          <p:nvPr/>
        </p:nvSpPr>
        <p:spPr>
          <a:xfrm>
            <a:off x="4737707" y="36088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燃焼後の発泡層厚さを計測</a:t>
            </a:r>
          </a:p>
        </p:txBody>
      </p:sp>
      <p:sp>
        <p:nvSpPr>
          <p:cNvPr id="41" name="TextBox 40"/>
          <p:cNvSpPr txBox="1"/>
          <p:nvPr/>
        </p:nvSpPr>
        <p:spPr>
          <a:xfrm>
            <a:off x="4536539" y="38831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2" name="TextBox 41"/>
          <p:cNvSpPr txBox="1"/>
          <p:nvPr/>
        </p:nvSpPr>
        <p:spPr>
          <a:xfrm>
            <a:off x="4737707" y="38831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初期厚さ比 = Foaming Index</a:t>
            </a:r>
          </a:p>
        </p:txBody>
      </p:sp>
      <p:sp>
        <p:nvSpPr>
          <p:cNvPr id="43" name="Rounded Rectangle 42"/>
          <p:cNvSpPr/>
          <p:nvPr/>
        </p:nvSpPr>
        <p:spPr>
          <a:xfrm>
            <a:off x="8158377" y="28407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158377" y="28407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41257" y="30053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SEM</a:t>
            </a:r>
          </a:p>
        </p:txBody>
      </p:sp>
      <p:sp>
        <p:nvSpPr>
          <p:cNvPr id="46" name="TextBox 45"/>
          <p:cNvSpPr txBox="1"/>
          <p:nvPr/>
        </p:nvSpPr>
        <p:spPr>
          <a:xfrm>
            <a:off x="8341257" y="32430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SEM形態観察</a:t>
            </a:r>
          </a:p>
        </p:txBody>
      </p:sp>
      <p:sp>
        <p:nvSpPr>
          <p:cNvPr id="47" name="TextBox 46"/>
          <p:cNvSpPr txBox="1"/>
          <p:nvPr/>
        </p:nvSpPr>
        <p:spPr>
          <a:xfrm>
            <a:off x="8341257" y="36088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8" name="TextBox 47"/>
          <p:cNvSpPr txBox="1"/>
          <p:nvPr/>
        </p:nvSpPr>
        <p:spPr>
          <a:xfrm>
            <a:off x="8542425" y="36088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SDS濃度別の発泡構造</a:t>
            </a:r>
          </a:p>
        </p:txBody>
      </p:sp>
      <p:sp>
        <p:nvSpPr>
          <p:cNvPr id="49" name="TextBox 48"/>
          <p:cNvSpPr txBox="1"/>
          <p:nvPr/>
        </p:nvSpPr>
        <p:spPr>
          <a:xfrm>
            <a:off x="8341257" y="38831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0" name="TextBox 49"/>
          <p:cNvSpPr txBox="1"/>
          <p:nvPr/>
        </p:nvSpPr>
        <p:spPr>
          <a:xfrm>
            <a:off x="8542425" y="38831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燃焼時間別の焼結進行</a:t>
            </a:r>
          </a:p>
        </p:txBody>
      </p:sp>
      <p:sp>
        <p:nvSpPr>
          <p:cNvPr id="51" name="Rounded Rectangle 50"/>
          <p:cNvSpPr/>
          <p:nvPr/>
        </p:nvSpPr>
        <p:spPr>
          <a:xfrm>
            <a:off x="4353659" y="48219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353659" y="48219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536539" y="49865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SPECTROSCOPY</a:t>
            </a:r>
          </a:p>
        </p:txBody>
      </p:sp>
      <p:sp>
        <p:nvSpPr>
          <p:cNvPr id="54" name="TextBox 53"/>
          <p:cNvSpPr txBox="1"/>
          <p:nvPr/>
        </p:nvSpPr>
        <p:spPr>
          <a:xfrm>
            <a:off x="4536539" y="52242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分光分析</a:t>
            </a:r>
          </a:p>
        </p:txBody>
      </p:sp>
      <p:sp>
        <p:nvSpPr>
          <p:cNvPr id="55" name="TextBox 54"/>
          <p:cNvSpPr txBox="1"/>
          <p:nvPr/>
        </p:nvSpPr>
        <p:spPr>
          <a:xfrm>
            <a:off x="4536539" y="55900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6" name="TextBox 55"/>
          <p:cNvSpPr txBox="1"/>
          <p:nvPr/>
        </p:nvSpPr>
        <p:spPr>
          <a:xfrm>
            <a:off x="4737707" y="55900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FT-IR（化学結合）</a:t>
            </a:r>
          </a:p>
        </p:txBody>
      </p:sp>
      <p:sp>
        <p:nvSpPr>
          <p:cNvPr id="57" name="TextBox 56"/>
          <p:cNvSpPr txBox="1"/>
          <p:nvPr/>
        </p:nvSpPr>
        <p:spPr>
          <a:xfrm>
            <a:off x="4536539" y="58643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8" name="TextBox 57"/>
          <p:cNvSpPr txBox="1"/>
          <p:nvPr/>
        </p:nvSpPr>
        <p:spPr>
          <a:xfrm>
            <a:off x="4737707" y="58643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XPS（表面組成）</a:t>
            </a:r>
          </a:p>
        </p:txBody>
      </p:sp>
      <p:sp>
        <p:nvSpPr>
          <p:cNvPr id="59" name="Rounded Rectangle 58"/>
          <p:cNvSpPr/>
          <p:nvPr/>
        </p:nvSpPr>
        <p:spPr>
          <a:xfrm>
            <a:off x="8158377" y="48219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8158377" y="48219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341257" y="49865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THERMAL</a:t>
            </a:r>
          </a:p>
        </p:txBody>
      </p:sp>
      <p:sp>
        <p:nvSpPr>
          <p:cNvPr id="62" name="TextBox 61"/>
          <p:cNvSpPr txBox="1"/>
          <p:nvPr/>
        </p:nvSpPr>
        <p:spPr>
          <a:xfrm>
            <a:off x="8341257" y="52242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熱分析</a:t>
            </a:r>
          </a:p>
        </p:txBody>
      </p:sp>
      <p:sp>
        <p:nvSpPr>
          <p:cNvPr id="63" name="TextBox 62"/>
          <p:cNvSpPr txBox="1"/>
          <p:nvPr/>
        </p:nvSpPr>
        <p:spPr>
          <a:xfrm>
            <a:off x="8341257" y="55900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64" name="TextBox 63"/>
          <p:cNvSpPr txBox="1"/>
          <p:nvPr/>
        </p:nvSpPr>
        <p:spPr>
          <a:xfrm>
            <a:off x="8542425" y="55900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TGA（熱重量）</a:t>
            </a:r>
          </a:p>
        </p:txBody>
      </p:sp>
      <p:sp>
        <p:nvSpPr>
          <p:cNvPr id="65" name="TextBox 64"/>
          <p:cNvSpPr txBox="1"/>
          <p:nvPr/>
        </p:nvSpPr>
        <p:spPr>
          <a:xfrm>
            <a:off x="8341257" y="58643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66" name="TextBox 65"/>
          <p:cNvSpPr txBox="1"/>
          <p:nvPr/>
        </p:nvSpPr>
        <p:spPr>
          <a:xfrm>
            <a:off x="8542425" y="58643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DSC（熱量）</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6/6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レオロジー設計が実装性能に直結する</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17 / 43</a:t>
            </a:r>
          </a:p>
        </p:txBody>
      </p:sp>
      <p:sp>
        <p:nvSpPr>
          <p:cNvPr id="10" name="TextBox 9"/>
          <p:cNvSpPr txBox="1"/>
          <p:nvPr/>
        </p:nvSpPr>
        <p:spPr>
          <a:xfrm>
            <a:off x="365760" y="859536"/>
            <a:ext cx="4114800"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レオロジー設計（実測された物性）</a:t>
            </a:r>
          </a:p>
        </p:txBody>
      </p:sp>
      <p:sp>
        <p:nvSpPr>
          <p:cNvPr id="11" name="TextBox 10"/>
          <p:cNvSpPr txBox="1"/>
          <p:nvPr/>
        </p:nvSpPr>
        <p:spPr>
          <a:xfrm>
            <a:off x="5449824" y="859536"/>
            <a:ext cx="6376111"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期待される実装性能（現場での挙動）</a:t>
            </a:r>
          </a:p>
        </p:txBody>
      </p:sp>
      <p:sp>
        <p:nvSpPr>
          <p:cNvPr id="12" name="Rounded Rectangle 11"/>
          <p:cNvSpPr/>
          <p:nvPr/>
        </p:nvSpPr>
        <p:spPr>
          <a:xfrm>
            <a:off x="365760" y="1243584"/>
            <a:ext cx="4114800" cy="1207008"/>
          </a:xfrm>
          <a:prstGeom prst="roundRect">
            <a:avLst>
              <a:gd name="adj" fmla="val 5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1243584"/>
            <a:ext cx="54864" cy="1207008"/>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1408176"/>
            <a:ext cx="3803904" cy="365760"/>
          </a:xfrm>
          <a:prstGeom prst="rect">
            <a:avLst/>
          </a:prstGeom>
          <a:noFill/>
        </p:spPr>
        <p:txBody>
          <a:bodyPr wrap="square" anchor="t" lIns="36000" rIns="36000" tIns="18000" bIns="18000">
            <a:spAutoFit/>
          </a:bodyPr>
          <a:lstStyle/>
          <a:p>
            <a:pPr algn="l"/>
            <a:r>
              <a:rPr sz="1500" b="1" i="0">
                <a:solidFill>
                  <a:srgbClr val="1E293B"/>
                </a:solidFill>
                <a:latin typeface="Noto Sans JP"/>
              </a:rPr>
              <a:t>せん断希薄化挙動</a:t>
            </a:r>
          </a:p>
        </p:txBody>
      </p:sp>
      <p:sp>
        <p:nvSpPr>
          <p:cNvPr id="15" name="TextBox 14"/>
          <p:cNvSpPr txBox="1"/>
          <p:nvPr/>
        </p:nvSpPr>
        <p:spPr>
          <a:xfrm>
            <a:off x="566928" y="1883664"/>
            <a:ext cx="3803904" cy="457200"/>
          </a:xfrm>
          <a:prstGeom prst="rect">
            <a:avLst/>
          </a:prstGeom>
          <a:noFill/>
        </p:spPr>
        <p:txBody>
          <a:bodyPr wrap="square" anchor="t" lIns="36000" rIns="36000" tIns="18000" bIns="18000">
            <a:spAutoFit/>
          </a:bodyPr>
          <a:lstStyle/>
          <a:p>
            <a:pPr algn="l"/>
            <a:r>
              <a:rPr sz="1200" b="0" i="0">
                <a:solidFill>
                  <a:srgbClr val="334155"/>
                </a:solidFill>
                <a:latin typeface="Noto Sans JP"/>
              </a:rPr>
              <a:t>高せん断で粘度が急低下</a:t>
            </a:r>
          </a:p>
        </p:txBody>
      </p:sp>
      <p:sp>
        <p:nvSpPr>
          <p:cNvPr id="16" name="Right Arrow 15"/>
          <p:cNvSpPr/>
          <p:nvPr/>
        </p:nvSpPr>
        <p:spPr>
          <a:xfrm>
            <a:off x="4645152" y="1645920"/>
            <a:ext cx="640080" cy="402336"/>
          </a:xfrm>
          <a:prstGeom prst="rightArrow">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449824" y="1243584"/>
            <a:ext cx="6376111" cy="1207008"/>
          </a:xfrm>
          <a:prstGeom prst="roundRect">
            <a:avLst>
              <a:gd name="adj" fmla="val 5000"/>
            </a:avLst>
          </a:prstGeom>
          <a:solidFill>
            <a:srgbClr val="FFFFFF"/>
          </a:solidFill>
          <a:ln w="1270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50992" y="1389888"/>
            <a:ext cx="6065215" cy="365760"/>
          </a:xfrm>
          <a:prstGeom prst="rect">
            <a:avLst/>
          </a:prstGeom>
          <a:noFill/>
        </p:spPr>
        <p:txBody>
          <a:bodyPr wrap="square" anchor="t" lIns="36000" rIns="36000" tIns="18000" bIns="18000">
            <a:spAutoFit/>
          </a:bodyPr>
          <a:lstStyle/>
          <a:p>
            <a:pPr algn="l"/>
            <a:r>
              <a:rPr sz="1500" b="1" i="0">
                <a:solidFill>
                  <a:srgbClr val="4A7C8C"/>
                </a:solidFill>
                <a:latin typeface="Noto Sans JP"/>
              </a:rPr>
              <a:t>噴霧できる</a:t>
            </a:r>
          </a:p>
        </p:txBody>
      </p:sp>
      <p:sp>
        <p:nvSpPr>
          <p:cNvPr id="19" name="TextBox 18"/>
          <p:cNvSpPr txBox="1"/>
          <p:nvPr/>
        </p:nvSpPr>
        <p:spPr>
          <a:xfrm>
            <a:off x="5650992" y="1810512"/>
            <a:ext cx="6065215" cy="566928"/>
          </a:xfrm>
          <a:prstGeom prst="rect">
            <a:avLst/>
          </a:prstGeom>
          <a:noFill/>
        </p:spPr>
        <p:txBody>
          <a:bodyPr wrap="square" anchor="t" lIns="36000" rIns="36000" tIns="18000" bIns="18000">
            <a:spAutoFit/>
          </a:bodyPr>
          <a:lstStyle/>
          <a:p>
            <a:pPr algn="l"/>
            <a:r>
              <a:rPr sz="1200" b="0" i="0">
                <a:solidFill>
                  <a:srgbClr val="334155"/>
                </a:solidFill>
                <a:latin typeface="Noto Sans JP"/>
              </a:rPr>
              <a:t>ノズル通過時の高せん断で粘度が急低下</a:t>
            </a:r>
          </a:p>
          <a:p>
            <a:pPr algn="l"/>
            <a:r>
              <a:rPr sz="1200" b="0" i="0">
                <a:solidFill>
                  <a:srgbClr val="334155"/>
                </a:solidFill>
                <a:latin typeface="Noto Sans JP"/>
              </a:rPr>
              <a:t>→ 既存ホース・ノズルで散布可能</a:t>
            </a:r>
          </a:p>
        </p:txBody>
      </p:sp>
      <p:sp>
        <p:nvSpPr>
          <p:cNvPr id="20" name="Rounded Rectangle 19"/>
          <p:cNvSpPr/>
          <p:nvPr/>
        </p:nvSpPr>
        <p:spPr>
          <a:xfrm>
            <a:off x="365760" y="2633472"/>
            <a:ext cx="4114800" cy="1207008"/>
          </a:xfrm>
          <a:prstGeom prst="roundRect">
            <a:avLst>
              <a:gd name="adj" fmla="val 5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5760" y="2633472"/>
            <a:ext cx="54864" cy="120700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2798064"/>
            <a:ext cx="3803904" cy="365760"/>
          </a:xfrm>
          <a:prstGeom prst="rect">
            <a:avLst/>
          </a:prstGeom>
          <a:noFill/>
        </p:spPr>
        <p:txBody>
          <a:bodyPr wrap="square" anchor="t" lIns="36000" rIns="36000" tIns="18000" bIns="18000">
            <a:spAutoFit/>
          </a:bodyPr>
          <a:lstStyle/>
          <a:p>
            <a:pPr algn="l"/>
            <a:r>
              <a:rPr sz="1500" b="1" i="0">
                <a:solidFill>
                  <a:srgbClr val="1E293B"/>
                </a:solidFill>
                <a:latin typeface="Noto Sans JP"/>
              </a:rPr>
              <a:t>高い貯蔵弾性率 G'（G' ≫ G''）</a:t>
            </a:r>
          </a:p>
        </p:txBody>
      </p:sp>
      <p:sp>
        <p:nvSpPr>
          <p:cNvPr id="23" name="TextBox 22"/>
          <p:cNvSpPr txBox="1"/>
          <p:nvPr/>
        </p:nvSpPr>
        <p:spPr>
          <a:xfrm>
            <a:off x="566928" y="3273552"/>
            <a:ext cx="3803904" cy="457200"/>
          </a:xfrm>
          <a:prstGeom prst="rect">
            <a:avLst/>
          </a:prstGeom>
          <a:noFill/>
        </p:spPr>
        <p:txBody>
          <a:bodyPr wrap="square" anchor="t" lIns="36000" rIns="36000" tIns="18000" bIns="18000">
            <a:spAutoFit/>
          </a:bodyPr>
          <a:lstStyle/>
          <a:p>
            <a:pPr algn="l"/>
            <a:r>
              <a:rPr sz="1200" b="0" i="0">
                <a:solidFill>
                  <a:srgbClr val="334155"/>
                </a:solidFill>
                <a:latin typeface="Noto Sans JP"/>
              </a:rPr>
              <a:t>静止時はゲル状態を保持</a:t>
            </a:r>
          </a:p>
        </p:txBody>
      </p:sp>
      <p:sp>
        <p:nvSpPr>
          <p:cNvPr id="24" name="Right Arrow 23"/>
          <p:cNvSpPr/>
          <p:nvPr/>
        </p:nvSpPr>
        <p:spPr>
          <a:xfrm>
            <a:off x="4645152" y="3035808"/>
            <a:ext cx="640080" cy="402336"/>
          </a:xfrm>
          <a:prstGeom prst="rightArrow">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449824" y="2633472"/>
            <a:ext cx="6376111" cy="1207008"/>
          </a:xfrm>
          <a:prstGeom prst="roundRect">
            <a:avLst>
              <a:gd name="adj" fmla="val 5000"/>
            </a:avLst>
          </a:prstGeom>
          <a:solidFill>
            <a:srgbClr val="FFFFFF"/>
          </a:solidFill>
          <a:ln w="1270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50992" y="2779776"/>
            <a:ext cx="6065215" cy="365760"/>
          </a:xfrm>
          <a:prstGeom prst="rect">
            <a:avLst/>
          </a:prstGeom>
          <a:noFill/>
        </p:spPr>
        <p:txBody>
          <a:bodyPr wrap="square" anchor="t" lIns="36000" rIns="36000" tIns="18000" bIns="18000">
            <a:spAutoFit/>
          </a:bodyPr>
          <a:lstStyle/>
          <a:p>
            <a:pPr algn="l"/>
            <a:r>
              <a:rPr sz="1500" b="1" i="0">
                <a:solidFill>
                  <a:srgbClr val="3B5174"/>
                </a:solidFill>
                <a:latin typeface="Noto Sans JP"/>
              </a:rPr>
              <a:t>垂直面で流れ落ちない</a:t>
            </a:r>
          </a:p>
        </p:txBody>
      </p:sp>
      <p:sp>
        <p:nvSpPr>
          <p:cNvPr id="27" name="TextBox 26"/>
          <p:cNvSpPr txBox="1"/>
          <p:nvPr/>
        </p:nvSpPr>
        <p:spPr>
          <a:xfrm>
            <a:off x="5650992" y="3200400"/>
            <a:ext cx="6065215" cy="566928"/>
          </a:xfrm>
          <a:prstGeom prst="rect">
            <a:avLst/>
          </a:prstGeom>
          <a:noFill/>
        </p:spPr>
        <p:txBody>
          <a:bodyPr wrap="square" anchor="t" lIns="36000" rIns="36000" tIns="18000" bIns="18000">
            <a:spAutoFit/>
          </a:bodyPr>
          <a:lstStyle/>
          <a:p>
            <a:pPr algn="l"/>
            <a:r>
              <a:rPr sz="1200" b="0" i="0">
                <a:solidFill>
                  <a:srgbClr val="334155"/>
                </a:solidFill>
                <a:latin typeface="Noto Sans JP"/>
              </a:rPr>
              <a:t>塗布後は形状を保持して付着</a:t>
            </a:r>
          </a:p>
          <a:p>
            <a:pPr algn="l"/>
            <a:r>
              <a:rPr sz="1200" b="0" i="0">
                <a:solidFill>
                  <a:srgbClr val="334155"/>
                </a:solidFill>
                <a:latin typeface="Noto Sans JP"/>
              </a:rPr>
              <a:t>→ 木材・壁面など垂直基材にも保持</a:t>
            </a:r>
          </a:p>
        </p:txBody>
      </p:sp>
      <p:sp>
        <p:nvSpPr>
          <p:cNvPr id="28" name="Rounded Rectangle 27"/>
          <p:cNvSpPr/>
          <p:nvPr/>
        </p:nvSpPr>
        <p:spPr>
          <a:xfrm>
            <a:off x="365760" y="4023360"/>
            <a:ext cx="4114800" cy="1207008"/>
          </a:xfrm>
          <a:prstGeom prst="roundRect">
            <a:avLst>
              <a:gd name="adj" fmla="val 5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5760" y="4023360"/>
            <a:ext cx="54864" cy="120700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4187952"/>
            <a:ext cx="3803904" cy="365760"/>
          </a:xfrm>
          <a:prstGeom prst="rect">
            <a:avLst/>
          </a:prstGeom>
          <a:noFill/>
        </p:spPr>
        <p:txBody>
          <a:bodyPr wrap="square" anchor="t" lIns="36000" rIns="36000" tIns="18000" bIns="18000">
            <a:spAutoFit/>
          </a:bodyPr>
          <a:lstStyle/>
          <a:p>
            <a:pPr algn="l"/>
            <a:r>
              <a:rPr sz="1500" b="1" i="0">
                <a:solidFill>
                  <a:srgbClr val="1E293B"/>
                </a:solidFill>
                <a:latin typeface="Noto Sans JP"/>
              </a:rPr>
              <a:t>自己修復性</a:t>
            </a:r>
          </a:p>
        </p:txBody>
      </p:sp>
      <p:sp>
        <p:nvSpPr>
          <p:cNvPr id="31" name="TextBox 30"/>
          <p:cNvSpPr txBox="1"/>
          <p:nvPr/>
        </p:nvSpPr>
        <p:spPr>
          <a:xfrm>
            <a:off x="566928" y="4663440"/>
            <a:ext cx="3803904" cy="457200"/>
          </a:xfrm>
          <a:prstGeom prst="rect">
            <a:avLst/>
          </a:prstGeom>
          <a:noFill/>
        </p:spPr>
        <p:txBody>
          <a:bodyPr wrap="square" anchor="t" lIns="36000" rIns="36000" tIns="18000" bIns="18000">
            <a:spAutoFit/>
          </a:bodyPr>
          <a:lstStyle/>
          <a:p>
            <a:pPr algn="l"/>
            <a:r>
              <a:rPr sz="1200" b="0" i="0">
                <a:solidFill>
                  <a:srgbClr val="334155"/>
                </a:solidFill>
                <a:latin typeface="Noto Sans JP"/>
              </a:rPr>
              <a:t>step-strain で G' が即時回復</a:t>
            </a:r>
          </a:p>
        </p:txBody>
      </p:sp>
      <p:sp>
        <p:nvSpPr>
          <p:cNvPr id="32" name="Right Arrow 31"/>
          <p:cNvSpPr/>
          <p:nvPr/>
        </p:nvSpPr>
        <p:spPr>
          <a:xfrm>
            <a:off x="4645152" y="4425696"/>
            <a:ext cx="640080" cy="402336"/>
          </a:xfrm>
          <a:prstGeom prst="rightArrow">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449824" y="4023360"/>
            <a:ext cx="6376111" cy="1207008"/>
          </a:xfrm>
          <a:prstGeom prst="roundRect">
            <a:avLst>
              <a:gd name="adj" fmla="val 5000"/>
            </a:avLst>
          </a:prstGeom>
          <a:solidFill>
            <a:srgbClr val="FFFFFF"/>
          </a:solidFill>
          <a:ln w="1270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50992" y="4169664"/>
            <a:ext cx="6065215" cy="365760"/>
          </a:xfrm>
          <a:prstGeom prst="rect">
            <a:avLst/>
          </a:prstGeom>
          <a:noFill/>
        </p:spPr>
        <p:txBody>
          <a:bodyPr wrap="square" anchor="t" lIns="36000" rIns="36000" tIns="18000" bIns="18000">
            <a:spAutoFit/>
          </a:bodyPr>
          <a:lstStyle/>
          <a:p>
            <a:pPr algn="l"/>
            <a:r>
              <a:rPr sz="1500" b="1" i="0">
                <a:solidFill>
                  <a:srgbClr val="D4A574"/>
                </a:solidFill>
                <a:latin typeface="Noto Sans JP"/>
              </a:rPr>
              <a:t>到達後すぐ保護膜を形成</a:t>
            </a:r>
          </a:p>
        </p:txBody>
      </p:sp>
      <p:sp>
        <p:nvSpPr>
          <p:cNvPr id="35" name="TextBox 34"/>
          <p:cNvSpPr txBox="1"/>
          <p:nvPr/>
        </p:nvSpPr>
        <p:spPr>
          <a:xfrm>
            <a:off x="5650992" y="4590288"/>
            <a:ext cx="6065215" cy="566928"/>
          </a:xfrm>
          <a:prstGeom prst="rect">
            <a:avLst/>
          </a:prstGeom>
          <a:noFill/>
        </p:spPr>
        <p:txBody>
          <a:bodyPr wrap="square" anchor="t" lIns="36000" rIns="36000" tIns="18000" bIns="18000">
            <a:spAutoFit/>
          </a:bodyPr>
          <a:lstStyle/>
          <a:p>
            <a:pPr algn="l"/>
            <a:r>
              <a:rPr sz="1200" b="0" i="0">
                <a:solidFill>
                  <a:srgbClr val="334155"/>
                </a:solidFill>
                <a:latin typeface="Noto Sans JP"/>
              </a:rPr>
              <a:t>散布直後に再ゲル化</a:t>
            </a:r>
          </a:p>
          <a:p>
            <a:pPr algn="l"/>
            <a:r>
              <a:rPr sz="1200" b="0" i="0">
                <a:solidFill>
                  <a:srgbClr val="334155"/>
                </a:solidFill>
                <a:latin typeface="Noto Sans JP"/>
              </a:rPr>
              <a:t>→ 風雨・自重で流出せず防火層を維持</a:t>
            </a:r>
          </a:p>
        </p:txBody>
      </p:sp>
      <p:sp>
        <p:nvSpPr>
          <p:cNvPr id="36" name="Rounded Rectangle 35"/>
          <p:cNvSpPr/>
          <p:nvPr/>
        </p:nvSpPr>
        <p:spPr>
          <a:xfrm>
            <a:off x="365760" y="6089904"/>
            <a:ext cx="11460175" cy="56692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5760" y="6089904"/>
            <a:ext cx="54864" cy="56692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6089904"/>
            <a:ext cx="365760" cy="56692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960120" y="6089904"/>
            <a:ext cx="10774375" cy="566928"/>
          </a:xfrm>
          <a:prstGeom prst="rect">
            <a:avLst/>
          </a:prstGeom>
          <a:noFill/>
        </p:spPr>
        <p:txBody>
          <a:bodyPr wrap="square" anchor="ctr" lIns="36000" rIns="36000" tIns="18000" bIns="18000">
            <a:spAutoFit/>
          </a:bodyPr>
          <a:lstStyle/>
          <a:p>
            <a:pPr algn="l"/>
            <a:r>
              <a:rPr sz="1300" b="1" i="0">
                <a:solidFill>
                  <a:srgbClr val="1E293B"/>
                </a:solidFill>
                <a:latin typeface="Noto Sans JP"/>
              </a:rPr>
              <a:t>これらの実装性能はレオロジー実測値からの帰結。接触角・付着力の独立した測定試験は本論文では行われていない</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03</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3</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実験結果</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レオロジー特性、燃焼性能、発泡構造、エアロゲル形成メカニズムまで</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レオロジー</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燃焼試験</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発泡指数</a:t>
            </a:r>
          </a:p>
        </p:txBody>
      </p:sp>
      <p:sp>
        <p:nvSpPr>
          <p:cNvPr id="14" name="Rounded Rectangle 13"/>
          <p:cNvSpPr/>
          <p:nvPr/>
        </p:nvSpPr>
        <p:spPr>
          <a:xfrm>
            <a:off x="5742432"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42432"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SEM観察</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18 / 43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レオロジー①：粘弾性とせん断希薄化（Fig. 2a–c）</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19 / 43</a:t>
            </a:r>
          </a:p>
        </p:txBody>
      </p:sp>
      <p:sp>
        <p:nvSpPr>
          <p:cNvPr id="10" name="Rounded Rectangle 9"/>
          <p:cNvSpPr/>
          <p:nvPr/>
        </p:nvSpPr>
        <p:spPr>
          <a:xfrm>
            <a:off x="365760" y="859536"/>
            <a:ext cx="5620359" cy="32004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2a–b</a:t>
            </a:r>
          </a:p>
        </p:txBody>
      </p:sp>
      <p:sp>
        <p:nvSpPr>
          <p:cNvPr id="13" name="TextBox 12"/>
          <p:cNvSpPr txBox="1"/>
          <p:nvPr/>
        </p:nvSpPr>
        <p:spPr>
          <a:xfrm>
            <a:off x="365760" y="859536"/>
            <a:ext cx="5620359" cy="32004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4096512"/>
            <a:ext cx="562035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角周波数 vs G' / G''（静止時の粘弾性）</a:t>
            </a:r>
          </a:p>
        </p:txBody>
      </p:sp>
      <p:sp>
        <p:nvSpPr>
          <p:cNvPr id="15" name="Rounded Rectangle 14"/>
          <p:cNvSpPr/>
          <p:nvPr/>
        </p:nvSpPr>
        <p:spPr>
          <a:xfrm>
            <a:off x="6205575" y="859536"/>
            <a:ext cx="5620359" cy="32004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315303"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15303"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2c</a:t>
            </a:r>
          </a:p>
        </p:txBody>
      </p:sp>
      <p:sp>
        <p:nvSpPr>
          <p:cNvPr id="18" name="TextBox 17"/>
          <p:cNvSpPr txBox="1"/>
          <p:nvPr/>
        </p:nvSpPr>
        <p:spPr>
          <a:xfrm>
            <a:off x="6205575" y="859536"/>
            <a:ext cx="5620359" cy="32004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9" name="TextBox 18"/>
          <p:cNvSpPr txBox="1"/>
          <p:nvPr/>
        </p:nvSpPr>
        <p:spPr>
          <a:xfrm>
            <a:off x="6205575" y="4096512"/>
            <a:ext cx="562035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せん断速度 vs 粘度（せん断希薄化）</a:t>
            </a:r>
          </a:p>
        </p:txBody>
      </p:sp>
      <p:sp>
        <p:nvSpPr>
          <p:cNvPr id="20" name="Rounded Rectangle 19"/>
          <p:cNvSpPr/>
          <p:nvPr/>
        </p:nvSpPr>
        <p:spPr>
          <a:xfrm>
            <a:off x="365760" y="4261104"/>
            <a:ext cx="5620359" cy="914400"/>
          </a:xfrm>
          <a:prstGeom prst="roundRect">
            <a:avLst>
              <a:gd name="adj" fmla="val 5000"/>
            </a:avLst>
          </a:prstGeom>
          <a:solidFill>
            <a:srgbClr val="F1F5F9"/>
          </a:solidFill>
          <a:ln w="1524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5760" y="4261104"/>
            <a:ext cx="54864" cy="91440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4370832"/>
            <a:ext cx="5309463" cy="274320"/>
          </a:xfrm>
          <a:prstGeom prst="rect">
            <a:avLst/>
          </a:prstGeom>
          <a:noFill/>
        </p:spPr>
        <p:txBody>
          <a:bodyPr wrap="square" anchor="t" lIns="36000" rIns="36000" tIns="18000" bIns="18000">
            <a:spAutoFit/>
          </a:bodyPr>
          <a:lstStyle/>
          <a:p>
            <a:pPr algn="l"/>
            <a:r>
              <a:rPr sz="1250" b="1" i="0">
                <a:solidFill>
                  <a:srgbClr val="4A7C8C"/>
                </a:solidFill>
                <a:latin typeface="Noto Sans JP"/>
              </a:rPr>
              <a:t>静止時：G' &gt; G'' → 固体的（ゲル）挙動</a:t>
            </a:r>
          </a:p>
        </p:txBody>
      </p:sp>
      <p:sp>
        <p:nvSpPr>
          <p:cNvPr id="23" name="TextBox 22"/>
          <p:cNvSpPr txBox="1"/>
          <p:nvPr/>
        </p:nvSpPr>
        <p:spPr>
          <a:xfrm>
            <a:off x="548640" y="4700016"/>
            <a:ext cx="5309463" cy="411480"/>
          </a:xfrm>
          <a:prstGeom prst="rect">
            <a:avLst/>
          </a:prstGeom>
          <a:noFill/>
        </p:spPr>
        <p:txBody>
          <a:bodyPr wrap="square" anchor="t" lIns="36000" rIns="36000" tIns="18000" bIns="18000">
            <a:spAutoFit/>
          </a:bodyPr>
          <a:lstStyle/>
          <a:p>
            <a:pPr algn="l"/>
            <a:r>
              <a:rPr sz="1150" b="0" i="0">
                <a:solidFill>
                  <a:srgbClr val="334155"/>
                </a:solidFill>
                <a:latin typeface="Noto Sans JP"/>
              </a:rPr>
              <a:t>周波数依存性が小さく安定なネットワーク → 塗布後に流れ落ちない</a:t>
            </a:r>
          </a:p>
        </p:txBody>
      </p:sp>
      <p:sp>
        <p:nvSpPr>
          <p:cNvPr id="24" name="Rounded Rectangle 23"/>
          <p:cNvSpPr/>
          <p:nvPr/>
        </p:nvSpPr>
        <p:spPr>
          <a:xfrm>
            <a:off x="6205575" y="4261104"/>
            <a:ext cx="5620359" cy="914400"/>
          </a:xfrm>
          <a:prstGeom prst="roundRect">
            <a:avLst>
              <a:gd name="adj" fmla="val 5000"/>
            </a:avLst>
          </a:prstGeom>
          <a:solidFill>
            <a:srgbClr val="F1F5F9"/>
          </a:solidFill>
          <a:ln w="1524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05575" y="4261104"/>
            <a:ext cx="54864" cy="9144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88455" y="4370832"/>
            <a:ext cx="5309463" cy="274320"/>
          </a:xfrm>
          <a:prstGeom prst="rect">
            <a:avLst/>
          </a:prstGeom>
          <a:noFill/>
        </p:spPr>
        <p:txBody>
          <a:bodyPr wrap="square" anchor="t" lIns="36000" rIns="36000" tIns="18000" bIns="18000">
            <a:spAutoFit/>
          </a:bodyPr>
          <a:lstStyle/>
          <a:p>
            <a:pPr algn="l"/>
            <a:r>
              <a:rPr sz="1250" b="1" i="0">
                <a:solidFill>
                  <a:srgbClr val="3B5174"/>
                </a:solidFill>
                <a:latin typeface="Noto Sans JP"/>
              </a:rPr>
              <a:t>高せん断時：粘度が急低下（せん断希薄化）</a:t>
            </a:r>
          </a:p>
        </p:txBody>
      </p:sp>
      <p:sp>
        <p:nvSpPr>
          <p:cNvPr id="27" name="TextBox 26"/>
          <p:cNvSpPr txBox="1"/>
          <p:nvPr/>
        </p:nvSpPr>
        <p:spPr>
          <a:xfrm>
            <a:off x="6388455" y="4700016"/>
            <a:ext cx="5309463" cy="411480"/>
          </a:xfrm>
          <a:prstGeom prst="rect">
            <a:avLst/>
          </a:prstGeom>
          <a:noFill/>
        </p:spPr>
        <p:txBody>
          <a:bodyPr wrap="square" anchor="t" lIns="36000" rIns="36000" tIns="18000" bIns="18000">
            <a:spAutoFit/>
          </a:bodyPr>
          <a:lstStyle/>
          <a:p>
            <a:pPr algn="l"/>
            <a:r>
              <a:rPr sz="1150" b="0" i="0">
                <a:solidFill>
                  <a:srgbClr val="334155"/>
                </a:solidFill>
                <a:latin typeface="Noto Sans JP"/>
              </a:rPr>
              <a:t>ノズル通過時の高せん断で粘度低下 → スプレー噴霧が可能</a:t>
            </a:r>
          </a:p>
        </p:txBody>
      </p:sp>
      <p:sp>
        <p:nvSpPr>
          <p:cNvPr id="28" name="Rounded Rectangle 27"/>
          <p:cNvSpPr/>
          <p:nvPr/>
        </p:nvSpPr>
        <p:spPr>
          <a:xfrm>
            <a:off x="365760" y="5340096"/>
            <a:ext cx="11460175" cy="512064"/>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5760" y="5340096"/>
            <a:ext cx="54864" cy="512064"/>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8640" y="5340096"/>
            <a:ext cx="365760" cy="512064"/>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31" name="TextBox 30"/>
          <p:cNvSpPr txBox="1"/>
          <p:nvPr/>
        </p:nvSpPr>
        <p:spPr>
          <a:xfrm>
            <a:off x="960120" y="5340096"/>
            <a:ext cx="10774375" cy="512064"/>
          </a:xfrm>
          <a:prstGeom prst="rect">
            <a:avLst/>
          </a:prstGeom>
          <a:noFill/>
        </p:spPr>
        <p:txBody>
          <a:bodyPr wrap="square" anchor="ctr" lIns="36000" rIns="36000" tIns="18000" bIns="18000">
            <a:spAutoFit/>
          </a:bodyPr>
          <a:lstStyle/>
          <a:p>
            <a:pPr algn="l"/>
            <a:r>
              <a:rPr sz="1300" b="1" i="0">
                <a:solidFill>
                  <a:srgbClr val="FFFFFF"/>
                </a:solidFill>
                <a:latin typeface="Noto Sans JP"/>
              </a:rPr>
              <a:t>静止時はゲル（垂れない）／噴霧時は低粘度（飛ばせる）の両立がスプレー散布の基盤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2/15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レオロジー②：静的・動的降伏応力と AquaGel-K 比較（Fig. 2d・S3）</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20 / 43</a:t>
            </a:r>
          </a:p>
        </p:txBody>
      </p:sp>
      <p:sp>
        <p:nvSpPr>
          <p:cNvPr id="10" name="Rounded Rectangle 9"/>
          <p:cNvSpPr/>
          <p:nvPr/>
        </p:nvSpPr>
        <p:spPr>
          <a:xfrm>
            <a:off x="365760" y="859536"/>
            <a:ext cx="11460175" cy="56692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6692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66928"/>
          </a:xfrm>
          <a:prstGeom prst="rect">
            <a:avLst/>
          </a:prstGeom>
          <a:noFill/>
        </p:spPr>
        <p:txBody>
          <a:bodyPr wrap="square" anchor="ctr" lIns="36000" rIns="36000" tIns="18000" bIns="18000">
            <a:spAutoFit/>
          </a:bodyPr>
          <a:lstStyle/>
          <a:p>
            <a:pPr algn="l"/>
            <a:r>
              <a:rPr sz="1400" b="0" i="0">
                <a:solidFill>
                  <a:srgbClr val="3B5174"/>
                </a:solidFill>
                <a:latin typeface="Noto Sans JP"/>
              </a:rPr>
              <a:t>ƒ</a:t>
            </a:r>
          </a:p>
        </p:txBody>
      </p:sp>
      <p:sp>
        <p:nvSpPr>
          <p:cNvPr id="13" name="TextBox 12"/>
          <p:cNvSpPr txBox="1"/>
          <p:nvPr/>
        </p:nvSpPr>
        <p:spPr>
          <a:xfrm>
            <a:off x="960120" y="859536"/>
            <a:ext cx="10774375" cy="566928"/>
          </a:xfrm>
          <a:prstGeom prst="rect">
            <a:avLst/>
          </a:prstGeom>
          <a:noFill/>
        </p:spPr>
        <p:txBody>
          <a:bodyPr wrap="square" anchor="ctr" lIns="36000" rIns="36000" tIns="18000" bIns="18000">
            <a:spAutoFit/>
          </a:bodyPr>
          <a:lstStyle/>
          <a:p>
            <a:pPr algn="l"/>
            <a:r>
              <a:rPr sz="1300" b="1" i="0">
                <a:solidFill>
                  <a:srgbClr val="1E293B"/>
                </a:solidFill>
                <a:latin typeface="Noto Sans JP"/>
              </a:rPr>
              <a:t>降伏応力＝ゲルが流れ出す／流れ続けるのに必要な応力。静的（流れ始め＝付着）と動的（流動維持＝噴霧）の2定義で評価</a:t>
            </a:r>
          </a:p>
        </p:txBody>
      </p:sp>
      <p:sp>
        <p:nvSpPr>
          <p:cNvPr id="14" name="Rounded Rectangle 13"/>
          <p:cNvSpPr/>
          <p:nvPr/>
        </p:nvSpPr>
        <p:spPr>
          <a:xfrm>
            <a:off x="365760" y="1609344"/>
            <a:ext cx="4492630" cy="15544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75488" y="1719072"/>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 y="171907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SI Fig. S3</a:t>
            </a:r>
          </a:p>
        </p:txBody>
      </p:sp>
      <p:sp>
        <p:nvSpPr>
          <p:cNvPr id="17" name="TextBox 16"/>
          <p:cNvSpPr txBox="1"/>
          <p:nvPr/>
        </p:nvSpPr>
        <p:spPr>
          <a:xfrm>
            <a:off x="365760" y="1609344"/>
            <a:ext cx="4492630" cy="15544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8" name="TextBox 17"/>
          <p:cNvSpPr txBox="1"/>
          <p:nvPr/>
        </p:nvSpPr>
        <p:spPr>
          <a:xfrm>
            <a:off x="365760" y="3200400"/>
            <a:ext cx="4492630"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振幅掃引：G'/G'' クロスオーバー（静的降伏応力）</a:t>
            </a:r>
          </a:p>
        </p:txBody>
      </p:sp>
      <p:sp>
        <p:nvSpPr>
          <p:cNvPr id="19" name="Rounded Rectangle 18"/>
          <p:cNvSpPr/>
          <p:nvPr/>
        </p:nvSpPr>
        <p:spPr>
          <a:xfrm>
            <a:off x="365760" y="3300984"/>
            <a:ext cx="4492630" cy="15544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75488" y="3410712"/>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5488" y="341071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2d</a:t>
            </a:r>
          </a:p>
        </p:txBody>
      </p:sp>
      <p:sp>
        <p:nvSpPr>
          <p:cNvPr id="22" name="TextBox 21"/>
          <p:cNvSpPr txBox="1"/>
          <p:nvPr/>
        </p:nvSpPr>
        <p:spPr>
          <a:xfrm>
            <a:off x="365760" y="3300984"/>
            <a:ext cx="4492630" cy="15544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3" name="TextBox 22"/>
          <p:cNvSpPr txBox="1"/>
          <p:nvPr/>
        </p:nvSpPr>
        <p:spPr>
          <a:xfrm>
            <a:off x="365760" y="4892040"/>
            <a:ext cx="4492630"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HB fit による動的降伏応力（棒グラフ）</a:t>
            </a:r>
          </a:p>
        </p:txBody>
      </p:sp>
      <p:sp>
        <p:nvSpPr>
          <p:cNvPr id="24" name="Rounded Rectangle 23"/>
          <p:cNvSpPr/>
          <p:nvPr/>
        </p:nvSpPr>
        <p:spPr>
          <a:xfrm>
            <a:off x="5077846" y="1609344"/>
            <a:ext cx="6748089" cy="1554480"/>
          </a:xfrm>
          <a:prstGeom prst="roundRect">
            <a:avLst>
              <a:gd name="adj" fmla="val 5000"/>
            </a:avLst>
          </a:prstGeom>
          <a:solidFill>
            <a:srgbClr val="F1F5F9"/>
          </a:solidFill>
          <a:ln w="1524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77846" y="1609344"/>
            <a:ext cx="54864" cy="155448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79014" y="1719072"/>
            <a:ext cx="6437193" cy="274320"/>
          </a:xfrm>
          <a:prstGeom prst="rect">
            <a:avLst/>
          </a:prstGeom>
          <a:noFill/>
        </p:spPr>
        <p:txBody>
          <a:bodyPr wrap="square" anchor="t" lIns="36000" rIns="36000" tIns="18000" bIns="18000">
            <a:spAutoFit/>
          </a:bodyPr>
          <a:lstStyle/>
          <a:p>
            <a:pPr algn="l"/>
            <a:r>
              <a:rPr sz="1300" b="1" i="0">
                <a:solidFill>
                  <a:srgbClr val="4A7C8C"/>
                </a:solidFill>
                <a:latin typeface="Noto Sans JP"/>
              </a:rPr>
              <a:t>静的降伏応力 σ_static（流れ始め＝付着）</a:t>
            </a:r>
          </a:p>
        </p:txBody>
      </p:sp>
      <p:sp>
        <p:nvSpPr>
          <p:cNvPr id="27" name="TextBox 26"/>
          <p:cNvSpPr txBox="1"/>
          <p:nvPr/>
        </p:nvSpPr>
        <p:spPr>
          <a:xfrm>
            <a:off x="5279014" y="2066544"/>
            <a:ext cx="6437193" cy="274320"/>
          </a:xfrm>
          <a:prstGeom prst="rect">
            <a:avLst/>
          </a:prstGeom>
          <a:noFill/>
        </p:spPr>
        <p:txBody>
          <a:bodyPr wrap="square" anchor="t" lIns="36000" rIns="36000" tIns="18000" bIns="18000">
            <a:spAutoFit/>
          </a:bodyPr>
          <a:lstStyle/>
          <a:p>
            <a:pPr algn="l"/>
            <a:r>
              <a:rPr sz="1150" b="0" i="0">
                <a:solidFill>
                  <a:srgbClr val="334155"/>
                </a:solidFill>
                <a:latin typeface="Noto Sans JP"/>
              </a:rPr>
              <a:t>測定：振幅掃引（LAOS）の G' / G'' クロスオーバー応力（S3）</a:t>
            </a:r>
          </a:p>
        </p:txBody>
      </p:sp>
      <p:sp>
        <p:nvSpPr>
          <p:cNvPr id="28" name="TextBox 27"/>
          <p:cNvSpPr txBox="1"/>
          <p:nvPr/>
        </p:nvSpPr>
        <p:spPr>
          <a:xfrm>
            <a:off x="5279014" y="2377440"/>
            <a:ext cx="6437193" cy="731520"/>
          </a:xfrm>
          <a:prstGeom prst="rect">
            <a:avLst/>
          </a:prstGeom>
          <a:noFill/>
        </p:spPr>
        <p:txBody>
          <a:bodyPr wrap="square" anchor="t" lIns="36000" rIns="36000" tIns="18000" bIns="18000">
            <a:spAutoFit/>
          </a:bodyPr>
          <a:lstStyle/>
          <a:p>
            <a:pPr algn="l"/>
            <a:r>
              <a:rPr sz="1150" b="0" i="0">
                <a:solidFill>
                  <a:srgbClr val="475569"/>
                </a:solidFill>
                <a:latin typeface="Noto Sans JP"/>
              </a:rPr>
              <a:t>PPハイドロゲルは AquaGel-K より高い静的降伏応力</a:t>
            </a:r>
          </a:p>
          <a:p>
            <a:pPr algn="l"/>
            <a:r>
              <a:rPr sz="1150" b="0" i="0">
                <a:solidFill>
                  <a:srgbClr val="475569"/>
                </a:solidFill>
                <a:latin typeface="Noto Sans JP"/>
              </a:rPr>
              <a:t>→ 垂直・高所の燃料面でも流れ落ちにくく、強く付着する</a:t>
            </a:r>
          </a:p>
        </p:txBody>
      </p:sp>
      <p:sp>
        <p:nvSpPr>
          <p:cNvPr id="29" name="Rounded Rectangle 28"/>
          <p:cNvSpPr/>
          <p:nvPr/>
        </p:nvSpPr>
        <p:spPr>
          <a:xfrm>
            <a:off x="5077846" y="3300984"/>
            <a:ext cx="6748089" cy="1554480"/>
          </a:xfrm>
          <a:prstGeom prst="roundRect">
            <a:avLst>
              <a:gd name="adj" fmla="val 5000"/>
            </a:avLst>
          </a:prstGeom>
          <a:solidFill>
            <a:srgbClr val="F1F5F9"/>
          </a:solidFill>
          <a:ln w="1524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077846" y="3300984"/>
            <a:ext cx="54864" cy="155448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279014" y="3410712"/>
            <a:ext cx="6437193" cy="274320"/>
          </a:xfrm>
          <a:prstGeom prst="rect">
            <a:avLst/>
          </a:prstGeom>
          <a:noFill/>
        </p:spPr>
        <p:txBody>
          <a:bodyPr wrap="square" anchor="t" lIns="36000" rIns="36000" tIns="18000" bIns="18000">
            <a:spAutoFit/>
          </a:bodyPr>
          <a:lstStyle/>
          <a:p>
            <a:pPr algn="l"/>
            <a:r>
              <a:rPr sz="1300" b="1" i="0">
                <a:solidFill>
                  <a:srgbClr val="3B5174"/>
                </a:solidFill>
                <a:latin typeface="Noto Sans JP"/>
              </a:rPr>
              <a:t>動的降伏応力 σ_dynamic（流動維持＝噴霧）</a:t>
            </a:r>
          </a:p>
        </p:txBody>
      </p:sp>
      <p:sp>
        <p:nvSpPr>
          <p:cNvPr id="32" name="TextBox 31"/>
          <p:cNvSpPr txBox="1"/>
          <p:nvPr/>
        </p:nvSpPr>
        <p:spPr>
          <a:xfrm>
            <a:off x="5279014" y="3758184"/>
            <a:ext cx="6437193" cy="274320"/>
          </a:xfrm>
          <a:prstGeom prst="rect">
            <a:avLst/>
          </a:prstGeom>
          <a:noFill/>
        </p:spPr>
        <p:txBody>
          <a:bodyPr wrap="square" anchor="t" lIns="36000" rIns="36000" tIns="18000" bIns="18000">
            <a:spAutoFit/>
          </a:bodyPr>
          <a:lstStyle/>
          <a:p>
            <a:pPr algn="l"/>
            <a:r>
              <a:rPr sz="1150" b="0" i="0">
                <a:solidFill>
                  <a:srgbClr val="334155"/>
                </a:solidFill>
                <a:latin typeface="Noto Sans JP"/>
              </a:rPr>
              <a:t>測定：フロースイープ（100→0.01 s⁻¹）の HB モデル fit（2d）</a:t>
            </a:r>
          </a:p>
        </p:txBody>
      </p:sp>
      <p:sp>
        <p:nvSpPr>
          <p:cNvPr id="33" name="TextBox 32"/>
          <p:cNvSpPr txBox="1"/>
          <p:nvPr/>
        </p:nvSpPr>
        <p:spPr>
          <a:xfrm>
            <a:off x="5279014" y="4069080"/>
            <a:ext cx="6437193" cy="731520"/>
          </a:xfrm>
          <a:prstGeom prst="rect">
            <a:avLst/>
          </a:prstGeom>
          <a:noFill/>
        </p:spPr>
        <p:txBody>
          <a:bodyPr wrap="square" anchor="t" lIns="36000" rIns="36000" tIns="18000" bIns="18000">
            <a:spAutoFit/>
          </a:bodyPr>
          <a:lstStyle/>
          <a:p>
            <a:pPr algn="l"/>
            <a:r>
              <a:rPr sz="1150" b="0" i="0">
                <a:solidFill>
                  <a:srgbClr val="475569"/>
                </a:solidFill>
                <a:latin typeface="Noto Sans JP"/>
              </a:rPr>
              <a:t>AquaGel-K（基準線 0.05 Pa）に対し PPハイドロゲルは桁違いに高い</a:t>
            </a:r>
          </a:p>
          <a:p>
            <a:pPr algn="l"/>
            <a:r>
              <a:rPr sz="1150" b="0" i="0">
                <a:solidFill>
                  <a:srgbClr val="475569"/>
                </a:solidFill>
                <a:latin typeface="Noto Sans JP"/>
              </a:rPr>
              <a:t>→ ポンプ圧内で噴霧でき、かつ流れにくい設計を両立</a:t>
            </a:r>
          </a:p>
        </p:txBody>
      </p:sp>
      <p:sp>
        <p:nvSpPr>
          <p:cNvPr id="34" name="Rounded Rectangle 33"/>
          <p:cNvSpPr/>
          <p:nvPr/>
        </p:nvSpPr>
        <p:spPr>
          <a:xfrm>
            <a:off x="365760" y="5056632"/>
            <a:ext cx="11460175" cy="566928"/>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5760" y="5056632"/>
            <a:ext cx="54864" cy="56692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5056632"/>
            <a:ext cx="365760" cy="566928"/>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37" name="TextBox 36"/>
          <p:cNvSpPr txBox="1"/>
          <p:nvPr/>
        </p:nvSpPr>
        <p:spPr>
          <a:xfrm>
            <a:off x="960120" y="5056632"/>
            <a:ext cx="10774375" cy="566928"/>
          </a:xfrm>
          <a:prstGeom prst="rect">
            <a:avLst/>
          </a:prstGeom>
          <a:noFill/>
        </p:spPr>
        <p:txBody>
          <a:bodyPr wrap="square" anchor="ctr" lIns="36000" rIns="36000" tIns="18000" bIns="18000">
            <a:spAutoFit/>
          </a:bodyPr>
          <a:lstStyle/>
          <a:p>
            <a:pPr algn="l"/>
            <a:r>
              <a:rPr sz="1300" b="1" i="0">
                <a:solidFill>
                  <a:srgbClr val="FFFFFF"/>
                </a:solidFill>
                <a:latin typeface="Noto Sans JP"/>
              </a:rPr>
              <a:t>静的・動的いずれの降伏応力でも PPハイドロゲルは市販 AquaGel-K を大きく上回る。両者の差が小さい（弱いチキソトロピー）ため構造が即再形成され、自己修復的に付着を保つ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3/15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レオロジー③：動的降伏応力の経時変化と長期安定性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21 / 43</a:t>
            </a:r>
          </a:p>
        </p:txBody>
      </p:sp>
      <p:sp>
        <p:nvSpPr>
          <p:cNvPr id="10" name="Rounded Rectangle 9"/>
          <p:cNvSpPr/>
          <p:nvPr/>
        </p:nvSpPr>
        <p:spPr>
          <a:xfrm>
            <a:off x="365760" y="859536"/>
            <a:ext cx="11460175"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ƒ</a:t>
            </a:r>
          </a:p>
        </p:txBody>
      </p:sp>
      <p:sp>
        <p:nvSpPr>
          <p:cNvPr id="13" name="TextBox 12"/>
          <p:cNvSpPr txBox="1"/>
          <p:nvPr/>
        </p:nvSpPr>
        <p:spPr>
          <a:xfrm>
            <a:off x="960120" y="859536"/>
            <a:ext cx="10774375"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動的降伏応力：定常フロースイープを HB モデルにフィットして算出（σ_d）。流動状態を維持するのに必要な応力（Fig. S7）</a:t>
            </a:r>
          </a:p>
        </p:txBody>
      </p:sp>
      <p:sp>
        <p:nvSpPr>
          <p:cNvPr id="14" name="Rectangle 13"/>
          <p:cNvSpPr/>
          <p:nvPr/>
        </p:nvSpPr>
        <p:spPr>
          <a:xfrm>
            <a:off x="365760" y="1636776"/>
            <a:ext cx="11460175" cy="502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636776"/>
            <a:ext cx="3554979"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16" name="TextBox 15"/>
          <p:cNvSpPr txBox="1"/>
          <p:nvPr/>
        </p:nvSpPr>
        <p:spPr>
          <a:xfrm>
            <a:off x="410361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動的降伏応力（Day 1）</a:t>
            </a:r>
          </a:p>
        </p:txBody>
      </p:sp>
      <p:sp>
        <p:nvSpPr>
          <p:cNvPr id="17" name="TextBox 16"/>
          <p:cNvSpPr txBox="1"/>
          <p:nvPr/>
        </p:nvSpPr>
        <p:spPr>
          <a:xfrm>
            <a:off x="6708204"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動的降伏応力（Day 455）</a:t>
            </a:r>
          </a:p>
        </p:txBody>
      </p:sp>
      <p:sp>
        <p:nvSpPr>
          <p:cNvPr id="18" name="TextBox 17"/>
          <p:cNvSpPr txBox="1"/>
          <p:nvPr/>
        </p:nvSpPr>
        <p:spPr>
          <a:xfrm>
            <a:off x="931278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備考</a:t>
            </a:r>
          </a:p>
        </p:txBody>
      </p:sp>
      <p:sp>
        <p:nvSpPr>
          <p:cNvPr id="19" name="Rectangle 18"/>
          <p:cNvSpPr/>
          <p:nvPr/>
        </p:nvSpPr>
        <p:spPr>
          <a:xfrm>
            <a:off x="365760" y="213969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3969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 1-5</a:t>
            </a:r>
          </a:p>
        </p:txBody>
      </p:sp>
      <p:sp>
        <p:nvSpPr>
          <p:cNvPr id="21" name="TextBox 20"/>
          <p:cNvSpPr txBox="1"/>
          <p:nvPr/>
        </p:nvSpPr>
        <p:spPr>
          <a:xfrm>
            <a:off x="4103619" y="213969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33.34 Pa</a:t>
            </a:r>
          </a:p>
        </p:txBody>
      </p:sp>
      <p:sp>
        <p:nvSpPr>
          <p:cNvPr id="22" name="TextBox 21"/>
          <p:cNvSpPr txBox="1"/>
          <p:nvPr/>
        </p:nvSpPr>
        <p:spPr>
          <a:xfrm>
            <a:off x="6708204" y="2139696"/>
            <a:ext cx="2513145" cy="502920"/>
          </a:xfrm>
          <a:prstGeom prst="rect">
            <a:avLst/>
          </a:prstGeom>
          <a:noFill/>
        </p:spPr>
        <p:txBody>
          <a:bodyPr wrap="square" anchor="ctr" lIns="36000" rIns="36000" tIns="18000" bIns="18000">
            <a:spAutoFit/>
          </a:bodyPr>
          <a:lstStyle/>
          <a:p>
            <a:pPr algn="l"/>
            <a:r>
              <a:rPr sz="1100" b="0" i="0">
                <a:solidFill>
                  <a:srgbClr val="5B8C5A"/>
                </a:solidFill>
                <a:latin typeface="Noto Sans JP"/>
              </a:rPr>
              <a:t>68.9 Pa</a:t>
            </a:r>
          </a:p>
        </p:txBody>
      </p:sp>
      <p:sp>
        <p:nvSpPr>
          <p:cNvPr id="23" name="TextBox 22"/>
          <p:cNvSpPr txBox="1"/>
          <p:nvPr/>
        </p:nvSpPr>
        <p:spPr>
          <a:xfrm>
            <a:off x="9312789" y="213969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ゲル強度が経時で増大</a:t>
            </a:r>
          </a:p>
        </p:txBody>
      </p:sp>
      <p:sp>
        <p:nvSpPr>
          <p:cNvPr id="24" name="Rectangle 23"/>
          <p:cNvSpPr/>
          <p:nvPr/>
        </p:nvSpPr>
        <p:spPr>
          <a:xfrm>
            <a:off x="365760" y="2642616"/>
            <a:ext cx="11460175" cy="50292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264261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 1-5</a:t>
            </a:r>
          </a:p>
        </p:txBody>
      </p:sp>
      <p:sp>
        <p:nvSpPr>
          <p:cNvPr id="26" name="TextBox 25"/>
          <p:cNvSpPr txBox="1"/>
          <p:nvPr/>
        </p:nvSpPr>
        <p:spPr>
          <a:xfrm>
            <a:off x="4103619" y="264261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3.31 Pa</a:t>
            </a:r>
          </a:p>
        </p:txBody>
      </p:sp>
      <p:sp>
        <p:nvSpPr>
          <p:cNvPr id="27" name="TextBox 26"/>
          <p:cNvSpPr txBox="1"/>
          <p:nvPr/>
        </p:nvSpPr>
        <p:spPr>
          <a:xfrm>
            <a:off x="6708204" y="2642616"/>
            <a:ext cx="2513145" cy="502920"/>
          </a:xfrm>
          <a:prstGeom prst="rect">
            <a:avLst/>
          </a:prstGeom>
          <a:noFill/>
        </p:spPr>
        <p:txBody>
          <a:bodyPr wrap="square" anchor="ctr" lIns="36000" rIns="36000" tIns="18000" bIns="18000">
            <a:spAutoFit/>
          </a:bodyPr>
          <a:lstStyle/>
          <a:p>
            <a:pPr algn="l"/>
            <a:r>
              <a:rPr sz="1100" b="0" i="0">
                <a:solidFill>
                  <a:srgbClr val="5B8C5A"/>
                </a:solidFill>
                <a:latin typeface="Noto Sans JP"/>
              </a:rPr>
              <a:t>4.56 Pa</a:t>
            </a:r>
          </a:p>
        </p:txBody>
      </p:sp>
      <p:sp>
        <p:nvSpPr>
          <p:cNvPr id="28" name="TextBox 27"/>
          <p:cNvSpPr txBox="1"/>
          <p:nvPr/>
        </p:nvSpPr>
        <p:spPr>
          <a:xfrm>
            <a:off x="9312789" y="264261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長期安定性を確認（455日）</a:t>
            </a:r>
          </a:p>
        </p:txBody>
      </p:sp>
      <p:sp>
        <p:nvSpPr>
          <p:cNvPr id="29" name="Rectangle 28"/>
          <p:cNvSpPr/>
          <p:nvPr/>
        </p:nvSpPr>
        <p:spPr>
          <a:xfrm>
            <a:off x="365760" y="314553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3145536"/>
            <a:ext cx="3554979"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AquaGel-K（市販対照）</a:t>
            </a:r>
          </a:p>
        </p:txBody>
      </p:sp>
      <p:sp>
        <p:nvSpPr>
          <p:cNvPr id="31" name="TextBox 30"/>
          <p:cNvSpPr txBox="1"/>
          <p:nvPr/>
        </p:nvSpPr>
        <p:spPr>
          <a:xfrm>
            <a:off x="4103619"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2" name="TextBox 31"/>
          <p:cNvSpPr txBox="1"/>
          <p:nvPr/>
        </p:nvSpPr>
        <p:spPr>
          <a:xfrm>
            <a:off x="6708204"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3" name="TextBox 32"/>
          <p:cNvSpPr txBox="1"/>
          <p:nvPr/>
        </p:nvSpPr>
        <p:spPr>
          <a:xfrm>
            <a:off x="9312789" y="3145536"/>
            <a:ext cx="2513145" cy="502920"/>
          </a:xfrm>
          <a:prstGeom prst="rect">
            <a:avLst/>
          </a:prstGeom>
          <a:noFill/>
        </p:spPr>
        <p:txBody>
          <a:bodyPr wrap="square" anchor="ctr" lIns="36000" rIns="36000" tIns="18000" bIns="18000">
            <a:spAutoFit/>
          </a:bodyPr>
          <a:lstStyle/>
          <a:p>
            <a:pPr algn="l"/>
            <a:r>
              <a:rPr sz="1100" b="0" i="0">
                <a:solidFill>
                  <a:srgbClr val="64748B"/>
                </a:solidFill>
                <a:latin typeface="Noto Sans JP"/>
              </a:rPr>
              <a:t>比較対照</a:t>
            </a:r>
          </a:p>
        </p:txBody>
      </p:sp>
      <p:sp>
        <p:nvSpPr>
          <p:cNvPr id="34" name="Rounded Rectangle 33"/>
          <p:cNvSpPr/>
          <p:nvPr/>
        </p:nvSpPr>
        <p:spPr>
          <a:xfrm>
            <a:off x="365760"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30352"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動的降伏応力（HB fit）</a:t>
            </a:r>
          </a:p>
        </p:txBody>
      </p:sp>
      <p:sp>
        <p:nvSpPr>
          <p:cNvPr id="36" name="TextBox 35"/>
          <p:cNvSpPr txBox="1"/>
          <p:nvPr/>
        </p:nvSpPr>
        <p:spPr>
          <a:xfrm>
            <a:off x="530352"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定常フロースイープを HB モデルにフィットして測定。HEC+MC/CSPは33.34 Pa、MHEC/CSPは3.31 Pa（Day 1）</a:t>
            </a:r>
          </a:p>
        </p:txBody>
      </p:sp>
      <p:sp>
        <p:nvSpPr>
          <p:cNvPr id="37" name="Rounded Rectangle 36"/>
          <p:cNvSpPr/>
          <p:nvPr/>
        </p:nvSpPr>
        <p:spPr>
          <a:xfrm>
            <a:off x="4231538"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396130"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長期安定性</a:t>
            </a:r>
          </a:p>
        </p:txBody>
      </p:sp>
      <p:sp>
        <p:nvSpPr>
          <p:cNvPr id="39" name="TextBox 38"/>
          <p:cNvSpPr txBox="1"/>
          <p:nvPr/>
        </p:nvSpPr>
        <p:spPr>
          <a:xfrm>
            <a:off x="4396130"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MHEC/CSPは455日経時後も3.31→4.56 Paとわずかな変化のみ。実用配合の長期安定性を実証</a:t>
            </a:r>
          </a:p>
        </p:txBody>
      </p:sp>
      <p:sp>
        <p:nvSpPr>
          <p:cNvPr id="40" name="Rounded Rectangle 39"/>
          <p:cNvSpPr/>
          <p:nvPr/>
        </p:nvSpPr>
        <p:spPr>
          <a:xfrm>
            <a:off x="8097316"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61908"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HEC+MC vs MHEC</a:t>
            </a:r>
          </a:p>
        </p:txBody>
      </p:sp>
      <p:sp>
        <p:nvSpPr>
          <p:cNvPr id="42" name="TextBox 41"/>
          <p:cNvSpPr txBox="1"/>
          <p:nvPr/>
        </p:nvSpPr>
        <p:spPr>
          <a:xfrm>
            <a:off x="8261908"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HEC+MC系は経時で剛性化（33.34→68.9 Pa）。MHEC系は変化が穏やかで単一ポリマーにより製造も簡便</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4/15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レオロジー④：貯蔵弾性率 G' と粘弾性（tan δ）</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22 / 43</a:t>
            </a:r>
          </a:p>
        </p:txBody>
      </p:sp>
      <p:sp>
        <p:nvSpPr>
          <p:cNvPr id="10" name="TextBox 9"/>
          <p:cNvSpPr txBox="1"/>
          <p:nvPr/>
        </p:nvSpPr>
        <p:spPr>
          <a:xfrm>
            <a:off x="365760"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G' 貯蔵弾性率（1 rad/s）</a:t>
            </a:r>
          </a:p>
        </p:txBody>
      </p:sp>
      <p:sp>
        <p:nvSpPr>
          <p:cNvPr id="11" name="TextBox 10"/>
          <p:cNvSpPr txBox="1"/>
          <p:nvPr/>
        </p:nvSpPr>
        <p:spPr>
          <a:xfrm>
            <a:off x="365760"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12" name="Rounded Rectangle 11"/>
          <p:cNvSpPr/>
          <p:nvPr/>
        </p:nvSpPr>
        <p:spPr>
          <a:xfrm>
            <a:off x="2286000"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286000" y="1344168"/>
            <a:ext cx="34669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44287"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25.6 Pa</a:t>
            </a:r>
          </a:p>
        </p:txBody>
      </p:sp>
      <p:sp>
        <p:nvSpPr>
          <p:cNvPr id="15" name="TextBox 14"/>
          <p:cNvSpPr txBox="1"/>
          <p:nvPr/>
        </p:nvSpPr>
        <p:spPr>
          <a:xfrm>
            <a:off x="365760"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16" name="Rounded Rectangle 15"/>
          <p:cNvSpPr/>
          <p:nvPr/>
        </p:nvSpPr>
        <p:spPr>
          <a:xfrm>
            <a:off x="2286000"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86000" y="1801368"/>
            <a:ext cx="666711"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44287"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46.4 Pa</a:t>
            </a:r>
          </a:p>
        </p:txBody>
      </p:sp>
      <p:sp>
        <p:nvSpPr>
          <p:cNvPr id="19" name="TextBox 18"/>
          <p:cNvSpPr txBox="1"/>
          <p:nvPr/>
        </p:nvSpPr>
        <p:spPr>
          <a:xfrm>
            <a:off x="365760"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0" name="Rounded Rectangle 19"/>
          <p:cNvSpPr/>
          <p:nvPr/>
        </p:nvSpPr>
        <p:spPr>
          <a:xfrm>
            <a:off x="2286000"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286000" y="2258568"/>
            <a:ext cx="253350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4287"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456.8 Pa</a:t>
            </a:r>
          </a:p>
        </p:txBody>
      </p:sp>
      <p:sp>
        <p:nvSpPr>
          <p:cNvPr id="23" name="Rounded Rectangle 22"/>
          <p:cNvSpPr/>
          <p:nvPr/>
        </p:nvSpPr>
        <p:spPr>
          <a:xfrm>
            <a:off x="365760" y="2779776"/>
            <a:ext cx="5592927"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5760" y="277977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277977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6" name="TextBox 25"/>
          <p:cNvSpPr txBox="1"/>
          <p:nvPr/>
        </p:nvSpPr>
        <p:spPr>
          <a:xfrm>
            <a:off x="960120" y="2779776"/>
            <a:ext cx="4907127"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全系でG'&gt;G''（ゲル挙動）。AquaGel-KのG'が最高だがtan δ も大きく流動的</a:t>
            </a:r>
          </a:p>
        </p:txBody>
      </p:sp>
      <p:sp>
        <p:nvSpPr>
          <p:cNvPr id="27" name="TextBox 26"/>
          <p:cNvSpPr txBox="1"/>
          <p:nvPr/>
        </p:nvSpPr>
        <p:spPr>
          <a:xfrm>
            <a:off x="6233007"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損失正接 tan δ = G'' / G'（弾性支配 = &lt;1）</a:t>
            </a:r>
          </a:p>
        </p:txBody>
      </p:sp>
      <p:sp>
        <p:nvSpPr>
          <p:cNvPr id="28" name="TextBox 27"/>
          <p:cNvSpPr txBox="1"/>
          <p:nvPr/>
        </p:nvSpPr>
        <p:spPr>
          <a:xfrm>
            <a:off x="6233007"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9" name="Rounded Rectangle 28"/>
          <p:cNvSpPr/>
          <p:nvPr/>
        </p:nvSpPr>
        <p:spPr>
          <a:xfrm>
            <a:off x="8153247"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153247" y="1344168"/>
            <a:ext cx="112007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911535"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0.168</a:t>
            </a:r>
          </a:p>
        </p:txBody>
      </p:sp>
      <p:sp>
        <p:nvSpPr>
          <p:cNvPr id="32" name="TextBox 31"/>
          <p:cNvSpPr txBox="1"/>
          <p:nvPr/>
        </p:nvSpPr>
        <p:spPr>
          <a:xfrm>
            <a:off x="6233007"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33" name="Rounded Rectangle 32"/>
          <p:cNvSpPr/>
          <p:nvPr/>
        </p:nvSpPr>
        <p:spPr>
          <a:xfrm>
            <a:off x="8153247"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153247" y="1801368"/>
            <a:ext cx="1466766"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911535"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0.219</a:t>
            </a:r>
          </a:p>
        </p:txBody>
      </p:sp>
      <p:sp>
        <p:nvSpPr>
          <p:cNvPr id="36" name="TextBox 35"/>
          <p:cNvSpPr txBox="1"/>
          <p:nvPr/>
        </p:nvSpPr>
        <p:spPr>
          <a:xfrm>
            <a:off x="6233007"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37" name="Rounded Rectangle 36"/>
          <p:cNvSpPr/>
          <p:nvPr/>
        </p:nvSpPr>
        <p:spPr>
          <a:xfrm>
            <a:off x="8153247"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8153247" y="2258568"/>
            <a:ext cx="2666847"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11535"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0.400</a:t>
            </a:r>
          </a:p>
        </p:txBody>
      </p:sp>
      <p:sp>
        <p:nvSpPr>
          <p:cNvPr id="40" name="Rounded Rectangle 39"/>
          <p:cNvSpPr/>
          <p:nvPr/>
        </p:nvSpPr>
        <p:spPr>
          <a:xfrm>
            <a:off x="6233007" y="2779776"/>
            <a:ext cx="5592927"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33007" y="27797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15887" y="27797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43" name="TextBox 42"/>
          <p:cNvSpPr txBox="1"/>
          <p:nvPr/>
        </p:nvSpPr>
        <p:spPr>
          <a:xfrm>
            <a:off x="6827367" y="2779776"/>
            <a:ext cx="4907127"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全系でtan δ &lt; 1 → ゲル挙動。AquaGel-K が最も弾性的（0.168）。MHEC系は流動性が高め（0.400）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5/15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自己修復性：Step-strain による G' / G'' 即時回復</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23 / 43</a:t>
            </a:r>
          </a:p>
        </p:txBody>
      </p:sp>
      <p:sp>
        <p:nvSpPr>
          <p:cNvPr id="10" name="TextBox 9"/>
          <p:cNvSpPr txBox="1"/>
          <p:nvPr/>
        </p:nvSpPr>
        <p:spPr>
          <a:xfrm>
            <a:off x="365760"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Step-strain プロトコル（ω = 1 rad/s）</a:t>
            </a:r>
          </a:p>
        </p:txBody>
      </p:sp>
      <p:sp>
        <p:nvSpPr>
          <p:cNvPr id="11" name="Rounded Rectangle 10"/>
          <p:cNvSpPr/>
          <p:nvPr/>
        </p:nvSpPr>
        <p:spPr>
          <a:xfrm>
            <a:off x="365760" y="1316736"/>
            <a:ext cx="5592927" cy="960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316736"/>
            <a:ext cx="45720" cy="96012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1389888"/>
            <a:ext cx="731520" cy="256032"/>
          </a:xfrm>
          <a:prstGeom prst="rect">
            <a:avLst/>
          </a:prstGeom>
          <a:noFill/>
        </p:spPr>
        <p:txBody>
          <a:bodyPr wrap="square" anchor="t" lIns="36000" rIns="36000" tIns="18000" bIns="18000">
            <a:spAutoFit/>
          </a:bodyPr>
          <a:lstStyle/>
          <a:p>
            <a:pPr algn="l"/>
            <a:r>
              <a:rPr sz="1000" b="1" i="0">
                <a:solidFill>
                  <a:srgbClr val="4A7C8C"/>
                </a:solidFill>
                <a:latin typeface="Noto Sans JP"/>
              </a:rPr>
              <a:t>Step 1</a:t>
            </a:r>
          </a:p>
        </p:txBody>
      </p:sp>
      <p:sp>
        <p:nvSpPr>
          <p:cNvPr id="14" name="TextBox 13"/>
          <p:cNvSpPr txBox="1"/>
          <p:nvPr/>
        </p:nvSpPr>
        <p:spPr>
          <a:xfrm>
            <a:off x="1280160" y="1389888"/>
            <a:ext cx="4587087" cy="256032"/>
          </a:xfrm>
          <a:prstGeom prst="rect">
            <a:avLst/>
          </a:prstGeom>
          <a:noFill/>
        </p:spPr>
        <p:txBody>
          <a:bodyPr wrap="square" anchor="t" lIns="36000" rIns="36000" tIns="18000" bIns="18000">
            <a:spAutoFit/>
          </a:bodyPr>
          <a:lstStyle/>
          <a:p>
            <a:pPr algn="l"/>
            <a:r>
              <a:rPr sz="1200" b="1" i="0">
                <a:solidFill>
                  <a:srgbClr val="1E293B"/>
                </a:solidFill>
                <a:latin typeface="Noto Sans JP"/>
              </a:rPr>
              <a:t>低歪み（γ = 1%）</a:t>
            </a:r>
          </a:p>
        </p:txBody>
      </p:sp>
      <p:sp>
        <p:nvSpPr>
          <p:cNvPr id="15" name="TextBox 14"/>
          <p:cNvSpPr txBox="1"/>
          <p:nvPr/>
        </p:nvSpPr>
        <p:spPr>
          <a:xfrm>
            <a:off x="530352" y="1682496"/>
            <a:ext cx="5336895" cy="548640"/>
          </a:xfrm>
          <a:prstGeom prst="rect">
            <a:avLst/>
          </a:prstGeom>
          <a:noFill/>
        </p:spPr>
        <p:txBody>
          <a:bodyPr wrap="square" anchor="t" lIns="36000" rIns="36000" tIns="18000" bIns="18000">
            <a:spAutoFit/>
          </a:bodyPr>
          <a:lstStyle/>
          <a:p>
            <a:pPr algn="l"/>
            <a:r>
              <a:rPr sz="1050" b="0" i="0">
                <a:solidFill>
                  <a:srgbClr val="334155"/>
                </a:solidFill>
                <a:latin typeface="Noto Sans JP"/>
              </a:rPr>
              <a:t>ネットワーク構造を保持</a:t>
            </a:r>
          </a:p>
          <a:p>
            <a:pPr algn="l"/>
            <a:r>
              <a:rPr sz="1050" b="0" i="0">
                <a:solidFill>
                  <a:srgbClr val="334155"/>
                </a:solidFill>
                <a:latin typeface="Noto Sans JP"/>
              </a:rPr>
              <a:t>G' &gt; G''（ゲル状態）</a:t>
            </a:r>
          </a:p>
        </p:txBody>
      </p:sp>
      <p:sp>
        <p:nvSpPr>
          <p:cNvPr id="16" name="Rounded Rectangle 15"/>
          <p:cNvSpPr/>
          <p:nvPr/>
        </p:nvSpPr>
        <p:spPr>
          <a:xfrm>
            <a:off x="365760" y="2368296"/>
            <a:ext cx="5592927" cy="960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5760" y="2368296"/>
            <a:ext cx="45720" cy="96012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0352" y="2441448"/>
            <a:ext cx="731520" cy="256032"/>
          </a:xfrm>
          <a:prstGeom prst="rect">
            <a:avLst/>
          </a:prstGeom>
          <a:noFill/>
        </p:spPr>
        <p:txBody>
          <a:bodyPr wrap="square" anchor="t" lIns="36000" rIns="36000" tIns="18000" bIns="18000">
            <a:spAutoFit/>
          </a:bodyPr>
          <a:lstStyle/>
          <a:p>
            <a:pPr algn="l"/>
            <a:r>
              <a:rPr sz="1000" b="1" i="0">
                <a:solidFill>
                  <a:srgbClr val="9F7639"/>
                </a:solidFill>
                <a:latin typeface="Noto Sans JP"/>
              </a:rPr>
              <a:t>Step 2</a:t>
            </a:r>
          </a:p>
        </p:txBody>
      </p:sp>
      <p:sp>
        <p:nvSpPr>
          <p:cNvPr id="19" name="TextBox 18"/>
          <p:cNvSpPr txBox="1"/>
          <p:nvPr/>
        </p:nvSpPr>
        <p:spPr>
          <a:xfrm>
            <a:off x="1280160" y="2441448"/>
            <a:ext cx="4587087" cy="256032"/>
          </a:xfrm>
          <a:prstGeom prst="rect">
            <a:avLst/>
          </a:prstGeom>
          <a:noFill/>
        </p:spPr>
        <p:txBody>
          <a:bodyPr wrap="square" anchor="t" lIns="36000" rIns="36000" tIns="18000" bIns="18000">
            <a:spAutoFit/>
          </a:bodyPr>
          <a:lstStyle/>
          <a:p>
            <a:pPr algn="l"/>
            <a:r>
              <a:rPr sz="1200" b="1" i="0">
                <a:solidFill>
                  <a:srgbClr val="1E293B"/>
                </a:solidFill>
                <a:latin typeface="Noto Sans JP"/>
              </a:rPr>
              <a:t>高歪み（γ = 500%）</a:t>
            </a:r>
          </a:p>
        </p:txBody>
      </p:sp>
      <p:sp>
        <p:nvSpPr>
          <p:cNvPr id="20" name="TextBox 19"/>
          <p:cNvSpPr txBox="1"/>
          <p:nvPr/>
        </p:nvSpPr>
        <p:spPr>
          <a:xfrm>
            <a:off x="530352" y="2734056"/>
            <a:ext cx="5336895" cy="548640"/>
          </a:xfrm>
          <a:prstGeom prst="rect">
            <a:avLst/>
          </a:prstGeom>
          <a:noFill/>
        </p:spPr>
        <p:txBody>
          <a:bodyPr wrap="square" anchor="t" lIns="36000" rIns="36000" tIns="18000" bIns="18000">
            <a:spAutoFit/>
          </a:bodyPr>
          <a:lstStyle/>
          <a:p>
            <a:pPr algn="l"/>
            <a:r>
              <a:rPr sz="1050" b="0" i="0">
                <a:solidFill>
                  <a:srgbClr val="334155"/>
                </a:solidFill>
                <a:latin typeface="Noto Sans JP"/>
              </a:rPr>
              <a:t>ネットワーク破壊</a:t>
            </a:r>
          </a:p>
          <a:p>
            <a:pPr algn="l"/>
            <a:r>
              <a:rPr sz="1050" b="0" i="0">
                <a:solidFill>
                  <a:srgbClr val="334155"/>
                </a:solidFill>
                <a:latin typeface="Noto Sans JP"/>
              </a:rPr>
              <a:t>G' &lt; G''（液体状態）</a:t>
            </a:r>
          </a:p>
        </p:txBody>
      </p:sp>
      <p:sp>
        <p:nvSpPr>
          <p:cNvPr id="21" name="Rounded Rectangle 20"/>
          <p:cNvSpPr/>
          <p:nvPr/>
        </p:nvSpPr>
        <p:spPr>
          <a:xfrm>
            <a:off x="365760" y="3419856"/>
            <a:ext cx="5592927" cy="960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5760" y="3419856"/>
            <a:ext cx="45720" cy="9601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0352" y="3493008"/>
            <a:ext cx="731520" cy="256032"/>
          </a:xfrm>
          <a:prstGeom prst="rect">
            <a:avLst/>
          </a:prstGeom>
          <a:noFill/>
        </p:spPr>
        <p:txBody>
          <a:bodyPr wrap="square" anchor="t" lIns="36000" rIns="36000" tIns="18000" bIns="18000">
            <a:spAutoFit/>
          </a:bodyPr>
          <a:lstStyle/>
          <a:p>
            <a:pPr algn="l"/>
            <a:r>
              <a:rPr sz="1000" b="1" i="0">
                <a:solidFill>
                  <a:srgbClr val="3B5174"/>
                </a:solidFill>
                <a:latin typeface="Noto Sans JP"/>
              </a:rPr>
              <a:t>Step 3</a:t>
            </a:r>
          </a:p>
        </p:txBody>
      </p:sp>
      <p:sp>
        <p:nvSpPr>
          <p:cNvPr id="24" name="TextBox 23"/>
          <p:cNvSpPr txBox="1"/>
          <p:nvPr/>
        </p:nvSpPr>
        <p:spPr>
          <a:xfrm>
            <a:off x="1280160" y="3493008"/>
            <a:ext cx="4587087" cy="256032"/>
          </a:xfrm>
          <a:prstGeom prst="rect">
            <a:avLst/>
          </a:prstGeom>
          <a:noFill/>
        </p:spPr>
        <p:txBody>
          <a:bodyPr wrap="square" anchor="t" lIns="36000" rIns="36000" tIns="18000" bIns="18000">
            <a:spAutoFit/>
          </a:bodyPr>
          <a:lstStyle/>
          <a:p>
            <a:pPr algn="l"/>
            <a:r>
              <a:rPr sz="1200" b="1" i="0">
                <a:solidFill>
                  <a:srgbClr val="1E293B"/>
                </a:solidFill>
                <a:latin typeface="Noto Sans JP"/>
              </a:rPr>
              <a:t>低歪みへ復帰（γ = 1%）</a:t>
            </a:r>
          </a:p>
        </p:txBody>
      </p:sp>
      <p:sp>
        <p:nvSpPr>
          <p:cNvPr id="25" name="TextBox 24"/>
          <p:cNvSpPr txBox="1"/>
          <p:nvPr/>
        </p:nvSpPr>
        <p:spPr>
          <a:xfrm>
            <a:off x="530352" y="3785616"/>
            <a:ext cx="5336895" cy="548640"/>
          </a:xfrm>
          <a:prstGeom prst="rect">
            <a:avLst/>
          </a:prstGeom>
          <a:noFill/>
        </p:spPr>
        <p:txBody>
          <a:bodyPr wrap="square" anchor="t" lIns="36000" rIns="36000" tIns="18000" bIns="18000">
            <a:spAutoFit/>
          </a:bodyPr>
          <a:lstStyle/>
          <a:p>
            <a:pPr algn="l"/>
            <a:r>
              <a:rPr sz="1050" b="0" i="0">
                <a:solidFill>
                  <a:srgbClr val="334155"/>
                </a:solidFill>
                <a:latin typeface="Noto Sans JP"/>
              </a:rPr>
              <a:t>粒子-高分子相互作用が再形成</a:t>
            </a:r>
          </a:p>
          <a:p>
            <a:pPr algn="l"/>
            <a:r>
              <a:rPr sz="1050" b="0" i="0">
                <a:solidFill>
                  <a:srgbClr val="334155"/>
                </a:solidFill>
                <a:latin typeface="Noto Sans JP"/>
              </a:rPr>
              <a:t>G' が即時回復</a:t>
            </a:r>
          </a:p>
        </p:txBody>
      </p:sp>
      <p:sp>
        <p:nvSpPr>
          <p:cNvPr id="26" name="TextBox 25"/>
          <p:cNvSpPr txBox="1"/>
          <p:nvPr/>
        </p:nvSpPr>
        <p:spPr>
          <a:xfrm>
            <a:off x="6233007"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G' / G'' の時系列変化（cyclic step-strain）</a:t>
            </a:r>
          </a:p>
        </p:txBody>
      </p:sp>
      <p:sp>
        <p:nvSpPr>
          <p:cNvPr id="27" name="Rounded Rectangle 26"/>
          <p:cNvSpPr/>
          <p:nvPr/>
        </p:nvSpPr>
        <p:spPr>
          <a:xfrm>
            <a:off x="6233007" y="1271016"/>
            <a:ext cx="5592927" cy="31089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42735" y="138074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2735" y="138074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SI（step-strain）</a:t>
            </a:r>
          </a:p>
        </p:txBody>
      </p:sp>
      <p:sp>
        <p:nvSpPr>
          <p:cNvPr id="30" name="TextBox 29"/>
          <p:cNvSpPr txBox="1"/>
          <p:nvPr/>
        </p:nvSpPr>
        <p:spPr>
          <a:xfrm>
            <a:off x="6233007" y="1271016"/>
            <a:ext cx="5592927" cy="31089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6233007" y="4416552"/>
            <a:ext cx="559292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γ=1%→500%→1% サイクルで G' が即時回復</a:t>
            </a:r>
          </a:p>
        </p:txBody>
      </p:sp>
      <p:sp>
        <p:nvSpPr>
          <p:cNvPr id="32" name="Rounded Rectangle 31"/>
          <p:cNvSpPr/>
          <p:nvPr/>
        </p:nvSpPr>
        <p:spPr>
          <a:xfrm>
            <a:off x="6233007" y="4562856"/>
            <a:ext cx="5592927" cy="1005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3007" y="4562856"/>
            <a:ext cx="45720" cy="10058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97599" y="4654296"/>
            <a:ext cx="5336895"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POINT：噴霧後の即時付着を保証</a:t>
            </a:r>
          </a:p>
        </p:txBody>
      </p:sp>
      <p:sp>
        <p:nvSpPr>
          <p:cNvPr id="35" name="TextBox 34"/>
          <p:cNvSpPr txBox="1"/>
          <p:nvPr/>
        </p:nvSpPr>
        <p:spPr>
          <a:xfrm>
            <a:off x="6397599" y="4946904"/>
            <a:ext cx="5336895" cy="566928"/>
          </a:xfrm>
          <a:prstGeom prst="rect">
            <a:avLst/>
          </a:prstGeom>
          <a:noFill/>
        </p:spPr>
        <p:txBody>
          <a:bodyPr wrap="square" anchor="t" lIns="36000" rIns="36000" tIns="18000" bIns="18000">
            <a:spAutoFit/>
          </a:bodyPr>
          <a:lstStyle/>
          <a:p>
            <a:pPr algn="l"/>
            <a:r>
              <a:rPr sz="1050" b="0" i="0">
                <a:solidFill>
                  <a:srgbClr val="334155"/>
                </a:solidFill>
                <a:latin typeface="Noto Sans JP"/>
              </a:rPr>
              <a:t>ノズル通過時の高せん断で粘度低下 → 基材到達後に G' を即時回復</a:t>
            </a:r>
          </a:p>
          <a:p>
            <a:pPr algn="l"/>
            <a:r>
              <a:rPr sz="1050" b="0" i="0">
                <a:solidFill>
                  <a:srgbClr val="334155"/>
                </a:solidFill>
                <a:latin typeface="Noto Sans JP"/>
              </a:rPr>
              <a:t>→ 垂直面でも流れ落ちず付着保持（自己修復性が実装可能性の鍵）</a:t>
            </a:r>
          </a:p>
        </p:txBody>
      </p:sp>
      <p:sp>
        <p:nvSpPr>
          <p:cNvPr id="36" name="Rounded Rectangle 35"/>
          <p:cNvSpPr/>
          <p:nvPr/>
        </p:nvSpPr>
        <p:spPr>
          <a:xfrm>
            <a:off x="365760" y="6108192"/>
            <a:ext cx="11460175" cy="5486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5760" y="6108192"/>
            <a:ext cx="54864" cy="5486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6108192"/>
            <a:ext cx="365760" cy="5486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960120" y="6108192"/>
            <a:ext cx="10774375" cy="548640"/>
          </a:xfrm>
          <a:prstGeom prst="rect">
            <a:avLst/>
          </a:prstGeom>
          <a:noFill/>
        </p:spPr>
        <p:txBody>
          <a:bodyPr wrap="square" anchor="ctr" lIns="36000" rIns="36000" tIns="18000" bIns="18000">
            <a:spAutoFit/>
          </a:bodyPr>
          <a:lstStyle/>
          <a:p>
            <a:pPr algn="l"/>
            <a:r>
              <a:rPr sz="1300" b="1" i="0">
                <a:solidFill>
                  <a:srgbClr val="1E293B"/>
                </a:solidFill>
                <a:latin typeface="Noto Sans JP"/>
              </a:rPr>
              <a:t>非共有結合（水素結合・多価相互作用）による可逆ネットワーク → 自己修復性を実証</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6/15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HEC+MC vs MHEC：二系統の比較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24 / 43</a:t>
            </a:r>
          </a:p>
        </p:txBody>
      </p:sp>
      <p:sp>
        <p:nvSpPr>
          <p:cNvPr id="10" name="Rounded Rectangle 9"/>
          <p:cNvSpPr/>
          <p:nvPr/>
        </p:nvSpPr>
        <p:spPr>
          <a:xfrm>
            <a:off x="365760"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HEC + MC 混合系</a:t>
            </a:r>
          </a:p>
        </p:txBody>
      </p:sp>
      <p:sp>
        <p:nvSpPr>
          <p:cNvPr id="13" name="TextBox 12"/>
          <p:cNvSpPr txBox="1"/>
          <p:nvPr/>
        </p:nvSpPr>
        <p:spPr>
          <a:xfrm>
            <a:off x="548640"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HEC（非熱ゲル化） + MC（熱ゲル化・LCST）</a:t>
            </a:r>
          </a:p>
        </p:txBody>
      </p:sp>
      <p:sp>
        <p:nvSpPr>
          <p:cNvPr id="14" name="TextBox 13"/>
          <p:cNvSpPr txBox="1"/>
          <p:nvPr/>
        </p:nvSpPr>
        <p:spPr>
          <a:xfrm>
            <a:off x="640080"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5" name="TextBox 14"/>
          <p:cNvSpPr txBox="1"/>
          <p:nvPr/>
        </p:nvSpPr>
        <p:spPr>
          <a:xfrm>
            <a:off x="868680"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HECで常温粘度・付着性を確保</a:t>
            </a:r>
          </a:p>
        </p:txBody>
      </p:sp>
      <p:sp>
        <p:nvSpPr>
          <p:cNvPr id="16" name="TextBox 15"/>
          <p:cNvSpPr txBox="1"/>
          <p:nvPr/>
        </p:nvSpPr>
        <p:spPr>
          <a:xfrm>
            <a:off x="640080"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7" name="TextBox 16"/>
          <p:cNvSpPr txBox="1"/>
          <p:nvPr/>
        </p:nvSpPr>
        <p:spPr>
          <a:xfrm>
            <a:off x="868680"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MCで加熱時の構造維持を担当</a:t>
            </a:r>
          </a:p>
        </p:txBody>
      </p:sp>
      <p:sp>
        <p:nvSpPr>
          <p:cNvPr id="18" name="TextBox 17"/>
          <p:cNvSpPr txBox="1"/>
          <p:nvPr/>
        </p:nvSpPr>
        <p:spPr>
          <a:xfrm>
            <a:off x="640080"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9" name="TextBox 18"/>
          <p:cNvSpPr txBox="1"/>
          <p:nvPr/>
        </p:nvSpPr>
        <p:spPr>
          <a:xfrm>
            <a:off x="868680"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せん断希薄化（高せん断で低粘度）</a:t>
            </a:r>
          </a:p>
        </p:txBody>
      </p:sp>
      <p:sp>
        <p:nvSpPr>
          <p:cNvPr id="20" name="TextBox 19"/>
          <p:cNvSpPr txBox="1"/>
          <p:nvPr/>
        </p:nvSpPr>
        <p:spPr>
          <a:xfrm>
            <a:off x="640080"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1" name="TextBox 20"/>
          <p:cNvSpPr txBox="1"/>
          <p:nvPr/>
        </p:nvSpPr>
        <p:spPr>
          <a:xfrm>
            <a:off x="868680"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7 min</a:t>
            </a:r>
          </a:p>
        </p:txBody>
      </p:sp>
      <p:sp>
        <p:nvSpPr>
          <p:cNvPr id="22" name="TextBox 21"/>
          <p:cNvSpPr txBox="1"/>
          <p:nvPr/>
        </p:nvSpPr>
        <p:spPr>
          <a:xfrm>
            <a:off x="640080"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3" name="TextBox 22"/>
          <p:cNvSpPr txBox="1"/>
          <p:nvPr/>
        </p:nvSpPr>
        <p:spPr>
          <a:xfrm>
            <a:off x="868680"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Foaming Index 最大≈2.6（SDS無し）</a:t>
            </a:r>
          </a:p>
        </p:txBody>
      </p:sp>
      <p:sp>
        <p:nvSpPr>
          <p:cNvPr id="24" name="Rounded Rectangle 23"/>
          <p:cNvSpPr/>
          <p:nvPr/>
        </p:nvSpPr>
        <p:spPr>
          <a:xfrm>
            <a:off x="548640"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SDSとの相性も良く、発泡構造の最適化に優れる</a:t>
            </a:r>
          </a:p>
        </p:txBody>
      </p:sp>
      <p:sp>
        <p:nvSpPr>
          <p:cNvPr id="26" name="Rounded Rectangle 25"/>
          <p:cNvSpPr/>
          <p:nvPr/>
        </p:nvSpPr>
        <p:spPr>
          <a:xfrm>
            <a:off x="6187287"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87287"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70167"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MHEC 単独系</a:t>
            </a:r>
          </a:p>
        </p:txBody>
      </p:sp>
      <p:sp>
        <p:nvSpPr>
          <p:cNvPr id="29" name="TextBox 28"/>
          <p:cNvSpPr txBox="1"/>
          <p:nvPr/>
        </p:nvSpPr>
        <p:spPr>
          <a:xfrm>
            <a:off x="6370167"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MHEC（HEC+MCの機能を一分子に統合）</a:t>
            </a:r>
          </a:p>
        </p:txBody>
      </p:sp>
      <p:sp>
        <p:nvSpPr>
          <p:cNvPr id="30" name="TextBox 29"/>
          <p:cNvSpPr txBox="1"/>
          <p:nvPr/>
        </p:nvSpPr>
        <p:spPr>
          <a:xfrm>
            <a:off x="6461607"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1" name="TextBox 30"/>
          <p:cNvSpPr txBox="1"/>
          <p:nvPr/>
        </p:nvSpPr>
        <p:spPr>
          <a:xfrm>
            <a:off x="6690207"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ヒドロキシエチル基とメチル基を同一鎖上に有する</a:t>
            </a:r>
          </a:p>
        </p:txBody>
      </p:sp>
      <p:sp>
        <p:nvSpPr>
          <p:cNvPr id="32" name="TextBox 31"/>
          <p:cNvSpPr txBox="1"/>
          <p:nvPr/>
        </p:nvSpPr>
        <p:spPr>
          <a:xfrm>
            <a:off x="6461607"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3" name="TextBox 32"/>
          <p:cNvSpPr txBox="1"/>
          <p:nvPr/>
        </p:nvSpPr>
        <p:spPr>
          <a:xfrm>
            <a:off x="6690207"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単一ポリマーで同等の粘弾性・熱応答を実現</a:t>
            </a:r>
          </a:p>
        </p:txBody>
      </p:sp>
      <p:sp>
        <p:nvSpPr>
          <p:cNvPr id="34" name="TextBox 33"/>
          <p:cNvSpPr txBox="1"/>
          <p:nvPr/>
        </p:nvSpPr>
        <p:spPr>
          <a:xfrm>
            <a:off x="6461607"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5" name="TextBox 34"/>
          <p:cNvSpPr txBox="1"/>
          <p:nvPr/>
        </p:nvSpPr>
        <p:spPr>
          <a:xfrm>
            <a:off x="6690207"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せん断希薄化挙動</a:t>
            </a:r>
          </a:p>
        </p:txBody>
      </p:sp>
      <p:sp>
        <p:nvSpPr>
          <p:cNvPr id="36" name="TextBox 35"/>
          <p:cNvSpPr txBox="1"/>
          <p:nvPr/>
        </p:nvSpPr>
        <p:spPr>
          <a:xfrm>
            <a:off x="6461607"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7" name="TextBox 36"/>
          <p:cNvSpPr txBox="1"/>
          <p:nvPr/>
        </p:nvSpPr>
        <p:spPr>
          <a:xfrm>
            <a:off x="6690207"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5 min</a:t>
            </a:r>
          </a:p>
        </p:txBody>
      </p:sp>
      <p:sp>
        <p:nvSpPr>
          <p:cNvPr id="38" name="TextBox 37"/>
          <p:cNvSpPr txBox="1"/>
          <p:nvPr/>
        </p:nvSpPr>
        <p:spPr>
          <a:xfrm>
            <a:off x="6461607"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6690207"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配合・品質管理が単純化される利点</a:t>
            </a:r>
          </a:p>
        </p:txBody>
      </p:sp>
      <p:sp>
        <p:nvSpPr>
          <p:cNvPr id="40" name="Rounded Rectangle 39"/>
          <p:cNvSpPr/>
          <p:nvPr/>
        </p:nvSpPr>
        <p:spPr>
          <a:xfrm>
            <a:off x="6370167"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61607"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スケールアップ・製造コスト低減に有利</a:t>
            </a:r>
          </a:p>
        </p:txBody>
      </p:sp>
      <p:sp>
        <p:nvSpPr>
          <p:cNvPr id="42" name="Rounded Rectangle 41"/>
          <p:cNvSpPr/>
          <p:nvPr/>
        </p:nvSpPr>
        <p:spPr>
          <a:xfrm>
            <a:off x="365760" y="5477256"/>
            <a:ext cx="1146017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65760" y="54772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54772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5" name="TextBox 44"/>
          <p:cNvSpPr txBox="1"/>
          <p:nvPr/>
        </p:nvSpPr>
        <p:spPr>
          <a:xfrm>
            <a:off x="960120" y="5477256"/>
            <a:ext cx="1077437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両系統とも市販AquaGel-Kを大幅に上回る性能。HEC+MC系は発泡最適化、MHEC系は製造簡便性に優れる</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7/15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 添加：目的は発泡促進・濡れ性改善だったが…（Fig. 2e–h）</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25 / 43</a:t>
            </a:r>
          </a:p>
        </p:txBody>
      </p:sp>
      <p:sp>
        <p:nvSpPr>
          <p:cNvPr id="10" name="Rounded Rectangle 9"/>
          <p:cNvSpPr/>
          <p:nvPr/>
        </p:nvSpPr>
        <p:spPr>
          <a:xfrm>
            <a:off x="365760" y="859536"/>
            <a:ext cx="5647791" cy="822960"/>
          </a:xfrm>
          <a:prstGeom prst="roundRect">
            <a:avLst>
              <a:gd name="adj" fmla="val 5000"/>
            </a:avLst>
          </a:prstGeom>
          <a:solidFill>
            <a:srgbClr val="F1F5F9"/>
          </a:solidFill>
          <a:ln w="1524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82296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932688"/>
            <a:ext cx="5373471" cy="256032"/>
          </a:xfrm>
          <a:prstGeom prst="rect">
            <a:avLst/>
          </a:prstGeom>
          <a:noFill/>
        </p:spPr>
        <p:txBody>
          <a:bodyPr wrap="square" anchor="t" lIns="36000" rIns="36000" tIns="18000" bIns="18000">
            <a:spAutoFit/>
          </a:bodyPr>
          <a:lstStyle/>
          <a:p>
            <a:pPr algn="l"/>
            <a:r>
              <a:rPr sz="1200" b="1" i="0">
                <a:solidFill>
                  <a:srgbClr val="4A7C8C"/>
                </a:solidFill>
                <a:latin typeface="Noto Sans JP"/>
              </a:rPr>
              <a:t>SDS 添加の目的</a:t>
            </a:r>
          </a:p>
        </p:txBody>
      </p:sp>
      <p:sp>
        <p:nvSpPr>
          <p:cNvPr id="13" name="TextBox 12"/>
          <p:cNvSpPr txBox="1"/>
          <p:nvPr/>
        </p:nvSpPr>
        <p:spPr>
          <a:xfrm>
            <a:off x="548640" y="1225296"/>
            <a:ext cx="5373471" cy="411480"/>
          </a:xfrm>
          <a:prstGeom prst="rect">
            <a:avLst/>
          </a:prstGeom>
          <a:noFill/>
        </p:spPr>
        <p:txBody>
          <a:bodyPr wrap="square" anchor="t" lIns="36000" rIns="36000" tIns="18000" bIns="18000">
            <a:spAutoFit/>
          </a:bodyPr>
          <a:lstStyle/>
          <a:p>
            <a:pPr algn="l"/>
            <a:r>
              <a:rPr sz="1100" b="0" i="0">
                <a:solidFill>
                  <a:srgbClr val="334155"/>
                </a:solidFill>
                <a:latin typeface="Noto Sans JP"/>
              </a:rPr>
              <a:t>界面活性剤 SDS（0 / 0.1 / 0.5 wt%）を HEC+MC/CSP に添加し、燃料表面への濡れ性改善と発泡層形成の促進を狙った</a:t>
            </a:r>
          </a:p>
        </p:txBody>
      </p:sp>
      <p:sp>
        <p:nvSpPr>
          <p:cNvPr id="14" name="Rounded Rectangle 13"/>
          <p:cNvSpPr/>
          <p:nvPr/>
        </p:nvSpPr>
        <p:spPr>
          <a:xfrm>
            <a:off x="6178143" y="859536"/>
            <a:ext cx="5647791" cy="822960"/>
          </a:xfrm>
          <a:prstGeom prst="roundRect">
            <a:avLst>
              <a:gd name="adj" fmla="val 5000"/>
            </a:avLst>
          </a:prstGeom>
          <a:solidFill>
            <a:srgbClr val="F1F5F9"/>
          </a:solidFill>
          <a:ln w="1524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78143" y="859536"/>
            <a:ext cx="54864" cy="8229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61023" y="932688"/>
            <a:ext cx="5373471" cy="256032"/>
          </a:xfrm>
          <a:prstGeom prst="rect">
            <a:avLst/>
          </a:prstGeom>
          <a:noFill/>
        </p:spPr>
        <p:txBody>
          <a:bodyPr wrap="square" anchor="t" lIns="36000" rIns="36000" tIns="18000" bIns="18000">
            <a:spAutoFit/>
          </a:bodyPr>
          <a:lstStyle/>
          <a:p>
            <a:pPr algn="l"/>
            <a:r>
              <a:rPr sz="1200" b="1" i="0">
                <a:solidFill>
                  <a:srgbClr val="3B5174"/>
                </a:solidFill>
                <a:latin typeface="Noto Sans JP"/>
              </a:rPr>
              <a:t>期待した効果</a:t>
            </a:r>
          </a:p>
        </p:txBody>
      </p:sp>
      <p:sp>
        <p:nvSpPr>
          <p:cNvPr id="17" name="TextBox 16"/>
          <p:cNvSpPr txBox="1"/>
          <p:nvPr/>
        </p:nvSpPr>
        <p:spPr>
          <a:xfrm>
            <a:off x="6361023" y="1225296"/>
            <a:ext cx="5373471" cy="411480"/>
          </a:xfrm>
          <a:prstGeom prst="rect">
            <a:avLst/>
          </a:prstGeom>
          <a:noFill/>
        </p:spPr>
        <p:txBody>
          <a:bodyPr wrap="square" anchor="t" lIns="36000" rIns="36000" tIns="18000" bIns="18000">
            <a:spAutoFit/>
          </a:bodyPr>
          <a:lstStyle/>
          <a:p>
            <a:pPr algn="l"/>
            <a:r>
              <a:rPr sz="1100" b="0" i="0">
                <a:solidFill>
                  <a:srgbClr val="334155"/>
                </a:solidFill>
                <a:latin typeface="Noto Sans JP"/>
              </a:rPr>
              <a:t>①ゲル粘度を下げてスプレー性を向上　②気泡を安定化して Foaming Index を増大</a:t>
            </a:r>
          </a:p>
        </p:txBody>
      </p:sp>
      <p:sp>
        <p:nvSpPr>
          <p:cNvPr id="18" name="Rounded Rectangle 17"/>
          <p:cNvSpPr/>
          <p:nvPr/>
        </p:nvSpPr>
        <p:spPr>
          <a:xfrm>
            <a:off x="365760" y="1828800"/>
            <a:ext cx="5647791" cy="1874519"/>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75488" y="1938528"/>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488" y="193852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2e</a:t>
            </a:r>
          </a:p>
        </p:txBody>
      </p:sp>
      <p:sp>
        <p:nvSpPr>
          <p:cNvPr id="21" name="TextBox 20"/>
          <p:cNvSpPr txBox="1"/>
          <p:nvPr/>
        </p:nvSpPr>
        <p:spPr>
          <a:xfrm>
            <a:off x="365760" y="1828800"/>
            <a:ext cx="5647791" cy="1874519"/>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2" name="TextBox 21"/>
          <p:cNvSpPr txBox="1"/>
          <p:nvPr/>
        </p:nvSpPr>
        <p:spPr>
          <a:xfrm>
            <a:off x="365760" y="3739895"/>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G' / G'' vs 角周波数（SDS 3濃度）</a:t>
            </a:r>
          </a:p>
        </p:txBody>
      </p:sp>
      <p:sp>
        <p:nvSpPr>
          <p:cNvPr id="23" name="Rounded Rectangle 22"/>
          <p:cNvSpPr/>
          <p:nvPr/>
        </p:nvSpPr>
        <p:spPr>
          <a:xfrm>
            <a:off x="6178143" y="1828800"/>
            <a:ext cx="5647791" cy="1874519"/>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87871" y="1938528"/>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87871" y="193852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2f</a:t>
            </a:r>
          </a:p>
        </p:txBody>
      </p:sp>
      <p:sp>
        <p:nvSpPr>
          <p:cNvPr id="26" name="TextBox 25"/>
          <p:cNvSpPr txBox="1"/>
          <p:nvPr/>
        </p:nvSpPr>
        <p:spPr>
          <a:xfrm>
            <a:off x="6178143" y="1828800"/>
            <a:ext cx="5647791" cy="1874519"/>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7" name="TextBox 26"/>
          <p:cNvSpPr txBox="1"/>
          <p:nvPr/>
        </p:nvSpPr>
        <p:spPr>
          <a:xfrm>
            <a:off x="6178143" y="3739895"/>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G' と tan δ（1 rad/s、濃度別棒グラフ）</a:t>
            </a:r>
          </a:p>
        </p:txBody>
      </p:sp>
      <p:sp>
        <p:nvSpPr>
          <p:cNvPr id="28" name="Rounded Rectangle 27"/>
          <p:cNvSpPr/>
          <p:nvPr/>
        </p:nvSpPr>
        <p:spPr>
          <a:xfrm>
            <a:off x="365760" y="3867911"/>
            <a:ext cx="5647791" cy="1874519"/>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75488" y="3977639"/>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5488" y="3977639"/>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2g</a:t>
            </a:r>
          </a:p>
        </p:txBody>
      </p:sp>
      <p:sp>
        <p:nvSpPr>
          <p:cNvPr id="31" name="TextBox 30"/>
          <p:cNvSpPr txBox="1"/>
          <p:nvPr/>
        </p:nvSpPr>
        <p:spPr>
          <a:xfrm>
            <a:off x="365760" y="3867911"/>
            <a:ext cx="5647791" cy="1874519"/>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2" name="TextBox 31"/>
          <p:cNvSpPr txBox="1"/>
          <p:nvPr/>
        </p:nvSpPr>
        <p:spPr>
          <a:xfrm>
            <a:off x="365760" y="5779006"/>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せん断速度（HB fit）</a:t>
            </a:r>
          </a:p>
        </p:txBody>
      </p:sp>
      <p:sp>
        <p:nvSpPr>
          <p:cNvPr id="33" name="Rounded Rectangle 32"/>
          <p:cNvSpPr/>
          <p:nvPr/>
        </p:nvSpPr>
        <p:spPr>
          <a:xfrm>
            <a:off x="6178143" y="3867911"/>
            <a:ext cx="5647791" cy="1874519"/>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87871" y="3977639"/>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87871" y="3977639"/>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2h</a:t>
            </a:r>
          </a:p>
        </p:txBody>
      </p:sp>
      <p:sp>
        <p:nvSpPr>
          <p:cNvPr id="36" name="TextBox 35"/>
          <p:cNvSpPr txBox="1"/>
          <p:nvPr/>
        </p:nvSpPr>
        <p:spPr>
          <a:xfrm>
            <a:off x="6178143" y="3867911"/>
            <a:ext cx="5647791" cy="1874519"/>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7" name="TextBox 36"/>
          <p:cNvSpPr txBox="1"/>
          <p:nvPr/>
        </p:nvSpPr>
        <p:spPr>
          <a:xfrm>
            <a:off x="6178143" y="5779006"/>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動的降伏応力（SDS 濃度別・0.05 Pa 基準線）</a:t>
            </a:r>
          </a:p>
        </p:txBody>
      </p:sp>
      <p:sp>
        <p:nvSpPr>
          <p:cNvPr id="38" name="Rounded Rectangle 37"/>
          <p:cNvSpPr/>
          <p:nvPr/>
        </p:nvSpPr>
        <p:spPr>
          <a:xfrm>
            <a:off x="365760" y="5888734"/>
            <a:ext cx="5647791" cy="768098"/>
          </a:xfrm>
          <a:prstGeom prst="roundRect">
            <a:avLst>
              <a:gd name="adj" fmla="val 4000"/>
            </a:avLst>
          </a:prstGeom>
          <a:solidFill>
            <a:srgbClr val="F1F5F9"/>
          </a:solidFill>
          <a:ln w="1524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5888734"/>
            <a:ext cx="54864" cy="768098"/>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5943598"/>
            <a:ext cx="5373471" cy="237744"/>
          </a:xfrm>
          <a:prstGeom prst="rect">
            <a:avLst/>
          </a:prstGeom>
          <a:noFill/>
        </p:spPr>
        <p:txBody>
          <a:bodyPr wrap="square" anchor="t" lIns="36000" rIns="36000" tIns="18000" bIns="18000">
            <a:spAutoFit/>
          </a:bodyPr>
          <a:lstStyle/>
          <a:p>
            <a:pPr algn="l"/>
            <a:r>
              <a:rPr sz="1150" b="1" i="0">
                <a:solidFill>
                  <a:srgbClr val="9F7639"/>
                </a:solidFill>
                <a:latin typeface="Noto Sans JP"/>
              </a:rPr>
              <a:t>レオロジー：濃度依存的だが限定的改善</a:t>
            </a:r>
          </a:p>
        </p:txBody>
      </p:sp>
      <p:sp>
        <p:nvSpPr>
          <p:cNvPr id="41" name="TextBox 40"/>
          <p:cNvSpPr txBox="1"/>
          <p:nvPr/>
        </p:nvSpPr>
        <p:spPr>
          <a:xfrm>
            <a:off x="548640" y="6199630"/>
            <a:ext cx="5373471" cy="420626"/>
          </a:xfrm>
          <a:prstGeom prst="rect">
            <a:avLst/>
          </a:prstGeom>
          <a:noFill/>
        </p:spPr>
        <p:txBody>
          <a:bodyPr wrap="square" anchor="t" lIns="36000" rIns="36000" tIns="18000" bIns="18000">
            <a:spAutoFit/>
          </a:bodyPr>
          <a:lstStyle/>
          <a:p>
            <a:pPr algn="l"/>
            <a:r>
              <a:rPr sz="1100" b="0" i="0">
                <a:solidFill>
                  <a:srgbClr val="475569"/>
                </a:solidFill>
                <a:latin typeface="Noto Sans JP"/>
              </a:rPr>
              <a:t>0.1 wt% で G' がわずかに上昇するが、0.5 wt% ではむしろ軟化し降伏応力も低下。付着性・ゲル強度の観点では SDS 添加は全体的にマイナスに働く</a:t>
            </a:r>
          </a:p>
        </p:txBody>
      </p:sp>
      <p:sp>
        <p:nvSpPr>
          <p:cNvPr id="42" name="Rounded Rectangle 41"/>
          <p:cNvSpPr/>
          <p:nvPr/>
        </p:nvSpPr>
        <p:spPr>
          <a:xfrm>
            <a:off x="6178143" y="5888734"/>
            <a:ext cx="5647791" cy="768098"/>
          </a:xfrm>
          <a:prstGeom prst="roundRect">
            <a:avLst>
              <a:gd name="adj" fmla="val 4000"/>
            </a:avLst>
          </a:prstGeom>
          <a:solidFill>
            <a:srgbClr val="F1F5F9"/>
          </a:solidFill>
          <a:ln w="15240">
            <a:solidFill>
              <a:srgbClr val="A056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178143" y="5888734"/>
            <a:ext cx="54864" cy="768098"/>
          </a:xfrm>
          <a:prstGeom prst="rect">
            <a:avLst/>
          </a:prstGeom>
          <a:solidFill>
            <a:srgbClr val="A056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361023" y="5943598"/>
            <a:ext cx="5373471" cy="237744"/>
          </a:xfrm>
          <a:prstGeom prst="rect">
            <a:avLst/>
          </a:prstGeom>
          <a:noFill/>
        </p:spPr>
        <p:txBody>
          <a:bodyPr wrap="square" anchor="t" lIns="36000" rIns="36000" tIns="18000" bIns="18000">
            <a:spAutoFit/>
          </a:bodyPr>
          <a:lstStyle/>
          <a:p>
            <a:pPr algn="l"/>
            <a:r>
              <a:rPr sz="1150" b="1" i="0">
                <a:solidFill>
                  <a:srgbClr val="A05656"/>
                </a:solidFill>
                <a:latin typeface="Noto Sans JP"/>
              </a:rPr>
              <a:t>発泡：期待に反して Foaming Index が低下</a:t>
            </a:r>
          </a:p>
        </p:txBody>
      </p:sp>
      <p:sp>
        <p:nvSpPr>
          <p:cNvPr id="45" name="TextBox 44"/>
          <p:cNvSpPr txBox="1"/>
          <p:nvPr/>
        </p:nvSpPr>
        <p:spPr>
          <a:xfrm>
            <a:off x="6361023" y="6199630"/>
            <a:ext cx="5373471" cy="420626"/>
          </a:xfrm>
          <a:prstGeom prst="rect">
            <a:avLst/>
          </a:prstGeom>
          <a:noFill/>
        </p:spPr>
        <p:txBody>
          <a:bodyPr wrap="square" anchor="t" lIns="36000" rIns="36000" tIns="18000" bIns="18000">
            <a:spAutoFit/>
          </a:bodyPr>
          <a:lstStyle/>
          <a:p>
            <a:pPr algn="l"/>
            <a:r>
              <a:rPr sz="1100" b="0" i="0">
                <a:solidFill>
                  <a:srgbClr val="475569"/>
                </a:solidFill>
                <a:latin typeface="Noto Sans JP"/>
              </a:rPr>
              <a:t>SDS 添加により気泡が粗大化・不均一化し、Foaming Index は低下（Fig. 4 参照）。発泡促進という当初の目的は達成されなかった</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8/15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燃焼試験のセットアップ</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26 / 43</a:t>
            </a:r>
          </a:p>
        </p:txBody>
      </p:sp>
      <p:sp>
        <p:nvSpPr>
          <p:cNvPr id="10" name="Rounded Rectangle 9"/>
          <p:cNvSpPr/>
          <p:nvPr/>
        </p:nvSpPr>
        <p:spPr>
          <a:xfrm>
            <a:off x="365760" y="859536"/>
            <a:ext cx="6211656" cy="4206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3a</a:t>
            </a:r>
          </a:p>
        </p:txBody>
      </p:sp>
      <p:sp>
        <p:nvSpPr>
          <p:cNvPr id="13" name="TextBox 12"/>
          <p:cNvSpPr txBox="1"/>
          <p:nvPr/>
        </p:nvSpPr>
        <p:spPr>
          <a:xfrm>
            <a:off x="365760" y="859536"/>
            <a:ext cx="6211656" cy="4206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102352"/>
            <a:ext cx="62116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燃焼試験の実験セットアップ</a:t>
            </a:r>
          </a:p>
        </p:txBody>
      </p:sp>
      <p:sp>
        <p:nvSpPr>
          <p:cNvPr id="15" name="Rounded Rectangle 14"/>
          <p:cNvSpPr/>
          <p:nvPr/>
        </p:nvSpPr>
        <p:spPr>
          <a:xfrm>
            <a:off x="6760296" y="859536"/>
            <a:ext cx="5065638"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60296" y="859536"/>
            <a:ext cx="506563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3176" y="1024128"/>
            <a:ext cx="469987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EXPERIMENTAL</a:t>
            </a:r>
          </a:p>
        </p:txBody>
      </p:sp>
      <p:sp>
        <p:nvSpPr>
          <p:cNvPr id="18" name="TextBox 17"/>
          <p:cNvSpPr txBox="1"/>
          <p:nvPr/>
        </p:nvSpPr>
        <p:spPr>
          <a:xfrm>
            <a:off x="6943176" y="1261872"/>
            <a:ext cx="4699878"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 試験条件</a:t>
            </a:r>
          </a:p>
        </p:txBody>
      </p:sp>
      <p:sp>
        <p:nvSpPr>
          <p:cNvPr id="19" name="TextBox 18"/>
          <p:cNvSpPr txBox="1"/>
          <p:nvPr/>
        </p:nvSpPr>
        <p:spPr>
          <a:xfrm>
            <a:off x="6943176"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144344" y="162763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基板：白木合板（whitewood plywood）</a:t>
            </a:r>
          </a:p>
        </p:txBody>
      </p:sp>
      <p:sp>
        <p:nvSpPr>
          <p:cNvPr id="21" name="TextBox 20"/>
          <p:cNvSpPr txBox="1"/>
          <p:nvPr/>
        </p:nvSpPr>
        <p:spPr>
          <a:xfrm>
            <a:off x="6943176"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144344" y="190195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ゲル散布厚：均一に塗布</a:t>
            </a:r>
          </a:p>
        </p:txBody>
      </p:sp>
      <p:sp>
        <p:nvSpPr>
          <p:cNvPr id="23" name="TextBox 22"/>
          <p:cNvSpPr txBox="1"/>
          <p:nvPr/>
        </p:nvSpPr>
        <p:spPr>
          <a:xfrm>
            <a:off x="6943176"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144344" y="217627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火炎源：MAP-Pro トーチ（~2054°C）</a:t>
            </a:r>
          </a:p>
        </p:txBody>
      </p:sp>
      <p:sp>
        <p:nvSpPr>
          <p:cNvPr id="25" name="TextBox 24"/>
          <p:cNvSpPr txBox="1"/>
          <p:nvPr/>
        </p:nvSpPr>
        <p:spPr>
          <a:xfrm>
            <a:off x="6943176" y="24505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6" name="TextBox 25"/>
          <p:cNvSpPr txBox="1"/>
          <p:nvPr/>
        </p:nvSpPr>
        <p:spPr>
          <a:xfrm>
            <a:off x="7144344" y="245059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計測：基材が炭化するまでの時間</a:t>
            </a:r>
          </a:p>
        </p:txBody>
      </p:sp>
      <p:sp>
        <p:nvSpPr>
          <p:cNvPr id="27" name="TextBox 26"/>
          <p:cNvSpPr txBox="1"/>
          <p:nvPr/>
        </p:nvSpPr>
        <p:spPr>
          <a:xfrm>
            <a:off x="6943176" y="27249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8" name="TextBox 27"/>
          <p:cNvSpPr txBox="1"/>
          <p:nvPr/>
        </p:nvSpPr>
        <p:spPr>
          <a:xfrm>
            <a:off x="7144344" y="272491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120 s時点・300 s時点で外観撮影</a:t>
            </a:r>
          </a:p>
        </p:txBody>
      </p:sp>
      <p:sp>
        <p:nvSpPr>
          <p:cNvPr id="29" name="Rounded Rectangle 28"/>
          <p:cNvSpPr/>
          <p:nvPr/>
        </p:nvSpPr>
        <p:spPr>
          <a:xfrm>
            <a:off x="6760296" y="4242816"/>
            <a:ext cx="506563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760296" y="424281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43176" y="424281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2" name="TextBox 31"/>
          <p:cNvSpPr txBox="1"/>
          <p:nvPr/>
        </p:nvSpPr>
        <p:spPr>
          <a:xfrm>
            <a:off x="7354656" y="4242816"/>
            <a:ext cx="437983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Time to char = 木材表面が炭化するまでに要した時間（長いほど高保護）</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9/15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Time to char：5配合系の定量比較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27 / 43</a:t>
            </a:r>
          </a:p>
        </p:txBody>
      </p:sp>
      <p:sp>
        <p:nvSpPr>
          <p:cNvPr id="10" name="TextBox 9"/>
          <p:cNvSpPr txBox="1"/>
          <p:nvPr/>
        </p:nvSpPr>
        <p:spPr>
          <a:xfrm>
            <a:off x="365760" y="859536"/>
            <a:ext cx="7013868"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Time to char（炭化開始までの時間）</a:t>
            </a:r>
          </a:p>
        </p:txBody>
      </p:sp>
      <p:sp>
        <p:nvSpPr>
          <p:cNvPr id="11" name="TextBox 10"/>
          <p:cNvSpPr txBox="1"/>
          <p:nvPr/>
        </p:nvSpPr>
        <p:spPr>
          <a:xfrm>
            <a:off x="365760" y="127101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Water</a:t>
            </a:r>
          </a:p>
        </p:txBody>
      </p:sp>
      <p:sp>
        <p:nvSpPr>
          <p:cNvPr id="12" name="Rounded Rectangle 11"/>
          <p:cNvSpPr/>
          <p:nvPr/>
        </p:nvSpPr>
        <p:spPr>
          <a:xfrm>
            <a:off x="2834640" y="134416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834640" y="1344168"/>
            <a:ext cx="13790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3788" y="127101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~0.3 min</a:t>
            </a:r>
          </a:p>
        </p:txBody>
      </p:sp>
      <p:sp>
        <p:nvSpPr>
          <p:cNvPr id="15" name="TextBox 14"/>
          <p:cNvSpPr txBox="1"/>
          <p:nvPr/>
        </p:nvSpPr>
        <p:spPr>
          <a:xfrm>
            <a:off x="365760" y="177393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AquaGel-K（市販品）</a:t>
            </a:r>
          </a:p>
        </p:txBody>
      </p:sp>
      <p:sp>
        <p:nvSpPr>
          <p:cNvPr id="16" name="Rounded Rectangle 15"/>
          <p:cNvSpPr/>
          <p:nvPr/>
        </p:nvSpPr>
        <p:spPr>
          <a:xfrm>
            <a:off x="2834640" y="184708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834640" y="1847088"/>
            <a:ext cx="689541"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788" y="177393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~1.5 min</a:t>
            </a:r>
          </a:p>
        </p:txBody>
      </p:sp>
      <p:sp>
        <p:nvSpPr>
          <p:cNvPr id="19" name="TextBox 18"/>
          <p:cNvSpPr txBox="1"/>
          <p:nvPr/>
        </p:nvSpPr>
        <p:spPr>
          <a:xfrm>
            <a:off x="365760" y="227685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20" name="Rounded Rectangle 19"/>
          <p:cNvSpPr/>
          <p:nvPr/>
        </p:nvSpPr>
        <p:spPr>
          <a:xfrm>
            <a:off x="2834640" y="235000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834640" y="2350008"/>
            <a:ext cx="224101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73788" y="227685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&gt;5 min</a:t>
            </a:r>
          </a:p>
        </p:txBody>
      </p:sp>
      <p:sp>
        <p:nvSpPr>
          <p:cNvPr id="23" name="TextBox 22"/>
          <p:cNvSpPr txBox="1"/>
          <p:nvPr/>
        </p:nvSpPr>
        <p:spPr>
          <a:xfrm>
            <a:off x="365760" y="277977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24" name="Rounded Rectangle 23"/>
          <p:cNvSpPr/>
          <p:nvPr/>
        </p:nvSpPr>
        <p:spPr>
          <a:xfrm>
            <a:off x="2834640" y="285292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834640" y="2852928"/>
            <a:ext cx="3102937"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73788" y="277977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27" name="TextBox 26"/>
          <p:cNvSpPr txBox="1"/>
          <p:nvPr/>
        </p:nvSpPr>
        <p:spPr>
          <a:xfrm>
            <a:off x="365760" y="328269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28" name="Rounded Rectangle 27"/>
          <p:cNvSpPr/>
          <p:nvPr/>
        </p:nvSpPr>
        <p:spPr>
          <a:xfrm>
            <a:off x="2834640" y="335584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2834640" y="3355848"/>
            <a:ext cx="3102937"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73788" y="328269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31" name="Rounded Rectangle 30"/>
          <p:cNvSpPr/>
          <p:nvPr/>
        </p:nvSpPr>
        <p:spPr>
          <a:xfrm>
            <a:off x="365760" y="3922776"/>
            <a:ext cx="701386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5760" y="392277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392277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960120" y="3922776"/>
            <a:ext cx="632806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本研究WEGは市販AquaGel-Kの3〜6倍の保護時間を達成（全試験でn≥3）</a:t>
            </a:r>
          </a:p>
        </p:txBody>
      </p:sp>
      <p:sp>
        <p:nvSpPr>
          <p:cNvPr id="35" name="Rounded Rectangle 34"/>
          <p:cNvSpPr/>
          <p:nvPr/>
        </p:nvSpPr>
        <p:spPr>
          <a:xfrm>
            <a:off x="7562508" y="859536"/>
            <a:ext cx="4263426" cy="4754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722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722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3b</a:t>
            </a:r>
          </a:p>
        </p:txBody>
      </p:sp>
      <p:sp>
        <p:nvSpPr>
          <p:cNvPr id="38" name="TextBox 37"/>
          <p:cNvSpPr txBox="1"/>
          <p:nvPr/>
        </p:nvSpPr>
        <p:spPr>
          <a:xfrm>
            <a:off x="7562508" y="859536"/>
            <a:ext cx="4263426" cy="4754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9" name="TextBox 38"/>
          <p:cNvSpPr txBox="1"/>
          <p:nvPr/>
        </p:nvSpPr>
        <p:spPr>
          <a:xfrm>
            <a:off x="7562508" y="5650992"/>
            <a:ext cx="42634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Time-to-char バーチャート（n≧3、エラーバーは標準偏差）</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10/15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燃焼過程の時系列観察</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28 / 43</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3c</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各配合系の火炎接触時の連続写真</a:t>
            </a:r>
          </a:p>
        </p:txBody>
      </p:sp>
      <p:sp>
        <p:nvSpPr>
          <p:cNvPr id="15" name="Rounded Rectangle 14"/>
          <p:cNvSpPr/>
          <p:nvPr/>
        </p:nvSpPr>
        <p:spPr>
          <a:xfrm>
            <a:off x="36576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675888"/>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4105656"/>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18" name="TextBox 17"/>
          <p:cNvSpPr txBox="1"/>
          <p:nvPr/>
        </p:nvSpPr>
        <p:spPr>
          <a:xfrm>
            <a:off x="79552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直炎で即座に蒸発・流失</a:t>
            </a:r>
          </a:p>
        </p:txBody>
      </p:sp>
      <p:sp>
        <p:nvSpPr>
          <p:cNvPr id="19" name="TextBox 18"/>
          <p:cNvSpPr txBox="1"/>
          <p:nvPr/>
        </p:nvSpPr>
        <p:spPr>
          <a:xfrm>
            <a:off x="566928" y="4489704"/>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0" name="TextBox 19"/>
          <p:cNvSpPr txBox="1"/>
          <p:nvPr/>
        </p:nvSpPr>
        <p:spPr>
          <a:xfrm>
            <a:off x="79552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~0.3分（約18秒）で炭化</a:t>
            </a:r>
          </a:p>
        </p:txBody>
      </p:sp>
      <p:sp>
        <p:nvSpPr>
          <p:cNvPr id="21" name="TextBox 20"/>
          <p:cNvSpPr txBox="1"/>
          <p:nvPr/>
        </p:nvSpPr>
        <p:spPr>
          <a:xfrm>
            <a:off x="566928" y="4873752"/>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2" name="TextBox 21"/>
          <p:cNvSpPr txBox="1"/>
          <p:nvPr/>
        </p:nvSpPr>
        <p:spPr>
          <a:xfrm>
            <a:off x="79552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保護層ゼロ</a:t>
            </a:r>
          </a:p>
        </p:txBody>
      </p:sp>
      <p:sp>
        <p:nvSpPr>
          <p:cNvPr id="23" name="Rounded Rectangle 22"/>
          <p:cNvSpPr/>
          <p:nvPr/>
        </p:nvSpPr>
        <p:spPr>
          <a:xfrm>
            <a:off x="422849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93082" y="3675888"/>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a:t>
            </a:r>
          </a:p>
        </p:txBody>
      </p:sp>
      <p:sp>
        <p:nvSpPr>
          <p:cNvPr id="25" name="TextBox 24"/>
          <p:cNvSpPr txBox="1"/>
          <p:nvPr/>
        </p:nvSpPr>
        <p:spPr>
          <a:xfrm>
            <a:off x="4429658" y="4105656"/>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6" name="TextBox 25"/>
          <p:cNvSpPr txBox="1"/>
          <p:nvPr/>
        </p:nvSpPr>
        <p:spPr>
          <a:xfrm>
            <a:off x="465825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水を保持するが水蒸発で終了</a:t>
            </a:r>
          </a:p>
        </p:txBody>
      </p:sp>
      <p:sp>
        <p:nvSpPr>
          <p:cNvPr id="27" name="TextBox 26"/>
          <p:cNvSpPr txBox="1"/>
          <p:nvPr/>
        </p:nvSpPr>
        <p:spPr>
          <a:xfrm>
            <a:off x="4429658" y="4489704"/>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8" name="TextBox 27"/>
          <p:cNvSpPr txBox="1"/>
          <p:nvPr/>
        </p:nvSpPr>
        <p:spPr>
          <a:xfrm>
            <a:off x="465825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~1.5分で炭化</a:t>
            </a:r>
          </a:p>
        </p:txBody>
      </p:sp>
      <p:sp>
        <p:nvSpPr>
          <p:cNvPr id="29" name="TextBox 28"/>
          <p:cNvSpPr txBox="1"/>
          <p:nvPr/>
        </p:nvSpPr>
        <p:spPr>
          <a:xfrm>
            <a:off x="4429658" y="4873752"/>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30" name="TextBox 29"/>
          <p:cNvSpPr txBox="1"/>
          <p:nvPr/>
        </p:nvSpPr>
        <p:spPr>
          <a:xfrm>
            <a:off x="465825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固体保護層を形成しない</a:t>
            </a:r>
          </a:p>
        </p:txBody>
      </p:sp>
      <p:sp>
        <p:nvSpPr>
          <p:cNvPr id="31" name="Rounded Rectangle 30"/>
          <p:cNvSpPr/>
          <p:nvPr/>
        </p:nvSpPr>
        <p:spPr>
          <a:xfrm>
            <a:off x="8091220" y="3511296"/>
            <a:ext cx="3734714"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55812" y="3675888"/>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33" name="TextBox 32"/>
          <p:cNvSpPr txBox="1"/>
          <p:nvPr/>
        </p:nvSpPr>
        <p:spPr>
          <a:xfrm>
            <a:off x="8292388" y="4105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852098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水蒸発と同時にゲルが発泡・膨張</a:t>
            </a:r>
          </a:p>
        </p:txBody>
      </p:sp>
      <p:sp>
        <p:nvSpPr>
          <p:cNvPr id="35" name="TextBox 34"/>
          <p:cNvSpPr txBox="1"/>
          <p:nvPr/>
        </p:nvSpPr>
        <p:spPr>
          <a:xfrm>
            <a:off x="8292388" y="448970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6" name="TextBox 35"/>
          <p:cNvSpPr txBox="1"/>
          <p:nvPr/>
        </p:nvSpPr>
        <p:spPr>
          <a:xfrm>
            <a:off x="852098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多孔質エアロゲル層が継続保護</a:t>
            </a:r>
          </a:p>
        </p:txBody>
      </p:sp>
      <p:sp>
        <p:nvSpPr>
          <p:cNvPr id="37" name="TextBox 36"/>
          <p:cNvSpPr txBox="1"/>
          <p:nvPr/>
        </p:nvSpPr>
        <p:spPr>
          <a:xfrm>
            <a:off x="8292388" y="487375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852098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&gt;7分間（HEC+MC）炭化を阻止</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120秒 / 300秒時点の表面状態比較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29 / 43</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3d</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120秒時点（上段）と300秒時点（下段）の表面状態比較</a:t>
            </a:r>
          </a:p>
        </p:txBody>
      </p:sp>
      <p:sp>
        <p:nvSpPr>
          <p:cNvPr id="15" name="Rounded Rectangle 14"/>
          <p:cNvSpPr/>
          <p:nvPr/>
        </p:nvSpPr>
        <p:spPr>
          <a:xfrm>
            <a:off x="36576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566160"/>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s：既に広範囲が炭化開始</a:t>
            </a:r>
          </a:p>
        </p:txBody>
      </p:sp>
      <p:sp>
        <p:nvSpPr>
          <p:cNvPr id="18" name="TextBox 17"/>
          <p:cNvSpPr txBox="1"/>
          <p:nvPr/>
        </p:nvSpPr>
        <p:spPr>
          <a:xfrm>
            <a:off x="56692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s：表面全体が黒化・損傷甚大</a:t>
            </a:r>
          </a:p>
        </p:txBody>
      </p:sp>
      <p:sp>
        <p:nvSpPr>
          <p:cNvPr id="19" name="TextBox 18"/>
          <p:cNvSpPr txBox="1"/>
          <p:nvPr/>
        </p:nvSpPr>
        <p:spPr>
          <a:xfrm>
            <a:off x="530352" y="5614416"/>
            <a:ext cx="3405530" cy="274320"/>
          </a:xfrm>
          <a:prstGeom prst="rect">
            <a:avLst/>
          </a:prstGeom>
          <a:noFill/>
        </p:spPr>
        <p:txBody>
          <a:bodyPr wrap="square" anchor="t" lIns="36000" rIns="36000" tIns="18000" bIns="18000">
            <a:spAutoFit/>
          </a:bodyPr>
          <a:lstStyle/>
          <a:p>
            <a:pPr algn="l"/>
            <a:r>
              <a:rPr sz="1200" b="1" i="0">
                <a:solidFill>
                  <a:srgbClr val="A05656"/>
                </a:solidFill>
                <a:latin typeface="Noto Sans JP"/>
              </a:rPr>
              <a:t>Time to char：~0.3 min</a:t>
            </a:r>
          </a:p>
        </p:txBody>
      </p:sp>
      <p:sp>
        <p:nvSpPr>
          <p:cNvPr id="20" name="Rounded Rectangle 19"/>
          <p:cNvSpPr/>
          <p:nvPr/>
        </p:nvSpPr>
        <p:spPr>
          <a:xfrm>
            <a:off x="422849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93082" y="3566160"/>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AquaGel-K（市販品）</a:t>
            </a:r>
          </a:p>
        </p:txBody>
      </p:sp>
      <p:sp>
        <p:nvSpPr>
          <p:cNvPr id="22" name="TextBox 21"/>
          <p:cNvSpPr txBox="1"/>
          <p:nvPr/>
        </p:nvSpPr>
        <p:spPr>
          <a:xfrm>
            <a:off x="442965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s：ゲルが乾燥し一部炭化</a:t>
            </a:r>
          </a:p>
        </p:txBody>
      </p:sp>
      <p:sp>
        <p:nvSpPr>
          <p:cNvPr id="23" name="TextBox 22"/>
          <p:cNvSpPr txBox="1"/>
          <p:nvPr/>
        </p:nvSpPr>
        <p:spPr>
          <a:xfrm>
            <a:off x="442965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s：保護層なし、部分炭化</a:t>
            </a:r>
          </a:p>
        </p:txBody>
      </p:sp>
      <p:sp>
        <p:nvSpPr>
          <p:cNvPr id="24" name="TextBox 23"/>
          <p:cNvSpPr txBox="1"/>
          <p:nvPr/>
        </p:nvSpPr>
        <p:spPr>
          <a:xfrm>
            <a:off x="4393082" y="5614416"/>
            <a:ext cx="3405530" cy="274320"/>
          </a:xfrm>
          <a:prstGeom prst="rect">
            <a:avLst/>
          </a:prstGeom>
          <a:noFill/>
        </p:spPr>
        <p:txBody>
          <a:bodyPr wrap="square" anchor="t" lIns="36000" rIns="36000" tIns="18000" bIns="18000">
            <a:spAutoFit/>
          </a:bodyPr>
          <a:lstStyle/>
          <a:p>
            <a:pPr algn="l"/>
            <a:r>
              <a:rPr sz="1200" b="1" i="0">
                <a:solidFill>
                  <a:srgbClr val="9F7639"/>
                </a:solidFill>
                <a:latin typeface="Noto Sans JP"/>
              </a:rPr>
              <a:t>Time to char：~1.5 min</a:t>
            </a:r>
          </a:p>
        </p:txBody>
      </p:sp>
      <p:sp>
        <p:nvSpPr>
          <p:cNvPr id="25" name="Rounded Rectangle 24"/>
          <p:cNvSpPr/>
          <p:nvPr/>
        </p:nvSpPr>
        <p:spPr>
          <a:xfrm>
            <a:off x="8091220" y="3419856"/>
            <a:ext cx="3734714" cy="25603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55812" y="3566160"/>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27" name="TextBox 26"/>
          <p:cNvSpPr txBox="1"/>
          <p:nvPr/>
        </p:nvSpPr>
        <p:spPr>
          <a:xfrm>
            <a:off x="829238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s：エアロゲル層が形成・膨張中</a:t>
            </a:r>
          </a:p>
        </p:txBody>
      </p:sp>
      <p:sp>
        <p:nvSpPr>
          <p:cNvPr id="28" name="TextBox 27"/>
          <p:cNvSpPr txBox="1"/>
          <p:nvPr/>
        </p:nvSpPr>
        <p:spPr>
          <a:xfrm>
            <a:off x="829238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s：表面ほぼ無傷、層が残存</a:t>
            </a:r>
          </a:p>
        </p:txBody>
      </p:sp>
      <p:sp>
        <p:nvSpPr>
          <p:cNvPr id="29" name="TextBox 28"/>
          <p:cNvSpPr txBox="1"/>
          <p:nvPr/>
        </p:nvSpPr>
        <p:spPr>
          <a:xfrm>
            <a:off x="8255812" y="5614416"/>
            <a:ext cx="3405530"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Time to char：&gt;7 min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KEY RESULT</a:t>
            </a:r>
          </a:p>
        </p:txBody>
      </p:sp>
      <p:sp>
        <p:nvSpPr>
          <p:cNvPr id="4" name="TextBox 3"/>
          <p:cNvSpPr txBox="1"/>
          <p:nvPr/>
        </p:nvSpPr>
        <p:spPr>
          <a:xfrm>
            <a:off x="457200" y="1737360"/>
            <a:ext cx="11247120" cy="2103120"/>
          </a:xfrm>
          <a:prstGeom prst="rect">
            <a:avLst/>
          </a:prstGeom>
          <a:noFill/>
        </p:spPr>
        <p:txBody>
          <a:bodyPr wrap="square" anchor="ctr" lIns="36000" rIns="36000" tIns="18000" bIns="18000">
            <a:spAutoFit/>
          </a:bodyPr>
          <a:lstStyle/>
          <a:p>
            <a:pPr algn="ctr"/>
            <a:r>
              <a:rPr sz="13000" b="1" i="0">
                <a:solidFill>
                  <a:srgbClr val="D4A574"/>
                </a:solidFill>
                <a:latin typeface="Noto Sans JP"/>
              </a:rPr>
              <a:t>&gt;7</a:t>
            </a:r>
            <a:r>
              <a:rPr sz="6000" b="0" i="0">
                <a:solidFill>
                  <a:srgbClr val="C89A68"/>
                </a:solidFill>
                <a:latin typeface="Noto Sans JP"/>
              </a:rPr>
              <a:t> min</a:t>
            </a:r>
          </a:p>
        </p:txBody>
      </p:sp>
      <p:sp>
        <p:nvSpPr>
          <p:cNvPr id="5" name="TextBox 4"/>
          <p:cNvSpPr txBox="1"/>
          <p:nvPr/>
        </p:nvSpPr>
        <p:spPr>
          <a:xfrm>
            <a:off x="457200" y="4023360"/>
            <a:ext cx="11247120" cy="548640"/>
          </a:xfrm>
          <a:prstGeom prst="rect">
            <a:avLst/>
          </a:prstGeom>
          <a:noFill/>
        </p:spPr>
        <p:txBody>
          <a:bodyPr wrap="square" anchor="t" lIns="36000" rIns="36000" tIns="18000" bIns="18000">
            <a:spAutoFit/>
          </a:bodyPr>
          <a:lstStyle/>
          <a:p>
            <a:pPr algn="ctr"/>
            <a:r>
              <a:rPr sz="2600" b="1" i="0">
                <a:solidFill>
                  <a:srgbClr val="FFFFFF"/>
                </a:solidFill>
                <a:latin typeface="Noto Sans JP"/>
              </a:rPr>
              <a:t>本研究WEGの Time to char（HEC+MC/CSP）</a:t>
            </a:r>
          </a:p>
        </p:txBody>
      </p:sp>
      <p:sp>
        <p:nvSpPr>
          <p:cNvPr id="6" name="TextBox 5"/>
          <p:cNvSpPr txBox="1"/>
          <p:nvPr/>
        </p:nvSpPr>
        <p:spPr>
          <a:xfrm>
            <a:off x="1371600" y="4709160"/>
            <a:ext cx="9418320" cy="640080"/>
          </a:xfrm>
          <a:prstGeom prst="rect">
            <a:avLst/>
          </a:prstGeom>
          <a:noFill/>
        </p:spPr>
        <p:txBody>
          <a:bodyPr wrap="square" anchor="t" lIns="36000" rIns="36000" tIns="18000" bIns="18000">
            <a:spAutoFit/>
          </a:bodyPr>
          <a:lstStyle/>
          <a:p>
            <a:pPr algn="ctr"/>
            <a:r>
              <a:rPr sz="1400" b="0" i="0">
                <a:solidFill>
                  <a:srgbClr val="9CB4CC"/>
                </a:solidFill>
                <a:latin typeface="Noto Sans JP"/>
              </a:rPr>
              <a:t>市販AquaGel-K（~1.5分）の3〜6倍の保護時間を達成（全試験でn≥3）</a:t>
            </a:r>
          </a:p>
        </p:txBody>
      </p:sp>
      <p:sp>
        <p:nvSpPr>
          <p:cNvPr id="7" name="TextBox 6"/>
          <p:cNvSpPr txBox="1"/>
          <p:nvPr/>
        </p:nvSpPr>
        <p:spPr>
          <a:xfrm>
            <a:off x="2286000" y="553212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Water</a:t>
            </a:r>
          </a:p>
        </p:txBody>
      </p:sp>
      <p:sp>
        <p:nvSpPr>
          <p:cNvPr id="8" name="Rounded Rectangle 7"/>
          <p:cNvSpPr/>
          <p:nvPr/>
        </p:nvSpPr>
        <p:spPr>
          <a:xfrm>
            <a:off x="3931920" y="556869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931920" y="5568696"/>
            <a:ext cx="256032" cy="164592"/>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69880" y="553212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~0.3 min</a:t>
            </a:r>
          </a:p>
        </p:txBody>
      </p:sp>
      <p:sp>
        <p:nvSpPr>
          <p:cNvPr id="11" name="TextBox 10"/>
          <p:cNvSpPr txBox="1"/>
          <p:nvPr/>
        </p:nvSpPr>
        <p:spPr>
          <a:xfrm>
            <a:off x="2286000" y="585216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AquaGel-K</a:t>
            </a:r>
          </a:p>
        </p:txBody>
      </p:sp>
      <p:sp>
        <p:nvSpPr>
          <p:cNvPr id="12" name="Rounded Rectangle 11"/>
          <p:cNvSpPr/>
          <p:nvPr/>
        </p:nvSpPr>
        <p:spPr>
          <a:xfrm>
            <a:off x="3931920" y="588873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931920" y="5888736"/>
            <a:ext cx="1280160" cy="164592"/>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69880" y="585216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~1.5 min</a:t>
            </a:r>
          </a:p>
        </p:txBody>
      </p:sp>
      <p:sp>
        <p:nvSpPr>
          <p:cNvPr id="15" name="TextBox 14"/>
          <p:cNvSpPr txBox="1"/>
          <p:nvPr/>
        </p:nvSpPr>
        <p:spPr>
          <a:xfrm>
            <a:off x="2286000" y="617220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本研究 WEG</a:t>
            </a:r>
          </a:p>
        </p:txBody>
      </p:sp>
      <p:sp>
        <p:nvSpPr>
          <p:cNvPr id="16" name="Rounded Rectangle 15"/>
          <p:cNvSpPr/>
          <p:nvPr/>
        </p:nvSpPr>
        <p:spPr>
          <a:xfrm>
            <a:off x="3931920" y="620877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931920" y="6208776"/>
            <a:ext cx="6080760" cy="164592"/>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69880" y="617220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30 / 43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12/15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 添加：発泡性向上を期待したが、逆の結果に（Fig. 4）</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31 / 43</a:t>
            </a:r>
          </a:p>
        </p:txBody>
      </p:sp>
      <p:sp>
        <p:nvSpPr>
          <p:cNvPr id="10" name="Rounded Rectangle 9"/>
          <p:cNvSpPr/>
          <p:nvPr/>
        </p:nvSpPr>
        <p:spPr>
          <a:xfrm>
            <a:off x="365760" y="859536"/>
            <a:ext cx="3291840" cy="1005840"/>
          </a:xfrm>
          <a:prstGeom prst="roundRect">
            <a:avLst>
              <a:gd name="adj" fmla="val 5000"/>
            </a:avLst>
          </a:prstGeom>
          <a:solidFill>
            <a:srgbClr val="F1F5F9"/>
          </a:solidFill>
          <a:ln w="1524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100584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932688"/>
            <a:ext cx="3017520" cy="219456"/>
          </a:xfrm>
          <a:prstGeom prst="rect">
            <a:avLst/>
          </a:prstGeom>
          <a:noFill/>
        </p:spPr>
        <p:txBody>
          <a:bodyPr wrap="square" anchor="t" lIns="36000" rIns="36000" tIns="18000" bIns="18000">
            <a:spAutoFit/>
          </a:bodyPr>
          <a:lstStyle/>
          <a:p>
            <a:pPr algn="l"/>
            <a:r>
              <a:rPr sz="1000" b="1" i="0">
                <a:solidFill>
                  <a:srgbClr val="4A7C8C"/>
                </a:solidFill>
                <a:latin typeface="Noto Sans JP"/>
              </a:rPr>
              <a:t>仮説（SDS 添加の目的）</a:t>
            </a:r>
          </a:p>
        </p:txBody>
      </p:sp>
      <p:sp>
        <p:nvSpPr>
          <p:cNvPr id="13" name="TextBox 12"/>
          <p:cNvSpPr txBox="1"/>
          <p:nvPr/>
        </p:nvSpPr>
        <p:spPr>
          <a:xfrm>
            <a:off x="566928" y="1207008"/>
            <a:ext cx="3017520" cy="585216"/>
          </a:xfrm>
          <a:prstGeom prst="rect">
            <a:avLst/>
          </a:prstGeom>
          <a:noFill/>
        </p:spPr>
        <p:txBody>
          <a:bodyPr wrap="square" anchor="t" lIns="36000" rIns="36000" tIns="18000" bIns="18000">
            <a:spAutoFit/>
          </a:bodyPr>
          <a:lstStyle/>
          <a:p>
            <a:pPr algn="l"/>
            <a:r>
              <a:rPr sz="1100" b="0" i="0">
                <a:solidFill>
                  <a:srgbClr val="334155"/>
                </a:solidFill>
                <a:latin typeface="Noto Sans JP"/>
              </a:rPr>
              <a:t>界面活性剤 SDS が発泡を促進</a:t>
            </a:r>
          </a:p>
          <a:p>
            <a:pPr algn="l"/>
            <a:r>
              <a:rPr sz="1100" b="0" i="0">
                <a:solidFill>
                  <a:srgbClr val="334155"/>
                </a:solidFill>
                <a:latin typeface="Noto Sans JP"/>
              </a:rPr>
              <a:t>→ Foaming Index が上昇</a:t>
            </a:r>
          </a:p>
          <a:p>
            <a:pPr algn="l"/>
            <a:r>
              <a:rPr sz="1100" b="0" i="0">
                <a:solidFill>
                  <a:srgbClr val="334155"/>
                </a:solidFill>
                <a:latin typeface="Noto Sans JP"/>
              </a:rPr>
              <a:t>→ エアロゲル断熱層が厚くなる</a:t>
            </a:r>
          </a:p>
        </p:txBody>
      </p:sp>
      <p:sp>
        <p:nvSpPr>
          <p:cNvPr id="14" name="Right Arrow 13"/>
          <p:cNvSpPr/>
          <p:nvPr/>
        </p:nvSpPr>
        <p:spPr>
          <a:xfrm>
            <a:off x="3733723" y="1161288"/>
            <a:ext cx="640080" cy="40233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449927" y="859536"/>
            <a:ext cx="3291840" cy="1005840"/>
          </a:xfrm>
          <a:prstGeom prst="roundRect">
            <a:avLst>
              <a:gd name="adj" fmla="val 5000"/>
            </a:avLst>
          </a:prstGeom>
          <a:solidFill>
            <a:srgbClr val="F1F5F9"/>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51095" y="932688"/>
            <a:ext cx="3017520"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実験</a:t>
            </a:r>
          </a:p>
        </p:txBody>
      </p:sp>
      <p:sp>
        <p:nvSpPr>
          <p:cNvPr id="17" name="TextBox 16"/>
          <p:cNvSpPr txBox="1"/>
          <p:nvPr/>
        </p:nvSpPr>
        <p:spPr>
          <a:xfrm>
            <a:off x="4651095" y="1207008"/>
            <a:ext cx="3017520" cy="585216"/>
          </a:xfrm>
          <a:prstGeom prst="rect">
            <a:avLst/>
          </a:prstGeom>
          <a:noFill/>
        </p:spPr>
        <p:txBody>
          <a:bodyPr wrap="square" anchor="t" lIns="36000" rIns="36000" tIns="18000" bIns="18000">
            <a:spAutoFit/>
          </a:bodyPr>
          <a:lstStyle/>
          <a:p>
            <a:pPr algn="l"/>
            <a:r>
              <a:rPr sz="1100" b="0" i="0">
                <a:solidFill>
                  <a:srgbClr val="334155"/>
                </a:solidFill>
                <a:latin typeface="Noto Sans JP"/>
              </a:rPr>
              <a:t>SDS 0 / 0.1 / 0.5 wt% を添加した</a:t>
            </a:r>
          </a:p>
          <a:p>
            <a:pPr algn="l"/>
            <a:r>
              <a:rPr sz="1100" b="0" i="0">
                <a:solidFill>
                  <a:srgbClr val="334155"/>
                </a:solidFill>
                <a:latin typeface="Noto Sans JP"/>
              </a:rPr>
              <a:t>HEC+MC/CSP の燃焼試験</a:t>
            </a:r>
          </a:p>
          <a:p>
            <a:pPr algn="l"/>
            <a:r>
              <a:rPr sz="1100" b="0" i="0">
                <a:solidFill>
                  <a:srgbClr val="334155"/>
                </a:solidFill>
                <a:latin typeface="Noto Sans JP"/>
              </a:rPr>
              <a:t>→ Foaming Index を定量（Fig. 4a/4b）</a:t>
            </a:r>
          </a:p>
        </p:txBody>
      </p:sp>
      <p:sp>
        <p:nvSpPr>
          <p:cNvPr id="18" name="Right Arrow 17"/>
          <p:cNvSpPr/>
          <p:nvPr/>
        </p:nvSpPr>
        <p:spPr>
          <a:xfrm>
            <a:off x="7817891" y="1161288"/>
            <a:ext cx="640080" cy="402336"/>
          </a:xfrm>
          <a:prstGeom prst="rightArrow">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534095" y="859536"/>
            <a:ext cx="3291840" cy="1005840"/>
          </a:xfrm>
          <a:prstGeom prst="roundRect">
            <a:avLst>
              <a:gd name="adj" fmla="val 5000"/>
            </a:avLst>
          </a:prstGeom>
          <a:solidFill>
            <a:srgbClr val="FFF7ED"/>
          </a:solidFill>
          <a:ln w="1778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534095" y="859536"/>
            <a:ext cx="54864" cy="100584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35263" y="932688"/>
            <a:ext cx="3017520" cy="219456"/>
          </a:xfrm>
          <a:prstGeom prst="rect">
            <a:avLst/>
          </a:prstGeom>
          <a:noFill/>
        </p:spPr>
        <p:txBody>
          <a:bodyPr wrap="square" anchor="t" lIns="36000" rIns="36000" tIns="18000" bIns="18000">
            <a:spAutoFit/>
          </a:bodyPr>
          <a:lstStyle/>
          <a:p>
            <a:pPr algn="l"/>
            <a:r>
              <a:rPr sz="1000" b="1" i="0">
                <a:solidFill>
                  <a:srgbClr val="9F7639"/>
                </a:solidFill>
                <a:latin typeface="Noto Sans JP"/>
              </a:rPr>
              <a:t>結果（予想と逆）</a:t>
            </a:r>
          </a:p>
        </p:txBody>
      </p:sp>
      <p:sp>
        <p:nvSpPr>
          <p:cNvPr id="22" name="TextBox 21"/>
          <p:cNvSpPr txBox="1"/>
          <p:nvPr/>
        </p:nvSpPr>
        <p:spPr>
          <a:xfrm>
            <a:off x="8735263" y="1207008"/>
            <a:ext cx="3017520" cy="585216"/>
          </a:xfrm>
          <a:prstGeom prst="rect">
            <a:avLst/>
          </a:prstGeom>
          <a:noFill/>
        </p:spPr>
        <p:txBody>
          <a:bodyPr wrap="square" anchor="t" lIns="36000" rIns="36000" tIns="18000" bIns="18000">
            <a:spAutoFit/>
          </a:bodyPr>
          <a:lstStyle/>
          <a:p>
            <a:pPr algn="l"/>
            <a:r>
              <a:rPr sz="1100" b="0" i="0">
                <a:solidFill>
                  <a:srgbClr val="334155"/>
                </a:solidFill>
                <a:latin typeface="Noto Sans JP"/>
              </a:rPr>
              <a:t>SDS 添加で Foaming Index が低下</a:t>
            </a:r>
          </a:p>
          <a:p>
            <a:pPr algn="l"/>
            <a:r>
              <a:rPr sz="1100" b="0" i="0">
                <a:solidFill>
                  <a:srgbClr val="334155"/>
                </a:solidFill>
                <a:latin typeface="Noto Sans JP"/>
              </a:rPr>
              <a:t>2.6（SDS 0%） → 2.3（0.1%）→ さらに低下（0.5%）</a:t>
            </a:r>
          </a:p>
          <a:p>
            <a:pPr algn="l"/>
            <a:r>
              <a:rPr sz="1100" b="0" i="0">
                <a:solidFill>
                  <a:srgbClr val="334155"/>
                </a:solidFill>
                <a:latin typeface="Noto Sans JP"/>
              </a:rPr>
              <a:t>発泡性向上には寄与せず</a:t>
            </a:r>
          </a:p>
        </p:txBody>
      </p:sp>
      <p:sp>
        <p:nvSpPr>
          <p:cNvPr id="23" name="Rounded Rectangle 22"/>
          <p:cNvSpPr/>
          <p:nvPr/>
        </p:nvSpPr>
        <p:spPr>
          <a:xfrm>
            <a:off x="365760" y="2121408"/>
            <a:ext cx="5638647" cy="1920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75488" y="223113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5488" y="223113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4a</a:t>
            </a:r>
          </a:p>
        </p:txBody>
      </p:sp>
      <p:sp>
        <p:nvSpPr>
          <p:cNvPr id="26" name="TextBox 25"/>
          <p:cNvSpPr txBox="1"/>
          <p:nvPr/>
        </p:nvSpPr>
        <p:spPr>
          <a:xfrm>
            <a:off x="365760" y="2121408"/>
            <a:ext cx="5638647" cy="1920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7" name="TextBox 26"/>
          <p:cNvSpPr txBox="1"/>
          <p:nvPr/>
        </p:nvSpPr>
        <p:spPr>
          <a:xfrm>
            <a:off x="365760" y="4078224"/>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燃焼後の発泡層外観（SDS 濃度別）</a:t>
            </a:r>
          </a:p>
        </p:txBody>
      </p:sp>
      <p:sp>
        <p:nvSpPr>
          <p:cNvPr id="28" name="Rounded Rectangle 27"/>
          <p:cNvSpPr/>
          <p:nvPr/>
        </p:nvSpPr>
        <p:spPr>
          <a:xfrm>
            <a:off x="6187287" y="2121408"/>
            <a:ext cx="5638647" cy="1920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97015" y="223113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97015" y="223113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4b</a:t>
            </a:r>
          </a:p>
        </p:txBody>
      </p:sp>
      <p:sp>
        <p:nvSpPr>
          <p:cNvPr id="31" name="TextBox 30"/>
          <p:cNvSpPr txBox="1"/>
          <p:nvPr/>
        </p:nvSpPr>
        <p:spPr>
          <a:xfrm>
            <a:off x="6187287" y="2121408"/>
            <a:ext cx="5638647" cy="1920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2" name="TextBox 31"/>
          <p:cNvSpPr txBox="1"/>
          <p:nvPr/>
        </p:nvSpPr>
        <p:spPr>
          <a:xfrm>
            <a:off x="6187287" y="4078224"/>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 Foaming Index（定量）</a:t>
            </a:r>
          </a:p>
        </p:txBody>
      </p:sp>
      <p:sp>
        <p:nvSpPr>
          <p:cNvPr id="33" name="TextBox 32"/>
          <p:cNvSpPr txBox="1"/>
          <p:nvPr/>
        </p:nvSpPr>
        <p:spPr>
          <a:xfrm>
            <a:off x="365760" y="4297680"/>
            <a:ext cx="5730087" cy="237744"/>
          </a:xfrm>
          <a:prstGeom prst="rect">
            <a:avLst/>
          </a:prstGeom>
          <a:noFill/>
        </p:spPr>
        <p:txBody>
          <a:bodyPr wrap="square" anchor="t" lIns="36000" rIns="36000" tIns="18000" bIns="18000">
            <a:spAutoFit/>
          </a:bodyPr>
          <a:lstStyle/>
          <a:p>
            <a:pPr algn="l"/>
            <a:r>
              <a:rPr sz="1100" b="1" i="0">
                <a:solidFill>
                  <a:srgbClr val="64748B"/>
                </a:solidFill>
                <a:latin typeface="Noto Sans JP"/>
              </a:rPr>
              <a:t>Foaming Index（発泡後厚 / 初期厚）</a:t>
            </a:r>
          </a:p>
        </p:txBody>
      </p:sp>
      <p:sp>
        <p:nvSpPr>
          <p:cNvPr id="34" name="TextBox 33"/>
          <p:cNvSpPr txBox="1"/>
          <p:nvPr/>
        </p:nvSpPr>
        <p:spPr>
          <a:xfrm>
            <a:off x="365760" y="4590288"/>
            <a:ext cx="292608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1-5（SDS 0%）</a:t>
            </a:r>
          </a:p>
        </p:txBody>
      </p:sp>
      <p:sp>
        <p:nvSpPr>
          <p:cNvPr id="35" name="Rounded Rectangle 34"/>
          <p:cNvSpPr/>
          <p:nvPr/>
        </p:nvSpPr>
        <p:spPr>
          <a:xfrm>
            <a:off x="3383280" y="4663440"/>
            <a:ext cx="308194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3383280" y="4663440"/>
            <a:ext cx="3081948"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56668" y="4590288"/>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≈2.6×</a:t>
            </a:r>
          </a:p>
        </p:txBody>
      </p:sp>
      <p:sp>
        <p:nvSpPr>
          <p:cNvPr id="38" name="TextBox 37"/>
          <p:cNvSpPr txBox="1"/>
          <p:nvPr/>
        </p:nvSpPr>
        <p:spPr>
          <a:xfrm>
            <a:off x="365760" y="4956048"/>
            <a:ext cx="292608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39" name="Rounded Rectangle 38"/>
          <p:cNvSpPr/>
          <p:nvPr/>
        </p:nvSpPr>
        <p:spPr>
          <a:xfrm>
            <a:off x="3383280" y="5029200"/>
            <a:ext cx="308194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3383280" y="5029200"/>
            <a:ext cx="2712114" cy="146304"/>
          </a:xfrm>
          <a:prstGeom prst="roundRect">
            <a:avLst>
              <a:gd name="adj" fmla="val 50000"/>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56668" y="4956048"/>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≈2.3×</a:t>
            </a:r>
          </a:p>
        </p:txBody>
      </p:sp>
      <p:sp>
        <p:nvSpPr>
          <p:cNvPr id="42" name="TextBox 41"/>
          <p:cNvSpPr txBox="1"/>
          <p:nvPr/>
        </p:nvSpPr>
        <p:spPr>
          <a:xfrm>
            <a:off x="365760" y="5321808"/>
            <a:ext cx="292608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1-5-0.5</a:t>
            </a:r>
          </a:p>
        </p:txBody>
      </p:sp>
      <p:sp>
        <p:nvSpPr>
          <p:cNvPr id="43" name="Rounded Rectangle 42"/>
          <p:cNvSpPr/>
          <p:nvPr/>
        </p:nvSpPr>
        <p:spPr>
          <a:xfrm>
            <a:off x="3383280" y="5394960"/>
            <a:ext cx="308194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3383280" y="5394960"/>
            <a:ext cx="2219002"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56668" y="5321808"/>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さらに低下</a:t>
            </a:r>
          </a:p>
        </p:txBody>
      </p:sp>
      <p:sp>
        <p:nvSpPr>
          <p:cNvPr id="46" name="TextBox 45"/>
          <p:cNvSpPr txBox="1"/>
          <p:nvPr/>
        </p:nvSpPr>
        <p:spPr>
          <a:xfrm>
            <a:off x="365760" y="5687568"/>
            <a:ext cx="292608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AquaGel-K（参考）</a:t>
            </a:r>
          </a:p>
        </p:txBody>
      </p:sp>
      <p:sp>
        <p:nvSpPr>
          <p:cNvPr id="47" name="Rounded Rectangle 46"/>
          <p:cNvSpPr/>
          <p:nvPr/>
        </p:nvSpPr>
        <p:spPr>
          <a:xfrm>
            <a:off x="3383280" y="5760720"/>
            <a:ext cx="308194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3383280" y="5760720"/>
            <a:ext cx="6163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556668" y="5687568"/>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a:t>
            </a:r>
          </a:p>
        </p:txBody>
      </p:sp>
      <p:sp>
        <p:nvSpPr>
          <p:cNvPr id="50" name="Rounded Rectangle 49"/>
          <p:cNvSpPr/>
          <p:nvPr/>
        </p:nvSpPr>
        <p:spPr>
          <a:xfrm>
            <a:off x="365760" y="6144768"/>
            <a:ext cx="11460175" cy="530352"/>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365760" y="6144768"/>
            <a:ext cx="54864" cy="530352"/>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6144768"/>
            <a:ext cx="365760" cy="530352"/>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3" name="TextBox 52"/>
          <p:cNvSpPr txBox="1"/>
          <p:nvPr/>
        </p:nvSpPr>
        <p:spPr>
          <a:xfrm>
            <a:off x="960120" y="6144768"/>
            <a:ext cx="10774375" cy="530352"/>
          </a:xfrm>
          <a:prstGeom prst="rect">
            <a:avLst/>
          </a:prstGeom>
          <a:noFill/>
        </p:spPr>
        <p:txBody>
          <a:bodyPr wrap="square" anchor="ctr" lIns="36000" rIns="36000" tIns="18000" bIns="18000">
            <a:spAutoFit/>
          </a:bodyPr>
          <a:lstStyle/>
          <a:p>
            <a:pPr algn="l"/>
            <a:r>
              <a:rPr sz="1300" b="1" i="0">
                <a:solidFill>
                  <a:srgbClr val="FFFFFF"/>
                </a:solidFill>
                <a:latin typeface="Noto Sans JP"/>
              </a:rPr>
              <a:t>SDS は発泡に寄与せず、むしろ気泡を粗大化・不均一化（Fig. 4c SEM）→ 発泡指数低下の原因</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13/15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SDS濃度がエアロゲル微細構造に与える影響</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32 / 43</a:t>
            </a:r>
          </a:p>
        </p:txBody>
      </p:sp>
      <p:sp>
        <p:nvSpPr>
          <p:cNvPr id="10" name="Rounded Rectangle 9"/>
          <p:cNvSpPr/>
          <p:nvPr/>
        </p:nvSpPr>
        <p:spPr>
          <a:xfrm>
            <a:off x="365760" y="859536"/>
            <a:ext cx="11460175" cy="27432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4c</a:t>
            </a:r>
          </a:p>
        </p:txBody>
      </p:sp>
      <p:sp>
        <p:nvSpPr>
          <p:cNvPr id="13" name="TextBox 12"/>
          <p:cNvSpPr txBox="1"/>
          <p:nvPr/>
        </p:nvSpPr>
        <p:spPr>
          <a:xfrm>
            <a:off x="365760" y="859536"/>
            <a:ext cx="11460175" cy="27432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6393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SDS濃度別のFE-SEM観察像（0%, 0.1%, 0.5%）</a:t>
            </a:r>
          </a:p>
        </p:txBody>
      </p:sp>
      <p:sp>
        <p:nvSpPr>
          <p:cNvPr id="15" name="Rounded Rectangle 14"/>
          <p:cNvSpPr/>
          <p:nvPr/>
        </p:nvSpPr>
        <p:spPr>
          <a:xfrm>
            <a:off x="365760" y="4014216"/>
            <a:ext cx="3734714" cy="21031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4215384"/>
            <a:ext cx="3405530" cy="320040"/>
          </a:xfrm>
          <a:prstGeom prst="rect">
            <a:avLst/>
          </a:prstGeom>
          <a:noFill/>
        </p:spPr>
        <p:txBody>
          <a:bodyPr wrap="square" anchor="t" lIns="36000" rIns="36000" tIns="18000" bIns="18000">
            <a:spAutoFit/>
          </a:bodyPr>
          <a:lstStyle/>
          <a:p>
            <a:pPr algn="l"/>
            <a:r>
              <a:rPr sz="1300" b="1" i="0">
                <a:solidFill>
                  <a:srgbClr val="3B5174"/>
                </a:solidFill>
                <a:latin typeface="Noto Sans JP"/>
              </a:rPr>
              <a:t>0% SDS</a:t>
            </a:r>
          </a:p>
        </p:txBody>
      </p:sp>
      <p:sp>
        <p:nvSpPr>
          <p:cNvPr id="17" name="TextBox 16"/>
          <p:cNvSpPr txBox="1"/>
          <p:nvPr/>
        </p:nvSpPr>
        <p:spPr>
          <a:xfrm>
            <a:off x="53035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最高の発泡指数（≈2.6）。SDSなしが膨張率最大。</a:t>
            </a:r>
          </a:p>
        </p:txBody>
      </p:sp>
      <p:sp>
        <p:nvSpPr>
          <p:cNvPr id="18" name="Rounded Rectangle 17"/>
          <p:cNvSpPr/>
          <p:nvPr/>
        </p:nvSpPr>
        <p:spPr>
          <a:xfrm>
            <a:off x="422849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9308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0.1% SDS</a:t>
            </a:r>
          </a:p>
        </p:txBody>
      </p:sp>
      <p:sp>
        <p:nvSpPr>
          <p:cNvPr id="20" name="TextBox 19"/>
          <p:cNvSpPr txBox="1"/>
          <p:nvPr/>
        </p:nvSpPr>
        <p:spPr>
          <a:xfrm>
            <a:off x="439308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均一な微細気泡構造。発泡指数≈2.3（SDSなしより低い）。</a:t>
            </a:r>
          </a:p>
        </p:txBody>
      </p:sp>
      <p:sp>
        <p:nvSpPr>
          <p:cNvPr id="21" name="Rounded Rectangle 20"/>
          <p:cNvSpPr/>
          <p:nvPr/>
        </p:nvSpPr>
        <p:spPr>
          <a:xfrm>
            <a:off x="809122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581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0.5% SDS（過剰）</a:t>
            </a:r>
          </a:p>
        </p:txBody>
      </p:sp>
      <p:sp>
        <p:nvSpPr>
          <p:cNvPr id="23" name="TextBox 22"/>
          <p:cNvSpPr txBox="1"/>
          <p:nvPr/>
        </p:nvSpPr>
        <p:spPr>
          <a:xfrm>
            <a:off x="825581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気泡サイズ不均一・粗大化。発泡指数がさらに低下。</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14/15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FT-IR・XPS：化学組成の変化（燃焼前後）</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33 / 43</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FT-IR 主要ピーク帰属</a:t>
            </a:r>
          </a:p>
        </p:txBody>
      </p:sp>
      <p:sp>
        <p:nvSpPr>
          <p:cNvPr id="11" name="Rectangle 10"/>
          <p:cNvSpPr/>
          <p:nvPr/>
        </p:nvSpPr>
        <p:spPr>
          <a:xfrm>
            <a:off x="365760" y="1243584"/>
            <a:ext cx="5638647" cy="4572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1243584"/>
            <a:ext cx="1209786"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波数 (cm⁻¹)</a:t>
            </a:r>
          </a:p>
        </p:txBody>
      </p:sp>
      <p:sp>
        <p:nvSpPr>
          <p:cNvPr id="13" name="TextBox 12"/>
          <p:cNvSpPr txBox="1"/>
          <p:nvPr/>
        </p:nvSpPr>
        <p:spPr>
          <a:xfrm>
            <a:off x="1758426" y="1243584"/>
            <a:ext cx="2619448"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帰属</a:t>
            </a:r>
          </a:p>
        </p:txBody>
      </p:sp>
      <p:sp>
        <p:nvSpPr>
          <p:cNvPr id="14" name="TextBox 13"/>
          <p:cNvSpPr txBox="1"/>
          <p:nvPr/>
        </p:nvSpPr>
        <p:spPr>
          <a:xfrm>
            <a:off x="4469314" y="1243584"/>
            <a:ext cx="1535092"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燃焼後</a:t>
            </a:r>
          </a:p>
        </p:txBody>
      </p:sp>
      <p:sp>
        <p:nvSpPr>
          <p:cNvPr id="15" name="Rectangle 14"/>
          <p:cNvSpPr/>
          <p:nvPr/>
        </p:nvSpPr>
        <p:spPr>
          <a:xfrm>
            <a:off x="365760" y="17007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17007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3200–3500</a:t>
            </a:r>
          </a:p>
        </p:txBody>
      </p:sp>
      <p:sp>
        <p:nvSpPr>
          <p:cNvPr id="17" name="TextBox 16"/>
          <p:cNvSpPr txBox="1"/>
          <p:nvPr/>
        </p:nvSpPr>
        <p:spPr>
          <a:xfrm>
            <a:off x="1758426" y="17007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O–H 伸縮（セルロース・水）</a:t>
            </a:r>
          </a:p>
        </p:txBody>
      </p:sp>
      <p:sp>
        <p:nvSpPr>
          <p:cNvPr id="18" name="TextBox 17"/>
          <p:cNvSpPr txBox="1"/>
          <p:nvPr/>
        </p:nvSpPr>
        <p:spPr>
          <a:xfrm>
            <a:off x="4469314" y="17007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消失（脱水）</a:t>
            </a:r>
          </a:p>
        </p:txBody>
      </p:sp>
      <p:sp>
        <p:nvSpPr>
          <p:cNvPr id="19" name="Rectangle 18"/>
          <p:cNvSpPr/>
          <p:nvPr/>
        </p:nvSpPr>
        <p:spPr>
          <a:xfrm>
            <a:off x="365760" y="21579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579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2850–2950</a:t>
            </a:r>
          </a:p>
        </p:txBody>
      </p:sp>
      <p:sp>
        <p:nvSpPr>
          <p:cNvPr id="21" name="TextBox 20"/>
          <p:cNvSpPr txBox="1"/>
          <p:nvPr/>
        </p:nvSpPr>
        <p:spPr>
          <a:xfrm>
            <a:off x="1758426" y="21579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C–H 伸縮（メチル基）</a:t>
            </a:r>
          </a:p>
        </p:txBody>
      </p:sp>
      <p:sp>
        <p:nvSpPr>
          <p:cNvPr id="22" name="TextBox 21"/>
          <p:cNvSpPr txBox="1"/>
          <p:nvPr/>
        </p:nvSpPr>
        <p:spPr>
          <a:xfrm>
            <a:off x="4469314" y="21579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消失（有機分解）</a:t>
            </a:r>
          </a:p>
        </p:txBody>
      </p:sp>
      <p:sp>
        <p:nvSpPr>
          <p:cNvPr id="23" name="Rectangle 22"/>
          <p:cNvSpPr/>
          <p:nvPr/>
        </p:nvSpPr>
        <p:spPr>
          <a:xfrm>
            <a:off x="365760" y="26151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26151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1050–1100</a:t>
            </a:r>
          </a:p>
        </p:txBody>
      </p:sp>
      <p:sp>
        <p:nvSpPr>
          <p:cNvPr id="25" name="TextBox 24"/>
          <p:cNvSpPr txBox="1"/>
          <p:nvPr/>
        </p:nvSpPr>
        <p:spPr>
          <a:xfrm>
            <a:off x="1758426" y="26151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Si–O–Si 伸縮（シリカ）</a:t>
            </a:r>
          </a:p>
        </p:txBody>
      </p:sp>
      <p:sp>
        <p:nvSpPr>
          <p:cNvPr id="26" name="TextBox 25"/>
          <p:cNvSpPr txBox="1"/>
          <p:nvPr/>
        </p:nvSpPr>
        <p:spPr>
          <a:xfrm>
            <a:off x="4469314" y="26151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強度増大</a:t>
            </a:r>
          </a:p>
        </p:txBody>
      </p:sp>
      <p:sp>
        <p:nvSpPr>
          <p:cNvPr id="27" name="Rectangle 26"/>
          <p:cNvSpPr/>
          <p:nvPr/>
        </p:nvSpPr>
        <p:spPr>
          <a:xfrm>
            <a:off x="365760" y="30723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30723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800</a:t>
            </a:r>
          </a:p>
        </p:txBody>
      </p:sp>
      <p:sp>
        <p:nvSpPr>
          <p:cNvPr id="29" name="TextBox 28"/>
          <p:cNvSpPr txBox="1"/>
          <p:nvPr/>
        </p:nvSpPr>
        <p:spPr>
          <a:xfrm>
            <a:off x="1758426" y="30723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変角振動</a:t>
            </a:r>
          </a:p>
        </p:txBody>
      </p:sp>
      <p:sp>
        <p:nvSpPr>
          <p:cNvPr id="30" name="TextBox 29"/>
          <p:cNvSpPr txBox="1"/>
          <p:nvPr/>
        </p:nvSpPr>
        <p:spPr>
          <a:xfrm>
            <a:off x="4469314" y="30723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明確化</a:t>
            </a:r>
          </a:p>
        </p:txBody>
      </p:sp>
      <p:sp>
        <p:nvSpPr>
          <p:cNvPr id="31" name="Rectangle 30"/>
          <p:cNvSpPr/>
          <p:nvPr/>
        </p:nvSpPr>
        <p:spPr>
          <a:xfrm>
            <a:off x="365760" y="35295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35295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450</a:t>
            </a:r>
          </a:p>
        </p:txBody>
      </p:sp>
      <p:sp>
        <p:nvSpPr>
          <p:cNvPr id="33" name="TextBox 32"/>
          <p:cNvSpPr txBox="1"/>
          <p:nvPr/>
        </p:nvSpPr>
        <p:spPr>
          <a:xfrm>
            <a:off x="1758426" y="35295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曲げ振動</a:t>
            </a:r>
          </a:p>
        </p:txBody>
      </p:sp>
      <p:sp>
        <p:nvSpPr>
          <p:cNvPr id="34" name="TextBox 33"/>
          <p:cNvSpPr txBox="1"/>
          <p:nvPr/>
        </p:nvSpPr>
        <p:spPr>
          <a:xfrm>
            <a:off x="4469314" y="35295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シャープ化</a:t>
            </a:r>
          </a:p>
        </p:txBody>
      </p:sp>
      <p:sp>
        <p:nvSpPr>
          <p:cNvPr id="35" name="Rounded Rectangle 34"/>
          <p:cNvSpPr/>
          <p:nvPr/>
        </p:nvSpPr>
        <p:spPr>
          <a:xfrm>
            <a:off x="365760" y="4169664"/>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65760" y="4169664"/>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4169664"/>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960120" y="4169664"/>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燃焼後のスペクトルは純シリカ（SiO₂）と一致 → エアロゲル化を化学的に確認</a:t>
            </a:r>
          </a:p>
        </p:txBody>
      </p:sp>
      <p:sp>
        <p:nvSpPr>
          <p:cNvPr id="39" name="TextBox 38"/>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XPS 表面元素組成（at%）</a:t>
            </a:r>
          </a:p>
        </p:txBody>
      </p:sp>
      <p:sp>
        <p:nvSpPr>
          <p:cNvPr id="40" name="Rectangle 39"/>
          <p:cNvSpPr/>
          <p:nvPr/>
        </p:nvSpPr>
        <p:spPr>
          <a:xfrm>
            <a:off x="6187287" y="1243584"/>
            <a:ext cx="5638647" cy="6400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78727" y="1243584"/>
            <a:ext cx="192236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42" name="TextBox 41"/>
          <p:cNvSpPr txBox="1"/>
          <p:nvPr/>
        </p:nvSpPr>
        <p:spPr>
          <a:xfrm>
            <a:off x="8292530"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燃焼前 (at%)</a:t>
            </a:r>
          </a:p>
        </p:txBody>
      </p:sp>
      <p:sp>
        <p:nvSpPr>
          <p:cNvPr id="43" name="TextBox 42"/>
          <p:cNvSpPr txBox="1"/>
          <p:nvPr/>
        </p:nvSpPr>
        <p:spPr>
          <a:xfrm>
            <a:off x="10104952"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燃焼後 (at%)</a:t>
            </a:r>
          </a:p>
        </p:txBody>
      </p:sp>
      <p:sp>
        <p:nvSpPr>
          <p:cNvPr id="44" name="Rectangle 43"/>
          <p:cNvSpPr/>
          <p:nvPr/>
        </p:nvSpPr>
        <p:spPr>
          <a:xfrm>
            <a:off x="6187287" y="1883664"/>
            <a:ext cx="5638647" cy="64008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78727" y="188366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a:t>
            </a:r>
          </a:p>
        </p:txBody>
      </p:sp>
      <p:sp>
        <p:nvSpPr>
          <p:cNvPr id="46" name="TextBox 45"/>
          <p:cNvSpPr txBox="1"/>
          <p:nvPr/>
        </p:nvSpPr>
        <p:spPr>
          <a:xfrm>
            <a:off x="8292530" y="188366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25.6</a:t>
            </a:r>
          </a:p>
        </p:txBody>
      </p:sp>
      <p:sp>
        <p:nvSpPr>
          <p:cNvPr id="47" name="TextBox 46"/>
          <p:cNvSpPr txBox="1"/>
          <p:nvPr/>
        </p:nvSpPr>
        <p:spPr>
          <a:xfrm>
            <a:off x="10104952" y="188366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14.9</a:t>
            </a:r>
          </a:p>
        </p:txBody>
      </p:sp>
      <p:sp>
        <p:nvSpPr>
          <p:cNvPr id="48" name="Rectangle 47"/>
          <p:cNvSpPr/>
          <p:nvPr/>
        </p:nvSpPr>
        <p:spPr>
          <a:xfrm>
            <a:off x="6187287" y="2523744"/>
            <a:ext cx="5638647" cy="64008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78727" y="252374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a:t>
            </a:r>
          </a:p>
        </p:txBody>
      </p:sp>
      <p:sp>
        <p:nvSpPr>
          <p:cNvPr id="50" name="TextBox 49"/>
          <p:cNvSpPr txBox="1"/>
          <p:nvPr/>
        </p:nvSpPr>
        <p:spPr>
          <a:xfrm>
            <a:off x="8292530" y="252374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38.3</a:t>
            </a:r>
          </a:p>
        </p:txBody>
      </p:sp>
      <p:sp>
        <p:nvSpPr>
          <p:cNvPr id="51" name="TextBox 50"/>
          <p:cNvSpPr txBox="1"/>
          <p:nvPr/>
        </p:nvSpPr>
        <p:spPr>
          <a:xfrm>
            <a:off x="10104952" y="252374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4.8</a:t>
            </a:r>
          </a:p>
        </p:txBody>
      </p:sp>
      <p:sp>
        <p:nvSpPr>
          <p:cNvPr id="52" name="Rounded Rectangle 51"/>
          <p:cNvSpPr/>
          <p:nvPr/>
        </p:nvSpPr>
        <p:spPr>
          <a:xfrm>
            <a:off x="6187287" y="3300984"/>
            <a:ext cx="5638647" cy="77724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187287" y="3300984"/>
            <a:ext cx="54864" cy="77724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70167" y="3300984"/>
            <a:ext cx="365760" cy="77724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5" name="TextBox 54"/>
          <p:cNvSpPr txBox="1"/>
          <p:nvPr/>
        </p:nvSpPr>
        <p:spPr>
          <a:xfrm>
            <a:off x="6781647" y="3300984"/>
            <a:ext cx="4952847" cy="777240"/>
          </a:xfrm>
          <a:prstGeom prst="rect">
            <a:avLst/>
          </a:prstGeom>
          <a:noFill/>
        </p:spPr>
        <p:txBody>
          <a:bodyPr wrap="square" anchor="ctr" lIns="36000" rIns="36000" tIns="18000" bIns="18000">
            <a:spAutoFit/>
          </a:bodyPr>
          <a:lstStyle/>
          <a:p>
            <a:pPr algn="l"/>
            <a:r>
              <a:rPr sz="1300" b="1" i="0">
                <a:solidFill>
                  <a:srgbClr val="FFFFFF"/>
                </a:solidFill>
                <a:latin typeface="Noto Sans JP"/>
              </a:rPr>
              <a:t>炭素濃度が大幅減（MHEC: 38.3→4.8 at%）→ 有機マトリクスが燃焼除去、シリカが残存・露出</a:t>
            </a:r>
          </a:p>
        </p:txBody>
      </p:sp>
      <p:sp>
        <p:nvSpPr>
          <p:cNvPr id="56" name="Rounded Rectangle 55"/>
          <p:cNvSpPr/>
          <p:nvPr/>
        </p:nvSpPr>
        <p:spPr>
          <a:xfrm>
            <a:off x="6187287" y="4261104"/>
            <a:ext cx="5638647" cy="7772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51879" y="4389120"/>
            <a:ext cx="5309463"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ピーク位置の確認</a:t>
            </a:r>
          </a:p>
        </p:txBody>
      </p:sp>
      <p:sp>
        <p:nvSpPr>
          <p:cNvPr id="58" name="TextBox 57"/>
          <p:cNvSpPr txBox="1"/>
          <p:nvPr/>
        </p:nvSpPr>
        <p:spPr>
          <a:xfrm>
            <a:off x="6351879" y="4645152"/>
            <a:ext cx="5309463" cy="411480"/>
          </a:xfrm>
          <a:prstGeom prst="rect">
            <a:avLst/>
          </a:prstGeom>
          <a:noFill/>
        </p:spPr>
        <p:txBody>
          <a:bodyPr wrap="square" anchor="t" lIns="36000" rIns="36000" tIns="18000" bIns="18000">
            <a:spAutoFit/>
          </a:bodyPr>
          <a:lstStyle/>
          <a:p>
            <a:pPr algn="l"/>
            <a:r>
              <a:rPr sz="1200" b="0" i="0">
                <a:solidFill>
                  <a:srgbClr val="475569"/>
                </a:solidFill>
                <a:latin typeface="Noto Sans JP"/>
              </a:rPr>
              <a:t>Si 2p ピーク：~103.5 eV（SiO₂と一致）／ O 1s ピーク：~533 eV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15/15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TGA/DSC：熱分解プロファイルと各成分の役割</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34 / 43</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TGA：重量損失プロファイル（N₂雰囲気）</a:t>
            </a:r>
          </a:p>
        </p:txBody>
      </p:sp>
      <p:sp>
        <p:nvSpPr>
          <p:cNvPr id="11" name="TextBox 10"/>
          <p:cNvSpPr txBox="1"/>
          <p:nvPr/>
        </p:nvSpPr>
        <p:spPr>
          <a:xfrm>
            <a:off x="365760" y="1271016"/>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50–150°C：自由水・吸着水の蒸発</a:t>
            </a:r>
          </a:p>
        </p:txBody>
      </p:sp>
      <p:sp>
        <p:nvSpPr>
          <p:cNvPr id="12" name="Rounded Rectangle 11"/>
          <p:cNvSpPr/>
          <p:nvPr/>
        </p:nvSpPr>
        <p:spPr>
          <a:xfrm>
            <a:off x="365760" y="1545336"/>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65760" y="1545336"/>
            <a:ext cx="1691594" cy="128016"/>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1837944"/>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200–350°C：HEC・MC有機鎖の熱分解（主要重量損失）</a:t>
            </a:r>
          </a:p>
        </p:txBody>
      </p:sp>
      <p:sp>
        <p:nvSpPr>
          <p:cNvPr id="15" name="Rounded Rectangle 14"/>
          <p:cNvSpPr/>
          <p:nvPr/>
        </p:nvSpPr>
        <p:spPr>
          <a:xfrm>
            <a:off x="365760" y="2112264"/>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65760" y="2112264"/>
            <a:ext cx="4792850" cy="128016"/>
          </a:xfrm>
          <a:prstGeom prst="roundRect">
            <a:avLst>
              <a:gd name="adj" fmla="val 50000"/>
            </a:avLst>
          </a:prstGeom>
          <a:solidFill>
            <a:srgbClr val="A056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2404872"/>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350–600°C：残留炭素の酸化・消失（空気中）</a:t>
            </a:r>
          </a:p>
        </p:txBody>
      </p:sp>
      <p:sp>
        <p:nvSpPr>
          <p:cNvPr id="18" name="Rounded Rectangle 17"/>
          <p:cNvSpPr/>
          <p:nvPr/>
        </p:nvSpPr>
        <p:spPr>
          <a:xfrm>
            <a:off x="365760" y="2679192"/>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2679192"/>
            <a:ext cx="2819323" cy="128016"/>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2971800"/>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&gt;600°C：シリカ残渣（~5–8 wt%、変化なし）</a:t>
            </a:r>
          </a:p>
        </p:txBody>
      </p:sp>
      <p:sp>
        <p:nvSpPr>
          <p:cNvPr id="21" name="Rounded Rectangle 20"/>
          <p:cNvSpPr/>
          <p:nvPr/>
        </p:nvSpPr>
        <p:spPr>
          <a:xfrm>
            <a:off x="365760" y="3246120"/>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65760" y="3246120"/>
            <a:ext cx="451091" cy="128016"/>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DSC：熱イベントの帰属</a:t>
            </a:r>
          </a:p>
        </p:txBody>
      </p:sp>
      <p:sp>
        <p:nvSpPr>
          <p:cNvPr id="24" name="Rectangle 23"/>
          <p:cNvSpPr/>
          <p:nvPr/>
        </p:nvSpPr>
        <p:spPr>
          <a:xfrm>
            <a:off x="6187287" y="1271016"/>
            <a:ext cx="5638647" cy="36576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78727" y="1271016"/>
            <a:ext cx="1392414"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温度域</a:t>
            </a:r>
          </a:p>
        </p:txBody>
      </p:sp>
      <p:sp>
        <p:nvSpPr>
          <p:cNvPr id="26" name="TextBox 25"/>
          <p:cNvSpPr txBox="1"/>
          <p:nvPr/>
        </p:nvSpPr>
        <p:spPr>
          <a:xfrm>
            <a:off x="7762582" y="1271016"/>
            <a:ext cx="2876269"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イベント</a:t>
            </a:r>
          </a:p>
        </p:txBody>
      </p:sp>
      <p:sp>
        <p:nvSpPr>
          <p:cNvPr id="27" name="TextBox 26"/>
          <p:cNvSpPr txBox="1"/>
          <p:nvPr/>
        </p:nvSpPr>
        <p:spPr>
          <a:xfrm>
            <a:off x="10730291" y="1271016"/>
            <a:ext cx="1095643"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ΔH</a:t>
            </a:r>
          </a:p>
        </p:txBody>
      </p:sp>
      <p:sp>
        <p:nvSpPr>
          <p:cNvPr id="28" name="Rectangle 27"/>
          <p:cNvSpPr/>
          <p:nvPr/>
        </p:nvSpPr>
        <p:spPr>
          <a:xfrm>
            <a:off x="6187287" y="163677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78727" y="163677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~100°C</a:t>
            </a:r>
          </a:p>
        </p:txBody>
      </p:sp>
      <p:sp>
        <p:nvSpPr>
          <p:cNvPr id="30" name="TextBox 29"/>
          <p:cNvSpPr txBox="1"/>
          <p:nvPr/>
        </p:nvSpPr>
        <p:spPr>
          <a:xfrm>
            <a:off x="7762582" y="163677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吸熱：水の蒸発</a:t>
            </a:r>
          </a:p>
        </p:txBody>
      </p:sp>
      <p:sp>
        <p:nvSpPr>
          <p:cNvPr id="31" name="TextBox 30"/>
          <p:cNvSpPr txBox="1"/>
          <p:nvPr/>
        </p:nvSpPr>
        <p:spPr>
          <a:xfrm>
            <a:off x="10730291" y="1636776"/>
            <a:ext cx="1095643"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a:t>
            </a:r>
          </a:p>
        </p:txBody>
      </p:sp>
      <p:sp>
        <p:nvSpPr>
          <p:cNvPr id="32" name="Rectangle 31"/>
          <p:cNvSpPr/>
          <p:nvPr/>
        </p:nvSpPr>
        <p:spPr>
          <a:xfrm>
            <a:off x="6187287" y="2002536"/>
            <a:ext cx="5638647" cy="36576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78727" y="200253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~55–80°C</a:t>
            </a:r>
          </a:p>
        </p:txBody>
      </p:sp>
      <p:sp>
        <p:nvSpPr>
          <p:cNvPr id="34" name="TextBox 33"/>
          <p:cNvSpPr txBox="1"/>
          <p:nvPr/>
        </p:nvSpPr>
        <p:spPr>
          <a:xfrm>
            <a:off x="7762582" y="200253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発熱：MCゲル化転移</a:t>
            </a:r>
          </a:p>
        </p:txBody>
      </p:sp>
      <p:sp>
        <p:nvSpPr>
          <p:cNvPr id="35" name="TextBox 34"/>
          <p:cNvSpPr txBox="1"/>
          <p:nvPr/>
        </p:nvSpPr>
        <p:spPr>
          <a:xfrm>
            <a:off x="10730291" y="2002536"/>
            <a:ext cx="1095643" cy="365760"/>
          </a:xfrm>
          <a:prstGeom prst="rect">
            <a:avLst/>
          </a:prstGeom>
          <a:noFill/>
        </p:spPr>
        <p:txBody>
          <a:bodyPr wrap="square" anchor="ctr" lIns="36000" rIns="36000" tIns="18000" bIns="18000">
            <a:spAutoFit/>
          </a:bodyPr>
          <a:lstStyle/>
          <a:p>
            <a:pPr algn="l"/>
            <a:r>
              <a:rPr sz="1100" b="0" i="0">
                <a:solidFill>
                  <a:srgbClr val="5B8C5A"/>
                </a:solidFill>
                <a:latin typeface="Noto Sans JP"/>
              </a:rPr>
              <a:t>微発熱</a:t>
            </a:r>
          </a:p>
        </p:txBody>
      </p:sp>
      <p:sp>
        <p:nvSpPr>
          <p:cNvPr id="36" name="Rectangle 35"/>
          <p:cNvSpPr/>
          <p:nvPr/>
        </p:nvSpPr>
        <p:spPr>
          <a:xfrm>
            <a:off x="6187287" y="236829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78727" y="236829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~250–300°C</a:t>
            </a:r>
          </a:p>
        </p:txBody>
      </p:sp>
      <p:sp>
        <p:nvSpPr>
          <p:cNvPr id="38" name="TextBox 37"/>
          <p:cNvSpPr txBox="1"/>
          <p:nvPr/>
        </p:nvSpPr>
        <p:spPr>
          <a:xfrm>
            <a:off x="7762582" y="236829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発熱：有機鎖の酸化分解</a:t>
            </a:r>
          </a:p>
        </p:txBody>
      </p:sp>
      <p:sp>
        <p:nvSpPr>
          <p:cNvPr id="39" name="TextBox 38"/>
          <p:cNvSpPr txBox="1"/>
          <p:nvPr/>
        </p:nvSpPr>
        <p:spPr>
          <a:xfrm>
            <a:off x="10730291" y="2368296"/>
            <a:ext cx="1095643" cy="365760"/>
          </a:xfrm>
          <a:prstGeom prst="rect">
            <a:avLst/>
          </a:prstGeom>
          <a:noFill/>
        </p:spPr>
        <p:txBody>
          <a:bodyPr wrap="square" anchor="ctr" lIns="36000" rIns="36000" tIns="18000" bIns="18000">
            <a:spAutoFit/>
          </a:bodyPr>
          <a:lstStyle/>
          <a:p>
            <a:pPr algn="l"/>
            <a:r>
              <a:rPr sz="1100" b="0" i="0">
                <a:solidFill>
                  <a:srgbClr val="A05656"/>
                </a:solidFill>
                <a:latin typeface="Noto Sans JP"/>
              </a:rPr>
              <a:t>発熱</a:t>
            </a:r>
          </a:p>
        </p:txBody>
      </p:sp>
      <p:sp>
        <p:nvSpPr>
          <p:cNvPr id="40" name="Rounded Rectangle 39"/>
          <p:cNvSpPr/>
          <p:nvPr/>
        </p:nvSpPr>
        <p:spPr>
          <a:xfrm>
            <a:off x="6187287"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15303"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最終シリカ残渣</a:t>
            </a:r>
          </a:p>
        </p:txBody>
      </p:sp>
      <p:sp>
        <p:nvSpPr>
          <p:cNvPr id="42" name="TextBox 41"/>
          <p:cNvSpPr txBox="1"/>
          <p:nvPr/>
        </p:nvSpPr>
        <p:spPr>
          <a:xfrm>
            <a:off x="6315303" y="3374136"/>
            <a:ext cx="2494711"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~5–8 wt%</a:t>
            </a:r>
          </a:p>
        </p:txBody>
      </p:sp>
      <p:sp>
        <p:nvSpPr>
          <p:cNvPr id="43" name="TextBox 42"/>
          <p:cNvSpPr txBox="1"/>
          <p:nvPr/>
        </p:nvSpPr>
        <p:spPr>
          <a:xfrm>
            <a:off x="6315303"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CSP 5 wt% に相当</a:t>
            </a:r>
          </a:p>
        </p:txBody>
      </p:sp>
      <p:sp>
        <p:nvSpPr>
          <p:cNvPr id="44" name="Rounded Rectangle 43"/>
          <p:cNvSpPr/>
          <p:nvPr/>
        </p:nvSpPr>
        <p:spPr>
          <a:xfrm>
            <a:off x="9075191"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203207"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セルロース分解ピーク</a:t>
            </a:r>
          </a:p>
        </p:txBody>
      </p:sp>
      <p:sp>
        <p:nvSpPr>
          <p:cNvPr id="46" name="TextBox 45"/>
          <p:cNvSpPr txBox="1"/>
          <p:nvPr/>
        </p:nvSpPr>
        <p:spPr>
          <a:xfrm>
            <a:off x="9203207" y="3374136"/>
            <a:ext cx="2494711" cy="411480"/>
          </a:xfrm>
          <a:prstGeom prst="rect">
            <a:avLst/>
          </a:prstGeom>
          <a:noFill/>
        </p:spPr>
        <p:txBody>
          <a:bodyPr wrap="square" anchor="t" lIns="36000" rIns="36000" tIns="18000" bIns="18000">
            <a:spAutoFit/>
          </a:bodyPr>
          <a:lstStyle/>
          <a:p>
            <a:pPr algn="l"/>
            <a:r>
              <a:rPr sz="2000" b="1" i="0">
                <a:solidFill>
                  <a:srgbClr val="A05656"/>
                </a:solidFill>
                <a:latin typeface="Noto Sans JP"/>
              </a:rPr>
              <a:t>~280°C</a:t>
            </a:r>
          </a:p>
        </p:txBody>
      </p:sp>
      <p:sp>
        <p:nvSpPr>
          <p:cNvPr id="47" name="TextBox 46"/>
          <p:cNvSpPr txBox="1"/>
          <p:nvPr/>
        </p:nvSpPr>
        <p:spPr>
          <a:xfrm>
            <a:off x="9203207"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HEC/MC共通</a:t>
            </a:r>
          </a:p>
        </p:txBody>
      </p:sp>
      <p:sp>
        <p:nvSpPr>
          <p:cNvPr id="48" name="Rounded Rectangle 47"/>
          <p:cNvSpPr/>
          <p:nvPr/>
        </p:nvSpPr>
        <p:spPr>
          <a:xfrm>
            <a:off x="6187287" y="4288536"/>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187287" y="428853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370167" y="428853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1" name="TextBox 50"/>
          <p:cNvSpPr txBox="1"/>
          <p:nvPr/>
        </p:nvSpPr>
        <p:spPr>
          <a:xfrm>
            <a:off x="6781647" y="4288536"/>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CSP焼結（~200°C〜）とセルロース分解（~280°C〜）が温度的に重複 → エアロゲル化が同期</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1/3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シリカエアロゲル形成のメカニズム</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35 / 43</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5a</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火炎活性化によるWEG → シリカエアロゲル変態の3段階模式図</a:t>
            </a:r>
          </a:p>
        </p:txBody>
      </p:sp>
      <p:sp>
        <p:nvSpPr>
          <p:cNvPr id="15" name="Rounded Rectangle 14"/>
          <p:cNvSpPr/>
          <p:nvPr/>
        </p:nvSpPr>
        <p:spPr>
          <a:xfrm>
            <a:off x="36576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1</a:t>
            </a:r>
          </a:p>
        </p:txBody>
      </p:sp>
      <p:sp>
        <p:nvSpPr>
          <p:cNvPr id="18" name="TextBox 17"/>
          <p:cNvSpPr txBox="1"/>
          <p:nvPr/>
        </p:nvSpPr>
        <p:spPr>
          <a:xfrm>
            <a:off x="54864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Unsintered</a:t>
            </a:r>
          </a:p>
        </p:txBody>
      </p:sp>
      <p:sp>
        <p:nvSpPr>
          <p:cNvPr id="19" name="TextBox 18"/>
          <p:cNvSpPr txBox="1"/>
          <p:nvPr/>
        </p:nvSpPr>
        <p:spPr>
          <a:xfrm>
            <a:off x="54864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980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シリカ粒子が独立分散</a:t>
            </a:r>
          </a:p>
        </p:txBody>
      </p:sp>
      <p:sp>
        <p:nvSpPr>
          <p:cNvPr id="21" name="TextBox 20"/>
          <p:cNvSpPr txBox="1"/>
          <p:nvPr/>
        </p:nvSpPr>
        <p:spPr>
          <a:xfrm>
            <a:off x="54864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980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間隙に水が満たされている</a:t>
            </a:r>
          </a:p>
        </p:txBody>
      </p:sp>
      <p:sp>
        <p:nvSpPr>
          <p:cNvPr id="23" name="TextBox 22"/>
          <p:cNvSpPr txBox="1"/>
          <p:nvPr/>
        </p:nvSpPr>
        <p:spPr>
          <a:xfrm>
            <a:off x="54864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980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粒子間結合なし</a:t>
            </a:r>
          </a:p>
        </p:txBody>
      </p:sp>
      <p:sp>
        <p:nvSpPr>
          <p:cNvPr id="25" name="Rounded Rectangle 24"/>
          <p:cNvSpPr/>
          <p:nvPr/>
        </p:nvSpPr>
        <p:spPr>
          <a:xfrm>
            <a:off x="422849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2849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1137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2</a:t>
            </a:r>
          </a:p>
        </p:txBody>
      </p:sp>
      <p:sp>
        <p:nvSpPr>
          <p:cNvPr id="28" name="TextBox 27"/>
          <p:cNvSpPr txBox="1"/>
          <p:nvPr/>
        </p:nvSpPr>
        <p:spPr>
          <a:xfrm>
            <a:off x="441137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Grain boundary</a:t>
            </a:r>
          </a:p>
        </p:txBody>
      </p:sp>
      <p:sp>
        <p:nvSpPr>
          <p:cNvPr id="29" name="TextBox 28"/>
          <p:cNvSpPr txBox="1"/>
          <p:nvPr/>
        </p:nvSpPr>
        <p:spPr>
          <a:xfrm>
            <a:off x="441137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0" name="TextBox 29"/>
          <p:cNvSpPr txBox="1"/>
          <p:nvPr/>
        </p:nvSpPr>
        <p:spPr>
          <a:xfrm>
            <a:off x="461253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脱水・加熱で粒子が近接</a:t>
            </a:r>
          </a:p>
        </p:txBody>
      </p:sp>
      <p:sp>
        <p:nvSpPr>
          <p:cNvPr id="31" name="TextBox 30"/>
          <p:cNvSpPr txBox="1"/>
          <p:nvPr/>
        </p:nvSpPr>
        <p:spPr>
          <a:xfrm>
            <a:off x="441137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2" name="TextBox 31"/>
          <p:cNvSpPr txBox="1"/>
          <p:nvPr/>
        </p:nvSpPr>
        <p:spPr>
          <a:xfrm>
            <a:off x="461253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粒界（grain boundary）形成</a:t>
            </a:r>
          </a:p>
        </p:txBody>
      </p:sp>
      <p:sp>
        <p:nvSpPr>
          <p:cNvPr id="33" name="TextBox 32"/>
          <p:cNvSpPr txBox="1"/>
          <p:nvPr/>
        </p:nvSpPr>
        <p:spPr>
          <a:xfrm>
            <a:off x="441137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461253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初期ネック形成開始</a:t>
            </a:r>
          </a:p>
        </p:txBody>
      </p:sp>
      <p:sp>
        <p:nvSpPr>
          <p:cNvPr id="35" name="Rounded Rectangle 34"/>
          <p:cNvSpPr/>
          <p:nvPr/>
        </p:nvSpPr>
        <p:spPr>
          <a:xfrm>
            <a:off x="809122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9122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7410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3</a:t>
            </a:r>
          </a:p>
        </p:txBody>
      </p:sp>
      <p:sp>
        <p:nvSpPr>
          <p:cNvPr id="38" name="TextBox 37"/>
          <p:cNvSpPr txBox="1"/>
          <p:nvPr/>
        </p:nvSpPr>
        <p:spPr>
          <a:xfrm>
            <a:off x="827410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Necking &amp; porosity</a:t>
            </a:r>
          </a:p>
        </p:txBody>
      </p:sp>
      <p:sp>
        <p:nvSpPr>
          <p:cNvPr id="39" name="TextBox 38"/>
          <p:cNvSpPr txBox="1"/>
          <p:nvPr/>
        </p:nvSpPr>
        <p:spPr>
          <a:xfrm>
            <a:off x="827410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0" name="TextBox 39"/>
          <p:cNvSpPr txBox="1"/>
          <p:nvPr/>
        </p:nvSpPr>
        <p:spPr>
          <a:xfrm>
            <a:off x="847526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ネックが拡大・強化</a:t>
            </a:r>
          </a:p>
        </p:txBody>
      </p:sp>
      <p:sp>
        <p:nvSpPr>
          <p:cNvPr id="41" name="TextBox 40"/>
          <p:cNvSpPr txBox="1"/>
          <p:nvPr/>
        </p:nvSpPr>
        <p:spPr>
          <a:xfrm>
            <a:off x="827410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2" name="TextBox 41"/>
          <p:cNvSpPr txBox="1"/>
          <p:nvPr/>
        </p:nvSpPr>
        <p:spPr>
          <a:xfrm>
            <a:off x="847526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空隙率低下し骨格が完成</a:t>
            </a:r>
          </a:p>
        </p:txBody>
      </p:sp>
      <p:sp>
        <p:nvSpPr>
          <p:cNvPr id="43" name="TextBox 42"/>
          <p:cNvSpPr txBox="1"/>
          <p:nvPr/>
        </p:nvSpPr>
        <p:spPr>
          <a:xfrm>
            <a:off x="827410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4" name="TextBox 43"/>
          <p:cNvSpPr txBox="1"/>
          <p:nvPr/>
        </p:nvSpPr>
        <p:spPr>
          <a:xfrm>
            <a:off x="847526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SiO₂エアロゲル層が確立</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2/3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燃焼時間に伴う焼結進行（SEM）</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36 / 43</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5b</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HEC+MC/CSP 1-5 を 0, 1, 2, 4分加熱後のクロスセクションSEM像</a:t>
            </a:r>
          </a:p>
        </p:txBody>
      </p:sp>
      <p:sp>
        <p:nvSpPr>
          <p:cNvPr id="15" name="Rounded Rectangle 14"/>
          <p:cNvSpPr/>
          <p:nvPr/>
        </p:nvSpPr>
        <p:spPr>
          <a:xfrm>
            <a:off x="365760"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0 min</a:t>
            </a:r>
          </a:p>
        </p:txBody>
      </p:sp>
      <p:sp>
        <p:nvSpPr>
          <p:cNvPr id="17" name="TextBox 16"/>
          <p:cNvSpPr txBox="1"/>
          <p:nvPr/>
        </p:nvSpPr>
        <p:spPr>
          <a:xfrm>
            <a:off x="512064"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未加熱</a:t>
            </a:r>
          </a:p>
        </p:txBody>
      </p:sp>
      <p:sp>
        <p:nvSpPr>
          <p:cNvPr id="18" name="TextBox 17"/>
          <p:cNvSpPr txBox="1"/>
          <p:nvPr/>
        </p:nvSpPr>
        <p:spPr>
          <a:xfrm>
            <a:off x="548640"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19" name="TextBox 18"/>
          <p:cNvSpPr txBox="1"/>
          <p:nvPr/>
        </p:nvSpPr>
        <p:spPr>
          <a:xfrm>
            <a:off x="731520"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球状粒子が独立分散</a:t>
            </a:r>
          </a:p>
        </p:txBody>
      </p:sp>
      <p:sp>
        <p:nvSpPr>
          <p:cNvPr id="20" name="TextBox 19"/>
          <p:cNvSpPr txBox="1"/>
          <p:nvPr/>
        </p:nvSpPr>
        <p:spPr>
          <a:xfrm>
            <a:off x="548640"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1" name="TextBox 20"/>
          <p:cNvSpPr txBox="1"/>
          <p:nvPr/>
        </p:nvSpPr>
        <p:spPr>
          <a:xfrm>
            <a:off x="731520"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粒子間結合なし</a:t>
            </a:r>
          </a:p>
        </p:txBody>
      </p:sp>
      <p:sp>
        <p:nvSpPr>
          <p:cNvPr id="22" name="TextBox 21"/>
          <p:cNvSpPr txBox="1"/>
          <p:nvPr/>
        </p:nvSpPr>
        <p:spPr>
          <a:xfrm>
            <a:off x="548640"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3" name="TextBox 22"/>
          <p:cNvSpPr txBox="1"/>
          <p:nvPr/>
        </p:nvSpPr>
        <p:spPr>
          <a:xfrm>
            <a:off x="731520"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水がマトリクスを充填</a:t>
            </a:r>
          </a:p>
        </p:txBody>
      </p:sp>
      <p:sp>
        <p:nvSpPr>
          <p:cNvPr id="24" name="Rounded Rectangle 23"/>
          <p:cNvSpPr/>
          <p:nvPr/>
        </p:nvSpPr>
        <p:spPr>
          <a:xfrm>
            <a:off x="3262807"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09111"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1 min</a:t>
            </a:r>
          </a:p>
        </p:txBody>
      </p:sp>
      <p:sp>
        <p:nvSpPr>
          <p:cNvPr id="26" name="TextBox 25"/>
          <p:cNvSpPr txBox="1"/>
          <p:nvPr/>
        </p:nvSpPr>
        <p:spPr>
          <a:xfrm>
            <a:off x="3409111"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焼結初期</a:t>
            </a:r>
          </a:p>
        </p:txBody>
      </p:sp>
      <p:sp>
        <p:nvSpPr>
          <p:cNvPr id="27" name="TextBox 26"/>
          <p:cNvSpPr txBox="1"/>
          <p:nvPr/>
        </p:nvSpPr>
        <p:spPr>
          <a:xfrm>
            <a:off x="3445687"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8" name="TextBox 27"/>
          <p:cNvSpPr txBox="1"/>
          <p:nvPr/>
        </p:nvSpPr>
        <p:spPr>
          <a:xfrm>
            <a:off x="3628567"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粒子間で粒界が出現</a:t>
            </a:r>
          </a:p>
        </p:txBody>
      </p:sp>
      <p:sp>
        <p:nvSpPr>
          <p:cNvPr id="29" name="TextBox 28"/>
          <p:cNvSpPr txBox="1"/>
          <p:nvPr/>
        </p:nvSpPr>
        <p:spPr>
          <a:xfrm>
            <a:off x="3445687"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0" name="TextBox 29"/>
          <p:cNvSpPr txBox="1"/>
          <p:nvPr/>
        </p:nvSpPr>
        <p:spPr>
          <a:xfrm>
            <a:off x="3628567"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初期ネックが形成</a:t>
            </a:r>
          </a:p>
        </p:txBody>
      </p:sp>
      <p:sp>
        <p:nvSpPr>
          <p:cNvPr id="31" name="TextBox 30"/>
          <p:cNvSpPr txBox="1"/>
          <p:nvPr/>
        </p:nvSpPr>
        <p:spPr>
          <a:xfrm>
            <a:off x="3445687"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2" name="TextBox 31"/>
          <p:cNvSpPr txBox="1"/>
          <p:nvPr/>
        </p:nvSpPr>
        <p:spPr>
          <a:xfrm>
            <a:off x="3628567"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水分の大半が蒸発済み</a:t>
            </a:r>
          </a:p>
        </p:txBody>
      </p:sp>
      <p:sp>
        <p:nvSpPr>
          <p:cNvPr id="33" name="Rounded Rectangle 32"/>
          <p:cNvSpPr/>
          <p:nvPr/>
        </p:nvSpPr>
        <p:spPr>
          <a:xfrm>
            <a:off x="6159855"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6159"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2 min</a:t>
            </a:r>
          </a:p>
        </p:txBody>
      </p:sp>
      <p:sp>
        <p:nvSpPr>
          <p:cNvPr id="35" name="TextBox 34"/>
          <p:cNvSpPr txBox="1"/>
          <p:nvPr/>
        </p:nvSpPr>
        <p:spPr>
          <a:xfrm>
            <a:off x="6306159"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焼結進行</a:t>
            </a:r>
          </a:p>
        </p:txBody>
      </p:sp>
      <p:sp>
        <p:nvSpPr>
          <p:cNvPr id="36" name="TextBox 35"/>
          <p:cNvSpPr txBox="1"/>
          <p:nvPr/>
        </p:nvSpPr>
        <p:spPr>
          <a:xfrm>
            <a:off x="6342735"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7" name="TextBox 36"/>
          <p:cNvSpPr txBox="1"/>
          <p:nvPr/>
        </p:nvSpPr>
        <p:spPr>
          <a:xfrm>
            <a:off x="6525615"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ネック領域が拡大</a:t>
            </a:r>
          </a:p>
        </p:txBody>
      </p:sp>
      <p:sp>
        <p:nvSpPr>
          <p:cNvPr id="38" name="TextBox 37"/>
          <p:cNvSpPr txBox="1"/>
          <p:nvPr/>
        </p:nvSpPr>
        <p:spPr>
          <a:xfrm>
            <a:off x="6342735"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9" name="TextBox 38"/>
          <p:cNvSpPr txBox="1"/>
          <p:nvPr/>
        </p:nvSpPr>
        <p:spPr>
          <a:xfrm>
            <a:off x="6525615"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連続ネットワーク形成</a:t>
            </a:r>
          </a:p>
        </p:txBody>
      </p:sp>
      <p:sp>
        <p:nvSpPr>
          <p:cNvPr id="40" name="TextBox 39"/>
          <p:cNvSpPr txBox="1"/>
          <p:nvPr/>
        </p:nvSpPr>
        <p:spPr>
          <a:xfrm>
            <a:off x="6342735"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41" name="TextBox 40"/>
          <p:cNvSpPr txBox="1"/>
          <p:nvPr/>
        </p:nvSpPr>
        <p:spPr>
          <a:xfrm>
            <a:off x="6525615"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空隙率が低下</a:t>
            </a:r>
          </a:p>
        </p:txBody>
      </p:sp>
      <p:sp>
        <p:nvSpPr>
          <p:cNvPr id="42" name="Rounded Rectangle 41"/>
          <p:cNvSpPr/>
          <p:nvPr/>
        </p:nvSpPr>
        <p:spPr>
          <a:xfrm>
            <a:off x="9056903" y="3374136"/>
            <a:ext cx="2769031"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03207"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4 min</a:t>
            </a:r>
          </a:p>
        </p:txBody>
      </p:sp>
      <p:sp>
        <p:nvSpPr>
          <p:cNvPr id="44" name="TextBox 43"/>
          <p:cNvSpPr txBox="1"/>
          <p:nvPr/>
        </p:nvSpPr>
        <p:spPr>
          <a:xfrm>
            <a:off x="9203207" y="3813048"/>
            <a:ext cx="2476423" cy="384048"/>
          </a:xfrm>
          <a:prstGeom prst="rect">
            <a:avLst/>
          </a:prstGeom>
          <a:noFill/>
        </p:spPr>
        <p:txBody>
          <a:bodyPr wrap="square" anchor="t" lIns="36000" rIns="36000" tIns="18000" bIns="18000">
            <a:spAutoFit/>
          </a:bodyPr>
          <a:lstStyle/>
          <a:p>
            <a:pPr algn="l"/>
            <a:r>
              <a:rPr sz="1500" b="1" i="0">
                <a:solidFill>
                  <a:srgbClr val="3B5174"/>
                </a:solidFill>
                <a:latin typeface="Noto Sans JP"/>
              </a:rPr>
              <a:t>エアロゲル完成</a:t>
            </a:r>
          </a:p>
        </p:txBody>
      </p:sp>
      <p:sp>
        <p:nvSpPr>
          <p:cNvPr id="45" name="TextBox 44"/>
          <p:cNvSpPr txBox="1"/>
          <p:nvPr/>
        </p:nvSpPr>
        <p:spPr>
          <a:xfrm>
            <a:off x="9239783" y="433425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6" name="TextBox 45"/>
          <p:cNvSpPr txBox="1"/>
          <p:nvPr/>
        </p:nvSpPr>
        <p:spPr>
          <a:xfrm>
            <a:off x="9422663"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緻密なSiO₂骨格完成</a:t>
            </a:r>
          </a:p>
        </p:txBody>
      </p:sp>
      <p:sp>
        <p:nvSpPr>
          <p:cNvPr id="47" name="TextBox 46"/>
          <p:cNvSpPr txBox="1"/>
          <p:nvPr/>
        </p:nvSpPr>
        <p:spPr>
          <a:xfrm>
            <a:off x="9239783" y="470001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8" name="TextBox 47"/>
          <p:cNvSpPr txBox="1"/>
          <p:nvPr/>
        </p:nvSpPr>
        <p:spPr>
          <a:xfrm>
            <a:off x="9422663"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高い機械的強度</a:t>
            </a:r>
          </a:p>
        </p:txBody>
      </p:sp>
      <p:sp>
        <p:nvSpPr>
          <p:cNvPr id="49" name="TextBox 48"/>
          <p:cNvSpPr txBox="1"/>
          <p:nvPr/>
        </p:nvSpPr>
        <p:spPr>
          <a:xfrm>
            <a:off x="9239783" y="506577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50" name="TextBox 49"/>
          <p:cNvSpPr txBox="1"/>
          <p:nvPr/>
        </p:nvSpPr>
        <p:spPr>
          <a:xfrm>
            <a:off x="9422663"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断熱層として機能</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3/3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経時変化と長期安定性：1年以上経過しても性能を維持</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38 / 43</a:t>
            </a:r>
          </a:p>
        </p:txBody>
      </p:sp>
      <p:sp>
        <p:nvSpPr>
          <p:cNvPr id="10" name="Rectangle 9"/>
          <p:cNvSpPr/>
          <p:nvPr/>
        </p:nvSpPr>
        <p:spPr>
          <a:xfrm>
            <a:off x="365760" y="859536"/>
            <a:ext cx="45720" cy="9326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3851343" cy="310896"/>
          </a:xfrm>
          <a:prstGeom prst="rect">
            <a:avLst/>
          </a:prstGeom>
          <a:noFill/>
        </p:spPr>
        <p:txBody>
          <a:bodyPr wrap="square" anchor="t" lIns="36000" rIns="36000" tIns="18000" bIns="18000">
            <a:spAutoFit/>
          </a:bodyPr>
          <a:lstStyle/>
          <a:p>
            <a:pPr algn="l"/>
            <a:r>
              <a:rPr sz="1500" b="1" i="0">
                <a:solidFill>
                  <a:srgbClr val="1E293B"/>
                </a:solidFill>
                <a:latin typeface="Noto Sans JP"/>
              </a:rPr>
              <a:t>熟成メカニズム</a:t>
            </a:r>
          </a:p>
        </p:txBody>
      </p:sp>
      <p:sp>
        <p:nvSpPr>
          <p:cNvPr id="12" name="TextBox 11"/>
          <p:cNvSpPr txBox="1"/>
          <p:nvPr/>
        </p:nvSpPr>
        <p:spPr>
          <a:xfrm>
            <a:off x="530352" y="1225296"/>
            <a:ext cx="3851343" cy="603504"/>
          </a:xfrm>
          <a:prstGeom prst="rect">
            <a:avLst/>
          </a:prstGeom>
          <a:noFill/>
        </p:spPr>
        <p:txBody>
          <a:bodyPr wrap="square" anchor="t" lIns="36000" rIns="36000" tIns="18000" bIns="18000">
            <a:spAutoFit/>
          </a:bodyPr>
          <a:lstStyle/>
          <a:p>
            <a:pPr algn="l"/>
            <a:r>
              <a:rPr sz="1200" b="0" i="0">
                <a:solidFill>
                  <a:srgbClr val="334155"/>
                </a:solidFill>
                <a:latin typeface="Noto Sans JP"/>
              </a:rPr>
              <a:t>可逆的な結合（水素結合）から、</a:t>
            </a:r>
          </a:p>
          <a:p>
            <a:pPr algn="l"/>
            <a:r>
              <a:rPr sz="1200" b="0" i="0">
                <a:solidFill>
                  <a:srgbClr val="334155"/>
                </a:solidFill>
                <a:latin typeface="Noto Sans JP"/>
              </a:rPr>
              <a:t>不可逆な共有結合（Si–O縮合）へ転移</a:t>
            </a:r>
          </a:p>
        </p:txBody>
      </p:sp>
      <p:sp>
        <p:nvSpPr>
          <p:cNvPr id="13" name="Rectangle 12"/>
          <p:cNvSpPr/>
          <p:nvPr/>
        </p:nvSpPr>
        <p:spPr>
          <a:xfrm>
            <a:off x="530352" y="1993392"/>
            <a:ext cx="3413544"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 y="2194560"/>
            <a:ext cx="3851343" cy="274320"/>
          </a:xfrm>
          <a:prstGeom prst="rect">
            <a:avLst/>
          </a:prstGeom>
          <a:noFill/>
        </p:spPr>
        <p:txBody>
          <a:bodyPr wrap="square" anchor="t" lIns="36000" rIns="36000" tIns="18000" bIns="18000">
            <a:spAutoFit/>
          </a:bodyPr>
          <a:lstStyle/>
          <a:p>
            <a:pPr algn="l"/>
            <a:r>
              <a:rPr sz="1300" b="1" i="0">
                <a:solidFill>
                  <a:srgbClr val="3B5174"/>
                </a:solidFill>
                <a:latin typeface="Noto Sans JP"/>
              </a:rPr>
              <a:t>HEC+MC / CSP</a:t>
            </a:r>
          </a:p>
        </p:txBody>
      </p:sp>
      <p:sp>
        <p:nvSpPr>
          <p:cNvPr id="15" name="TextBox 14"/>
          <p:cNvSpPr txBox="1"/>
          <p:nvPr/>
        </p:nvSpPr>
        <p:spPr>
          <a:xfrm>
            <a:off x="530352" y="2468880"/>
            <a:ext cx="3851343" cy="420624"/>
          </a:xfrm>
          <a:prstGeom prst="rect">
            <a:avLst/>
          </a:prstGeom>
          <a:noFill/>
        </p:spPr>
        <p:txBody>
          <a:bodyPr wrap="square" anchor="t" lIns="36000" rIns="36000" tIns="18000" bIns="18000">
            <a:spAutoFit/>
          </a:bodyPr>
          <a:lstStyle/>
          <a:p>
            <a:pPr algn="l"/>
            <a:r>
              <a:rPr sz="1100" b="0" i="0">
                <a:solidFill>
                  <a:srgbClr val="475569"/>
                </a:solidFill>
                <a:latin typeface="Noto Sans JP"/>
              </a:rPr>
              <a:t>共有結合化が進行 → 剛性が上昇</a:t>
            </a:r>
          </a:p>
        </p:txBody>
      </p:sp>
      <p:sp>
        <p:nvSpPr>
          <p:cNvPr id="16" name="TextBox 15"/>
          <p:cNvSpPr txBox="1"/>
          <p:nvPr/>
        </p:nvSpPr>
        <p:spPr>
          <a:xfrm>
            <a:off x="530352" y="3035808"/>
            <a:ext cx="3851343" cy="274320"/>
          </a:xfrm>
          <a:prstGeom prst="rect">
            <a:avLst/>
          </a:prstGeom>
          <a:noFill/>
        </p:spPr>
        <p:txBody>
          <a:bodyPr wrap="square" anchor="t" lIns="36000" rIns="36000" tIns="18000" bIns="18000">
            <a:spAutoFit/>
          </a:bodyPr>
          <a:lstStyle/>
          <a:p>
            <a:pPr algn="l"/>
            <a:r>
              <a:rPr sz="1300" b="1" i="0">
                <a:solidFill>
                  <a:srgbClr val="4A7C8C"/>
                </a:solidFill>
                <a:latin typeface="Noto Sans JP"/>
              </a:rPr>
              <a:t>MHEC / CSP</a:t>
            </a:r>
          </a:p>
        </p:txBody>
      </p:sp>
      <p:sp>
        <p:nvSpPr>
          <p:cNvPr id="17" name="TextBox 16"/>
          <p:cNvSpPr txBox="1"/>
          <p:nvPr/>
        </p:nvSpPr>
        <p:spPr>
          <a:xfrm>
            <a:off x="530352" y="3310128"/>
            <a:ext cx="3851343" cy="420624"/>
          </a:xfrm>
          <a:prstGeom prst="rect">
            <a:avLst/>
          </a:prstGeom>
          <a:noFill/>
        </p:spPr>
        <p:txBody>
          <a:bodyPr wrap="square" anchor="t" lIns="36000" rIns="36000" tIns="18000" bIns="18000">
            <a:spAutoFit/>
          </a:bodyPr>
          <a:lstStyle/>
          <a:p>
            <a:pPr algn="l"/>
            <a:r>
              <a:rPr sz="1100" b="0" i="0">
                <a:solidFill>
                  <a:srgbClr val="475569"/>
                </a:solidFill>
                <a:latin typeface="Noto Sans JP"/>
              </a:rPr>
              <a:t>ほぼ可逆結合のまま → 穏やかな変化</a:t>
            </a:r>
          </a:p>
        </p:txBody>
      </p:sp>
      <p:sp>
        <p:nvSpPr>
          <p:cNvPr id="18" name="TextBox 17"/>
          <p:cNvSpPr txBox="1"/>
          <p:nvPr/>
        </p:nvSpPr>
        <p:spPr>
          <a:xfrm>
            <a:off x="530352" y="3877056"/>
            <a:ext cx="3851343" cy="274320"/>
          </a:xfrm>
          <a:prstGeom prst="rect">
            <a:avLst/>
          </a:prstGeom>
          <a:noFill/>
        </p:spPr>
        <p:txBody>
          <a:bodyPr wrap="square" anchor="t" lIns="36000" rIns="36000" tIns="18000" bIns="18000">
            <a:spAutoFit/>
          </a:bodyPr>
          <a:lstStyle/>
          <a:p>
            <a:pPr algn="l"/>
            <a:r>
              <a:rPr sz="1000" b="0" i="1">
                <a:solidFill>
                  <a:srgbClr val="64748B"/>
                </a:solidFill>
                <a:latin typeface="Noto Sans JP"/>
              </a:rPr>
              <a:t>Fig. S4 / S6（界面化学スキーム）</a:t>
            </a:r>
          </a:p>
        </p:txBody>
      </p:sp>
      <p:sp>
        <p:nvSpPr>
          <p:cNvPr id="19" name="Rounded Rectangle 18"/>
          <p:cNvSpPr/>
          <p:nvPr/>
        </p:nvSpPr>
        <p:spPr>
          <a:xfrm>
            <a:off x="4564575" y="859536"/>
            <a:ext cx="3557528" cy="137160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92591" y="969264"/>
            <a:ext cx="3301496"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弾性率（熟成20日）</a:t>
            </a:r>
          </a:p>
        </p:txBody>
      </p:sp>
      <p:sp>
        <p:nvSpPr>
          <p:cNvPr id="21" name="TextBox 20"/>
          <p:cNvSpPr txBox="1"/>
          <p:nvPr/>
        </p:nvSpPr>
        <p:spPr>
          <a:xfrm>
            <a:off x="4692591" y="1225296"/>
            <a:ext cx="3301496"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~1000 Pa</a:t>
            </a:r>
          </a:p>
        </p:txBody>
      </p:sp>
      <p:sp>
        <p:nvSpPr>
          <p:cNvPr id="22" name="TextBox 21"/>
          <p:cNvSpPr txBox="1"/>
          <p:nvPr/>
        </p:nvSpPr>
        <p:spPr>
          <a:xfrm>
            <a:off x="4692591" y="1645920"/>
            <a:ext cx="3301496"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HEC+MC/CSP・Fig S5</a:t>
            </a:r>
          </a:p>
        </p:txBody>
      </p:sp>
      <p:sp>
        <p:nvSpPr>
          <p:cNvPr id="23" name="Rounded Rectangle 22"/>
          <p:cNvSpPr/>
          <p:nvPr/>
        </p:nvSpPr>
        <p:spPr>
          <a:xfrm>
            <a:off x="8268407" y="859536"/>
            <a:ext cx="3557528" cy="137160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96423" y="969264"/>
            <a:ext cx="3301496"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降伏応力 Day1→Day455</a:t>
            </a:r>
          </a:p>
        </p:txBody>
      </p:sp>
      <p:sp>
        <p:nvSpPr>
          <p:cNvPr id="25" name="TextBox 24"/>
          <p:cNvSpPr txBox="1"/>
          <p:nvPr/>
        </p:nvSpPr>
        <p:spPr>
          <a:xfrm>
            <a:off x="8396423" y="1225296"/>
            <a:ext cx="3301496" cy="411480"/>
          </a:xfrm>
          <a:prstGeom prst="rect">
            <a:avLst/>
          </a:prstGeom>
          <a:noFill/>
        </p:spPr>
        <p:txBody>
          <a:bodyPr wrap="square" anchor="t" lIns="36000" rIns="36000" tIns="18000" bIns="18000">
            <a:spAutoFit/>
          </a:bodyPr>
          <a:lstStyle/>
          <a:p>
            <a:pPr algn="l"/>
            <a:r>
              <a:rPr sz="2000" b="1" i="0">
                <a:solidFill>
                  <a:srgbClr val="B08442"/>
                </a:solidFill>
                <a:latin typeface="Noto Sans JP"/>
              </a:rPr>
              <a:t>33 → 69 Pa</a:t>
            </a:r>
          </a:p>
        </p:txBody>
      </p:sp>
      <p:sp>
        <p:nvSpPr>
          <p:cNvPr id="26" name="TextBox 25"/>
          <p:cNvSpPr txBox="1"/>
          <p:nvPr/>
        </p:nvSpPr>
        <p:spPr>
          <a:xfrm>
            <a:off x="8396423" y="1645920"/>
            <a:ext cx="3301496"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HEC+MC/CSP・Fig S7</a:t>
            </a:r>
          </a:p>
        </p:txBody>
      </p:sp>
      <p:sp>
        <p:nvSpPr>
          <p:cNvPr id="27" name="Rounded Rectangle 26"/>
          <p:cNvSpPr/>
          <p:nvPr/>
        </p:nvSpPr>
        <p:spPr>
          <a:xfrm>
            <a:off x="4564575" y="2487168"/>
            <a:ext cx="3557528"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674303" y="259689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74303" y="259689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S7 (Day 1)</a:t>
            </a:r>
          </a:p>
        </p:txBody>
      </p:sp>
      <p:sp>
        <p:nvSpPr>
          <p:cNvPr id="30" name="TextBox 29"/>
          <p:cNvSpPr txBox="1"/>
          <p:nvPr/>
        </p:nvSpPr>
        <p:spPr>
          <a:xfrm>
            <a:off x="4564575" y="2487168"/>
            <a:ext cx="3557528"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4564575" y="4626864"/>
            <a:ext cx="3557528"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フロースイープ・HB fit（作製直後）</a:t>
            </a:r>
          </a:p>
        </p:txBody>
      </p:sp>
      <p:sp>
        <p:nvSpPr>
          <p:cNvPr id="32" name="Rounded Rectangle 31"/>
          <p:cNvSpPr/>
          <p:nvPr/>
        </p:nvSpPr>
        <p:spPr>
          <a:xfrm>
            <a:off x="8268407" y="2487168"/>
            <a:ext cx="3557528"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78135" y="259689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78135" y="259689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S7 (Day 455)</a:t>
            </a:r>
          </a:p>
        </p:txBody>
      </p:sp>
      <p:sp>
        <p:nvSpPr>
          <p:cNvPr id="35" name="TextBox 34"/>
          <p:cNvSpPr txBox="1"/>
          <p:nvPr/>
        </p:nvSpPr>
        <p:spPr>
          <a:xfrm>
            <a:off x="8268407" y="2487168"/>
            <a:ext cx="3557528"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6" name="TextBox 35"/>
          <p:cNvSpPr txBox="1"/>
          <p:nvPr/>
        </p:nvSpPr>
        <p:spPr>
          <a:xfrm>
            <a:off x="8268407" y="4626864"/>
            <a:ext cx="3557528"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フロースイープ・HB fit（455日経過後）</a:t>
            </a:r>
          </a:p>
        </p:txBody>
      </p:sp>
      <p:sp>
        <p:nvSpPr>
          <p:cNvPr id="37" name="Rounded Rectangle 36"/>
          <p:cNvSpPr/>
          <p:nvPr/>
        </p:nvSpPr>
        <p:spPr>
          <a:xfrm>
            <a:off x="365760" y="5907024"/>
            <a:ext cx="11460175" cy="749808"/>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65760" y="5907024"/>
            <a:ext cx="54864" cy="74980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48640" y="5907024"/>
            <a:ext cx="365760" cy="749808"/>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40" name="TextBox 39"/>
          <p:cNvSpPr txBox="1"/>
          <p:nvPr/>
        </p:nvSpPr>
        <p:spPr>
          <a:xfrm>
            <a:off x="960120" y="5907024"/>
            <a:ext cx="10774375" cy="749808"/>
          </a:xfrm>
          <a:prstGeom prst="rect">
            <a:avLst/>
          </a:prstGeom>
          <a:noFill/>
        </p:spPr>
        <p:txBody>
          <a:bodyPr wrap="square" anchor="ctr" lIns="36000" rIns="36000" tIns="18000" bIns="18000">
            <a:spAutoFit/>
          </a:bodyPr>
          <a:lstStyle/>
          <a:p>
            <a:pPr algn="l"/>
            <a:r>
              <a:rPr sz="1300" b="1" i="0">
                <a:solidFill>
                  <a:srgbClr val="FFFFFF"/>
                </a:solidFill>
                <a:latin typeface="Noto Sans JP"/>
              </a:rPr>
              <a:t>Day 455（約15か月）経過後も燃焼挙動とエアロゲル化は不変 — 実用的な保存安定性を実証（Video S5）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MHEC 系の優位性：経時安定性とコスト</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37 / 43</a:t>
            </a:r>
          </a:p>
        </p:txBody>
      </p:sp>
      <p:sp>
        <p:nvSpPr>
          <p:cNvPr id="10" name="Rectangle 9"/>
          <p:cNvSpPr/>
          <p:nvPr/>
        </p:nvSpPr>
        <p:spPr>
          <a:xfrm>
            <a:off x="365760" y="859536"/>
            <a:ext cx="54864" cy="256032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859536"/>
            <a:ext cx="541919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① 経時変化が穏やか（SI Fig. S7）</a:t>
            </a:r>
          </a:p>
        </p:txBody>
      </p:sp>
      <p:sp>
        <p:nvSpPr>
          <p:cNvPr id="12" name="TextBox 11"/>
          <p:cNvSpPr txBox="1"/>
          <p:nvPr/>
        </p:nvSpPr>
        <p:spPr>
          <a:xfrm>
            <a:off x="548640" y="1243584"/>
            <a:ext cx="541919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Day 1 → Day 455 の降伏応力変化</a:t>
            </a:r>
          </a:p>
        </p:txBody>
      </p:sp>
      <p:sp>
        <p:nvSpPr>
          <p:cNvPr id="13" name="TextBox 12"/>
          <p:cNvSpPr txBox="1"/>
          <p:nvPr/>
        </p:nvSpPr>
        <p:spPr>
          <a:xfrm>
            <a:off x="548640" y="1664208"/>
            <a:ext cx="5419191" cy="256032"/>
          </a:xfrm>
          <a:prstGeom prst="rect">
            <a:avLst/>
          </a:prstGeom>
          <a:noFill/>
        </p:spPr>
        <p:txBody>
          <a:bodyPr wrap="square" anchor="t" lIns="36000" rIns="36000" tIns="18000" bIns="18000">
            <a:spAutoFit/>
          </a:bodyPr>
          <a:lstStyle/>
          <a:p>
            <a:pPr algn="l"/>
            <a:r>
              <a:rPr sz="1100" b="1" i="0">
                <a:solidFill>
                  <a:srgbClr val="334155"/>
                </a:solidFill>
                <a:latin typeface="Noto Sans JP"/>
              </a:rPr>
              <a:t>MHEC / CSP</a:t>
            </a:r>
          </a:p>
        </p:txBody>
      </p:sp>
      <p:sp>
        <p:nvSpPr>
          <p:cNvPr id="14" name="Rounded Rectangle 13"/>
          <p:cNvSpPr/>
          <p:nvPr/>
        </p:nvSpPr>
        <p:spPr>
          <a:xfrm>
            <a:off x="548640" y="1938528"/>
            <a:ext cx="5144871" cy="201168"/>
          </a:xfrm>
          <a:prstGeom prst="roundRect">
            <a:avLst>
              <a:gd name="adj" fmla="val 4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48640" y="1938528"/>
            <a:ext cx="1800705" cy="201168"/>
          </a:xfrm>
          <a:prstGeom prst="roundRect">
            <a:avLst>
              <a:gd name="adj" fmla="val 4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59073" y="1865376"/>
            <a:ext cx="1280160" cy="365760"/>
          </a:xfrm>
          <a:prstGeom prst="rect">
            <a:avLst/>
          </a:prstGeom>
          <a:noFill/>
        </p:spPr>
        <p:txBody>
          <a:bodyPr wrap="square" anchor="t" lIns="36000" rIns="36000" tIns="18000" bIns="18000">
            <a:spAutoFit/>
          </a:bodyPr>
          <a:lstStyle/>
          <a:p>
            <a:pPr algn="l"/>
            <a:r>
              <a:rPr sz="1000" b="1" i="0">
                <a:solidFill>
                  <a:srgbClr val="4A7C8C"/>
                </a:solidFill>
                <a:latin typeface="Noto Sans JP"/>
              </a:rPr>
              <a:t>+38 %</a:t>
            </a:r>
          </a:p>
          <a:p>
            <a:pPr algn="l"/>
            <a:r>
              <a:rPr sz="1000" b="1" i="0">
                <a:solidFill>
                  <a:srgbClr val="4A7C8C"/>
                </a:solidFill>
                <a:latin typeface="Noto Sans JP"/>
              </a:rPr>
              <a:t>(3.31 → 4.56 Pa)</a:t>
            </a:r>
          </a:p>
        </p:txBody>
      </p:sp>
      <p:sp>
        <p:nvSpPr>
          <p:cNvPr id="17" name="TextBox 16"/>
          <p:cNvSpPr txBox="1"/>
          <p:nvPr/>
        </p:nvSpPr>
        <p:spPr>
          <a:xfrm>
            <a:off x="548640" y="2487168"/>
            <a:ext cx="5419191" cy="256032"/>
          </a:xfrm>
          <a:prstGeom prst="rect">
            <a:avLst/>
          </a:prstGeom>
          <a:noFill/>
        </p:spPr>
        <p:txBody>
          <a:bodyPr wrap="square" anchor="t" lIns="36000" rIns="36000" tIns="18000" bIns="18000">
            <a:spAutoFit/>
          </a:bodyPr>
          <a:lstStyle/>
          <a:p>
            <a:pPr algn="l"/>
            <a:r>
              <a:rPr sz="1100" b="1" i="0">
                <a:solidFill>
                  <a:srgbClr val="334155"/>
                </a:solidFill>
                <a:latin typeface="Noto Sans JP"/>
              </a:rPr>
              <a:t>HEC+MC / CSP</a:t>
            </a:r>
          </a:p>
        </p:txBody>
      </p:sp>
      <p:sp>
        <p:nvSpPr>
          <p:cNvPr id="18" name="Rounded Rectangle 17"/>
          <p:cNvSpPr/>
          <p:nvPr/>
        </p:nvSpPr>
        <p:spPr>
          <a:xfrm>
            <a:off x="548640" y="2761488"/>
            <a:ext cx="5144871" cy="201168"/>
          </a:xfrm>
          <a:prstGeom prst="roundRect">
            <a:avLst>
              <a:gd name="adj" fmla="val 4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8640" y="2761488"/>
            <a:ext cx="5144871" cy="201168"/>
          </a:xfrm>
          <a:prstGeom prst="roundRect">
            <a:avLst>
              <a:gd name="adj" fmla="val 4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03239" y="2688336"/>
            <a:ext cx="1280160" cy="365760"/>
          </a:xfrm>
          <a:prstGeom prst="rect">
            <a:avLst/>
          </a:prstGeom>
          <a:noFill/>
        </p:spPr>
        <p:txBody>
          <a:bodyPr wrap="square" anchor="t" lIns="36000" rIns="36000" tIns="18000" bIns="18000">
            <a:spAutoFit/>
          </a:bodyPr>
          <a:lstStyle/>
          <a:p>
            <a:pPr algn="l"/>
            <a:r>
              <a:rPr sz="1000" b="1" i="0">
                <a:solidFill>
                  <a:srgbClr val="9F7639"/>
                </a:solidFill>
                <a:latin typeface="Noto Sans JP"/>
              </a:rPr>
              <a:t>+107 %</a:t>
            </a:r>
          </a:p>
          <a:p>
            <a:pPr algn="l"/>
            <a:r>
              <a:rPr sz="1000" b="1" i="0">
                <a:solidFill>
                  <a:srgbClr val="9F7639"/>
                </a:solidFill>
                <a:latin typeface="Noto Sans JP"/>
              </a:rPr>
              <a:t>(33.3 → 68.9 Pa)</a:t>
            </a:r>
          </a:p>
        </p:txBody>
      </p:sp>
      <p:sp>
        <p:nvSpPr>
          <p:cNvPr id="21" name="Rounded Rectangle 20"/>
          <p:cNvSpPr/>
          <p:nvPr/>
        </p:nvSpPr>
        <p:spPr>
          <a:xfrm>
            <a:off x="457200" y="3401568"/>
            <a:ext cx="5419191" cy="822960"/>
          </a:xfrm>
          <a:prstGeom prst="roundRect">
            <a:avLst>
              <a:gd name="adj" fmla="val 4000"/>
            </a:avLst>
          </a:prstGeom>
          <a:solidFill>
            <a:srgbClr val="F8FAFC"/>
          </a:solidFill>
          <a:ln w="1016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5216" y="3511296"/>
            <a:ext cx="5181447" cy="658368"/>
          </a:xfrm>
          <a:prstGeom prst="rect">
            <a:avLst/>
          </a:prstGeom>
          <a:noFill/>
        </p:spPr>
        <p:txBody>
          <a:bodyPr wrap="square" anchor="t" lIns="36000" rIns="36000" tIns="18000" bIns="18000">
            <a:spAutoFit/>
          </a:bodyPr>
          <a:lstStyle/>
          <a:p>
            <a:pPr algn="l"/>
            <a:r>
              <a:rPr sz="1100" b="0" i="0">
                <a:solidFill>
                  <a:srgbClr val="334155"/>
                </a:solidFill>
                <a:latin typeface="Noto Sans JP"/>
              </a:rPr>
              <a:t>MHEC系は非共有結合が主体のまま経時変化</a:t>
            </a:r>
          </a:p>
          <a:p>
            <a:pPr algn="l"/>
            <a:r>
              <a:rPr sz="1100" b="0" i="0">
                <a:solidFill>
                  <a:srgbClr val="334155"/>
                </a:solidFill>
                <a:latin typeface="Noto Sans JP"/>
              </a:rPr>
              <a:t>→ 製品特性が1年以上にわたって安定</a:t>
            </a:r>
          </a:p>
          <a:p>
            <a:pPr algn="l"/>
            <a:r>
              <a:rPr sz="1100" b="0" i="0">
                <a:solidFill>
                  <a:srgbClr val="334155"/>
                </a:solidFill>
                <a:latin typeface="Noto Sans JP"/>
              </a:rPr>
              <a:t>（HEC+MC系は共有結合化が進み剛性が変動）</a:t>
            </a:r>
          </a:p>
        </p:txBody>
      </p:sp>
      <p:sp>
        <p:nvSpPr>
          <p:cNvPr id="23" name="TextBox 22"/>
          <p:cNvSpPr txBox="1"/>
          <p:nvPr/>
        </p:nvSpPr>
        <p:spPr>
          <a:xfrm>
            <a:off x="548640" y="4389120"/>
            <a:ext cx="5236311" cy="201168"/>
          </a:xfrm>
          <a:prstGeom prst="rect">
            <a:avLst/>
          </a:prstGeom>
          <a:noFill/>
        </p:spPr>
        <p:txBody>
          <a:bodyPr wrap="square" anchor="t" lIns="36000" rIns="36000" tIns="18000" bIns="18000">
            <a:spAutoFit/>
          </a:bodyPr>
          <a:lstStyle/>
          <a:p>
            <a:pPr algn="l"/>
            <a:r>
              <a:rPr sz="900" b="0" i="1">
                <a:solidFill>
                  <a:srgbClr val="64748B"/>
                </a:solidFill>
                <a:latin typeface="Noto Sans JP"/>
              </a:rPr>
              <a:t>出典：SI Fig. S7（フロースイープ・HB モデル fit）</a:t>
            </a:r>
          </a:p>
        </p:txBody>
      </p:sp>
      <p:sp>
        <p:nvSpPr>
          <p:cNvPr id="24" name="Rectangle 23"/>
          <p:cNvSpPr/>
          <p:nvPr/>
        </p:nvSpPr>
        <p:spPr>
          <a:xfrm>
            <a:off x="365760" y="3547872"/>
            <a:ext cx="5602071"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3657600"/>
            <a:ext cx="5419191" cy="237744"/>
          </a:xfrm>
          <a:prstGeom prst="rect">
            <a:avLst/>
          </a:prstGeom>
          <a:noFill/>
        </p:spPr>
        <p:txBody>
          <a:bodyPr wrap="square" anchor="t" lIns="36000" rIns="36000" tIns="18000" bIns="18000">
            <a:spAutoFit/>
          </a:bodyPr>
          <a:lstStyle/>
          <a:p>
            <a:pPr algn="l"/>
            <a:r>
              <a:rPr sz="1100" b="1" i="0">
                <a:solidFill>
                  <a:srgbClr val="4A7C8C"/>
                </a:solidFill>
                <a:latin typeface="Noto Sans JP"/>
              </a:rPr>
              <a:t>なぜ安定か：Si–O 共有結合縮合が起こりにくい</a:t>
            </a:r>
          </a:p>
        </p:txBody>
      </p:sp>
      <p:sp>
        <p:nvSpPr>
          <p:cNvPr id="26" name="TextBox 25"/>
          <p:cNvSpPr txBox="1"/>
          <p:nvPr/>
        </p:nvSpPr>
        <p:spPr>
          <a:xfrm>
            <a:off x="548640" y="3950208"/>
            <a:ext cx="5419191" cy="548640"/>
          </a:xfrm>
          <a:prstGeom prst="rect">
            <a:avLst/>
          </a:prstGeom>
          <a:noFill/>
        </p:spPr>
        <p:txBody>
          <a:bodyPr wrap="square" anchor="t" lIns="36000" rIns="36000" tIns="18000" bIns="18000">
            <a:spAutoFit/>
          </a:bodyPr>
          <a:lstStyle/>
          <a:p>
            <a:pPr algn="l"/>
            <a:r>
              <a:rPr sz="1050" b="0" i="0">
                <a:solidFill>
                  <a:srgbClr val="334155"/>
                </a:solidFill>
                <a:latin typeface="Noto Sans JP"/>
              </a:rPr>
              <a:t>HEC+MC/CSP では熟成とともに CSP と高分子の間で</a:t>
            </a:r>
          </a:p>
          <a:p>
            <a:pPr algn="l"/>
            <a:r>
              <a:rPr sz="1050" b="0" i="0">
                <a:solidFill>
                  <a:srgbClr val="334155"/>
                </a:solidFill>
                <a:latin typeface="Noto Sans JP"/>
              </a:rPr>
              <a:t>Si–O 縮合が進行し剛性が上昇する。MHEC/CSP では</a:t>
            </a:r>
          </a:p>
          <a:p>
            <a:pPr algn="l"/>
            <a:r>
              <a:rPr sz="1050" b="0" i="0">
                <a:solidFill>
                  <a:srgbClr val="334155"/>
                </a:solidFill>
                <a:latin typeface="Noto Sans JP"/>
              </a:rPr>
              <a:t>この縮合が抑制され、特性が緩やかに変化する。</a:t>
            </a:r>
          </a:p>
        </p:txBody>
      </p:sp>
      <p:sp>
        <p:nvSpPr>
          <p:cNvPr id="27" name="Rectangle 26"/>
          <p:cNvSpPr/>
          <p:nvPr/>
        </p:nvSpPr>
        <p:spPr>
          <a:xfrm>
            <a:off x="6223863" y="859536"/>
            <a:ext cx="54864" cy="384048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6743" y="859536"/>
            <a:ext cx="541919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② 製造コスト・品質管理で有利</a:t>
            </a:r>
          </a:p>
        </p:txBody>
      </p:sp>
      <p:sp>
        <p:nvSpPr>
          <p:cNvPr id="29" name="Rounded Rectangle 28"/>
          <p:cNvSpPr/>
          <p:nvPr/>
        </p:nvSpPr>
        <p:spPr>
          <a:xfrm>
            <a:off x="6315303" y="1335024"/>
            <a:ext cx="5419191" cy="877824"/>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1607" y="1444752"/>
            <a:ext cx="5144871" cy="256032"/>
          </a:xfrm>
          <a:prstGeom prst="rect">
            <a:avLst/>
          </a:prstGeom>
          <a:noFill/>
        </p:spPr>
        <p:txBody>
          <a:bodyPr wrap="square" anchor="t" lIns="36000" rIns="36000" tIns="18000" bIns="18000">
            <a:spAutoFit/>
          </a:bodyPr>
          <a:lstStyle/>
          <a:p>
            <a:pPr algn="l"/>
            <a:r>
              <a:rPr sz="1200" b="1" i="0">
                <a:solidFill>
                  <a:srgbClr val="9F7639"/>
                </a:solidFill>
                <a:latin typeface="Noto Sans JP"/>
              </a:rPr>
              <a:t>単一ポリマー</a:t>
            </a:r>
          </a:p>
        </p:txBody>
      </p:sp>
      <p:sp>
        <p:nvSpPr>
          <p:cNvPr id="31" name="TextBox 30"/>
          <p:cNvSpPr txBox="1"/>
          <p:nvPr/>
        </p:nvSpPr>
        <p:spPr>
          <a:xfrm>
            <a:off x="6461607" y="1737360"/>
            <a:ext cx="5144871" cy="420624"/>
          </a:xfrm>
          <a:prstGeom prst="rect">
            <a:avLst/>
          </a:prstGeom>
          <a:noFill/>
        </p:spPr>
        <p:txBody>
          <a:bodyPr wrap="square" anchor="t" lIns="36000" rIns="36000" tIns="18000" bIns="18000">
            <a:spAutoFit/>
          </a:bodyPr>
          <a:lstStyle/>
          <a:p>
            <a:pPr algn="l"/>
            <a:r>
              <a:rPr sz="1050" b="0" i="0">
                <a:solidFill>
                  <a:srgbClr val="334155"/>
                </a:solidFill>
                <a:latin typeface="Noto Sans JP"/>
              </a:rPr>
              <a:t>HEC と MC を別途調達・混合する必要がない</a:t>
            </a:r>
          </a:p>
          <a:p>
            <a:pPr algn="l"/>
            <a:r>
              <a:rPr sz="1050" b="0" i="0">
                <a:solidFill>
                  <a:srgbClr val="334155"/>
                </a:solidFill>
                <a:latin typeface="Noto Sans JP"/>
              </a:rPr>
              <a:t>→ 原料種数を削減</a:t>
            </a:r>
          </a:p>
        </p:txBody>
      </p:sp>
      <p:sp>
        <p:nvSpPr>
          <p:cNvPr id="32" name="Rounded Rectangle 31"/>
          <p:cNvSpPr/>
          <p:nvPr/>
        </p:nvSpPr>
        <p:spPr>
          <a:xfrm>
            <a:off x="6315303" y="2304288"/>
            <a:ext cx="5419191" cy="877824"/>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61607" y="2414016"/>
            <a:ext cx="5144871" cy="256032"/>
          </a:xfrm>
          <a:prstGeom prst="rect">
            <a:avLst/>
          </a:prstGeom>
          <a:noFill/>
        </p:spPr>
        <p:txBody>
          <a:bodyPr wrap="square" anchor="t" lIns="36000" rIns="36000" tIns="18000" bIns="18000">
            <a:spAutoFit/>
          </a:bodyPr>
          <a:lstStyle/>
          <a:p>
            <a:pPr algn="l"/>
            <a:r>
              <a:rPr sz="1200" b="1" i="0">
                <a:solidFill>
                  <a:srgbClr val="9F7639"/>
                </a:solidFill>
                <a:latin typeface="Noto Sans JP"/>
              </a:rPr>
              <a:t>配合工程の簡略化</a:t>
            </a:r>
          </a:p>
        </p:txBody>
      </p:sp>
      <p:sp>
        <p:nvSpPr>
          <p:cNvPr id="34" name="TextBox 33"/>
          <p:cNvSpPr txBox="1"/>
          <p:nvPr/>
        </p:nvSpPr>
        <p:spPr>
          <a:xfrm>
            <a:off x="6461607" y="2706624"/>
            <a:ext cx="5144871" cy="420624"/>
          </a:xfrm>
          <a:prstGeom prst="rect">
            <a:avLst/>
          </a:prstGeom>
          <a:noFill/>
        </p:spPr>
        <p:txBody>
          <a:bodyPr wrap="square" anchor="t" lIns="36000" rIns="36000" tIns="18000" bIns="18000">
            <a:spAutoFit/>
          </a:bodyPr>
          <a:lstStyle/>
          <a:p>
            <a:pPr algn="l"/>
            <a:r>
              <a:rPr sz="1050" b="0" i="0">
                <a:solidFill>
                  <a:srgbClr val="334155"/>
                </a:solidFill>
                <a:latin typeface="Noto Sans JP"/>
              </a:rPr>
              <a:t>2成分の混合比調整・均一分散の管理が不要</a:t>
            </a:r>
          </a:p>
          <a:p>
            <a:pPr algn="l"/>
            <a:r>
              <a:rPr sz="1050" b="0" i="0">
                <a:solidFill>
                  <a:srgbClr val="334155"/>
                </a:solidFill>
                <a:latin typeface="Noto Sans JP"/>
              </a:rPr>
              <a:t>→ 製造バッチ間のばらつきを低減</a:t>
            </a:r>
          </a:p>
        </p:txBody>
      </p:sp>
      <p:sp>
        <p:nvSpPr>
          <p:cNvPr id="35" name="Rounded Rectangle 34"/>
          <p:cNvSpPr/>
          <p:nvPr/>
        </p:nvSpPr>
        <p:spPr>
          <a:xfrm>
            <a:off x="6315303" y="3273552"/>
            <a:ext cx="5419191" cy="877824"/>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61607" y="3383280"/>
            <a:ext cx="5144871" cy="256032"/>
          </a:xfrm>
          <a:prstGeom prst="rect">
            <a:avLst/>
          </a:prstGeom>
          <a:noFill/>
        </p:spPr>
        <p:txBody>
          <a:bodyPr wrap="square" anchor="t" lIns="36000" rIns="36000" tIns="18000" bIns="18000">
            <a:spAutoFit/>
          </a:bodyPr>
          <a:lstStyle/>
          <a:p>
            <a:pPr algn="l"/>
            <a:r>
              <a:rPr sz="1200" b="1" i="0">
                <a:solidFill>
                  <a:srgbClr val="9F7639"/>
                </a:solidFill>
                <a:latin typeface="Noto Sans JP"/>
              </a:rPr>
              <a:t>品質管理の負担軽減</a:t>
            </a:r>
          </a:p>
        </p:txBody>
      </p:sp>
      <p:sp>
        <p:nvSpPr>
          <p:cNvPr id="37" name="TextBox 36"/>
          <p:cNvSpPr txBox="1"/>
          <p:nvPr/>
        </p:nvSpPr>
        <p:spPr>
          <a:xfrm>
            <a:off x="6461607" y="3675888"/>
            <a:ext cx="5144871" cy="420624"/>
          </a:xfrm>
          <a:prstGeom prst="rect">
            <a:avLst/>
          </a:prstGeom>
          <a:noFill/>
        </p:spPr>
        <p:txBody>
          <a:bodyPr wrap="square" anchor="t" lIns="36000" rIns="36000" tIns="18000" bIns="18000">
            <a:spAutoFit/>
          </a:bodyPr>
          <a:lstStyle/>
          <a:p>
            <a:pPr algn="l"/>
            <a:r>
              <a:rPr sz="1050" b="0" i="0">
                <a:solidFill>
                  <a:srgbClr val="334155"/>
                </a:solidFill>
                <a:latin typeface="Noto Sans JP"/>
              </a:rPr>
              <a:t>1種類の原料規格を管理するだけで良い</a:t>
            </a:r>
          </a:p>
          <a:p>
            <a:pPr algn="l"/>
            <a:r>
              <a:rPr sz="1050" b="0" i="0">
                <a:solidFill>
                  <a:srgbClr val="334155"/>
                </a:solidFill>
                <a:latin typeface="Noto Sans JP"/>
              </a:rPr>
              <a:t>→ スケールアップ時のコスト優位性が顕在化</a:t>
            </a:r>
          </a:p>
        </p:txBody>
      </p:sp>
      <p:sp>
        <p:nvSpPr>
          <p:cNvPr id="38" name="Rounded Rectangle 37"/>
          <p:cNvSpPr/>
          <p:nvPr/>
        </p:nvSpPr>
        <p:spPr>
          <a:xfrm>
            <a:off x="6315303" y="4242816"/>
            <a:ext cx="5419191" cy="877824"/>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61607" y="4352544"/>
            <a:ext cx="5144871" cy="256032"/>
          </a:xfrm>
          <a:prstGeom prst="rect">
            <a:avLst/>
          </a:prstGeom>
          <a:noFill/>
        </p:spPr>
        <p:txBody>
          <a:bodyPr wrap="square" anchor="t" lIns="36000" rIns="36000" tIns="18000" bIns="18000">
            <a:spAutoFit/>
          </a:bodyPr>
          <a:lstStyle/>
          <a:p>
            <a:pPr algn="l"/>
            <a:r>
              <a:rPr sz="1200" b="1" i="0">
                <a:solidFill>
                  <a:srgbClr val="9F7639"/>
                </a:solidFill>
                <a:latin typeface="Noto Sans JP"/>
              </a:rPr>
              <a:t>廃棄・物流コスト</a:t>
            </a:r>
          </a:p>
        </p:txBody>
      </p:sp>
      <p:sp>
        <p:nvSpPr>
          <p:cNvPr id="40" name="TextBox 39"/>
          <p:cNvSpPr txBox="1"/>
          <p:nvPr/>
        </p:nvSpPr>
        <p:spPr>
          <a:xfrm>
            <a:off x="6461607" y="4645152"/>
            <a:ext cx="5144871" cy="420624"/>
          </a:xfrm>
          <a:prstGeom prst="rect">
            <a:avLst/>
          </a:prstGeom>
          <a:noFill/>
        </p:spPr>
        <p:txBody>
          <a:bodyPr wrap="square" anchor="t" lIns="36000" rIns="36000" tIns="18000" bIns="18000">
            <a:spAutoFit/>
          </a:bodyPr>
          <a:lstStyle/>
          <a:p>
            <a:pPr algn="l"/>
            <a:r>
              <a:rPr sz="1050" b="0" i="0">
                <a:solidFill>
                  <a:srgbClr val="334155"/>
                </a:solidFill>
                <a:latin typeface="Noto Sans JP"/>
              </a:rPr>
              <a:t>保管・輸送する原料が1種類に統合</a:t>
            </a:r>
          </a:p>
          <a:p>
            <a:pPr algn="l"/>
            <a:r>
              <a:rPr sz="1050" b="0" i="0">
                <a:solidFill>
                  <a:srgbClr val="334155"/>
                </a:solidFill>
                <a:latin typeface="Noto Sans JP"/>
              </a:rPr>
              <a:t>→ サプライチェーンを簡素化</a:t>
            </a:r>
          </a:p>
        </p:txBody>
      </p:sp>
      <p:sp>
        <p:nvSpPr>
          <p:cNvPr id="41" name="Rounded Rectangle 40"/>
          <p:cNvSpPr/>
          <p:nvPr/>
        </p:nvSpPr>
        <p:spPr>
          <a:xfrm>
            <a:off x="365760" y="5925312"/>
            <a:ext cx="1146017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5760" y="5925312"/>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48640" y="5925312"/>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4" name="TextBox 43"/>
          <p:cNvSpPr txBox="1"/>
          <p:nvPr/>
        </p:nvSpPr>
        <p:spPr>
          <a:xfrm>
            <a:off x="960120" y="5925312"/>
            <a:ext cx="1077437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注：コスト比較の定量データは本論文には掲載されていない。MHEC の優位性は「単一ポリマー」であることと「経時安定性」の実測（SI Fig. S7）に基づく定性的評価である。</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04</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4</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考察・まとめ</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実装シナリオ、既存品との総合比較、研究の意義と今後の展望</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実装シナリオ</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性能比較</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まとめ</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39 / 43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考察 1/3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実装シナリオ：WEGの展開戦略</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40 / 43</a:t>
            </a:r>
          </a:p>
        </p:txBody>
      </p:sp>
      <p:sp>
        <p:nvSpPr>
          <p:cNvPr id="10" name="Rounded Rectangle 9"/>
          <p:cNvSpPr/>
          <p:nvPr/>
        </p:nvSpPr>
        <p:spPr>
          <a:xfrm>
            <a:off x="36576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1</a:t>
            </a:r>
          </a:p>
        </p:txBody>
      </p:sp>
      <p:sp>
        <p:nvSpPr>
          <p:cNvPr id="13" name="TextBox 12"/>
          <p:cNvSpPr txBox="1"/>
          <p:nvPr/>
        </p:nvSpPr>
        <p:spPr>
          <a:xfrm>
            <a:off x="54864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WUI住宅の事前保護</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5" name="TextBox 14"/>
          <p:cNvSpPr txBox="1"/>
          <p:nvPr/>
        </p:nvSpPr>
        <p:spPr>
          <a:xfrm>
            <a:off x="74980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山火事シーズン前に建物外壁・屋根に散布</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74980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ヘリコプター・地上ホース双方で対応可能</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74980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乾燥しても保護機能が残る</a:t>
            </a:r>
          </a:p>
        </p:txBody>
      </p:sp>
      <p:sp>
        <p:nvSpPr>
          <p:cNvPr id="20" name="Rounded Rectangle 19"/>
          <p:cNvSpPr/>
          <p:nvPr/>
        </p:nvSpPr>
        <p:spPr>
          <a:xfrm>
            <a:off x="422849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2849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1137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2</a:t>
            </a:r>
          </a:p>
        </p:txBody>
      </p:sp>
      <p:sp>
        <p:nvSpPr>
          <p:cNvPr id="23" name="TextBox 22"/>
          <p:cNvSpPr txBox="1"/>
          <p:nvPr/>
        </p:nvSpPr>
        <p:spPr>
          <a:xfrm>
            <a:off x="441137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重要インフラの保護</a:t>
            </a:r>
          </a:p>
        </p:txBody>
      </p:sp>
      <p:sp>
        <p:nvSpPr>
          <p:cNvPr id="24" name="TextBox 23"/>
          <p:cNvSpPr txBox="1"/>
          <p:nvPr/>
        </p:nvSpPr>
        <p:spPr>
          <a:xfrm>
            <a:off x="441137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5" name="TextBox 24"/>
          <p:cNvSpPr txBox="1"/>
          <p:nvPr/>
        </p:nvSpPr>
        <p:spPr>
          <a:xfrm>
            <a:off x="461253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送電塔・変電所・通信基地局</a:t>
            </a:r>
          </a:p>
        </p:txBody>
      </p:sp>
      <p:sp>
        <p:nvSpPr>
          <p:cNvPr id="26" name="TextBox 25"/>
          <p:cNvSpPr txBox="1"/>
          <p:nvPr/>
        </p:nvSpPr>
        <p:spPr>
          <a:xfrm>
            <a:off x="441137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7" name="TextBox 26"/>
          <p:cNvSpPr txBox="1"/>
          <p:nvPr/>
        </p:nvSpPr>
        <p:spPr>
          <a:xfrm>
            <a:off x="461253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金属構造物にも強固に付着</a:t>
            </a:r>
          </a:p>
        </p:txBody>
      </p:sp>
      <p:sp>
        <p:nvSpPr>
          <p:cNvPr id="28" name="TextBox 27"/>
          <p:cNvSpPr txBox="1"/>
          <p:nvPr/>
        </p:nvSpPr>
        <p:spPr>
          <a:xfrm>
            <a:off x="441137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9" name="TextBox 28"/>
          <p:cNvSpPr txBox="1"/>
          <p:nvPr/>
        </p:nvSpPr>
        <p:spPr>
          <a:xfrm>
            <a:off x="461253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断電・通信遮断を予防</a:t>
            </a:r>
          </a:p>
        </p:txBody>
      </p:sp>
      <p:sp>
        <p:nvSpPr>
          <p:cNvPr id="30" name="Rounded Rectangle 29"/>
          <p:cNvSpPr/>
          <p:nvPr/>
        </p:nvSpPr>
        <p:spPr>
          <a:xfrm>
            <a:off x="809122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9122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7410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3</a:t>
            </a:r>
          </a:p>
        </p:txBody>
      </p:sp>
      <p:sp>
        <p:nvSpPr>
          <p:cNvPr id="33" name="TextBox 32"/>
          <p:cNvSpPr txBox="1"/>
          <p:nvPr/>
        </p:nvSpPr>
        <p:spPr>
          <a:xfrm>
            <a:off x="827410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防火線（Fire Break）形成</a:t>
            </a:r>
          </a:p>
        </p:txBody>
      </p:sp>
      <p:sp>
        <p:nvSpPr>
          <p:cNvPr id="34" name="TextBox 33"/>
          <p:cNvSpPr txBox="1"/>
          <p:nvPr/>
        </p:nvSpPr>
        <p:spPr>
          <a:xfrm>
            <a:off x="827410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847526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延焼経路となる植生帯に事前散布</a:t>
            </a:r>
          </a:p>
        </p:txBody>
      </p:sp>
      <p:sp>
        <p:nvSpPr>
          <p:cNvPr id="36" name="TextBox 35"/>
          <p:cNvSpPr txBox="1"/>
          <p:nvPr/>
        </p:nvSpPr>
        <p:spPr>
          <a:xfrm>
            <a:off x="827410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847526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Phos-Chek の環境負荷なし</a:t>
            </a:r>
          </a:p>
        </p:txBody>
      </p:sp>
      <p:sp>
        <p:nvSpPr>
          <p:cNvPr id="38" name="TextBox 37"/>
          <p:cNvSpPr txBox="1"/>
          <p:nvPr/>
        </p:nvSpPr>
        <p:spPr>
          <a:xfrm>
            <a:off x="827410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9" name="TextBox 38"/>
          <p:cNvSpPr txBox="1"/>
          <p:nvPr/>
        </p:nvSpPr>
        <p:spPr>
          <a:xfrm>
            <a:off x="847526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セルロース・シリカは残留性が低い</a:t>
            </a:r>
          </a:p>
        </p:txBody>
      </p:sp>
      <p:sp>
        <p:nvSpPr>
          <p:cNvPr id="40" name="Rounded Rectangle 39"/>
          <p:cNvSpPr/>
          <p:nvPr/>
        </p:nvSpPr>
        <p:spPr>
          <a:xfrm>
            <a:off x="365760" y="4425696"/>
            <a:ext cx="5638647" cy="17830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4535424"/>
            <a:ext cx="5272887" cy="256032"/>
          </a:xfrm>
          <a:prstGeom prst="rect">
            <a:avLst/>
          </a:prstGeom>
          <a:noFill/>
        </p:spPr>
        <p:txBody>
          <a:bodyPr wrap="square" anchor="t" lIns="36000" rIns="36000" tIns="18000" bIns="18000">
            <a:spAutoFit/>
          </a:bodyPr>
          <a:lstStyle/>
          <a:p>
            <a:pPr algn="l"/>
            <a:r>
              <a:rPr sz="1200" b="1" i="0">
                <a:solidFill>
                  <a:srgbClr val="64748B"/>
                </a:solidFill>
                <a:latin typeface="Noto Sans JP"/>
              </a:rPr>
              <a:t>既存手法との優位点</a:t>
            </a:r>
          </a:p>
        </p:txBody>
      </p:sp>
      <p:sp>
        <p:nvSpPr>
          <p:cNvPr id="42" name="TextBox 41"/>
          <p:cNvSpPr txBox="1"/>
          <p:nvPr/>
        </p:nvSpPr>
        <p:spPr>
          <a:xfrm>
            <a:off x="566928" y="4882896"/>
            <a:ext cx="1325880" cy="292608"/>
          </a:xfrm>
          <a:prstGeom prst="rect">
            <a:avLst/>
          </a:prstGeom>
          <a:noFill/>
        </p:spPr>
        <p:txBody>
          <a:bodyPr wrap="square" anchor="ctr" lIns="36000" rIns="36000" tIns="18000" bIns="18000">
            <a:spAutoFit/>
          </a:bodyPr>
          <a:lstStyle/>
          <a:p>
            <a:pPr algn="l"/>
            <a:r>
              <a:rPr sz="1050" b="0" i="0">
                <a:solidFill>
                  <a:srgbClr val="64748B"/>
                </a:solidFill>
                <a:latin typeface="Noto Sans JP"/>
              </a:rPr>
              <a:t>vs 水</a:t>
            </a:r>
          </a:p>
        </p:txBody>
      </p:sp>
      <p:sp>
        <p:nvSpPr>
          <p:cNvPr id="43" name="TextBox 42"/>
          <p:cNvSpPr txBox="1"/>
          <p:nvPr/>
        </p:nvSpPr>
        <p:spPr>
          <a:xfrm>
            <a:off x="1920240" y="4882896"/>
            <a:ext cx="3901287" cy="292608"/>
          </a:xfrm>
          <a:prstGeom prst="rect">
            <a:avLst/>
          </a:prstGeom>
          <a:noFill/>
        </p:spPr>
        <p:txBody>
          <a:bodyPr wrap="square" anchor="ctr" lIns="36000" rIns="36000" tIns="18000" bIns="18000">
            <a:spAutoFit/>
          </a:bodyPr>
          <a:lstStyle/>
          <a:p>
            <a:pPr algn="l"/>
            <a:r>
              <a:rPr sz="1050" b="1" i="0">
                <a:solidFill>
                  <a:srgbClr val="5B8C5A"/>
                </a:solidFill>
                <a:latin typeface="Noto Sans JP"/>
              </a:rPr>
              <a:t>保護時間が大幅向上（水は~0.3分で炭化）</a:t>
            </a:r>
          </a:p>
        </p:txBody>
      </p:sp>
      <p:sp>
        <p:nvSpPr>
          <p:cNvPr id="44" name="TextBox 43"/>
          <p:cNvSpPr txBox="1"/>
          <p:nvPr/>
        </p:nvSpPr>
        <p:spPr>
          <a:xfrm>
            <a:off x="566928" y="5184648"/>
            <a:ext cx="1325880" cy="292608"/>
          </a:xfrm>
          <a:prstGeom prst="rect">
            <a:avLst/>
          </a:prstGeom>
          <a:noFill/>
        </p:spPr>
        <p:txBody>
          <a:bodyPr wrap="square" anchor="ctr" lIns="36000" rIns="36000" tIns="18000" bIns="18000">
            <a:spAutoFit/>
          </a:bodyPr>
          <a:lstStyle/>
          <a:p>
            <a:pPr algn="l"/>
            <a:r>
              <a:rPr sz="1050" b="0" i="0">
                <a:solidFill>
                  <a:srgbClr val="64748B"/>
                </a:solidFill>
                <a:latin typeface="Noto Sans JP"/>
              </a:rPr>
              <a:t>vs AquaGel-K</a:t>
            </a:r>
          </a:p>
        </p:txBody>
      </p:sp>
      <p:sp>
        <p:nvSpPr>
          <p:cNvPr id="45" name="TextBox 44"/>
          <p:cNvSpPr txBox="1"/>
          <p:nvPr/>
        </p:nvSpPr>
        <p:spPr>
          <a:xfrm>
            <a:off x="1920240" y="5184648"/>
            <a:ext cx="3901287" cy="292608"/>
          </a:xfrm>
          <a:prstGeom prst="rect">
            <a:avLst/>
          </a:prstGeom>
          <a:noFill/>
        </p:spPr>
        <p:txBody>
          <a:bodyPr wrap="square" anchor="ctr" lIns="36000" rIns="36000" tIns="18000" bIns="18000">
            <a:spAutoFit/>
          </a:bodyPr>
          <a:lstStyle/>
          <a:p>
            <a:pPr algn="l"/>
            <a:r>
              <a:rPr sz="1050" b="1" i="0">
                <a:solidFill>
                  <a:srgbClr val="5B8C5A"/>
                </a:solidFill>
                <a:latin typeface="Noto Sans JP"/>
              </a:rPr>
              <a:t>3〜6倍の保護時間＋水蒸発後も継続</a:t>
            </a:r>
          </a:p>
        </p:txBody>
      </p:sp>
      <p:sp>
        <p:nvSpPr>
          <p:cNvPr id="46" name="TextBox 45"/>
          <p:cNvSpPr txBox="1"/>
          <p:nvPr/>
        </p:nvSpPr>
        <p:spPr>
          <a:xfrm>
            <a:off x="566928" y="5486400"/>
            <a:ext cx="1325880" cy="292608"/>
          </a:xfrm>
          <a:prstGeom prst="rect">
            <a:avLst/>
          </a:prstGeom>
          <a:noFill/>
        </p:spPr>
        <p:txBody>
          <a:bodyPr wrap="square" anchor="ctr" lIns="36000" rIns="36000" tIns="18000" bIns="18000">
            <a:spAutoFit/>
          </a:bodyPr>
          <a:lstStyle/>
          <a:p>
            <a:pPr algn="l"/>
            <a:r>
              <a:rPr sz="1050" b="0" i="0">
                <a:solidFill>
                  <a:srgbClr val="64748B"/>
                </a:solidFill>
                <a:latin typeface="Noto Sans JP"/>
              </a:rPr>
              <a:t>vs Phos-Chek</a:t>
            </a:r>
          </a:p>
        </p:txBody>
      </p:sp>
      <p:sp>
        <p:nvSpPr>
          <p:cNvPr id="47" name="TextBox 46"/>
          <p:cNvSpPr txBox="1"/>
          <p:nvPr/>
        </p:nvSpPr>
        <p:spPr>
          <a:xfrm>
            <a:off x="1920240" y="5486400"/>
            <a:ext cx="3901287" cy="292608"/>
          </a:xfrm>
          <a:prstGeom prst="rect">
            <a:avLst/>
          </a:prstGeom>
          <a:noFill/>
        </p:spPr>
        <p:txBody>
          <a:bodyPr wrap="square" anchor="ctr" lIns="36000" rIns="36000" tIns="18000" bIns="18000">
            <a:spAutoFit/>
          </a:bodyPr>
          <a:lstStyle/>
          <a:p>
            <a:pPr algn="l"/>
            <a:r>
              <a:rPr sz="1050" b="1" i="0">
                <a:solidFill>
                  <a:srgbClr val="5B8C5A"/>
                </a:solidFill>
                <a:latin typeface="Noto Sans JP"/>
              </a:rPr>
              <a:t>土壌・水系への残留性が低い</a:t>
            </a:r>
          </a:p>
        </p:txBody>
      </p:sp>
      <p:sp>
        <p:nvSpPr>
          <p:cNvPr id="48" name="TextBox 47"/>
          <p:cNvSpPr txBox="1"/>
          <p:nvPr/>
        </p:nvSpPr>
        <p:spPr>
          <a:xfrm>
            <a:off x="566928" y="5788152"/>
            <a:ext cx="1325880" cy="292608"/>
          </a:xfrm>
          <a:prstGeom prst="rect">
            <a:avLst/>
          </a:prstGeom>
          <a:noFill/>
        </p:spPr>
        <p:txBody>
          <a:bodyPr wrap="square" anchor="ctr" lIns="36000" rIns="36000" tIns="18000" bIns="18000">
            <a:spAutoFit/>
          </a:bodyPr>
          <a:lstStyle/>
          <a:p>
            <a:pPr algn="l"/>
            <a:r>
              <a:rPr sz="1050" b="0" i="0">
                <a:solidFill>
                  <a:srgbClr val="64748B"/>
                </a:solidFill>
                <a:latin typeface="Noto Sans JP"/>
              </a:rPr>
              <a:t>散布互換性</a:t>
            </a:r>
          </a:p>
        </p:txBody>
      </p:sp>
      <p:sp>
        <p:nvSpPr>
          <p:cNvPr id="49" name="TextBox 48"/>
          <p:cNvSpPr txBox="1"/>
          <p:nvPr/>
        </p:nvSpPr>
        <p:spPr>
          <a:xfrm>
            <a:off x="1920240" y="5788152"/>
            <a:ext cx="3901287" cy="292608"/>
          </a:xfrm>
          <a:prstGeom prst="rect">
            <a:avLst/>
          </a:prstGeom>
          <a:noFill/>
        </p:spPr>
        <p:txBody>
          <a:bodyPr wrap="square" anchor="ctr" lIns="36000" rIns="36000" tIns="18000" bIns="18000">
            <a:spAutoFit/>
          </a:bodyPr>
          <a:lstStyle/>
          <a:p>
            <a:pPr algn="l"/>
            <a:r>
              <a:rPr sz="1050" b="1" i="0">
                <a:solidFill>
                  <a:srgbClr val="5B8C5A"/>
                </a:solidFill>
                <a:latin typeface="Noto Sans JP"/>
              </a:rPr>
              <a:t>既存機材をそのまま使用可</a:t>
            </a:r>
          </a:p>
        </p:txBody>
      </p:sp>
      <p:sp>
        <p:nvSpPr>
          <p:cNvPr id="50" name="Rounded Rectangle 49"/>
          <p:cNvSpPr/>
          <p:nvPr/>
        </p:nvSpPr>
        <p:spPr>
          <a:xfrm>
            <a:off x="6187287" y="4608576"/>
            <a:ext cx="5638647" cy="91440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187287" y="4608576"/>
            <a:ext cx="54864" cy="9144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70167" y="4608576"/>
            <a:ext cx="365760" cy="91440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3" name="TextBox 52"/>
          <p:cNvSpPr txBox="1"/>
          <p:nvPr/>
        </p:nvSpPr>
        <p:spPr>
          <a:xfrm>
            <a:off x="6781647" y="4608576"/>
            <a:ext cx="4952847" cy="914400"/>
          </a:xfrm>
          <a:prstGeom prst="rect">
            <a:avLst/>
          </a:prstGeom>
          <a:noFill/>
        </p:spPr>
        <p:txBody>
          <a:bodyPr wrap="square" anchor="ctr" lIns="36000" rIns="36000" tIns="18000" bIns="18000">
            <a:spAutoFit/>
          </a:bodyPr>
          <a:lstStyle/>
          <a:p>
            <a:pPr algn="l"/>
            <a:r>
              <a:rPr sz="1300" b="1" i="0">
                <a:solidFill>
                  <a:srgbClr val="1E293B"/>
                </a:solidFill>
                <a:latin typeface="Noto Sans JP"/>
              </a:rPr>
              <a:t>航空散布・地上散布ともに対応可能な流動特性（剪断希薄化）が実用化の鍵</a:t>
            </a:r>
          </a:p>
        </p:txBody>
      </p:sp>
      <p:sp>
        <p:nvSpPr>
          <p:cNvPr id="54" name="TextBox 53"/>
          <p:cNvSpPr txBox="1"/>
          <p:nvPr/>
        </p:nvSpPr>
        <p:spPr>
          <a:xfrm>
            <a:off x="6187287" y="5614416"/>
            <a:ext cx="5638647" cy="502920"/>
          </a:xfrm>
          <a:prstGeom prst="rect">
            <a:avLst/>
          </a:prstGeom>
          <a:noFill/>
        </p:spPr>
        <p:txBody>
          <a:bodyPr wrap="square" anchor="t" lIns="36000" rIns="36000" tIns="18000" bIns="18000">
            <a:spAutoFit/>
          </a:bodyPr>
          <a:lstStyle/>
          <a:p>
            <a:pPr algn="l"/>
            <a:r>
              <a:rPr sz="950" b="0" i="1">
                <a:solidFill>
                  <a:srgbClr val="64748B"/>
                </a:solidFill>
                <a:latin typeface="Noto Sans JP"/>
              </a:rPr>
              <a:t>※ 水・AquaGel-K との保護時間比較は実測（Fig. 3）。Phos-Chek は論文の燃焼直接比較ではなく、環境残留性に関する定性的な位置づけ</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既存品との比較：WEG だけが満たす要件</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41 / 43</a:t>
            </a:r>
          </a:p>
        </p:txBody>
      </p:sp>
      <p:sp>
        <p:nvSpPr>
          <p:cNvPr id="10" name="Rounded Rectangle 9"/>
          <p:cNvSpPr/>
          <p:nvPr/>
        </p:nvSpPr>
        <p:spPr>
          <a:xfrm>
            <a:off x="365760" y="859536"/>
            <a:ext cx="11460175" cy="512064"/>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120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12064"/>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13" name="TextBox 12"/>
          <p:cNvSpPr txBox="1"/>
          <p:nvPr/>
        </p:nvSpPr>
        <p:spPr>
          <a:xfrm>
            <a:off x="960120" y="859536"/>
            <a:ext cx="10774375" cy="512064"/>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本研究の WEG（PPハイドロゲル）は、水・市販WEG・Phos-Chek が個別にしか満たせない要件をすべて両立する</a:t>
            </a:r>
          </a:p>
        </p:txBody>
      </p:sp>
      <p:sp>
        <p:nvSpPr>
          <p:cNvPr id="14" name="Rectangle 13"/>
          <p:cNvSpPr/>
          <p:nvPr/>
        </p:nvSpPr>
        <p:spPr>
          <a:xfrm>
            <a:off x="365760" y="1572768"/>
            <a:ext cx="2377440"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 y="1572768"/>
            <a:ext cx="2157984" cy="868680"/>
          </a:xfrm>
          <a:prstGeom prst="rect">
            <a:avLst/>
          </a:prstGeom>
          <a:noFill/>
        </p:spPr>
        <p:txBody>
          <a:bodyPr wrap="square" anchor="ctr" lIns="36000" rIns="36000" tIns="18000" bIns="18000">
            <a:spAutoFit/>
          </a:bodyPr>
          <a:lstStyle/>
          <a:p>
            <a:pPr algn="l"/>
            <a:r>
              <a:rPr sz="1100" b="1" i="0">
                <a:solidFill>
                  <a:srgbClr val="FFFFFF"/>
                </a:solidFill>
                <a:latin typeface="Noto Sans JP"/>
              </a:rPr>
              <a:t>製品 ＼ 要件</a:t>
            </a:r>
          </a:p>
        </p:txBody>
      </p:sp>
      <p:sp>
        <p:nvSpPr>
          <p:cNvPr id="16" name="Rectangle 15"/>
          <p:cNvSpPr/>
          <p:nvPr/>
        </p:nvSpPr>
        <p:spPr>
          <a:xfrm>
            <a:off x="2743200" y="1572768"/>
            <a:ext cx="1816547" cy="868680"/>
          </a:xfrm>
          <a:prstGeom prst="rect">
            <a:avLst/>
          </a:prstGeom>
          <a:solidFill>
            <a:srgbClr val="1E293B"/>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98064" y="1618488"/>
            <a:ext cx="1706819" cy="777240"/>
          </a:xfrm>
          <a:prstGeom prst="rect">
            <a:avLst/>
          </a:prstGeom>
          <a:noFill/>
        </p:spPr>
        <p:txBody>
          <a:bodyPr wrap="square" anchor="ctr" lIns="36000" rIns="36000" tIns="18000" bIns="18000">
            <a:spAutoFit/>
          </a:bodyPr>
          <a:lstStyle/>
          <a:p>
            <a:pPr algn="ctr"/>
            <a:r>
              <a:rPr sz="1050" b="1" i="0">
                <a:solidFill>
                  <a:srgbClr val="FFFFFF"/>
                </a:solidFill>
                <a:latin typeface="Noto Sans JP"/>
              </a:rPr>
              <a:t>長時間の火炎保護</a:t>
            </a:r>
          </a:p>
        </p:txBody>
      </p:sp>
      <p:sp>
        <p:nvSpPr>
          <p:cNvPr id="18" name="Rectangle 17"/>
          <p:cNvSpPr/>
          <p:nvPr/>
        </p:nvSpPr>
        <p:spPr>
          <a:xfrm>
            <a:off x="4559747" y="1572768"/>
            <a:ext cx="1816547" cy="868680"/>
          </a:xfrm>
          <a:prstGeom prst="rect">
            <a:avLst/>
          </a:prstGeom>
          <a:solidFill>
            <a:srgbClr val="1E293B"/>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14611" y="1618488"/>
            <a:ext cx="1706819" cy="777240"/>
          </a:xfrm>
          <a:prstGeom prst="rect">
            <a:avLst/>
          </a:prstGeom>
          <a:noFill/>
        </p:spPr>
        <p:txBody>
          <a:bodyPr wrap="square" anchor="ctr" lIns="36000" rIns="36000" tIns="18000" bIns="18000">
            <a:spAutoFit/>
          </a:bodyPr>
          <a:lstStyle/>
          <a:p>
            <a:pPr algn="ctr"/>
            <a:r>
              <a:rPr sz="1050" b="1" i="0">
                <a:solidFill>
                  <a:srgbClr val="FFFFFF"/>
                </a:solidFill>
                <a:latin typeface="Noto Sans JP"/>
              </a:rPr>
              <a:t>乾燥後も保護継続</a:t>
            </a:r>
          </a:p>
        </p:txBody>
      </p:sp>
      <p:sp>
        <p:nvSpPr>
          <p:cNvPr id="20" name="Rectangle 19"/>
          <p:cNvSpPr/>
          <p:nvPr/>
        </p:nvSpPr>
        <p:spPr>
          <a:xfrm>
            <a:off x="6376294" y="1572768"/>
            <a:ext cx="1816547" cy="868680"/>
          </a:xfrm>
          <a:prstGeom prst="rect">
            <a:avLst/>
          </a:prstGeom>
          <a:solidFill>
            <a:srgbClr val="1E293B"/>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31158" y="1618488"/>
            <a:ext cx="1706819" cy="777240"/>
          </a:xfrm>
          <a:prstGeom prst="rect">
            <a:avLst/>
          </a:prstGeom>
          <a:noFill/>
        </p:spPr>
        <p:txBody>
          <a:bodyPr wrap="square" anchor="ctr" lIns="36000" rIns="36000" tIns="18000" bIns="18000">
            <a:spAutoFit/>
          </a:bodyPr>
          <a:lstStyle/>
          <a:p>
            <a:pPr algn="ctr"/>
            <a:r>
              <a:rPr sz="1050" b="1" i="0">
                <a:solidFill>
                  <a:srgbClr val="FFFFFF"/>
                </a:solidFill>
                <a:latin typeface="Noto Sans JP"/>
              </a:rPr>
              <a:t>噴霧散布が可能</a:t>
            </a:r>
          </a:p>
        </p:txBody>
      </p:sp>
      <p:sp>
        <p:nvSpPr>
          <p:cNvPr id="22" name="Rectangle 21"/>
          <p:cNvSpPr/>
          <p:nvPr/>
        </p:nvSpPr>
        <p:spPr>
          <a:xfrm>
            <a:off x="8192841" y="1572768"/>
            <a:ext cx="1816547" cy="868680"/>
          </a:xfrm>
          <a:prstGeom prst="rect">
            <a:avLst/>
          </a:prstGeom>
          <a:solidFill>
            <a:srgbClr val="1E293B"/>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47705" y="1618488"/>
            <a:ext cx="1706819" cy="777240"/>
          </a:xfrm>
          <a:prstGeom prst="rect">
            <a:avLst/>
          </a:prstGeom>
          <a:noFill/>
        </p:spPr>
        <p:txBody>
          <a:bodyPr wrap="square" anchor="ctr" lIns="36000" rIns="36000" tIns="18000" bIns="18000">
            <a:spAutoFit/>
          </a:bodyPr>
          <a:lstStyle/>
          <a:p>
            <a:pPr algn="ctr"/>
            <a:r>
              <a:rPr sz="1050" b="1" i="0">
                <a:solidFill>
                  <a:srgbClr val="FFFFFF"/>
                </a:solidFill>
                <a:latin typeface="Noto Sans JP"/>
              </a:rPr>
              <a:t>環境残留が低い</a:t>
            </a:r>
          </a:p>
        </p:txBody>
      </p:sp>
      <p:sp>
        <p:nvSpPr>
          <p:cNvPr id="24" name="Rectangle 23"/>
          <p:cNvSpPr/>
          <p:nvPr/>
        </p:nvSpPr>
        <p:spPr>
          <a:xfrm>
            <a:off x="10009388" y="1572768"/>
            <a:ext cx="1816547" cy="868680"/>
          </a:xfrm>
          <a:prstGeom prst="rect">
            <a:avLst/>
          </a:prstGeom>
          <a:solidFill>
            <a:srgbClr val="1E293B"/>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64252" y="1618488"/>
            <a:ext cx="1706819" cy="777240"/>
          </a:xfrm>
          <a:prstGeom prst="rect">
            <a:avLst/>
          </a:prstGeom>
          <a:noFill/>
        </p:spPr>
        <p:txBody>
          <a:bodyPr wrap="square" anchor="ctr" lIns="36000" rIns="36000" tIns="18000" bIns="18000">
            <a:spAutoFit/>
          </a:bodyPr>
          <a:lstStyle/>
          <a:p>
            <a:pPr algn="ctr"/>
            <a:r>
              <a:rPr sz="1050" b="1" i="0">
                <a:solidFill>
                  <a:srgbClr val="FFFFFF"/>
                </a:solidFill>
                <a:latin typeface="Noto Sans JP"/>
              </a:rPr>
              <a:t>発泡・断熱層を形成</a:t>
            </a:r>
          </a:p>
        </p:txBody>
      </p:sp>
      <p:sp>
        <p:nvSpPr>
          <p:cNvPr id="26" name="Rectangle 25"/>
          <p:cNvSpPr/>
          <p:nvPr/>
        </p:nvSpPr>
        <p:spPr>
          <a:xfrm>
            <a:off x="365760" y="2441448"/>
            <a:ext cx="2377440" cy="603504"/>
          </a:xfrm>
          <a:prstGeom prst="rect">
            <a:avLst/>
          </a:prstGeom>
          <a:solidFill>
            <a:srgbClr val="ECF2F8"/>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65760" y="2441448"/>
            <a:ext cx="54864" cy="603504"/>
          </a:xfrm>
          <a:prstGeom prst="rect">
            <a:avLst/>
          </a:prstGeom>
          <a:solidFill>
            <a:srgbClr val="5B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2441448"/>
            <a:ext cx="2103120" cy="603504"/>
          </a:xfrm>
          <a:prstGeom prst="rect">
            <a:avLst/>
          </a:prstGeom>
          <a:noFill/>
        </p:spPr>
        <p:txBody>
          <a:bodyPr wrap="square" anchor="ctr" lIns="36000" rIns="36000" tIns="18000" bIns="18000">
            <a:spAutoFit/>
          </a:bodyPr>
          <a:lstStyle/>
          <a:p>
            <a:pPr algn="l"/>
            <a:r>
              <a:rPr sz="1200" b="1" i="0">
                <a:solidFill>
                  <a:srgbClr val="1E293B"/>
                </a:solidFill>
                <a:latin typeface="Noto Sans JP"/>
              </a:rPr>
              <a:t>WEG（本研究）</a:t>
            </a:r>
          </a:p>
        </p:txBody>
      </p:sp>
      <p:sp>
        <p:nvSpPr>
          <p:cNvPr id="29" name="Rectangle 28"/>
          <p:cNvSpPr/>
          <p:nvPr/>
        </p:nvSpPr>
        <p:spPr>
          <a:xfrm>
            <a:off x="2743200" y="2441448"/>
            <a:ext cx="1816547" cy="603504"/>
          </a:xfrm>
          <a:prstGeom prst="rect">
            <a:avLst/>
          </a:prstGeom>
          <a:solidFill>
            <a:srgbClr val="ECF2F8"/>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743200" y="2441448"/>
            <a:ext cx="1816547" cy="603504"/>
          </a:xfrm>
          <a:prstGeom prst="rect">
            <a:avLst/>
          </a:prstGeom>
          <a:noFill/>
        </p:spPr>
        <p:txBody>
          <a:bodyPr wrap="square" anchor="ctr" lIns="36000" rIns="36000" tIns="18000" bIns="18000">
            <a:spAutoFit/>
          </a:bodyPr>
          <a:lstStyle/>
          <a:p>
            <a:pPr algn="ctr"/>
            <a:r>
              <a:rPr sz="1800" b="1" i="0">
                <a:solidFill>
                  <a:srgbClr val="5B8C5A"/>
                </a:solidFill>
                <a:latin typeface="Noto Sans JP"/>
              </a:rPr>
              <a:t>◎</a:t>
            </a:r>
          </a:p>
        </p:txBody>
      </p:sp>
      <p:sp>
        <p:nvSpPr>
          <p:cNvPr id="31" name="Rectangle 30"/>
          <p:cNvSpPr/>
          <p:nvPr/>
        </p:nvSpPr>
        <p:spPr>
          <a:xfrm>
            <a:off x="4559747" y="2441448"/>
            <a:ext cx="1816547" cy="603504"/>
          </a:xfrm>
          <a:prstGeom prst="rect">
            <a:avLst/>
          </a:prstGeom>
          <a:solidFill>
            <a:srgbClr val="ECF2F8"/>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59747" y="2441448"/>
            <a:ext cx="1816547" cy="603504"/>
          </a:xfrm>
          <a:prstGeom prst="rect">
            <a:avLst/>
          </a:prstGeom>
          <a:noFill/>
        </p:spPr>
        <p:txBody>
          <a:bodyPr wrap="square" anchor="ctr" lIns="36000" rIns="36000" tIns="18000" bIns="18000">
            <a:spAutoFit/>
          </a:bodyPr>
          <a:lstStyle/>
          <a:p>
            <a:pPr algn="ctr"/>
            <a:r>
              <a:rPr sz="1800" b="1" i="0">
                <a:solidFill>
                  <a:srgbClr val="5B8C5A"/>
                </a:solidFill>
                <a:latin typeface="Noto Sans JP"/>
              </a:rPr>
              <a:t>◎</a:t>
            </a:r>
          </a:p>
        </p:txBody>
      </p:sp>
      <p:sp>
        <p:nvSpPr>
          <p:cNvPr id="33" name="Rectangle 32"/>
          <p:cNvSpPr/>
          <p:nvPr/>
        </p:nvSpPr>
        <p:spPr>
          <a:xfrm>
            <a:off x="6376294" y="2441448"/>
            <a:ext cx="1816547" cy="603504"/>
          </a:xfrm>
          <a:prstGeom prst="rect">
            <a:avLst/>
          </a:prstGeom>
          <a:solidFill>
            <a:srgbClr val="ECF2F8"/>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76294" y="2441448"/>
            <a:ext cx="1816547" cy="603504"/>
          </a:xfrm>
          <a:prstGeom prst="rect">
            <a:avLst/>
          </a:prstGeom>
          <a:noFill/>
        </p:spPr>
        <p:txBody>
          <a:bodyPr wrap="square" anchor="ctr" lIns="36000" rIns="36000" tIns="18000" bIns="18000">
            <a:spAutoFit/>
          </a:bodyPr>
          <a:lstStyle/>
          <a:p>
            <a:pPr algn="ctr"/>
            <a:r>
              <a:rPr sz="1800" b="1" i="0">
                <a:solidFill>
                  <a:srgbClr val="5B8C5A"/>
                </a:solidFill>
                <a:latin typeface="Noto Sans JP"/>
              </a:rPr>
              <a:t>○</a:t>
            </a:r>
          </a:p>
        </p:txBody>
      </p:sp>
      <p:sp>
        <p:nvSpPr>
          <p:cNvPr id="35" name="Rectangle 34"/>
          <p:cNvSpPr/>
          <p:nvPr/>
        </p:nvSpPr>
        <p:spPr>
          <a:xfrm>
            <a:off x="8192841" y="2441448"/>
            <a:ext cx="1816547" cy="603504"/>
          </a:xfrm>
          <a:prstGeom prst="rect">
            <a:avLst/>
          </a:prstGeom>
          <a:solidFill>
            <a:srgbClr val="ECF2F8"/>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92841" y="2441448"/>
            <a:ext cx="1816547" cy="603504"/>
          </a:xfrm>
          <a:prstGeom prst="rect">
            <a:avLst/>
          </a:prstGeom>
          <a:noFill/>
        </p:spPr>
        <p:txBody>
          <a:bodyPr wrap="square" anchor="ctr" lIns="36000" rIns="36000" tIns="18000" bIns="18000">
            <a:spAutoFit/>
          </a:bodyPr>
          <a:lstStyle/>
          <a:p>
            <a:pPr algn="ctr"/>
            <a:r>
              <a:rPr sz="1800" b="1" i="0">
                <a:solidFill>
                  <a:srgbClr val="5B8C5A"/>
                </a:solidFill>
                <a:latin typeface="Noto Sans JP"/>
              </a:rPr>
              <a:t>○</a:t>
            </a:r>
          </a:p>
        </p:txBody>
      </p:sp>
      <p:sp>
        <p:nvSpPr>
          <p:cNvPr id="37" name="Rectangle 36"/>
          <p:cNvSpPr/>
          <p:nvPr/>
        </p:nvSpPr>
        <p:spPr>
          <a:xfrm>
            <a:off x="10009388" y="2441448"/>
            <a:ext cx="1816547" cy="603504"/>
          </a:xfrm>
          <a:prstGeom prst="rect">
            <a:avLst/>
          </a:prstGeom>
          <a:solidFill>
            <a:srgbClr val="ECF2F8"/>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09388" y="2441448"/>
            <a:ext cx="1816547" cy="603504"/>
          </a:xfrm>
          <a:prstGeom prst="rect">
            <a:avLst/>
          </a:prstGeom>
          <a:noFill/>
        </p:spPr>
        <p:txBody>
          <a:bodyPr wrap="square" anchor="ctr" lIns="36000" rIns="36000" tIns="18000" bIns="18000">
            <a:spAutoFit/>
          </a:bodyPr>
          <a:lstStyle/>
          <a:p>
            <a:pPr algn="ctr"/>
            <a:r>
              <a:rPr sz="1800" b="1" i="0">
                <a:solidFill>
                  <a:srgbClr val="5B8C5A"/>
                </a:solidFill>
                <a:latin typeface="Noto Sans JP"/>
              </a:rPr>
              <a:t>◎</a:t>
            </a:r>
          </a:p>
        </p:txBody>
      </p:sp>
      <p:sp>
        <p:nvSpPr>
          <p:cNvPr id="39" name="Rectangle 38"/>
          <p:cNvSpPr/>
          <p:nvPr/>
        </p:nvSpPr>
        <p:spPr>
          <a:xfrm>
            <a:off x="365760" y="3044952"/>
            <a:ext cx="2377440" cy="603504"/>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3044952"/>
            <a:ext cx="2103120" cy="603504"/>
          </a:xfrm>
          <a:prstGeom prst="rect">
            <a:avLst/>
          </a:prstGeom>
          <a:noFill/>
        </p:spPr>
        <p:txBody>
          <a:bodyPr wrap="square" anchor="ctr" lIns="36000" rIns="36000" tIns="18000" bIns="18000">
            <a:spAutoFit/>
          </a:bodyPr>
          <a:lstStyle/>
          <a:p>
            <a:pPr algn="l"/>
            <a:r>
              <a:rPr sz="1200" b="0" i="0">
                <a:solidFill>
                  <a:srgbClr val="334155"/>
                </a:solidFill>
                <a:latin typeface="Noto Sans JP"/>
              </a:rPr>
              <a:t>市販 AquaGel-K</a:t>
            </a:r>
          </a:p>
        </p:txBody>
      </p:sp>
      <p:sp>
        <p:nvSpPr>
          <p:cNvPr id="41" name="Rectangle 40"/>
          <p:cNvSpPr/>
          <p:nvPr/>
        </p:nvSpPr>
        <p:spPr>
          <a:xfrm>
            <a:off x="2743200" y="3044952"/>
            <a:ext cx="1816547" cy="603504"/>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743200" y="3044952"/>
            <a:ext cx="1816547" cy="603504"/>
          </a:xfrm>
          <a:prstGeom prst="rect">
            <a:avLst/>
          </a:prstGeom>
          <a:noFill/>
        </p:spPr>
        <p:txBody>
          <a:bodyPr wrap="square" anchor="ctr" lIns="36000" rIns="36000" tIns="18000" bIns="18000">
            <a:spAutoFit/>
          </a:bodyPr>
          <a:lstStyle/>
          <a:p>
            <a:pPr algn="ctr"/>
            <a:r>
              <a:rPr sz="1800" b="1" i="0">
                <a:solidFill>
                  <a:srgbClr val="9F7639"/>
                </a:solidFill>
                <a:latin typeface="Noto Sans JP"/>
              </a:rPr>
              <a:t>△</a:t>
            </a:r>
          </a:p>
        </p:txBody>
      </p:sp>
      <p:sp>
        <p:nvSpPr>
          <p:cNvPr id="43" name="Rectangle 42"/>
          <p:cNvSpPr/>
          <p:nvPr/>
        </p:nvSpPr>
        <p:spPr>
          <a:xfrm>
            <a:off x="4559747" y="3044952"/>
            <a:ext cx="1816547" cy="603504"/>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59747" y="3044952"/>
            <a:ext cx="1816547" cy="603504"/>
          </a:xfrm>
          <a:prstGeom prst="rect">
            <a:avLst/>
          </a:prstGeom>
          <a:noFill/>
        </p:spPr>
        <p:txBody>
          <a:bodyPr wrap="square" anchor="ctr" lIns="36000" rIns="36000" tIns="18000" bIns="18000">
            <a:spAutoFit/>
          </a:bodyPr>
          <a:lstStyle/>
          <a:p>
            <a:pPr algn="ctr"/>
            <a:r>
              <a:rPr sz="1800" b="1" i="0">
                <a:solidFill>
                  <a:srgbClr val="A05656"/>
                </a:solidFill>
                <a:latin typeface="Noto Sans JP"/>
              </a:rPr>
              <a:t>×</a:t>
            </a:r>
          </a:p>
        </p:txBody>
      </p:sp>
      <p:sp>
        <p:nvSpPr>
          <p:cNvPr id="45" name="Rectangle 44"/>
          <p:cNvSpPr/>
          <p:nvPr/>
        </p:nvSpPr>
        <p:spPr>
          <a:xfrm>
            <a:off x="6376294" y="3044952"/>
            <a:ext cx="1816547" cy="603504"/>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376294" y="3044952"/>
            <a:ext cx="1816547" cy="603504"/>
          </a:xfrm>
          <a:prstGeom prst="rect">
            <a:avLst/>
          </a:prstGeom>
          <a:noFill/>
        </p:spPr>
        <p:txBody>
          <a:bodyPr wrap="square" anchor="ctr" lIns="36000" rIns="36000" tIns="18000" bIns="18000">
            <a:spAutoFit/>
          </a:bodyPr>
          <a:lstStyle/>
          <a:p>
            <a:pPr algn="ctr"/>
            <a:r>
              <a:rPr sz="1800" b="1" i="0">
                <a:solidFill>
                  <a:srgbClr val="5B8C5A"/>
                </a:solidFill>
                <a:latin typeface="Noto Sans JP"/>
              </a:rPr>
              <a:t>○</a:t>
            </a:r>
          </a:p>
        </p:txBody>
      </p:sp>
      <p:sp>
        <p:nvSpPr>
          <p:cNvPr id="47" name="Rectangle 46"/>
          <p:cNvSpPr/>
          <p:nvPr/>
        </p:nvSpPr>
        <p:spPr>
          <a:xfrm>
            <a:off x="8192841" y="3044952"/>
            <a:ext cx="1816547" cy="603504"/>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192841" y="3044952"/>
            <a:ext cx="1816547" cy="603504"/>
          </a:xfrm>
          <a:prstGeom prst="rect">
            <a:avLst/>
          </a:prstGeom>
          <a:noFill/>
        </p:spPr>
        <p:txBody>
          <a:bodyPr wrap="square" anchor="ctr" lIns="36000" rIns="36000" tIns="18000" bIns="18000">
            <a:spAutoFit/>
          </a:bodyPr>
          <a:lstStyle/>
          <a:p>
            <a:pPr algn="ctr"/>
            <a:r>
              <a:rPr sz="1800" b="1" i="0">
                <a:solidFill>
                  <a:srgbClr val="5B8C5A"/>
                </a:solidFill>
                <a:latin typeface="Noto Sans JP"/>
              </a:rPr>
              <a:t>○</a:t>
            </a:r>
          </a:p>
        </p:txBody>
      </p:sp>
      <p:sp>
        <p:nvSpPr>
          <p:cNvPr id="49" name="Rectangle 48"/>
          <p:cNvSpPr/>
          <p:nvPr/>
        </p:nvSpPr>
        <p:spPr>
          <a:xfrm>
            <a:off x="10009388" y="3044952"/>
            <a:ext cx="1816547" cy="603504"/>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009388" y="3044952"/>
            <a:ext cx="1816547" cy="603504"/>
          </a:xfrm>
          <a:prstGeom prst="rect">
            <a:avLst/>
          </a:prstGeom>
          <a:noFill/>
        </p:spPr>
        <p:txBody>
          <a:bodyPr wrap="square" anchor="ctr" lIns="36000" rIns="36000" tIns="18000" bIns="18000">
            <a:spAutoFit/>
          </a:bodyPr>
          <a:lstStyle/>
          <a:p>
            <a:pPr algn="ctr"/>
            <a:r>
              <a:rPr sz="1800" b="1" i="0">
                <a:solidFill>
                  <a:srgbClr val="A05656"/>
                </a:solidFill>
                <a:latin typeface="Noto Sans JP"/>
              </a:rPr>
              <a:t>×</a:t>
            </a:r>
          </a:p>
        </p:txBody>
      </p:sp>
      <p:sp>
        <p:nvSpPr>
          <p:cNvPr id="51" name="Rectangle 50"/>
          <p:cNvSpPr/>
          <p:nvPr/>
        </p:nvSpPr>
        <p:spPr>
          <a:xfrm>
            <a:off x="365760" y="3648456"/>
            <a:ext cx="2377440" cy="603504"/>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3648456"/>
            <a:ext cx="2103120" cy="603504"/>
          </a:xfrm>
          <a:prstGeom prst="rect">
            <a:avLst/>
          </a:prstGeom>
          <a:noFill/>
        </p:spPr>
        <p:txBody>
          <a:bodyPr wrap="square" anchor="ctr" lIns="36000" rIns="36000" tIns="18000" bIns="18000">
            <a:spAutoFit/>
          </a:bodyPr>
          <a:lstStyle/>
          <a:p>
            <a:pPr algn="l"/>
            <a:r>
              <a:rPr sz="1200" b="0" i="0">
                <a:solidFill>
                  <a:srgbClr val="334155"/>
                </a:solidFill>
                <a:latin typeface="Noto Sans JP"/>
              </a:rPr>
              <a:t>Phos-Chek</a:t>
            </a:r>
          </a:p>
        </p:txBody>
      </p:sp>
      <p:sp>
        <p:nvSpPr>
          <p:cNvPr id="53" name="Rectangle 52"/>
          <p:cNvSpPr/>
          <p:nvPr/>
        </p:nvSpPr>
        <p:spPr>
          <a:xfrm>
            <a:off x="2743200" y="3648456"/>
            <a:ext cx="1816547" cy="603504"/>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743200" y="3648456"/>
            <a:ext cx="1816547" cy="603504"/>
          </a:xfrm>
          <a:prstGeom prst="rect">
            <a:avLst/>
          </a:prstGeom>
          <a:noFill/>
        </p:spPr>
        <p:txBody>
          <a:bodyPr wrap="square" anchor="ctr" lIns="36000" rIns="36000" tIns="18000" bIns="18000">
            <a:spAutoFit/>
          </a:bodyPr>
          <a:lstStyle/>
          <a:p>
            <a:pPr algn="ctr"/>
            <a:r>
              <a:rPr sz="1800" b="1" i="0">
                <a:solidFill>
                  <a:srgbClr val="5B8C5A"/>
                </a:solidFill>
                <a:latin typeface="Noto Sans JP"/>
              </a:rPr>
              <a:t>○</a:t>
            </a:r>
          </a:p>
        </p:txBody>
      </p:sp>
      <p:sp>
        <p:nvSpPr>
          <p:cNvPr id="55" name="Rectangle 54"/>
          <p:cNvSpPr/>
          <p:nvPr/>
        </p:nvSpPr>
        <p:spPr>
          <a:xfrm>
            <a:off x="4559747" y="3648456"/>
            <a:ext cx="1816547" cy="603504"/>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559747" y="3648456"/>
            <a:ext cx="1816547" cy="603504"/>
          </a:xfrm>
          <a:prstGeom prst="rect">
            <a:avLst/>
          </a:prstGeom>
          <a:noFill/>
        </p:spPr>
        <p:txBody>
          <a:bodyPr wrap="square" anchor="ctr" lIns="36000" rIns="36000" tIns="18000" bIns="18000">
            <a:spAutoFit/>
          </a:bodyPr>
          <a:lstStyle/>
          <a:p>
            <a:pPr algn="ctr"/>
            <a:r>
              <a:rPr sz="1800" b="1" i="0">
                <a:solidFill>
                  <a:srgbClr val="5B8C5A"/>
                </a:solidFill>
                <a:latin typeface="Noto Sans JP"/>
              </a:rPr>
              <a:t>○</a:t>
            </a:r>
          </a:p>
        </p:txBody>
      </p:sp>
      <p:sp>
        <p:nvSpPr>
          <p:cNvPr id="57" name="Rectangle 56"/>
          <p:cNvSpPr/>
          <p:nvPr/>
        </p:nvSpPr>
        <p:spPr>
          <a:xfrm>
            <a:off x="6376294" y="3648456"/>
            <a:ext cx="1816547" cy="603504"/>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376294" y="3648456"/>
            <a:ext cx="1816547" cy="603504"/>
          </a:xfrm>
          <a:prstGeom prst="rect">
            <a:avLst/>
          </a:prstGeom>
          <a:noFill/>
        </p:spPr>
        <p:txBody>
          <a:bodyPr wrap="square" anchor="ctr" lIns="36000" rIns="36000" tIns="18000" bIns="18000">
            <a:spAutoFit/>
          </a:bodyPr>
          <a:lstStyle/>
          <a:p>
            <a:pPr algn="ctr"/>
            <a:r>
              <a:rPr sz="1800" b="1" i="0">
                <a:solidFill>
                  <a:srgbClr val="5B8C5A"/>
                </a:solidFill>
                <a:latin typeface="Noto Sans JP"/>
              </a:rPr>
              <a:t>○</a:t>
            </a:r>
          </a:p>
        </p:txBody>
      </p:sp>
      <p:sp>
        <p:nvSpPr>
          <p:cNvPr id="59" name="Rectangle 58"/>
          <p:cNvSpPr/>
          <p:nvPr/>
        </p:nvSpPr>
        <p:spPr>
          <a:xfrm>
            <a:off x="8192841" y="3648456"/>
            <a:ext cx="1816547" cy="603504"/>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192841" y="3648456"/>
            <a:ext cx="1816547" cy="603504"/>
          </a:xfrm>
          <a:prstGeom prst="rect">
            <a:avLst/>
          </a:prstGeom>
          <a:noFill/>
        </p:spPr>
        <p:txBody>
          <a:bodyPr wrap="square" anchor="ctr" lIns="36000" rIns="36000" tIns="18000" bIns="18000">
            <a:spAutoFit/>
          </a:bodyPr>
          <a:lstStyle/>
          <a:p>
            <a:pPr algn="ctr"/>
            <a:r>
              <a:rPr sz="1800" b="1" i="0">
                <a:solidFill>
                  <a:srgbClr val="A05656"/>
                </a:solidFill>
                <a:latin typeface="Noto Sans JP"/>
              </a:rPr>
              <a:t>×</a:t>
            </a:r>
          </a:p>
        </p:txBody>
      </p:sp>
      <p:sp>
        <p:nvSpPr>
          <p:cNvPr id="61" name="Rectangle 60"/>
          <p:cNvSpPr/>
          <p:nvPr/>
        </p:nvSpPr>
        <p:spPr>
          <a:xfrm>
            <a:off x="10009388" y="3648456"/>
            <a:ext cx="1816547" cy="603504"/>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0009388" y="3648456"/>
            <a:ext cx="1816547" cy="603504"/>
          </a:xfrm>
          <a:prstGeom prst="rect">
            <a:avLst/>
          </a:prstGeom>
          <a:noFill/>
        </p:spPr>
        <p:txBody>
          <a:bodyPr wrap="square" anchor="ctr" lIns="36000" rIns="36000" tIns="18000" bIns="18000">
            <a:spAutoFit/>
          </a:bodyPr>
          <a:lstStyle/>
          <a:p>
            <a:pPr algn="ctr"/>
            <a:r>
              <a:rPr sz="1800" b="1" i="0">
                <a:solidFill>
                  <a:srgbClr val="A05656"/>
                </a:solidFill>
                <a:latin typeface="Noto Sans JP"/>
              </a:rPr>
              <a:t>×</a:t>
            </a:r>
          </a:p>
        </p:txBody>
      </p:sp>
      <p:sp>
        <p:nvSpPr>
          <p:cNvPr id="63" name="Rectangle 62"/>
          <p:cNvSpPr/>
          <p:nvPr/>
        </p:nvSpPr>
        <p:spPr>
          <a:xfrm>
            <a:off x="365760" y="4251960"/>
            <a:ext cx="2377440" cy="603504"/>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48640" y="4251960"/>
            <a:ext cx="2103120" cy="603504"/>
          </a:xfrm>
          <a:prstGeom prst="rect">
            <a:avLst/>
          </a:prstGeom>
          <a:noFill/>
        </p:spPr>
        <p:txBody>
          <a:bodyPr wrap="square" anchor="ctr" lIns="36000" rIns="36000" tIns="18000" bIns="18000">
            <a:spAutoFit/>
          </a:bodyPr>
          <a:lstStyle/>
          <a:p>
            <a:pPr algn="l"/>
            <a:r>
              <a:rPr sz="1200" b="0" i="0">
                <a:solidFill>
                  <a:srgbClr val="334155"/>
                </a:solidFill>
                <a:latin typeface="Noto Sans JP"/>
              </a:rPr>
              <a:t>水のみ</a:t>
            </a:r>
          </a:p>
        </p:txBody>
      </p:sp>
      <p:sp>
        <p:nvSpPr>
          <p:cNvPr id="65" name="Rectangle 64"/>
          <p:cNvSpPr/>
          <p:nvPr/>
        </p:nvSpPr>
        <p:spPr>
          <a:xfrm>
            <a:off x="2743200" y="4251960"/>
            <a:ext cx="1816547" cy="603504"/>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2743200" y="4251960"/>
            <a:ext cx="1816547" cy="603504"/>
          </a:xfrm>
          <a:prstGeom prst="rect">
            <a:avLst/>
          </a:prstGeom>
          <a:noFill/>
        </p:spPr>
        <p:txBody>
          <a:bodyPr wrap="square" anchor="ctr" lIns="36000" rIns="36000" tIns="18000" bIns="18000">
            <a:spAutoFit/>
          </a:bodyPr>
          <a:lstStyle/>
          <a:p>
            <a:pPr algn="ctr"/>
            <a:r>
              <a:rPr sz="1800" b="1" i="0">
                <a:solidFill>
                  <a:srgbClr val="A05656"/>
                </a:solidFill>
                <a:latin typeface="Noto Sans JP"/>
              </a:rPr>
              <a:t>×</a:t>
            </a:r>
          </a:p>
        </p:txBody>
      </p:sp>
      <p:sp>
        <p:nvSpPr>
          <p:cNvPr id="67" name="Rectangle 66"/>
          <p:cNvSpPr/>
          <p:nvPr/>
        </p:nvSpPr>
        <p:spPr>
          <a:xfrm>
            <a:off x="4559747" y="4251960"/>
            <a:ext cx="1816547" cy="603504"/>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559747" y="4251960"/>
            <a:ext cx="1816547" cy="603504"/>
          </a:xfrm>
          <a:prstGeom prst="rect">
            <a:avLst/>
          </a:prstGeom>
          <a:noFill/>
        </p:spPr>
        <p:txBody>
          <a:bodyPr wrap="square" anchor="ctr" lIns="36000" rIns="36000" tIns="18000" bIns="18000">
            <a:spAutoFit/>
          </a:bodyPr>
          <a:lstStyle/>
          <a:p>
            <a:pPr algn="ctr"/>
            <a:r>
              <a:rPr sz="1800" b="1" i="0">
                <a:solidFill>
                  <a:srgbClr val="A05656"/>
                </a:solidFill>
                <a:latin typeface="Noto Sans JP"/>
              </a:rPr>
              <a:t>×</a:t>
            </a:r>
          </a:p>
        </p:txBody>
      </p:sp>
      <p:sp>
        <p:nvSpPr>
          <p:cNvPr id="69" name="Rectangle 68"/>
          <p:cNvSpPr/>
          <p:nvPr/>
        </p:nvSpPr>
        <p:spPr>
          <a:xfrm>
            <a:off x="6376294" y="4251960"/>
            <a:ext cx="1816547" cy="603504"/>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376294" y="4251960"/>
            <a:ext cx="1816547" cy="603504"/>
          </a:xfrm>
          <a:prstGeom prst="rect">
            <a:avLst/>
          </a:prstGeom>
          <a:noFill/>
        </p:spPr>
        <p:txBody>
          <a:bodyPr wrap="square" anchor="ctr" lIns="36000" rIns="36000" tIns="18000" bIns="18000">
            <a:spAutoFit/>
          </a:bodyPr>
          <a:lstStyle/>
          <a:p>
            <a:pPr algn="ctr"/>
            <a:r>
              <a:rPr sz="1800" b="1" i="0">
                <a:solidFill>
                  <a:srgbClr val="5B8C5A"/>
                </a:solidFill>
                <a:latin typeface="Noto Sans JP"/>
              </a:rPr>
              <a:t>◎</a:t>
            </a:r>
          </a:p>
        </p:txBody>
      </p:sp>
      <p:sp>
        <p:nvSpPr>
          <p:cNvPr id="71" name="Rectangle 70"/>
          <p:cNvSpPr/>
          <p:nvPr/>
        </p:nvSpPr>
        <p:spPr>
          <a:xfrm>
            <a:off x="8192841" y="4251960"/>
            <a:ext cx="1816547" cy="603504"/>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192841" y="4251960"/>
            <a:ext cx="1816547" cy="603504"/>
          </a:xfrm>
          <a:prstGeom prst="rect">
            <a:avLst/>
          </a:prstGeom>
          <a:noFill/>
        </p:spPr>
        <p:txBody>
          <a:bodyPr wrap="square" anchor="ctr" lIns="36000" rIns="36000" tIns="18000" bIns="18000">
            <a:spAutoFit/>
          </a:bodyPr>
          <a:lstStyle/>
          <a:p>
            <a:pPr algn="ctr"/>
            <a:r>
              <a:rPr sz="1800" b="1" i="0">
                <a:solidFill>
                  <a:srgbClr val="5B8C5A"/>
                </a:solidFill>
                <a:latin typeface="Noto Sans JP"/>
              </a:rPr>
              <a:t>◎</a:t>
            </a:r>
          </a:p>
        </p:txBody>
      </p:sp>
      <p:sp>
        <p:nvSpPr>
          <p:cNvPr id="73" name="Rectangle 72"/>
          <p:cNvSpPr/>
          <p:nvPr/>
        </p:nvSpPr>
        <p:spPr>
          <a:xfrm>
            <a:off x="10009388" y="4251960"/>
            <a:ext cx="1816547" cy="603504"/>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0009388" y="4251960"/>
            <a:ext cx="1816547" cy="603504"/>
          </a:xfrm>
          <a:prstGeom prst="rect">
            <a:avLst/>
          </a:prstGeom>
          <a:noFill/>
        </p:spPr>
        <p:txBody>
          <a:bodyPr wrap="square" anchor="ctr" lIns="36000" rIns="36000" tIns="18000" bIns="18000">
            <a:spAutoFit/>
          </a:bodyPr>
          <a:lstStyle/>
          <a:p>
            <a:pPr algn="ctr"/>
            <a:r>
              <a:rPr sz="1800" b="1" i="0">
                <a:solidFill>
                  <a:srgbClr val="A05656"/>
                </a:solidFill>
                <a:latin typeface="Noto Sans JP"/>
              </a:rPr>
              <a:t>×</a:t>
            </a:r>
          </a:p>
        </p:txBody>
      </p:sp>
      <p:sp>
        <p:nvSpPr>
          <p:cNvPr id="75" name="TextBox 74"/>
          <p:cNvSpPr txBox="1"/>
          <p:nvPr/>
        </p:nvSpPr>
        <p:spPr>
          <a:xfrm>
            <a:off x="365760" y="5001768"/>
            <a:ext cx="365760" cy="274320"/>
          </a:xfrm>
          <a:prstGeom prst="rect">
            <a:avLst/>
          </a:prstGeom>
          <a:noFill/>
        </p:spPr>
        <p:txBody>
          <a:bodyPr wrap="square" anchor="ctr" lIns="36000" rIns="36000" tIns="18000" bIns="18000">
            <a:spAutoFit/>
          </a:bodyPr>
          <a:lstStyle/>
          <a:p>
            <a:pPr algn="l"/>
            <a:r>
              <a:rPr sz="1400" b="1" i="0">
                <a:solidFill>
                  <a:srgbClr val="5B8C5A"/>
                </a:solidFill>
                <a:latin typeface="Noto Sans JP"/>
              </a:rPr>
              <a:t>◎</a:t>
            </a:r>
          </a:p>
        </p:txBody>
      </p:sp>
      <p:sp>
        <p:nvSpPr>
          <p:cNvPr id="76" name="TextBox 75"/>
          <p:cNvSpPr txBox="1"/>
          <p:nvPr/>
        </p:nvSpPr>
        <p:spPr>
          <a:xfrm>
            <a:off x="713232" y="5001768"/>
            <a:ext cx="1371600" cy="274320"/>
          </a:xfrm>
          <a:prstGeom prst="rect">
            <a:avLst/>
          </a:prstGeom>
          <a:noFill/>
        </p:spPr>
        <p:txBody>
          <a:bodyPr wrap="square" anchor="ctr" lIns="36000" rIns="36000" tIns="18000" bIns="18000">
            <a:spAutoFit/>
          </a:bodyPr>
          <a:lstStyle/>
          <a:p>
            <a:pPr algn="l"/>
            <a:r>
              <a:rPr sz="1100" b="0" i="0">
                <a:solidFill>
                  <a:srgbClr val="475569"/>
                </a:solidFill>
                <a:latin typeface="Noto Sans JP"/>
              </a:rPr>
              <a:t>優れる</a:t>
            </a:r>
          </a:p>
        </p:txBody>
      </p:sp>
      <p:sp>
        <p:nvSpPr>
          <p:cNvPr id="77" name="TextBox 76"/>
          <p:cNvSpPr txBox="1"/>
          <p:nvPr/>
        </p:nvSpPr>
        <p:spPr>
          <a:xfrm>
            <a:off x="2194560" y="5001768"/>
            <a:ext cx="365760" cy="274320"/>
          </a:xfrm>
          <a:prstGeom prst="rect">
            <a:avLst/>
          </a:prstGeom>
          <a:noFill/>
        </p:spPr>
        <p:txBody>
          <a:bodyPr wrap="square" anchor="ctr" lIns="36000" rIns="36000" tIns="18000" bIns="18000">
            <a:spAutoFit/>
          </a:bodyPr>
          <a:lstStyle/>
          <a:p>
            <a:pPr algn="l"/>
            <a:r>
              <a:rPr sz="1400" b="1" i="0">
                <a:solidFill>
                  <a:srgbClr val="5B8C5A"/>
                </a:solidFill>
                <a:latin typeface="Noto Sans JP"/>
              </a:rPr>
              <a:t>○</a:t>
            </a:r>
          </a:p>
        </p:txBody>
      </p:sp>
      <p:sp>
        <p:nvSpPr>
          <p:cNvPr id="78" name="TextBox 77"/>
          <p:cNvSpPr txBox="1"/>
          <p:nvPr/>
        </p:nvSpPr>
        <p:spPr>
          <a:xfrm>
            <a:off x="2542032" y="5001768"/>
            <a:ext cx="1371600" cy="274320"/>
          </a:xfrm>
          <a:prstGeom prst="rect">
            <a:avLst/>
          </a:prstGeom>
          <a:noFill/>
        </p:spPr>
        <p:txBody>
          <a:bodyPr wrap="square" anchor="ctr" lIns="36000" rIns="36000" tIns="18000" bIns="18000">
            <a:spAutoFit/>
          </a:bodyPr>
          <a:lstStyle/>
          <a:p>
            <a:pPr algn="l"/>
            <a:r>
              <a:rPr sz="1100" b="0" i="0">
                <a:solidFill>
                  <a:srgbClr val="475569"/>
                </a:solidFill>
                <a:latin typeface="Noto Sans JP"/>
              </a:rPr>
              <a:t>可能</a:t>
            </a:r>
          </a:p>
        </p:txBody>
      </p:sp>
      <p:sp>
        <p:nvSpPr>
          <p:cNvPr id="79" name="TextBox 78"/>
          <p:cNvSpPr txBox="1"/>
          <p:nvPr/>
        </p:nvSpPr>
        <p:spPr>
          <a:xfrm>
            <a:off x="4023360" y="5001768"/>
            <a:ext cx="365760" cy="274320"/>
          </a:xfrm>
          <a:prstGeom prst="rect">
            <a:avLst/>
          </a:prstGeom>
          <a:noFill/>
        </p:spPr>
        <p:txBody>
          <a:bodyPr wrap="square" anchor="ctr" lIns="36000" rIns="36000" tIns="18000" bIns="18000">
            <a:spAutoFit/>
          </a:bodyPr>
          <a:lstStyle/>
          <a:p>
            <a:pPr algn="l"/>
            <a:r>
              <a:rPr sz="1400" b="1" i="0">
                <a:solidFill>
                  <a:srgbClr val="9F7639"/>
                </a:solidFill>
                <a:latin typeface="Noto Sans JP"/>
              </a:rPr>
              <a:t>△</a:t>
            </a:r>
          </a:p>
        </p:txBody>
      </p:sp>
      <p:sp>
        <p:nvSpPr>
          <p:cNvPr id="80" name="TextBox 79"/>
          <p:cNvSpPr txBox="1"/>
          <p:nvPr/>
        </p:nvSpPr>
        <p:spPr>
          <a:xfrm>
            <a:off x="4370832" y="5001768"/>
            <a:ext cx="1371600" cy="274320"/>
          </a:xfrm>
          <a:prstGeom prst="rect">
            <a:avLst/>
          </a:prstGeom>
          <a:noFill/>
        </p:spPr>
        <p:txBody>
          <a:bodyPr wrap="square" anchor="ctr" lIns="36000" rIns="36000" tIns="18000" bIns="18000">
            <a:spAutoFit/>
          </a:bodyPr>
          <a:lstStyle/>
          <a:p>
            <a:pPr algn="l"/>
            <a:r>
              <a:rPr sz="1100" b="0" i="0">
                <a:solidFill>
                  <a:srgbClr val="475569"/>
                </a:solidFill>
                <a:latin typeface="Noto Sans JP"/>
              </a:rPr>
              <a:t>限定的</a:t>
            </a:r>
          </a:p>
        </p:txBody>
      </p:sp>
      <p:sp>
        <p:nvSpPr>
          <p:cNvPr id="81" name="TextBox 80"/>
          <p:cNvSpPr txBox="1"/>
          <p:nvPr/>
        </p:nvSpPr>
        <p:spPr>
          <a:xfrm>
            <a:off x="5852160" y="5001768"/>
            <a:ext cx="365760" cy="274320"/>
          </a:xfrm>
          <a:prstGeom prst="rect">
            <a:avLst/>
          </a:prstGeom>
          <a:noFill/>
        </p:spPr>
        <p:txBody>
          <a:bodyPr wrap="square" anchor="ctr" lIns="36000" rIns="36000" tIns="18000" bIns="18000">
            <a:spAutoFit/>
          </a:bodyPr>
          <a:lstStyle/>
          <a:p>
            <a:pPr algn="l"/>
            <a:r>
              <a:rPr sz="1400" b="1" i="0">
                <a:solidFill>
                  <a:srgbClr val="A05656"/>
                </a:solidFill>
                <a:latin typeface="Noto Sans JP"/>
              </a:rPr>
              <a:t>×</a:t>
            </a:r>
          </a:p>
        </p:txBody>
      </p:sp>
      <p:sp>
        <p:nvSpPr>
          <p:cNvPr id="82" name="TextBox 81"/>
          <p:cNvSpPr txBox="1"/>
          <p:nvPr/>
        </p:nvSpPr>
        <p:spPr>
          <a:xfrm>
            <a:off x="6199632" y="5001768"/>
            <a:ext cx="1371600" cy="274320"/>
          </a:xfrm>
          <a:prstGeom prst="rect">
            <a:avLst/>
          </a:prstGeom>
          <a:noFill/>
        </p:spPr>
        <p:txBody>
          <a:bodyPr wrap="square" anchor="ctr" lIns="36000" rIns="36000" tIns="18000" bIns="18000">
            <a:spAutoFit/>
          </a:bodyPr>
          <a:lstStyle/>
          <a:p>
            <a:pPr algn="l"/>
            <a:r>
              <a:rPr sz="1100" b="0" i="0">
                <a:solidFill>
                  <a:srgbClr val="475569"/>
                </a:solidFill>
                <a:latin typeface="Noto Sans JP"/>
              </a:rPr>
              <a:t>不可・課題</a:t>
            </a:r>
          </a:p>
        </p:txBody>
      </p:sp>
      <p:sp>
        <p:nvSpPr>
          <p:cNvPr id="83" name="TextBox 82"/>
          <p:cNvSpPr txBox="1"/>
          <p:nvPr/>
        </p:nvSpPr>
        <p:spPr>
          <a:xfrm>
            <a:off x="365760" y="5367528"/>
            <a:ext cx="11460175" cy="457200"/>
          </a:xfrm>
          <a:prstGeom prst="rect">
            <a:avLst/>
          </a:prstGeom>
          <a:noFill/>
        </p:spPr>
        <p:txBody>
          <a:bodyPr wrap="square" anchor="t" lIns="36000" rIns="36000" tIns="18000" bIns="18000">
            <a:spAutoFit/>
          </a:bodyPr>
          <a:lstStyle/>
          <a:p>
            <a:pPr algn="l"/>
            <a:r>
              <a:rPr sz="950" b="0" i="1">
                <a:solidFill>
                  <a:srgbClr val="64748B"/>
                </a:solidFill>
                <a:latin typeface="Noto Sans JP"/>
              </a:rPr>
              <a:t>※ 水・AquaGel-K との火炎保護・発泡の比較は本論文の実測（Fig. 3・4）に基づく。Phos-Chek 列は燃焼の直接測定ではなく、文献に基づく環境残留性・適用性の定性的評価</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研究の結論：核心メカニズムと4つの成果</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42 / 43</a:t>
            </a:r>
          </a:p>
        </p:txBody>
      </p:sp>
      <p:sp>
        <p:nvSpPr>
          <p:cNvPr id="10" name="TextBox 9"/>
          <p:cNvSpPr txBox="1"/>
          <p:nvPr/>
        </p:nvSpPr>
        <p:spPr>
          <a:xfrm>
            <a:off x="365760" y="859536"/>
            <a:ext cx="11460175" cy="274320"/>
          </a:xfrm>
          <a:prstGeom prst="rect">
            <a:avLst/>
          </a:prstGeom>
          <a:noFill/>
        </p:spPr>
        <p:txBody>
          <a:bodyPr wrap="square" anchor="t" lIns="36000" rIns="36000" tIns="18000" bIns="18000">
            <a:spAutoFit/>
          </a:bodyPr>
          <a:lstStyle/>
          <a:p>
            <a:pPr algn="l"/>
            <a:r>
              <a:rPr sz="1300" b="1" i="0">
                <a:solidFill>
                  <a:srgbClr val="1E293B"/>
                </a:solidFill>
                <a:latin typeface="Noto Sans JP"/>
              </a:rPr>
              <a:t>核心メカニズム：火炎接触でゲルが「自己変態」する</a:t>
            </a:r>
          </a:p>
        </p:txBody>
      </p:sp>
      <p:sp>
        <p:nvSpPr>
          <p:cNvPr id="11" name="Rounded Rectangle 10"/>
          <p:cNvSpPr/>
          <p:nvPr/>
        </p:nvSpPr>
        <p:spPr>
          <a:xfrm>
            <a:off x="365760" y="1243584"/>
            <a:ext cx="3545738" cy="150876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243584"/>
            <a:ext cx="3545738" cy="4572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1371600"/>
            <a:ext cx="3216554" cy="237744"/>
          </a:xfrm>
          <a:prstGeom prst="rect">
            <a:avLst/>
          </a:prstGeom>
          <a:noFill/>
        </p:spPr>
        <p:txBody>
          <a:bodyPr wrap="square" anchor="t" lIns="36000" rIns="36000" tIns="18000" bIns="18000">
            <a:spAutoFit/>
          </a:bodyPr>
          <a:lstStyle/>
          <a:p>
            <a:pPr algn="l"/>
            <a:r>
              <a:rPr sz="1000" b="1" i="0">
                <a:solidFill>
                  <a:srgbClr val="4A7C8C"/>
                </a:solidFill>
                <a:latin typeface="Noto Sans JP"/>
              </a:rPr>
              <a:t>STEP 1</a:t>
            </a:r>
          </a:p>
        </p:txBody>
      </p:sp>
      <p:sp>
        <p:nvSpPr>
          <p:cNvPr id="14" name="TextBox 13"/>
          <p:cNvSpPr txBox="1"/>
          <p:nvPr/>
        </p:nvSpPr>
        <p:spPr>
          <a:xfrm>
            <a:off x="530352" y="1645920"/>
            <a:ext cx="32165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水が急速に蒸発</a:t>
            </a:r>
          </a:p>
        </p:txBody>
      </p:sp>
      <p:sp>
        <p:nvSpPr>
          <p:cNvPr id="15" name="TextBox 14"/>
          <p:cNvSpPr txBox="1"/>
          <p:nvPr/>
        </p:nvSpPr>
        <p:spPr>
          <a:xfrm>
            <a:off x="530352" y="2029968"/>
            <a:ext cx="3216554" cy="640080"/>
          </a:xfrm>
          <a:prstGeom prst="rect">
            <a:avLst/>
          </a:prstGeom>
          <a:noFill/>
        </p:spPr>
        <p:txBody>
          <a:bodyPr wrap="square" anchor="t" lIns="36000" rIns="36000" tIns="18000" bIns="18000">
            <a:spAutoFit/>
          </a:bodyPr>
          <a:lstStyle/>
          <a:p>
            <a:pPr algn="l"/>
            <a:r>
              <a:rPr sz="1100" b="0" i="0">
                <a:solidFill>
                  <a:srgbClr val="475569"/>
                </a:solidFill>
                <a:latin typeface="Noto Sans JP"/>
              </a:rPr>
              <a:t>火炎接触でゲル中の水が気化・吸熱</a:t>
            </a:r>
          </a:p>
          <a:p>
            <a:pPr algn="l"/>
            <a:r>
              <a:rPr sz="1100" b="0" i="0">
                <a:solidFill>
                  <a:srgbClr val="475569"/>
                </a:solidFill>
                <a:latin typeface="Noto Sans JP"/>
              </a:rPr>
              <a:t>→ 基材表面の温度上昇を抑制</a:t>
            </a:r>
          </a:p>
        </p:txBody>
      </p:sp>
      <p:sp>
        <p:nvSpPr>
          <p:cNvPr id="16" name="TextBox 15"/>
          <p:cNvSpPr txBox="1"/>
          <p:nvPr/>
        </p:nvSpPr>
        <p:spPr>
          <a:xfrm>
            <a:off x="3911498" y="1243584"/>
            <a:ext cx="411480" cy="1508760"/>
          </a:xfrm>
          <a:prstGeom prst="rect">
            <a:avLst/>
          </a:prstGeom>
          <a:noFill/>
        </p:spPr>
        <p:txBody>
          <a:bodyPr wrap="square" anchor="ctr" lIns="36000" rIns="36000" tIns="18000" bIns="18000">
            <a:spAutoFit/>
          </a:bodyPr>
          <a:lstStyle/>
          <a:p>
            <a:pPr algn="ctr"/>
            <a:r>
              <a:rPr sz="1800" b="1" i="0">
                <a:solidFill>
                  <a:srgbClr val="AAB4C0"/>
                </a:solidFill>
                <a:latin typeface="Noto Sans JP"/>
              </a:rPr>
              <a:t>▶</a:t>
            </a:r>
          </a:p>
        </p:txBody>
      </p:sp>
      <p:sp>
        <p:nvSpPr>
          <p:cNvPr id="17" name="Rounded Rectangle 16"/>
          <p:cNvSpPr/>
          <p:nvPr/>
        </p:nvSpPr>
        <p:spPr>
          <a:xfrm>
            <a:off x="4322978" y="1243584"/>
            <a:ext cx="3545738" cy="150876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22978" y="1243584"/>
            <a:ext cx="3545738" cy="4572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87570" y="1371600"/>
            <a:ext cx="3216554" cy="237744"/>
          </a:xfrm>
          <a:prstGeom prst="rect">
            <a:avLst/>
          </a:prstGeom>
          <a:noFill/>
        </p:spPr>
        <p:txBody>
          <a:bodyPr wrap="square" anchor="t" lIns="36000" rIns="36000" tIns="18000" bIns="18000">
            <a:spAutoFit/>
          </a:bodyPr>
          <a:lstStyle/>
          <a:p>
            <a:pPr algn="l"/>
            <a:r>
              <a:rPr sz="1000" b="1" i="0">
                <a:solidFill>
                  <a:srgbClr val="9F7639"/>
                </a:solidFill>
                <a:latin typeface="Noto Sans JP"/>
              </a:rPr>
              <a:t>STEP 2</a:t>
            </a:r>
          </a:p>
        </p:txBody>
      </p:sp>
      <p:sp>
        <p:nvSpPr>
          <p:cNvPr id="20" name="TextBox 19"/>
          <p:cNvSpPr txBox="1"/>
          <p:nvPr/>
        </p:nvSpPr>
        <p:spPr>
          <a:xfrm>
            <a:off x="4487570" y="1645920"/>
            <a:ext cx="32165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CSP が焼結</a:t>
            </a:r>
          </a:p>
        </p:txBody>
      </p:sp>
      <p:sp>
        <p:nvSpPr>
          <p:cNvPr id="21" name="TextBox 20"/>
          <p:cNvSpPr txBox="1"/>
          <p:nvPr/>
        </p:nvSpPr>
        <p:spPr>
          <a:xfrm>
            <a:off x="4487570" y="2029968"/>
            <a:ext cx="3216554" cy="640080"/>
          </a:xfrm>
          <a:prstGeom prst="rect">
            <a:avLst/>
          </a:prstGeom>
          <a:noFill/>
        </p:spPr>
        <p:txBody>
          <a:bodyPr wrap="square" anchor="t" lIns="36000" rIns="36000" tIns="18000" bIns="18000">
            <a:spAutoFit/>
          </a:bodyPr>
          <a:lstStyle/>
          <a:p>
            <a:pPr algn="l"/>
            <a:r>
              <a:rPr sz="1100" b="0" i="0">
                <a:solidFill>
                  <a:srgbClr val="475569"/>
                </a:solidFill>
                <a:latin typeface="Noto Sans JP"/>
              </a:rPr>
              <a:t>シリカ粒子が加熱で焼結し</a:t>
            </a:r>
          </a:p>
          <a:p>
            <a:pPr algn="l"/>
            <a:r>
              <a:rPr sz="1100" b="0" i="0">
                <a:solidFill>
                  <a:srgbClr val="475569"/>
                </a:solidFill>
                <a:latin typeface="Noto Sans JP"/>
              </a:rPr>
              <a:t>粒子間にネック（架橋）を形成</a:t>
            </a:r>
          </a:p>
        </p:txBody>
      </p:sp>
      <p:sp>
        <p:nvSpPr>
          <p:cNvPr id="22" name="TextBox 21"/>
          <p:cNvSpPr txBox="1"/>
          <p:nvPr/>
        </p:nvSpPr>
        <p:spPr>
          <a:xfrm>
            <a:off x="7868716" y="1243584"/>
            <a:ext cx="411480" cy="1508760"/>
          </a:xfrm>
          <a:prstGeom prst="rect">
            <a:avLst/>
          </a:prstGeom>
          <a:noFill/>
        </p:spPr>
        <p:txBody>
          <a:bodyPr wrap="square" anchor="ctr" lIns="36000" rIns="36000" tIns="18000" bIns="18000">
            <a:spAutoFit/>
          </a:bodyPr>
          <a:lstStyle/>
          <a:p>
            <a:pPr algn="ctr"/>
            <a:r>
              <a:rPr sz="1800" b="1" i="0">
                <a:solidFill>
                  <a:srgbClr val="AAB4C0"/>
                </a:solidFill>
                <a:latin typeface="Noto Sans JP"/>
              </a:rPr>
              <a:t>▶</a:t>
            </a:r>
          </a:p>
        </p:txBody>
      </p:sp>
      <p:sp>
        <p:nvSpPr>
          <p:cNvPr id="23" name="Rounded Rectangle 22"/>
          <p:cNvSpPr/>
          <p:nvPr/>
        </p:nvSpPr>
        <p:spPr>
          <a:xfrm>
            <a:off x="8280196" y="1243584"/>
            <a:ext cx="3545738" cy="150876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280196" y="1243584"/>
            <a:ext cx="3545738" cy="457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44788" y="1371600"/>
            <a:ext cx="3216554" cy="237744"/>
          </a:xfrm>
          <a:prstGeom prst="rect">
            <a:avLst/>
          </a:prstGeom>
          <a:noFill/>
        </p:spPr>
        <p:txBody>
          <a:bodyPr wrap="square" anchor="t" lIns="36000" rIns="36000" tIns="18000" bIns="18000">
            <a:spAutoFit/>
          </a:bodyPr>
          <a:lstStyle/>
          <a:p>
            <a:pPr algn="l"/>
            <a:r>
              <a:rPr sz="1000" b="1" i="0">
                <a:solidFill>
                  <a:srgbClr val="3B5174"/>
                </a:solidFill>
                <a:latin typeface="Noto Sans JP"/>
              </a:rPr>
              <a:t>STEP 3</a:t>
            </a:r>
          </a:p>
        </p:txBody>
      </p:sp>
      <p:sp>
        <p:nvSpPr>
          <p:cNvPr id="26" name="TextBox 25"/>
          <p:cNvSpPr txBox="1"/>
          <p:nvPr/>
        </p:nvSpPr>
        <p:spPr>
          <a:xfrm>
            <a:off x="8444788" y="1645920"/>
            <a:ext cx="32165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エアロゲル断熱層</a:t>
            </a:r>
          </a:p>
        </p:txBody>
      </p:sp>
      <p:sp>
        <p:nvSpPr>
          <p:cNvPr id="27" name="TextBox 26"/>
          <p:cNvSpPr txBox="1"/>
          <p:nvPr/>
        </p:nvSpPr>
        <p:spPr>
          <a:xfrm>
            <a:off x="8444788" y="2029968"/>
            <a:ext cx="3216554" cy="640080"/>
          </a:xfrm>
          <a:prstGeom prst="rect">
            <a:avLst/>
          </a:prstGeom>
          <a:noFill/>
        </p:spPr>
        <p:txBody>
          <a:bodyPr wrap="square" anchor="t" lIns="36000" rIns="36000" tIns="18000" bIns="18000">
            <a:spAutoFit/>
          </a:bodyPr>
          <a:lstStyle/>
          <a:p>
            <a:pPr algn="l"/>
            <a:r>
              <a:rPr sz="1100" b="0" i="0">
                <a:solidFill>
                  <a:srgbClr val="475569"/>
                </a:solidFill>
                <a:latin typeface="Noto Sans JP"/>
              </a:rPr>
              <a:t>多孔質シリカエアロゲルが in situ で完成</a:t>
            </a:r>
          </a:p>
          <a:p>
            <a:pPr algn="l"/>
            <a:r>
              <a:rPr sz="1100" b="0" i="0">
                <a:solidFill>
                  <a:srgbClr val="475569"/>
                </a:solidFill>
                <a:latin typeface="Noto Sans JP"/>
              </a:rPr>
              <a:t>→ 乾燥後も基材を断熱保護</a:t>
            </a:r>
          </a:p>
        </p:txBody>
      </p:sp>
      <p:sp>
        <p:nvSpPr>
          <p:cNvPr id="28" name="TextBox 27"/>
          <p:cNvSpPr txBox="1"/>
          <p:nvPr/>
        </p:nvSpPr>
        <p:spPr>
          <a:xfrm>
            <a:off x="365760" y="3008376"/>
            <a:ext cx="11460175" cy="274320"/>
          </a:xfrm>
          <a:prstGeom prst="rect">
            <a:avLst/>
          </a:prstGeom>
          <a:noFill/>
        </p:spPr>
        <p:txBody>
          <a:bodyPr wrap="square" anchor="t" lIns="36000" rIns="36000" tIns="18000" bIns="18000">
            <a:spAutoFit/>
          </a:bodyPr>
          <a:lstStyle/>
          <a:p>
            <a:pPr algn="l"/>
            <a:r>
              <a:rPr sz="1300" b="1" i="0">
                <a:solidFill>
                  <a:srgbClr val="1E293B"/>
                </a:solidFill>
                <a:latin typeface="Noto Sans JP"/>
              </a:rPr>
              <a:t>4つの主要成果</a:t>
            </a:r>
          </a:p>
        </p:txBody>
      </p:sp>
      <p:sp>
        <p:nvSpPr>
          <p:cNvPr id="29" name="Rounded Rectangle 28"/>
          <p:cNvSpPr/>
          <p:nvPr/>
        </p:nvSpPr>
        <p:spPr>
          <a:xfrm>
            <a:off x="365760" y="3374136"/>
            <a:ext cx="2769031" cy="118872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5760" y="3374136"/>
            <a:ext cx="54864" cy="1188720"/>
          </a:xfrm>
          <a:prstGeom prst="rect">
            <a:avLst/>
          </a:prstGeom>
          <a:solidFill>
            <a:srgbClr val="5B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3520440"/>
            <a:ext cx="2458135" cy="457200"/>
          </a:xfrm>
          <a:prstGeom prst="rect">
            <a:avLst/>
          </a:prstGeom>
          <a:noFill/>
        </p:spPr>
        <p:txBody>
          <a:bodyPr wrap="square" anchor="t" lIns="36000" rIns="36000" tIns="18000" bIns="18000">
            <a:spAutoFit/>
          </a:bodyPr>
          <a:lstStyle/>
          <a:p>
            <a:pPr algn="l"/>
            <a:r>
              <a:rPr sz="2200" b="1" i="0">
                <a:solidFill>
                  <a:srgbClr val="5B8C5A"/>
                </a:solidFill>
                <a:latin typeface="Noto Sans JP"/>
              </a:rPr>
              <a:t>3–6×</a:t>
            </a:r>
          </a:p>
        </p:txBody>
      </p:sp>
      <p:sp>
        <p:nvSpPr>
          <p:cNvPr id="32" name="TextBox 31"/>
          <p:cNvSpPr txBox="1"/>
          <p:nvPr/>
        </p:nvSpPr>
        <p:spPr>
          <a:xfrm>
            <a:off x="548640" y="4050792"/>
            <a:ext cx="2458135" cy="420624"/>
          </a:xfrm>
          <a:prstGeom prst="rect">
            <a:avLst/>
          </a:prstGeom>
          <a:noFill/>
        </p:spPr>
        <p:txBody>
          <a:bodyPr wrap="square" anchor="t" lIns="36000" rIns="36000" tIns="18000" bIns="18000">
            <a:spAutoFit/>
          </a:bodyPr>
          <a:lstStyle/>
          <a:p>
            <a:pPr algn="l"/>
            <a:r>
              <a:rPr sz="1150" b="0" i="0">
                <a:solidFill>
                  <a:srgbClr val="475569"/>
                </a:solidFill>
                <a:latin typeface="Noto Sans JP"/>
              </a:rPr>
              <a:t>市販品比の保護時間</a:t>
            </a:r>
          </a:p>
        </p:txBody>
      </p:sp>
      <p:sp>
        <p:nvSpPr>
          <p:cNvPr id="33" name="Rounded Rectangle 32"/>
          <p:cNvSpPr/>
          <p:nvPr/>
        </p:nvSpPr>
        <p:spPr>
          <a:xfrm>
            <a:off x="3262807" y="3374136"/>
            <a:ext cx="2769031" cy="118872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62807" y="3374136"/>
            <a:ext cx="54864" cy="11887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445687" y="3520440"/>
            <a:ext cx="2458135" cy="457200"/>
          </a:xfrm>
          <a:prstGeom prst="rect">
            <a:avLst/>
          </a:prstGeom>
          <a:noFill/>
        </p:spPr>
        <p:txBody>
          <a:bodyPr wrap="square" anchor="t" lIns="36000" rIns="36000" tIns="18000" bIns="18000">
            <a:spAutoFit/>
          </a:bodyPr>
          <a:lstStyle/>
          <a:p>
            <a:pPr algn="l"/>
            <a:r>
              <a:rPr sz="2200" b="1" i="0">
                <a:solidFill>
                  <a:srgbClr val="3B5174"/>
                </a:solidFill>
                <a:latin typeface="Noto Sans JP"/>
              </a:rPr>
              <a:t>自己形成</a:t>
            </a:r>
          </a:p>
        </p:txBody>
      </p:sp>
      <p:sp>
        <p:nvSpPr>
          <p:cNvPr id="36" name="TextBox 35"/>
          <p:cNvSpPr txBox="1"/>
          <p:nvPr/>
        </p:nvSpPr>
        <p:spPr>
          <a:xfrm>
            <a:off x="3445687" y="4050792"/>
            <a:ext cx="2458135" cy="420624"/>
          </a:xfrm>
          <a:prstGeom prst="rect">
            <a:avLst/>
          </a:prstGeom>
          <a:noFill/>
        </p:spPr>
        <p:txBody>
          <a:bodyPr wrap="square" anchor="t" lIns="36000" rIns="36000" tIns="18000" bIns="18000">
            <a:spAutoFit/>
          </a:bodyPr>
          <a:lstStyle/>
          <a:p>
            <a:pPr algn="l"/>
            <a:r>
              <a:rPr sz="1150" b="0" i="0">
                <a:solidFill>
                  <a:srgbClr val="475569"/>
                </a:solidFill>
                <a:latin typeface="Noto Sans JP"/>
              </a:rPr>
              <a:t>エアロゲル断熱層を in situ 生成</a:t>
            </a:r>
          </a:p>
        </p:txBody>
      </p:sp>
      <p:sp>
        <p:nvSpPr>
          <p:cNvPr id="37" name="Rounded Rectangle 36"/>
          <p:cNvSpPr/>
          <p:nvPr/>
        </p:nvSpPr>
        <p:spPr>
          <a:xfrm>
            <a:off x="6159855" y="3374136"/>
            <a:ext cx="2769031" cy="118872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159855" y="3374136"/>
            <a:ext cx="54864" cy="118872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42735" y="3520440"/>
            <a:ext cx="2458135" cy="457200"/>
          </a:xfrm>
          <a:prstGeom prst="rect">
            <a:avLst/>
          </a:prstGeom>
          <a:noFill/>
        </p:spPr>
        <p:txBody>
          <a:bodyPr wrap="square" anchor="t" lIns="36000" rIns="36000" tIns="18000" bIns="18000">
            <a:spAutoFit/>
          </a:bodyPr>
          <a:lstStyle/>
          <a:p>
            <a:pPr algn="l"/>
            <a:r>
              <a:rPr sz="2200" b="1" i="0">
                <a:solidFill>
                  <a:srgbClr val="4A7C8C"/>
                </a:solidFill>
                <a:latin typeface="Noto Sans JP"/>
              </a:rPr>
              <a:t>噴霧可能</a:t>
            </a:r>
          </a:p>
        </p:txBody>
      </p:sp>
      <p:sp>
        <p:nvSpPr>
          <p:cNvPr id="40" name="TextBox 39"/>
          <p:cNvSpPr txBox="1"/>
          <p:nvPr/>
        </p:nvSpPr>
        <p:spPr>
          <a:xfrm>
            <a:off x="6342735" y="4050792"/>
            <a:ext cx="2458135" cy="420624"/>
          </a:xfrm>
          <a:prstGeom prst="rect">
            <a:avLst/>
          </a:prstGeom>
          <a:noFill/>
        </p:spPr>
        <p:txBody>
          <a:bodyPr wrap="square" anchor="t" lIns="36000" rIns="36000" tIns="18000" bIns="18000">
            <a:spAutoFit/>
          </a:bodyPr>
          <a:lstStyle/>
          <a:p>
            <a:pPr algn="l"/>
            <a:r>
              <a:rPr sz="1150" b="0" i="0">
                <a:solidFill>
                  <a:srgbClr val="475569"/>
                </a:solidFill>
                <a:latin typeface="Noto Sans JP"/>
              </a:rPr>
              <a:t>既存散布インフラと互換</a:t>
            </a:r>
          </a:p>
        </p:txBody>
      </p:sp>
      <p:sp>
        <p:nvSpPr>
          <p:cNvPr id="41" name="Rounded Rectangle 40"/>
          <p:cNvSpPr/>
          <p:nvPr/>
        </p:nvSpPr>
        <p:spPr>
          <a:xfrm>
            <a:off x="9056903" y="3374136"/>
            <a:ext cx="2769031" cy="118872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056903" y="3374136"/>
            <a:ext cx="54864" cy="118872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39783" y="3520440"/>
            <a:ext cx="2458135" cy="457200"/>
          </a:xfrm>
          <a:prstGeom prst="rect">
            <a:avLst/>
          </a:prstGeom>
          <a:noFill/>
        </p:spPr>
        <p:txBody>
          <a:bodyPr wrap="square" anchor="t" lIns="36000" rIns="36000" tIns="18000" bIns="18000">
            <a:spAutoFit/>
          </a:bodyPr>
          <a:lstStyle/>
          <a:p>
            <a:pPr algn="l"/>
            <a:r>
              <a:rPr sz="2200" b="1" i="0">
                <a:solidFill>
                  <a:srgbClr val="9F7639"/>
                </a:solidFill>
                <a:latin typeface="Noto Sans JP"/>
              </a:rPr>
              <a:t>持続可能</a:t>
            </a:r>
          </a:p>
        </p:txBody>
      </p:sp>
      <p:sp>
        <p:nvSpPr>
          <p:cNvPr id="44" name="TextBox 43"/>
          <p:cNvSpPr txBox="1"/>
          <p:nvPr/>
        </p:nvSpPr>
        <p:spPr>
          <a:xfrm>
            <a:off x="9239783" y="4050792"/>
            <a:ext cx="2458135" cy="420624"/>
          </a:xfrm>
          <a:prstGeom prst="rect">
            <a:avLst/>
          </a:prstGeom>
          <a:noFill/>
        </p:spPr>
        <p:txBody>
          <a:bodyPr wrap="square" anchor="t" lIns="36000" rIns="36000" tIns="18000" bIns="18000">
            <a:spAutoFit/>
          </a:bodyPr>
          <a:lstStyle/>
          <a:p>
            <a:pPr algn="l"/>
            <a:r>
              <a:rPr sz="1150" b="0" i="0">
                <a:solidFill>
                  <a:srgbClr val="475569"/>
                </a:solidFill>
                <a:latin typeface="Noto Sans JP"/>
              </a:rPr>
              <a:t>セルロース系・安全な原料</a:t>
            </a:r>
          </a:p>
        </p:txBody>
      </p:sp>
      <p:sp>
        <p:nvSpPr>
          <p:cNvPr id="45" name="Rounded Rectangle 44"/>
          <p:cNvSpPr/>
          <p:nvPr/>
        </p:nvSpPr>
        <p:spPr>
          <a:xfrm>
            <a:off x="365760" y="4764024"/>
            <a:ext cx="11460175" cy="566928"/>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65760" y="4764024"/>
            <a:ext cx="54864" cy="56692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48640" y="4764024"/>
            <a:ext cx="365760" cy="566928"/>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48" name="TextBox 47"/>
          <p:cNvSpPr txBox="1"/>
          <p:nvPr/>
        </p:nvSpPr>
        <p:spPr>
          <a:xfrm>
            <a:off x="960120" y="4764024"/>
            <a:ext cx="10774375" cy="566928"/>
          </a:xfrm>
          <a:prstGeom prst="rect">
            <a:avLst/>
          </a:prstGeom>
          <a:noFill/>
        </p:spPr>
        <p:txBody>
          <a:bodyPr wrap="square" anchor="ctr" lIns="36000" rIns="36000" tIns="18000" bIns="18000">
            <a:spAutoFit/>
          </a:bodyPr>
          <a:lstStyle/>
          <a:p>
            <a:pPr algn="l"/>
            <a:r>
              <a:rPr sz="1300" b="1" i="0">
                <a:solidFill>
                  <a:srgbClr val="FFFFFF"/>
                </a:solidFill>
                <a:latin typeface="Noto Sans JP"/>
              </a:rPr>
              <a:t>「水のキャリア」から「加熱で自己変態する難燃材料」へ ― 乾燥後も効力を保つ次世代 WEG</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82296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RESEARCH IMPACT</a:t>
            </a:r>
          </a:p>
        </p:txBody>
      </p:sp>
      <p:sp>
        <p:nvSpPr>
          <p:cNvPr id="4" name="TextBox 3"/>
          <p:cNvSpPr txBox="1"/>
          <p:nvPr/>
        </p:nvSpPr>
        <p:spPr>
          <a:xfrm>
            <a:off x="457200" y="1371600"/>
            <a:ext cx="11247120" cy="1828800"/>
          </a:xfrm>
          <a:prstGeom prst="rect">
            <a:avLst/>
          </a:prstGeom>
          <a:noFill/>
        </p:spPr>
        <p:txBody>
          <a:bodyPr wrap="square" anchor="ctr" lIns="36000" rIns="36000" tIns="18000" bIns="18000">
            <a:spAutoFit/>
          </a:bodyPr>
          <a:lstStyle/>
          <a:p>
            <a:pPr algn="ctr"/>
            <a:r>
              <a:rPr sz="10000" b="1" i="0">
                <a:solidFill>
                  <a:srgbClr val="D4A574"/>
                </a:solidFill>
                <a:latin typeface="Noto Sans JP"/>
              </a:rPr>
              <a:t>3–6</a:t>
            </a:r>
            <a:r>
              <a:rPr sz="6500" b="1" i="0">
                <a:solidFill>
                  <a:srgbClr val="C89A68"/>
                </a:solidFill>
                <a:latin typeface="Noto Sans JP"/>
              </a:rPr>
              <a:t>×</a:t>
            </a:r>
          </a:p>
        </p:txBody>
      </p:sp>
      <p:sp>
        <p:nvSpPr>
          <p:cNvPr id="5" name="TextBox 4"/>
          <p:cNvSpPr txBox="1"/>
          <p:nvPr/>
        </p:nvSpPr>
        <p:spPr>
          <a:xfrm>
            <a:off x="457200" y="3291840"/>
            <a:ext cx="11247120" cy="457200"/>
          </a:xfrm>
          <a:prstGeom prst="rect">
            <a:avLst/>
          </a:prstGeom>
          <a:noFill/>
        </p:spPr>
        <p:txBody>
          <a:bodyPr wrap="square" anchor="t" lIns="36000" rIns="36000" tIns="18000" bIns="18000">
            <a:spAutoFit/>
          </a:bodyPr>
          <a:lstStyle/>
          <a:p>
            <a:pPr algn="ctr"/>
            <a:r>
              <a:rPr sz="2200" b="1" i="0">
                <a:solidFill>
                  <a:srgbClr val="FFFFFF"/>
                </a:solidFill>
                <a:latin typeface="Noto Sans JP"/>
              </a:rPr>
              <a:t>市販WEG（AquaGel-K）比 Time to char 向上率</a:t>
            </a:r>
          </a:p>
        </p:txBody>
      </p:sp>
      <p:sp>
        <p:nvSpPr>
          <p:cNvPr id="6" name="TextBox 5"/>
          <p:cNvSpPr txBox="1"/>
          <p:nvPr/>
        </p:nvSpPr>
        <p:spPr>
          <a:xfrm>
            <a:off x="1371600" y="3886200"/>
            <a:ext cx="9418320" cy="1280160"/>
          </a:xfrm>
          <a:prstGeom prst="rect">
            <a:avLst/>
          </a:prstGeom>
          <a:noFill/>
        </p:spPr>
        <p:txBody>
          <a:bodyPr wrap="square" anchor="t" lIns="36000" rIns="36000" tIns="18000" bIns="18000">
            <a:spAutoFit/>
          </a:bodyPr>
          <a:lstStyle/>
          <a:p>
            <a:pPr algn="ctr"/>
            <a:r>
              <a:rPr sz="1500" b="0" i="0">
                <a:solidFill>
                  <a:srgbClr val="A8BCD4"/>
                </a:solidFill>
                <a:latin typeface="Noto Sans JP"/>
              </a:rPr>
              <a:t>「水のキャリア」から「自己変態する難燃材料」へ</a:t>
            </a:r>
          </a:p>
          <a:p>
            <a:pPr algn="ctr"/>
            <a:r>
              <a:rPr sz="1500" b="0" i="0">
                <a:solidFill>
                  <a:srgbClr val="A8BCD4"/>
                </a:solidFill>
                <a:latin typeface="Noto Sans JP"/>
              </a:rPr>
              <a:t>WEGの新しい設計パラダイムは山火事から重要インフラを守る実用技術への道を開く</a:t>
            </a:r>
          </a:p>
        </p:txBody>
      </p:sp>
      <p:sp>
        <p:nvSpPr>
          <p:cNvPr id="7" name="TextBox 6"/>
          <p:cNvSpPr txBox="1"/>
          <p:nvPr/>
        </p:nvSpPr>
        <p:spPr>
          <a:xfrm>
            <a:off x="2743200" y="5486400"/>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Time to char</a:t>
            </a:r>
          </a:p>
        </p:txBody>
      </p:sp>
      <p:sp>
        <p:nvSpPr>
          <p:cNvPr id="8" name="Rounded Rectangle 7"/>
          <p:cNvSpPr/>
          <p:nvPr/>
        </p:nvSpPr>
        <p:spPr>
          <a:xfrm>
            <a:off x="4663440" y="5522976"/>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663440" y="5522976"/>
            <a:ext cx="4517136" cy="146304"/>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55480" y="5486400"/>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1" name="TextBox 10"/>
          <p:cNvSpPr txBox="1"/>
          <p:nvPr/>
        </p:nvSpPr>
        <p:spPr>
          <a:xfrm>
            <a:off x="2743200" y="5779008"/>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Foaming Index</a:t>
            </a:r>
          </a:p>
        </p:txBody>
      </p:sp>
      <p:sp>
        <p:nvSpPr>
          <p:cNvPr id="12" name="Rounded Rectangle 11"/>
          <p:cNvSpPr/>
          <p:nvPr/>
        </p:nvSpPr>
        <p:spPr>
          <a:xfrm>
            <a:off x="4663440" y="5815584"/>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63440" y="5815584"/>
            <a:ext cx="3233318" cy="146304"/>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55480" y="5779008"/>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≈2.6×</a:t>
            </a:r>
          </a:p>
        </p:txBody>
      </p:sp>
      <p:sp>
        <p:nvSpPr>
          <p:cNvPr id="15" name="TextBox 14"/>
          <p:cNvSpPr txBox="1"/>
          <p:nvPr/>
        </p:nvSpPr>
        <p:spPr>
          <a:xfrm>
            <a:off x="2743200" y="6071616"/>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Shear-thinning</a:t>
            </a:r>
          </a:p>
        </p:txBody>
      </p:sp>
      <p:sp>
        <p:nvSpPr>
          <p:cNvPr id="16" name="Rounded Rectangle 15"/>
          <p:cNvSpPr/>
          <p:nvPr/>
        </p:nvSpPr>
        <p:spPr>
          <a:xfrm>
            <a:off x="4663440" y="6108192"/>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663440" y="6108192"/>
            <a:ext cx="285292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55480" y="6071616"/>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実証</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42 / 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