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n &lt; 1 の Power-law 挙動（噴霧・パイプ送液に適合）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低い Power-law 指数 n</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強いせん断希薄化（n ≪ 1）</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添加によるレオロジー調整（Fig.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HEC+MC/CSP 系に SDS を添加すると濃度依存的にゲル特性が変化 — 0.1 wt% で剛性最大化（G'=58.2 Pa）、0.5 wt% で軟化（G'=33.8 Pa）</a:t>
            </a:r>
          </a:p>
        </p:txBody>
      </p:sp>
      <p:sp>
        <p:nvSpPr>
          <p:cNvPr id="14" name="Rounded Rectangle 13"/>
          <p:cNvSpPr/>
          <p:nvPr/>
        </p:nvSpPr>
        <p:spPr>
          <a:xfrm>
            <a:off x="365760"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17" name="TextBox 16"/>
          <p:cNvSpPr txBox="1"/>
          <p:nvPr/>
        </p:nvSpPr>
        <p:spPr>
          <a:xfrm>
            <a:off x="365760"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3濃度の SAOS）</a:t>
            </a:r>
          </a:p>
        </p:txBody>
      </p:sp>
      <p:sp>
        <p:nvSpPr>
          <p:cNvPr id="19" name="Rounded Rectangle 18"/>
          <p:cNvSpPr/>
          <p:nvPr/>
        </p:nvSpPr>
        <p:spPr>
          <a:xfrm>
            <a:off x="6178143"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7871"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7871"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2" name="TextBox 21"/>
          <p:cNvSpPr txBox="1"/>
          <p:nvPr/>
        </p:nvSpPr>
        <p:spPr>
          <a:xfrm>
            <a:off x="6178143"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6178143"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δ（棒グラフ、1 rad/s）</a:t>
            </a:r>
          </a:p>
        </p:txBody>
      </p:sp>
      <p:sp>
        <p:nvSpPr>
          <p:cNvPr id="24" name="Rounded Rectangle 23"/>
          <p:cNvSpPr/>
          <p:nvPr/>
        </p:nvSpPr>
        <p:spPr>
          <a:xfrm>
            <a:off x="365760"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27" name="TextBox 26"/>
          <p:cNvSpPr txBox="1"/>
          <p:nvPr/>
        </p:nvSpPr>
        <p:spPr>
          <a:xfrm>
            <a:off x="365760"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365760"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モデル fit）</a:t>
            </a:r>
          </a:p>
        </p:txBody>
      </p:sp>
      <p:sp>
        <p:nvSpPr>
          <p:cNvPr id="29" name="Rounded Rectangle 28"/>
          <p:cNvSpPr/>
          <p:nvPr/>
        </p:nvSpPr>
        <p:spPr>
          <a:xfrm>
            <a:off x="6178143"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87871"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87871"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2" name="TextBox 31"/>
          <p:cNvSpPr txBox="1"/>
          <p:nvPr/>
        </p:nvSpPr>
        <p:spPr>
          <a:xfrm>
            <a:off x="6178143"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6178143"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4" name="Rounded Rectangle 33"/>
          <p:cNvSpPr/>
          <p:nvPr/>
        </p:nvSpPr>
        <p:spPr>
          <a:xfrm>
            <a:off x="365760" y="6236208"/>
            <a:ext cx="11460175" cy="402336"/>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6236208"/>
            <a:ext cx="73152" cy="40233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236208"/>
            <a:ext cx="2194560" cy="402336"/>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37" name="TextBox 36"/>
          <p:cNvSpPr txBox="1"/>
          <p:nvPr/>
        </p:nvSpPr>
        <p:spPr>
          <a:xfrm>
            <a:off x="2194560" y="6236208"/>
            <a:ext cx="9357055" cy="402336"/>
          </a:xfrm>
          <a:prstGeom prst="rect">
            <a:avLst/>
          </a:prstGeom>
          <a:noFill/>
        </p:spPr>
        <p:txBody>
          <a:bodyPr wrap="square" anchor="ctr" lIns="36000" rIns="36000" tIns="18000" bIns="18000">
            <a:spAutoFit/>
          </a:bodyPr>
          <a:lstStyle/>
          <a:p>
            <a:pPr algn="l"/>
            <a:r>
              <a:rPr sz="1300" b="0" i="0">
                <a:solidFill>
                  <a:srgbClr val="FFFFFF"/>
                </a:solidFill>
                <a:latin typeface="Noto Sans JP"/>
              </a:rPr>
              <a:t>SDS 0.1 wt% が最適点：G' 最大（58.2 Pa）・tan δ 最小（0.193）・せん断希薄化を維持 — 発泡構造の制御と付着性の最適化に直結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