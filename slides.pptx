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43</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43</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43</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43</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高せん断で粘度が低下（噴霧・パイプ送液に適合）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43</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43</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43</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せん断希薄化（粘度低下）</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43</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43</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粘度挙動</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可逆</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高せん断で低粘度→静止で回復</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動的降伏応力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HEC+MC/CSP（HB fit）</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43</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43</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43</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レオロジー設計が実装性能に直結する</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43</a:t>
            </a:r>
          </a:p>
        </p:txBody>
      </p:sp>
      <p:sp>
        <p:nvSpPr>
          <p:cNvPr id="10" name="TextBox 9"/>
          <p:cNvSpPr txBox="1"/>
          <p:nvPr/>
        </p:nvSpPr>
        <p:spPr>
          <a:xfrm>
            <a:off x="365760" y="859536"/>
            <a:ext cx="4114800"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レオロジー設計（実測された物性）</a:t>
            </a:r>
          </a:p>
        </p:txBody>
      </p:sp>
      <p:sp>
        <p:nvSpPr>
          <p:cNvPr id="11" name="TextBox 10"/>
          <p:cNvSpPr txBox="1"/>
          <p:nvPr/>
        </p:nvSpPr>
        <p:spPr>
          <a:xfrm>
            <a:off x="5449824" y="859536"/>
            <a:ext cx="6376111"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期待される実装性能（現場での挙動）</a:t>
            </a:r>
          </a:p>
        </p:txBody>
      </p:sp>
      <p:sp>
        <p:nvSpPr>
          <p:cNvPr id="12" name="Rounded Rectangle 11"/>
          <p:cNvSpPr/>
          <p:nvPr/>
        </p:nvSpPr>
        <p:spPr>
          <a:xfrm>
            <a:off x="365760" y="1243584"/>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243584"/>
            <a:ext cx="54864" cy="1207008"/>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1408176"/>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せん断希薄化挙動</a:t>
            </a:r>
          </a:p>
        </p:txBody>
      </p:sp>
      <p:sp>
        <p:nvSpPr>
          <p:cNvPr id="15" name="TextBox 14"/>
          <p:cNvSpPr txBox="1"/>
          <p:nvPr/>
        </p:nvSpPr>
        <p:spPr>
          <a:xfrm>
            <a:off x="566928" y="1883664"/>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a:t>
            </a:r>
          </a:p>
        </p:txBody>
      </p:sp>
      <p:sp>
        <p:nvSpPr>
          <p:cNvPr id="16" name="Right Arrow 15"/>
          <p:cNvSpPr/>
          <p:nvPr/>
        </p:nvSpPr>
        <p:spPr>
          <a:xfrm>
            <a:off x="4645152" y="1645920"/>
            <a:ext cx="640080" cy="402336"/>
          </a:xfrm>
          <a:prstGeom prst="rightArrow">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1243584"/>
            <a:ext cx="6376111" cy="1207008"/>
          </a:xfrm>
          <a:prstGeom prst="roundRect">
            <a:avLst>
              <a:gd name="adj" fmla="val 5000"/>
            </a:avLst>
          </a:prstGeom>
          <a:solidFill>
            <a:srgbClr val="FFFFFF"/>
          </a:solidFill>
          <a:ln w="1270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0992" y="1389888"/>
            <a:ext cx="6065215" cy="365760"/>
          </a:xfrm>
          <a:prstGeom prst="rect">
            <a:avLst/>
          </a:prstGeom>
          <a:noFill/>
        </p:spPr>
        <p:txBody>
          <a:bodyPr wrap="square" anchor="t" lIns="36000" rIns="36000" tIns="18000" bIns="18000">
            <a:spAutoFit/>
          </a:bodyPr>
          <a:lstStyle/>
          <a:p>
            <a:pPr algn="l"/>
            <a:r>
              <a:rPr sz="1500" b="1" i="0">
                <a:solidFill>
                  <a:srgbClr val="4A7C8C"/>
                </a:solidFill>
                <a:latin typeface="Noto Sans JP"/>
              </a:rPr>
              <a:t>噴霧できる</a:t>
            </a:r>
          </a:p>
        </p:txBody>
      </p:sp>
      <p:sp>
        <p:nvSpPr>
          <p:cNvPr id="19" name="TextBox 18"/>
          <p:cNvSpPr txBox="1"/>
          <p:nvPr/>
        </p:nvSpPr>
        <p:spPr>
          <a:xfrm>
            <a:off x="5650992" y="1810512"/>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ノズル通過時の高せん断で粘度が急低下</a:t>
            </a:r>
          </a:p>
          <a:p>
            <a:pPr algn="l"/>
            <a:r>
              <a:rPr sz="1200" b="0" i="0">
                <a:solidFill>
                  <a:srgbClr val="334155"/>
                </a:solidFill>
                <a:latin typeface="Noto Sans JP"/>
              </a:rPr>
              <a:t>→ 既存ホース・ノズルで散布可能</a:t>
            </a:r>
          </a:p>
        </p:txBody>
      </p:sp>
      <p:sp>
        <p:nvSpPr>
          <p:cNvPr id="20" name="Rounded Rectangle 19"/>
          <p:cNvSpPr/>
          <p:nvPr/>
        </p:nvSpPr>
        <p:spPr>
          <a:xfrm>
            <a:off x="365760" y="2633472"/>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633472"/>
            <a:ext cx="54864" cy="1207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798064"/>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高い貯蔵弾性率 G'（G' ≫ G''）</a:t>
            </a:r>
          </a:p>
        </p:txBody>
      </p:sp>
      <p:sp>
        <p:nvSpPr>
          <p:cNvPr id="23" name="TextBox 22"/>
          <p:cNvSpPr txBox="1"/>
          <p:nvPr/>
        </p:nvSpPr>
        <p:spPr>
          <a:xfrm>
            <a:off x="566928" y="3273552"/>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静止時はゲル状態を保持</a:t>
            </a:r>
          </a:p>
        </p:txBody>
      </p:sp>
      <p:sp>
        <p:nvSpPr>
          <p:cNvPr id="24" name="Right Arrow 23"/>
          <p:cNvSpPr/>
          <p:nvPr/>
        </p:nvSpPr>
        <p:spPr>
          <a:xfrm>
            <a:off x="4645152" y="3035808"/>
            <a:ext cx="640080" cy="402336"/>
          </a:xfrm>
          <a:prstGeom prst="rightArrow">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49824" y="2633472"/>
            <a:ext cx="6376111" cy="1207008"/>
          </a:xfrm>
          <a:prstGeom prst="roundRect">
            <a:avLst>
              <a:gd name="adj" fmla="val 5000"/>
            </a:avLst>
          </a:prstGeom>
          <a:solidFill>
            <a:srgbClr val="FFFFFF"/>
          </a:solidFill>
          <a:ln w="1270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50992" y="2779776"/>
            <a:ext cx="6065215" cy="365760"/>
          </a:xfrm>
          <a:prstGeom prst="rect">
            <a:avLst/>
          </a:prstGeom>
          <a:noFill/>
        </p:spPr>
        <p:txBody>
          <a:bodyPr wrap="square" anchor="t" lIns="36000" rIns="36000" tIns="18000" bIns="18000">
            <a:spAutoFit/>
          </a:bodyPr>
          <a:lstStyle/>
          <a:p>
            <a:pPr algn="l"/>
            <a:r>
              <a:rPr sz="1500" b="1" i="0">
                <a:solidFill>
                  <a:srgbClr val="3B5174"/>
                </a:solidFill>
                <a:latin typeface="Noto Sans JP"/>
              </a:rPr>
              <a:t>垂直面で流れ落ちない</a:t>
            </a:r>
          </a:p>
        </p:txBody>
      </p:sp>
      <p:sp>
        <p:nvSpPr>
          <p:cNvPr id="27" name="TextBox 26"/>
          <p:cNvSpPr txBox="1"/>
          <p:nvPr/>
        </p:nvSpPr>
        <p:spPr>
          <a:xfrm>
            <a:off x="5650992" y="3200400"/>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塗布後は形状を保持して付着</a:t>
            </a:r>
          </a:p>
          <a:p>
            <a:pPr algn="l"/>
            <a:r>
              <a:rPr sz="1200" b="0" i="0">
                <a:solidFill>
                  <a:srgbClr val="334155"/>
                </a:solidFill>
                <a:latin typeface="Noto Sans JP"/>
              </a:rPr>
              <a:t>→ 木材・壁面など垂直基材にも保持</a:t>
            </a:r>
          </a:p>
        </p:txBody>
      </p:sp>
      <p:sp>
        <p:nvSpPr>
          <p:cNvPr id="28" name="Rounded Rectangle 27"/>
          <p:cNvSpPr/>
          <p:nvPr/>
        </p:nvSpPr>
        <p:spPr>
          <a:xfrm>
            <a:off x="365760" y="4023360"/>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023360"/>
            <a:ext cx="54864" cy="12070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187952"/>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自己修復性</a:t>
            </a:r>
          </a:p>
        </p:txBody>
      </p:sp>
      <p:sp>
        <p:nvSpPr>
          <p:cNvPr id="31" name="TextBox 30"/>
          <p:cNvSpPr txBox="1"/>
          <p:nvPr/>
        </p:nvSpPr>
        <p:spPr>
          <a:xfrm>
            <a:off x="566928" y="4663440"/>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step-strain で G' が即時回復</a:t>
            </a:r>
          </a:p>
        </p:txBody>
      </p:sp>
      <p:sp>
        <p:nvSpPr>
          <p:cNvPr id="32" name="Right Arrow 31"/>
          <p:cNvSpPr/>
          <p:nvPr/>
        </p:nvSpPr>
        <p:spPr>
          <a:xfrm>
            <a:off x="4645152" y="4425696"/>
            <a:ext cx="640080" cy="402336"/>
          </a:xfrm>
          <a:prstGeom prst="rightArrow">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49824" y="4023360"/>
            <a:ext cx="6376111" cy="1207008"/>
          </a:xfrm>
          <a:prstGeom prst="roundRect">
            <a:avLst>
              <a:gd name="adj" fmla="val 5000"/>
            </a:avLst>
          </a:prstGeom>
          <a:solidFill>
            <a:srgbClr val="FFFFFF"/>
          </a:solidFill>
          <a:ln w="1270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0992" y="4169664"/>
            <a:ext cx="6065215" cy="365760"/>
          </a:xfrm>
          <a:prstGeom prst="rect">
            <a:avLst/>
          </a:prstGeom>
          <a:noFill/>
        </p:spPr>
        <p:txBody>
          <a:bodyPr wrap="square" anchor="t" lIns="36000" rIns="36000" tIns="18000" bIns="18000">
            <a:spAutoFit/>
          </a:bodyPr>
          <a:lstStyle/>
          <a:p>
            <a:pPr algn="l"/>
            <a:r>
              <a:rPr sz="1500" b="1" i="0">
                <a:solidFill>
                  <a:srgbClr val="D4A574"/>
                </a:solidFill>
                <a:latin typeface="Noto Sans JP"/>
              </a:rPr>
              <a:t>到達後すぐ保護膜を形成</a:t>
            </a:r>
          </a:p>
        </p:txBody>
      </p:sp>
      <p:sp>
        <p:nvSpPr>
          <p:cNvPr id="35" name="TextBox 34"/>
          <p:cNvSpPr txBox="1"/>
          <p:nvPr/>
        </p:nvSpPr>
        <p:spPr>
          <a:xfrm>
            <a:off x="5650992" y="4590288"/>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散布直後に再ゲル化</a:t>
            </a:r>
          </a:p>
          <a:p>
            <a:pPr algn="l"/>
            <a:r>
              <a:rPr sz="1200" b="0" i="0">
                <a:solidFill>
                  <a:srgbClr val="334155"/>
                </a:solidFill>
                <a:latin typeface="Noto Sans JP"/>
              </a:rPr>
              <a:t>→ 風雨・自重で流出せず防火層を維持</a:t>
            </a:r>
          </a:p>
        </p:txBody>
      </p:sp>
      <p:sp>
        <p:nvSpPr>
          <p:cNvPr id="36" name="Rounded Rectangle 35"/>
          <p:cNvSpPr/>
          <p:nvPr/>
        </p:nvSpPr>
        <p:spPr>
          <a:xfrm>
            <a:off x="365760" y="6089904"/>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089904"/>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089904"/>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089904"/>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これらの実装性能はレオロジー実測値からの帰結。接触角・付着力の独立した測定試験は本論文では行われていない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レオロジー①：粘弾性とせん断希薄化（Fig. 2a–c）</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43</a:t>
            </a:r>
          </a:p>
        </p:txBody>
      </p:sp>
      <p:sp>
        <p:nvSpPr>
          <p:cNvPr id="10" name="Rounded Rectangle 9"/>
          <p:cNvSpPr/>
          <p:nvPr/>
        </p:nvSpPr>
        <p:spPr>
          <a:xfrm>
            <a:off x="365760" y="859536"/>
            <a:ext cx="5620359"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5620359"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562035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G' / G''（静止時の粘弾性）</a:t>
            </a:r>
          </a:p>
        </p:txBody>
      </p:sp>
      <p:sp>
        <p:nvSpPr>
          <p:cNvPr id="15" name="Rounded Rectangle 14"/>
          <p:cNvSpPr/>
          <p:nvPr/>
        </p:nvSpPr>
        <p:spPr>
          <a:xfrm>
            <a:off x="6205575" y="859536"/>
            <a:ext cx="5620359"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1530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530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a:t>
            </a:r>
          </a:p>
        </p:txBody>
      </p:sp>
      <p:sp>
        <p:nvSpPr>
          <p:cNvPr id="18" name="TextBox 17"/>
          <p:cNvSpPr txBox="1"/>
          <p:nvPr/>
        </p:nvSpPr>
        <p:spPr>
          <a:xfrm>
            <a:off x="6205575" y="859536"/>
            <a:ext cx="5620359"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205575" y="4096512"/>
            <a:ext cx="562035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せん断速度 vs 粘度（せん断希薄化）</a:t>
            </a:r>
          </a:p>
        </p:txBody>
      </p:sp>
      <p:sp>
        <p:nvSpPr>
          <p:cNvPr id="20" name="Rounded Rectangle 19"/>
          <p:cNvSpPr/>
          <p:nvPr/>
        </p:nvSpPr>
        <p:spPr>
          <a:xfrm>
            <a:off x="365760" y="4261104"/>
            <a:ext cx="5620359" cy="91440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4261104"/>
            <a:ext cx="54864" cy="91440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370832"/>
            <a:ext cx="5309463" cy="274320"/>
          </a:xfrm>
          <a:prstGeom prst="rect">
            <a:avLst/>
          </a:prstGeom>
          <a:noFill/>
        </p:spPr>
        <p:txBody>
          <a:bodyPr wrap="square" anchor="t" lIns="36000" rIns="36000" tIns="18000" bIns="18000">
            <a:spAutoFit/>
          </a:bodyPr>
          <a:lstStyle/>
          <a:p>
            <a:pPr algn="l"/>
            <a:r>
              <a:rPr sz="1250" b="1" i="0">
                <a:solidFill>
                  <a:srgbClr val="4A7C8C"/>
                </a:solidFill>
                <a:latin typeface="Noto Sans JP"/>
              </a:rPr>
              <a:t>静止時：G' &gt; G'' → 固体的（ゲル）挙動</a:t>
            </a:r>
          </a:p>
        </p:txBody>
      </p:sp>
      <p:sp>
        <p:nvSpPr>
          <p:cNvPr id="23" name="TextBox 22"/>
          <p:cNvSpPr txBox="1"/>
          <p:nvPr/>
        </p:nvSpPr>
        <p:spPr>
          <a:xfrm>
            <a:off x="548640" y="4700016"/>
            <a:ext cx="5309463" cy="411480"/>
          </a:xfrm>
          <a:prstGeom prst="rect">
            <a:avLst/>
          </a:prstGeom>
          <a:noFill/>
        </p:spPr>
        <p:txBody>
          <a:bodyPr wrap="square" anchor="t" lIns="36000" rIns="36000" tIns="18000" bIns="18000">
            <a:spAutoFit/>
          </a:bodyPr>
          <a:lstStyle/>
          <a:p>
            <a:pPr algn="l"/>
            <a:r>
              <a:rPr sz="1150" b="0" i="0">
                <a:solidFill>
                  <a:srgbClr val="334155"/>
                </a:solidFill>
                <a:latin typeface="Noto Sans JP"/>
              </a:rPr>
              <a:t>周波数依存性が小さく安定なネットワーク → 塗布後に流れ落ちない</a:t>
            </a:r>
          </a:p>
        </p:txBody>
      </p:sp>
      <p:sp>
        <p:nvSpPr>
          <p:cNvPr id="24" name="Rounded Rectangle 23"/>
          <p:cNvSpPr/>
          <p:nvPr/>
        </p:nvSpPr>
        <p:spPr>
          <a:xfrm>
            <a:off x="6205575" y="4261104"/>
            <a:ext cx="5620359" cy="91440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5575" y="4261104"/>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88455" y="4370832"/>
            <a:ext cx="5309463" cy="274320"/>
          </a:xfrm>
          <a:prstGeom prst="rect">
            <a:avLst/>
          </a:prstGeom>
          <a:noFill/>
        </p:spPr>
        <p:txBody>
          <a:bodyPr wrap="square" anchor="t" lIns="36000" rIns="36000" tIns="18000" bIns="18000">
            <a:spAutoFit/>
          </a:bodyPr>
          <a:lstStyle/>
          <a:p>
            <a:pPr algn="l"/>
            <a:r>
              <a:rPr sz="1250" b="1" i="0">
                <a:solidFill>
                  <a:srgbClr val="3B5174"/>
                </a:solidFill>
                <a:latin typeface="Noto Sans JP"/>
              </a:rPr>
              <a:t>高せん断時：粘度が急低下（せん断希薄化）</a:t>
            </a:r>
          </a:p>
        </p:txBody>
      </p:sp>
      <p:sp>
        <p:nvSpPr>
          <p:cNvPr id="27" name="TextBox 26"/>
          <p:cNvSpPr txBox="1"/>
          <p:nvPr/>
        </p:nvSpPr>
        <p:spPr>
          <a:xfrm>
            <a:off x="6388455" y="4700016"/>
            <a:ext cx="5309463" cy="411480"/>
          </a:xfrm>
          <a:prstGeom prst="rect">
            <a:avLst/>
          </a:prstGeom>
          <a:noFill/>
        </p:spPr>
        <p:txBody>
          <a:bodyPr wrap="square" anchor="t" lIns="36000" rIns="36000" tIns="18000" bIns="18000">
            <a:spAutoFit/>
          </a:bodyPr>
          <a:lstStyle/>
          <a:p>
            <a:pPr algn="l"/>
            <a:r>
              <a:rPr sz="1150" b="0" i="0">
                <a:solidFill>
                  <a:srgbClr val="334155"/>
                </a:solidFill>
                <a:latin typeface="Noto Sans JP"/>
              </a:rPr>
              <a:t>ノズル通過時の高せん断で粘度低下 → スプレー噴霧が可能</a:t>
            </a:r>
          </a:p>
        </p:txBody>
      </p:sp>
      <p:sp>
        <p:nvSpPr>
          <p:cNvPr id="28" name="Rounded Rectangle 27"/>
          <p:cNvSpPr/>
          <p:nvPr/>
        </p:nvSpPr>
        <p:spPr>
          <a:xfrm>
            <a:off x="365760" y="5340096"/>
            <a:ext cx="11460175" cy="512064"/>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5340096"/>
            <a:ext cx="54864" cy="512064"/>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340096"/>
            <a:ext cx="365760" cy="512064"/>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1" name="TextBox 30"/>
          <p:cNvSpPr txBox="1"/>
          <p:nvPr/>
        </p:nvSpPr>
        <p:spPr>
          <a:xfrm>
            <a:off x="960120" y="5340096"/>
            <a:ext cx="10774375" cy="512064"/>
          </a:xfrm>
          <a:prstGeom prst="rect">
            <a:avLst/>
          </a:prstGeom>
          <a:noFill/>
        </p:spPr>
        <p:txBody>
          <a:bodyPr wrap="square" anchor="ctr" lIns="36000" rIns="36000" tIns="18000" bIns="18000">
            <a:spAutoFit/>
          </a:bodyPr>
          <a:lstStyle/>
          <a:p>
            <a:pPr algn="l"/>
            <a:r>
              <a:rPr sz="1300" b="1" i="0">
                <a:solidFill>
                  <a:srgbClr val="FFFFFF"/>
                </a:solidFill>
                <a:latin typeface="Noto Sans JP"/>
              </a:rPr>
              <a:t>静止時はゲル（垂れない）／噴霧時は低粘度（飛ばせる）の両立がスプレー散布の基盤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レオロジー②：静的・動的降伏応力と AquaGel-K 比較（Fig. 2d・S3）</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降伏応力＝ゲルが流れ出す／流れ続けるのに必要な応力。静的（流れ始め＝付着）と動的（流動維持＝噴霧）の2定義で評価</a:t>
            </a:r>
          </a:p>
        </p:txBody>
      </p:sp>
      <p:sp>
        <p:nvSpPr>
          <p:cNvPr id="14" name="Rounded Rectangle 13"/>
          <p:cNvSpPr/>
          <p:nvPr/>
        </p:nvSpPr>
        <p:spPr>
          <a:xfrm>
            <a:off x="365760" y="1609344"/>
            <a:ext cx="4492630" cy="1554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71907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71907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 Fig. S3</a:t>
            </a:r>
          </a:p>
        </p:txBody>
      </p:sp>
      <p:sp>
        <p:nvSpPr>
          <p:cNvPr id="17" name="TextBox 16"/>
          <p:cNvSpPr txBox="1"/>
          <p:nvPr/>
        </p:nvSpPr>
        <p:spPr>
          <a:xfrm>
            <a:off x="365760" y="1609344"/>
            <a:ext cx="4492630" cy="1554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20040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振幅掃引：G'/G'' クロスオーバー（静的降伏応力）</a:t>
            </a:r>
          </a:p>
        </p:txBody>
      </p:sp>
      <p:sp>
        <p:nvSpPr>
          <p:cNvPr id="19" name="Rounded Rectangle 18"/>
          <p:cNvSpPr/>
          <p:nvPr/>
        </p:nvSpPr>
        <p:spPr>
          <a:xfrm>
            <a:off x="365760" y="3300984"/>
            <a:ext cx="4492630" cy="1554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75488" y="341071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341071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2d</a:t>
            </a:r>
          </a:p>
        </p:txBody>
      </p:sp>
      <p:sp>
        <p:nvSpPr>
          <p:cNvPr id="22" name="TextBox 21"/>
          <p:cNvSpPr txBox="1"/>
          <p:nvPr/>
        </p:nvSpPr>
        <p:spPr>
          <a:xfrm>
            <a:off x="365760" y="3300984"/>
            <a:ext cx="4492630" cy="1554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365760" y="489204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HB fit による動的降伏応力（棒グラフ）</a:t>
            </a:r>
          </a:p>
        </p:txBody>
      </p:sp>
      <p:sp>
        <p:nvSpPr>
          <p:cNvPr id="24" name="Rounded Rectangle 23"/>
          <p:cNvSpPr/>
          <p:nvPr/>
        </p:nvSpPr>
        <p:spPr>
          <a:xfrm>
            <a:off x="5077846" y="1609344"/>
            <a:ext cx="6748089" cy="155448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77846" y="1609344"/>
            <a:ext cx="54864" cy="155448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79014" y="1719072"/>
            <a:ext cx="643719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静的降伏応力 σ_static（流れ始め＝付着）</a:t>
            </a:r>
          </a:p>
        </p:txBody>
      </p:sp>
      <p:sp>
        <p:nvSpPr>
          <p:cNvPr id="27" name="TextBox 26"/>
          <p:cNvSpPr txBox="1"/>
          <p:nvPr/>
        </p:nvSpPr>
        <p:spPr>
          <a:xfrm>
            <a:off x="5279014" y="206654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測定：振幅掃引（LAOS）の G' / G'' クロスオーバー応力（S3）</a:t>
            </a:r>
          </a:p>
        </p:txBody>
      </p:sp>
      <p:sp>
        <p:nvSpPr>
          <p:cNvPr id="28" name="TextBox 27"/>
          <p:cNvSpPr txBox="1"/>
          <p:nvPr/>
        </p:nvSpPr>
        <p:spPr>
          <a:xfrm>
            <a:off x="5279014" y="237744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PPハイドロゲルは AquaGel-K より高い静的降伏応力</a:t>
            </a:r>
          </a:p>
          <a:p>
            <a:pPr algn="l"/>
            <a:r>
              <a:rPr sz="1150" b="0" i="0">
                <a:solidFill>
                  <a:srgbClr val="475569"/>
                </a:solidFill>
                <a:latin typeface="Noto Sans JP"/>
              </a:rPr>
              <a:t>→ 垂直・高所の燃料面でも流れ落ちにくく、強く付着する</a:t>
            </a:r>
          </a:p>
        </p:txBody>
      </p:sp>
      <p:sp>
        <p:nvSpPr>
          <p:cNvPr id="29" name="Rounded Rectangle 28"/>
          <p:cNvSpPr/>
          <p:nvPr/>
        </p:nvSpPr>
        <p:spPr>
          <a:xfrm>
            <a:off x="5077846" y="3300984"/>
            <a:ext cx="6748089" cy="155448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77846" y="3300984"/>
            <a:ext cx="54864" cy="155448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79014" y="3410712"/>
            <a:ext cx="643719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動的降伏応力 σ_dynamic（流動維持＝噴霧）</a:t>
            </a:r>
          </a:p>
        </p:txBody>
      </p:sp>
      <p:sp>
        <p:nvSpPr>
          <p:cNvPr id="32" name="TextBox 31"/>
          <p:cNvSpPr txBox="1"/>
          <p:nvPr/>
        </p:nvSpPr>
        <p:spPr>
          <a:xfrm>
            <a:off x="5279014" y="375818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測定：フロースイープ（100→0.01 s⁻¹）の HB モデル fit（2d）</a:t>
            </a:r>
          </a:p>
        </p:txBody>
      </p:sp>
      <p:sp>
        <p:nvSpPr>
          <p:cNvPr id="33" name="TextBox 32"/>
          <p:cNvSpPr txBox="1"/>
          <p:nvPr/>
        </p:nvSpPr>
        <p:spPr>
          <a:xfrm>
            <a:off x="5279014" y="406908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AquaGel-K（基準線 0.05 Pa）に対し PPハイドロゲルは桁違いに高い</a:t>
            </a:r>
          </a:p>
          <a:p>
            <a:pPr algn="l"/>
            <a:r>
              <a:rPr sz="1150" b="0" i="0">
                <a:solidFill>
                  <a:srgbClr val="475569"/>
                </a:solidFill>
                <a:latin typeface="Noto Sans JP"/>
              </a:rPr>
              <a:t>→ ポンプ圧内で噴霧でき、かつ流れにくい設計を両立</a:t>
            </a:r>
          </a:p>
        </p:txBody>
      </p:sp>
      <p:sp>
        <p:nvSpPr>
          <p:cNvPr id="34" name="Rounded Rectangle 33"/>
          <p:cNvSpPr/>
          <p:nvPr/>
        </p:nvSpPr>
        <p:spPr>
          <a:xfrm>
            <a:off x="365760" y="5056632"/>
            <a:ext cx="11460175" cy="56692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5056632"/>
            <a:ext cx="54864" cy="56692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056632"/>
            <a:ext cx="365760" cy="56692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7" name="TextBox 36"/>
          <p:cNvSpPr txBox="1"/>
          <p:nvPr/>
        </p:nvSpPr>
        <p:spPr>
          <a:xfrm>
            <a:off x="960120" y="5056632"/>
            <a:ext cx="10774375" cy="566928"/>
          </a:xfrm>
          <a:prstGeom prst="rect">
            <a:avLst/>
          </a:prstGeom>
          <a:noFill/>
        </p:spPr>
        <p:txBody>
          <a:bodyPr wrap="square" anchor="ctr" lIns="36000" rIns="36000" tIns="18000" bIns="18000">
            <a:spAutoFit/>
          </a:bodyPr>
          <a:lstStyle/>
          <a:p>
            <a:pPr algn="l"/>
            <a:r>
              <a:rPr sz="1300" b="1" i="0">
                <a:solidFill>
                  <a:srgbClr val="FFFFFF"/>
                </a:solidFill>
                <a:latin typeface="Noto Sans JP"/>
              </a:rPr>
              <a:t>静的・動的いずれの降伏応力でも PPハイドロゲルは市販 AquaGel-K を大きく上回る。両者の差が小さい（弱いチキソトロピー）ため構造が即再形成され、自己修復的に付着を保つ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レオロジー③：動的降伏応力の経時変化と長期安定性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43</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動的降伏応力：定常フロースイープを HB モデルにフィットして算出（σ_d）。流動状態を維持するのに必要な応力（Fig. S7）</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1）</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455）</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動的降伏応力（HB fit）</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定常フロースイープを HB モデルにフィットして測定。HEC+MC/CSPは33.34 Pa、MHEC/CSPは3.31 Pa（Day 1）</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HEC+MC系は経時で剛性化（33.34→68.9 Pa）。MHEC系は変化が穏やかで単一ポリマーにより製造も簡便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自己修復性：Step-strain による G' / G'' 即時回復</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Step-strain プロトコル（ω = 1 rad/s）</a:t>
            </a:r>
          </a:p>
        </p:txBody>
      </p:sp>
      <p:sp>
        <p:nvSpPr>
          <p:cNvPr id="11" name="Rounded Rectangle 10"/>
          <p:cNvSpPr/>
          <p:nvPr/>
        </p:nvSpPr>
        <p:spPr>
          <a:xfrm>
            <a:off x="365760" y="131673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316736"/>
            <a:ext cx="45720" cy="9601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89888"/>
            <a:ext cx="731520" cy="256032"/>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1280160" y="138988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低歪み（γ = 1%）</a:t>
            </a:r>
          </a:p>
        </p:txBody>
      </p:sp>
      <p:sp>
        <p:nvSpPr>
          <p:cNvPr id="15" name="TextBox 14"/>
          <p:cNvSpPr txBox="1"/>
          <p:nvPr/>
        </p:nvSpPr>
        <p:spPr>
          <a:xfrm>
            <a:off x="530352" y="168249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ネットワーク構造を保持</a:t>
            </a:r>
          </a:p>
          <a:p>
            <a:pPr algn="l"/>
            <a:r>
              <a:rPr sz="1050" b="0" i="0">
                <a:solidFill>
                  <a:srgbClr val="334155"/>
                </a:solidFill>
                <a:latin typeface="Noto Sans JP"/>
              </a:rPr>
              <a:t>G' &gt; G''（ゲル状態）</a:t>
            </a:r>
          </a:p>
        </p:txBody>
      </p:sp>
      <p:sp>
        <p:nvSpPr>
          <p:cNvPr id="16" name="Rounded Rectangle 15"/>
          <p:cNvSpPr/>
          <p:nvPr/>
        </p:nvSpPr>
        <p:spPr>
          <a:xfrm>
            <a:off x="365760" y="236829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2368296"/>
            <a:ext cx="45720" cy="9601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441448"/>
            <a:ext cx="731520" cy="256032"/>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19" name="TextBox 18"/>
          <p:cNvSpPr txBox="1"/>
          <p:nvPr/>
        </p:nvSpPr>
        <p:spPr>
          <a:xfrm>
            <a:off x="1280160" y="244144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高歪み（γ = 500%）</a:t>
            </a:r>
          </a:p>
        </p:txBody>
      </p:sp>
      <p:sp>
        <p:nvSpPr>
          <p:cNvPr id="20" name="TextBox 19"/>
          <p:cNvSpPr txBox="1"/>
          <p:nvPr/>
        </p:nvSpPr>
        <p:spPr>
          <a:xfrm>
            <a:off x="530352" y="273405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ネットワーク破壊</a:t>
            </a:r>
          </a:p>
          <a:p>
            <a:pPr algn="l"/>
            <a:r>
              <a:rPr sz="1050" b="0" i="0">
                <a:solidFill>
                  <a:srgbClr val="334155"/>
                </a:solidFill>
                <a:latin typeface="Noto Sans JP"/>
              </a:rPr>
              <a:t>G' &lt; G''（液体状態）</a:t>
            </a:r>
          </a:p>
        </p:txBody>
      </p:sp>
      <p:sp>
        <p:nvSpPr>
          <p:cNvPr id="21" name="Rounded Rectangle 20"/>
          <p:cNvSpPr/>
          <p:nvPr/>
        </p:nvSpPr>
        <p:spPr>
          <a:xfrm>
            <a:off x="365760" y="341985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419856"/>
            <a:ext cx="45720" cy="9601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493008"/>
            <a:ext cx="731520" cy="256032"/>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4" name="TextBox 23"/>
          <p:cNvSpPr txBox="1"/>
          <p:nvPr/>
        </p:nvSpPr>
        <p:spPr>
          <a:xfrm>
            <a:off x="1280160" y="349300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低歪みへ復帰（γ = 1%）</a:t>
            </a:r>
          </a:p>
        </p:txBody>
      </p:sp>
      <p:sp>
        <p:nvSpPr>
          <p:cNvPr id="25" name="TextBox 24"/>
          <p:cNvSpPr txBox="1"/>
          <p:nvPr/>
        </p:nvSpPr>
        <p:spPr>
          <a:xfrm>
            <a:off x="530352" y="378561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粒子-高分子相互作用が再形成</a:t>
            </a:r>
          </a:p>
          <a:p>
            <a:pPr algn="l"/>
            <a:r>
              <a:rPr sz="1050" b="0" i="0">
                <a:solidFill>
                  <a:srgbClr val="334155"/>
                </a:solidFill>
                <a:latin typeface="Noto Sans JP"/>
              </a:rPr>
              <a:t>G' が即時回復</a:t>
            </a:r>
          </a:p>
        </p:txBody>
      </p:sp>
      <p:sp>
        <p:nvSpPr>
          <p:cNvPr id="26" name="TextBox 25"/>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 G'' の時系列変化（cyclic step-strain）</a:t>
            </a:r>
          </a:p>
        </p:txBody>
      </p:sp>
      <p:sp>
        <p:nvSpPr>
          <p:cNvPr id="27" name="Rounded Rectangle 26"/>
          <p:cNvSpPr/>
          <p:nvPr/>
        </p:nvSpPr>
        <p:spPr>
          <a:xfrm>
            <a:off x="6233007" y="1271016"/>
            <a:ext cx="5592927" cy="3108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42735" y="138074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2735" y="138074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SI（step-strain）</a:t>
            </a:r>
          </a:p>
        </p:txBody>
      </p:sp>
      <p:sp>
        <p:nvSpPr>
          <p:cNvPr id="30" name="TextBox 29"/>
          <p:cNvSpPr txBox="1"/>
          <p:nvPr/>
        </p:nvSpPr>
        <p:spPr>
          <a:xfrm>
            <a:off x="6233007" y="1271016"/>
            <a:ext cx="5592927" cy="3108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6233007" y="4416552"/>
            <a:ext cx="559292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γ=1%→500%→1% サイクルで G' が即時回復</a:t>
            </a:r>
          </a:p>
        </p:txBody>
      </p:sp>
      <p:sp>
        <p:nvSpPr>
          <p:cNvPr id="32" name="Rounded Rectangle 31"/>
          <p:cNvSpPr/>
          <p:nvPr/>
        </p:nvSpPr>
        <p:spPr>
          <a:xfrm>
            <a:off x="6233007" y="4562856"/>
            <a:ext cx="5592927" cy="1005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4562856"/>
            <a:ext cx="45720" cy="10058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9" y="4654296"/>
            <a:ext cx="5336895"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POINT：噴霧後の即時付着を保証</a:t>
            </a:r>
          </a:p>
        </p:txBody>
      </p:sp>
      <p:sp>
        <p:nvSpPr>
          <p:cNvPr id="35" name="TextBox 34"/>
          <p:cNvSpPr txBox="1"/>
          <p:nvPr/>
        </p:nvSpPr>
        <p:spPr>
          <a:xfrm>
            <a:off x="6397599" y="4946904"/>
            <a:ext cx="5336895" cy="566928"/>
          </a:xfrm>
          <a:prstGeom prst="rect">
            <a:avLst/>
          </a:prstGeom>
          <a:noFill/>
        </p:spPr>
        <p:txBody>
          <a:bodyPr wrap="square" anchor="t" lIns="36000" rIns="36000" tIns="18000" bIns="18000">
            <a:spAutoFit/>
          </a:bodyPr>
          <a:lstStyle/>
          <a:p>
            <a:pPr algn="l"/>
            <a:r>
              <a:rPr sz="1050" b="0" i="0">
                <a:solidFill>
                  <a:srgbClr val="334155"/>
                </a:solidFill>
                <a:latin typeface="Noto Sans JP"/>
              </a:rPr>
              <a:t>ノズル通過時の高せん断で粘度低下 → 基材到達後に G' を即時回復</a:t>
            </a:r>
          </a:p>
          <a:p>
            <a:pPr algn="l"/>
            <a:r>
              <a:rPr sz="1050" b="0" i="0">
                <a:solidFill>
                  <a:srgbClr val="334155"/>
                </a:solidFill>
                <a:latin typeface="Noto Sans JP"/>
              </a:rPr>
              <a:t>→ 垂直面でも流れ落ちず付着保持（自己修復性が実装可能性の鍵）</a:t>
            </a:r>
          </a:p>
        </p:txBody>
      </p:sp>
      <p:sp>
        <p:nvSpPr>
          <p:cNvPr id="36" name="Rounded Rectangle 35"/>
          <p:cNvSpPr/>
          <p:nvPr/>
        </p:nvSpPr>
        <p:spPr>
          <a:xfrm>
            <a:off x="365760" y="6108192"/>
            <a:ext cx="11460175" cy="5486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108192"/>
            <a:ext cx="54864" cy="5486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108192"/>
            <a:ext cx="365760" cy="5486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108192"/>
            <a:ext cx="10774375" cy="548640"/>
          </a:xfrm>
          <a:prstGeom prst="rect">
            <a:avLst/>
          </a:prstGeom>
          <a:noFill/>
        </p:spPr>
        <p:txBody>
          <a:bodyPr wrap="square" anchor="ctr" lIns="36000" rIns="36000" tIns="18000" bIns="18000">
            <a:spAutoFit/>
          </a:bodyPr>
          <a:lstStyle/>
          <a:p>
            <a:pPr algn="l"/>
            <a:r>
              <a:rPr sz="1300" b="1" i="0">
                <a:solidFill>
                  <a:srgbClr val="1E293B"/>
                </a:solidFill>
                <a:latin typeface="Noto Sans JP"/>
              </a:rPr>
              <a:t>非共有結合（水素結合・多価相互作用）による可逆ネットワーク → 自己修復性を実証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43</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せん断希薄化（高せん断で低粘度）</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せん断希薄化挙動</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添加：目的は発泡促進・濡れ性改善だったが…（Fig.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43</a:t>
            </a:r>
          </a:p>
        </p:txBody>
      </p:sp>
      <p:sp>
        <p:nvSpPr>
          <p:cNvPr id="10" name="Rounded Rectangle 9"/>
          <p:cNvSpPr/>
          <p:nvPr/>
        </p:nvSpPr>
        <p:spPr>
          <a:xfrm>
            <a:off x="365760" y="859536"/>
            <a:ext cx="5647791" cy="82296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82296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932688"/>
            <a:ext cx="5373471" cy="256032"/>
          </a:xfrm>
          <a:prstGeom prst="rect">
            <a:avLst/>
          </a:prstGeom>
          <a:noFill/>
        </p:spPr>
        <p:txBody>
          <a:bodyPr wrap="square" anchor="t" lIns="36000" rIns="36000" tIns="18000" bIns="18000">
            <a:spAutoFit/>
          </a:bodyPr>
          <a:lstStyle/>
          <a:p>
            <a:pPr algn="l"/>
            <a:r>
              <a:rPr sz="1200" b="1" i="0">
                <a:solidFill>
                  <a:srgbClr val="4A7C8C"/>
                </a:solidFill>
                <a:latin typeface="Noto Sans JP"/>
              </a:rPr>
              <a:t>SDS 添加の目的</a:t>
            </a:r>
          </a:p>
        </p:txBody>
      </p:sp>
      <p:sp>
        <p:nvSpPr>
          <p:cNvPr id="13" name="TextBox 12"/>
          <p:cNvSpPr txBox="1"/>
          <p:nvPr/>
        </p:nvSpPr>
        <p:spPr>
          <a:xfrm>
            <a:off x="548640" y="1225296"/>
            <a:ext cx="5373471" cy="411480"/>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SDS（0 / 0.1 / 0.5 wt%）を HEC+MC/CSP に添加し、燃料表面への濡れ性改善と発泡層形成の促進を狙った</a:t>
            </a:r>
          </a:p>
        </p:txBody>
      </p:sp>
      <p:sp>
        <p:nvSpPr>
          <p:cNvPr id="14" name="Rounded Rectangle 13"/>
          <p:cNvSpPr/>
          <p:nvPr/>
        </p:nvSpPr>
        <p:spPr>
          <a:xfrm>
            <a:off x="6178143" y="859536"/>
            <a:ext cx="5647791" cy="82296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8143" y="859536"/>
            <a:ext cx="54864" cy="8229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1023" y="932688"/>
            <a:ext cx="5373471" cy="256032"/>
          </a:xfrm>
          <a:prstGeom prst="rect">
            <a:avLst/>
          </a:prstGeom>
          <a:noFill/>
        </p:spPr>
        <p:txBody>
          <a:bodyPr wrap="square" anchor="t" lIns="36000" rIns="36000" tIns="18000" bIns="18000">
            <a:spAutoFit/>
          </a:bodyPr>
          <a:lstStyle/>
          <a:p>
            <a:pPr algn="l"/>
            <a:r>
              <a:rPr sz="1200" b="1" i="0">
                <a:solidFill>
                  <a:srgbClr val="3B5174"/>
                </a:solidFill>
                <a:latin typeface="Noto Sans JP"/>
              </a:rPr>
              <a:t>期待した効果</a:t>
            </a:r>
          </a:p>
        </p:txBody>
      </p:sp>
      <p:sp>
        <p:nvSpPr>
          <p:cNvPr id="17" name="TextBox 16"/>
          <p:cNvSpPr txBox="1"/>
          <p:nvPr/>
        </p:nvSpPr>
        <p:spPr>
          <a:xfrm>
            <a:off x="6361023" y="1225296"/>
            <a:ext cx="5373471" cy="411480"/>
          </a:xfrm>
          <a:prstGeom prst="rect">
            <a:avLst/>
          </a:prstGeom>
          <a:noFill/>
        </p:spPr>
        <p:txBody>
          <a:bodyPr wrap="square" anchor="t" lIns="36000" rIns="36000" tIns="18000" bIns="18000">
            <a:spAutoFit/>
          </a:bodyPr>
          <a:lstStyle/>
          <a:p>
            <a:pPr algn="l"/>
            <a:r>
              <a:rPr sz="1100" b="0" i="0">
                <a:solidFill>
                  <a:srgbClr val="334155"/>
                </a:solidFill>
                <a:latin typeface="Noto Sans JP"/>
              </a:rPr>
              <a:t>①ゲル粘度を下げてスプレー性を向上　②気泡を安定化して Foaming Index を増大</a:t>
            </a:r>
          </a:p>
        </p:txBody>
      </p:sp>
      <p:sp>
        <p:nvSpPr>
          <p:cNvPr id="18" name="Rounded Rectangle 17"/>
          <p:cNvSpPr/>
          <p:nvPr/>
        </p:nvSpPr>
        <p:spPr>
          <a:xfrm>
            <a:off x="365760" y="1828800"/>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5488" y="1938528"/>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 y="193852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21" name="TextBox 20"/>
          <p:cNvSpPr txBox="1"/>
          <p:nvPr/>
        </p:nvSpPr>
        <p:spPr>
          <a:xfrm>
            <a:off x="365760" y="1828800"/>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2" name="TextBox 21"/>
          <p:cNvSpPr txBox="1"/>
          <p:nvPr/>
        </p:nvSpPr>
        <p:spPr>
          <a:xfrm>
            <a:off x="365760" y="3739895"/>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a:t>
            </a:r>
          </a:p>
        </p:txBody>
      </p:sp>
      <p:sp>
        <p:nvSpPr>
          <p:cNvPr id="23" name="Rounded Rectangle 22"/>
          <p:cNvSpPr/>
          <p:nvPr/>
        </p:nvSpPr>
        <p:spPr>
          <a:xfrm>
            <a:off x="6178143" y="1828800"/>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87871" y="1938528"/>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87871" y="193852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6" name="TextBox 25"/>
          <p:cNvSpPr txBox="1"/>
          <p:nvPr/>
        </p:nvSpPr>
        <p:spPr>
          <a:xfrm>
            <a:off x="6178143" y="1828800"/>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6178143" y="3739895"/>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δ（1 rad/s、濃度別棒グラフ）</a:t>
            </a:r>
          </a:p>
        </p:txBody>
      </p:sp>
      <p:sp>
        <p:nvSpPr>
          <p:cNvPr id="28" name="Rounded Rectangle 27"/>
          <p:cNvSpPr/>
          <p:nvPr/>
        </p:nvSpPr>
        <p:spPr>
          <a:xfrm>
            <a:off x="365760" y="3867911"/>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5488" y="3977639"/>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 y="3977639"/>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31" name="TextBox 30"/>
          <p:cNvSpPr txBox="1"/>
          <p:nvPr/>
        </p:nvSpPr>
        <p:spPr>
          <a:xfrm>
            <a:off x="365760" y="3867911"/>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365760" y="5779006"/>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fit）</a:t>
            </a:r>
          </a:p>
        </p:txBody>
      </p:sp>
      <p:sp>
        <p:nvSpPr>
          <p:cNvPr id="33" name="Rounded Rectangle 32"/>
          <p:cNvSpPr/>
          <p:nvPr/>
        </p:nvSpPr>
        <p:spPr>
          <a:xfrm>
            <a:off x="6178143" y="3867911"/>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87871" y="3977639"/>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87871" y="3977639"/>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6" name="TextBox 35"/>
          <p:cNvSpPr txBox="1"/>
          <p:nvPr/>
        </p:nvSpPr>
        <p:spPr>
          <a:xfrm>
            <a:off x="6178143" y="3867911"/>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7" name="TextBox 36"/>
          <p:cNvSpPr txBox="1"/>
          <p:nvPr/>
        </p:nvSpPr>
        <p:spPr>
          <a:xfrm>
            <a:off x="6178143" y="5779006"/>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8" name="Rounded Rectangle 37"/>
          <p:cNvSpPr/>
          <p:nvPr/>
        </p:nvSpPr>
        <p:spPr>
          <a:xfrm>
            <a:off x="365760" y="5888734"/>
            <a:ext cx="5647791" cy="768098"/>
          </a:xfrm>
          <a:prstGeom prst="roundRect">
            <a:avLst>
              <a:gd name="adj" fmla="val 4000"/>
            </a:avLst>
          </a:prstGeom>
          <a:solidFill>
            <a:srgbClr val="F1F5F9"/>
          </a:solidFill>
          <a:ln w="1524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5888734"/>
            <a:ext cx="54864" cy="768098"/>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5943598"/>
            <a:ext cx="5373471" cy="237744"/>
          </a:xfrm>
          <a:prstGeom prst="rect">
            <a:avLst/>
          </a:prstGeom>
          <a:noFill/>
        </p:spPr>
        <p:txBody>
          <a:bodyPr wrap="square" anchor="t" lIns="36000" rIns="36000" tIns="18000" bIns="18000">
            <a:spAutoFit/>
          </a:bodyPr>
          <a:lstStyle/>
          <a:p>
            <a:pPr algn="l"/>
            <a:r>
              <a:rPr sz="1150" b="1" i="0">
                <a:solidFill>
                  <a:srgbClr val="9F7639"/>
                </a:solidFill>
                <a:latin typeface="Noto Sans JP"/>
              </a:rPr>
              <a:t>レオロジー：濃度依存的だが限定的改善</a:t>
            </a:r>
          </a:p>
        </p:txBody>
      </p:sp>
      <p:sp>
        <p:nvSpPr>
          <p:cNvPr id="41" name="TextBox 40"/>
          <p:cNvSpPr txBox="1"/>
          <p:nvPr/>
        </p:nvSpPr>
        <p:spPr>
          <a:xfrm>
            <a:off x="548640" y="6199630"/>
            <a:ext cx="5373471" cy="420626"/>
          </a:xfrm>
          <a:prstGeom prst="rect">
            <a:avLst/>
          </a:prstGeom>
          <a:noFill/>
        </p:spPr>
        <p:txBody>
          <a:bodyPr wrap="square" anchor="t" lIns="36000" rIns="36000" tIns="18000" bIns="18000">
            <a:spAutoFit/>
          </a:bodyPr>
          <a:lstStyle/>
          <a:p>
            <a:pPr algn="l"/>
            <a:r>
              <a:rPr sz="1100" b="0" i="0">
                <a:solidFill>
                  <a:srgbClr val="475569"/>
                </a:solidFill>
                <a:latin typeface="Noto Sans JP"/>
              </a:rPr>
              <a:t>0.1 wt% で G' がわずかに上昇するが、0.5 wt% ではむしろ軟化し降伏応力も低下。付着性・ゲル強度の観点では SDS 添加は全体的にマイナスに働く</a:t>
            </a:r>
          </a:p>
        </p:txBody>
      </p:sp>
      <p:sp>
        <p:nvSpPr>
          <p:cNvPr id="42" name="Rounded Rectangle 41"/>
          <p:cNvSpPr/>
          <p:nvPr/>
        </p:nvSpPr>
        <p:spPr>
          <a:xfrm>
            <a:off x="6178143" y="5888734"/>
            <a:ext cx="5647791" cy="768098"/>
          </a:xfrm>
          <a:prstGeom prst="roundRect">
            <a:avLst>
              <a:gd name="adj" fmla="val 4000"/>
            </a:avLst>
          </a:prstGeom>
          <a:solidFill>
            <a:srgbClr val="F1F5F9"/>
          </a:solidFill>
          <a:ln w="15240">
            <a:solidFill>
              <a:srgbClr val="A056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78143" y="5888734"/>
            <a:ext cx="54864" cy="768098"/>
          </a:xfrm>
          <a:prstGeom prst="rect">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61023" y="5943598"/>
            <a:ext cx="5373471" cy="237744"/>
          </a:xfrm>
          <a:prstGeom prst="rect">
            <a:avLst/>
          </a:prstGeom>
          <a:noFill/>
        </p:spPr>
        <p:txBody>
          <a:bodyPr wrap="square" anchor="t" lIns="36000" rIns="36000" tIns="18000" bIns="18000">
            <a:spAutoFit/>
          </a:bodyPr>
          <a:lstStyle/>
          <a:p>
            <a:pPr algn="l"/>
            <a:r>
              <a:rPr sz="1150" b="1" i="0">
                <a:solidFill>
                  <a:srgbClr val="A05656"/>
                </a:solidFill>
                <a:latin typeface="Noto Sans JP"/>
              </a:rPr>
              <a:t>発泡：期待に反して Foaming Index が低下</a:t>
            </a:r>
          </a:p>
        </p:txBody>
      </p:sp>
      <p:sp>
        <p:nvSpPr>
          <p:cNvPr id="45" name="TextBox 44"/>
          <p:cNvSpPr txBox="1"/>
          <p:nvPr/>
        </p:nvSpPr>
        <p:spPr>
          <a:xfrm>
            <a:off x="6361023" y="6199630"/>
            <a:ext cx="5373471" cy="420626"/>
          </a:xfrm>
          <a:prstGeom prst="rect">
            <a:avLst/>
          </a:prstGeom>
          <a:noFill/>
        </p:spPr>
        <p:txBody>
          <a:bodyPr wrap="square" anchor="t" lIns="36000" rIns="36000" tIns="18000" bIns="18000">
            <a:spAutoFit/>
          </a:bodyPr>
          <a:lstStyle/>
          <a:p>
            <a:pPr algn="l"/>
            <a:r>
              <a:rPr sz="1100" b="0" i="0">
                <a:solidFill>
                  <a:srgbClr val="475569"/>
                </a:solidFill>
                <a:latin typeface="Noto Sans JP"/>
              </a:rPr>
              <a:t>SDS 添加により気泡が粗大化・不均一化し、Foaming Index は低下（Fig. 4 参照）。発泡促進という当初の目的は達成されなかった</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43</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43</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30 / 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添加：発泡性向上を期待したが、逆の結果に（Fig. 4）</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43</a:t>
            </a:r>
          </a:p>
        </p:txBody>
      </p:sp>
      <p:sp>
        <p:nvSpPr>
          <p:cNvPr id="10" name="Rounded Rectangle 9"/>
          <p:cNvSpPr/>
          <p:nvPr/>
        </p:nvSpPr>
        <p:spPr>
          <a:xfrm>
            <a:off x="365760" y="859536"/>
            <a:ext cx="3291840" cy="100584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100584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932688"/>
            <a:ext cx="3017520" cy="219456"/>
          </a:xfrm>
          <a:prstGeom prst="rect">
            <a:avLst/>
          </a:prstGeom>
          <a:noFill/>
        </p:spPr>
        <p:txBody>
          <a:bodyPr wrap="square" anchor="t" lIns="36000" rIns="36000" tIns="18000" bIns="18000">
            <a:spAutoFit/>
          </a:bodyPr>
          <a:lstStyle/>
          <a:p>
            <a:pPr algn="l"/>
            <a:r>
              <a:rPr sz="1000" b="1" i="0">
                <a:solidFill>
                  <a:srgbClr val="4A7C8C"/>
                </a:solidFill>
                <a:latin typeface="Noto Sans JP"/>
              </a:rPr>
              <a:t>仮説（SDS 添加の目的）</a:t>
            </a:r>
          </a:p>
        </p:txBody>
      </p:sp>
      <p:sp>
        <p:nvSpPr>
          <p:cNvPr id="13" name="TextBox 12"/>
          <p:cNvSpPr txBox="1"/>
          <p:nvPr/>
        </p:nvSpPr>
        <p:spPr>
          <a:xfrm>
            <a:off x="566928"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 が発泡を促進</a:t>
            </a:r>
          </a:p>
          <a:p>
            <a:pPr algn="l"/>
            <a:r>
              <a:rPr sz="1100" b="0" i="0">
                <a:solidFill>
                  <a:srgbClr val="334155"/>
                </a:solidFill>
                <a:latin typeface="Noto Sans JP"/>
              </a:rPr>
              <a:t>→ Foaming Index が上昇</a:t>
            </a:r>
          </a:p>
          <a:p>
            <a:pPr algn="l"/>
            <a:r>
              <a:rPr sz="1100" b="0" i="0">
                <a:solidFill>
                  <a:srgbClr val="334155"/>
                </a:solidFill>
                <a:latin typeface="Noto Sans JP"/>
              </a:rPr>
              <a:t>→ エアロゲル断熱層が厚くなる</a:t>
            </a:r>
          </a:p>
        </p:txBody>
      </p:sp>
      <p:sp>
        <p:nvSpPr>
          <p:cNvPr id="14" name="Right Arrow 13"/>
          <p:cNvSpPr/>
          <p:nvPr/>
        </p:nvSpPr>
        <p:spPr>
          <a:xfrm>
            <a:off x="3733723" y="1161288"/>
            <a:ext cx="640080" cy="40233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49927" y="859536"/>
            <a:ext cx="3291840" cy="1005840"/>
          </a:xfrm>
          <a:prstGeom prst="roundRect">
            <a:avLst>
              <a:gd name="adj" fmla="val 5000"/>
            </a:avLst>
          </a:prstGeom>
          <a:solidFill>
            <a:srgbClr val="F1F5F9"/>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095" y="932688"/>
            <a:ext cx="301752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実験</a:t>
            </a:r>
          </a:p>
        </p:txBody>
      </p:sp>
      <p:sp>
        <p:nvSpPr>
          <p:cNvPr id="17" name="TextBox 16"/>
          <p:cNvSpPr txBox="1"/>
          <p:nvPr/>
        </p:nvSpPr>
        <p:spPr>
          <a:xfrm>
            <a:off x="4651095"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0 / 0.1 / 0.5 wt% を添加した</a:t>
            </a:r>
          </a:p>
          <a:p>
            <a:pPr algn="l"/>
            <a:r>
              <a:rPr sz="1100" b="0" i="0">
                <a:solidFill>
                  <a:srgbClr val="334155"/>
                </a:solidFill>
                <a:latin typeface="Noto Sans JP"/>
              </a:rPr>
              <a:t>HEC+MC/CSP の燃焼試験</a:t>
            </a:r>
          </a:p>
          <a:p>
            <a:pPr algn="l"/>
            <a:r>
              <a:rPr sz="1100" b="0" i="0">
                <a:solidFill>
                  <a:srgbClr val="334155"/>
                </a:solidFill>
                <a:latin typeface="Noto Sans JP"/>
              </a:rPr>
              <a:t>→ Foaming Index を定量（Fig. 4a/4b）</a:t>
            </a:r>
          </a:p>
        </p:txBody>
      </p:sp>
      <p:sp>
        <p:nvSpPr>
          <p:cNvPr id="18" name="Right Arrow 17"/>
          <p:cNvSpPr/>
          <p:nvPr/>
        </p:nvSpPr>
        <p:spPr>
          <a:xfrm>
            <a:off x="7817891" y="1161288"/>
            <a:ext cx="640080" cy="402336"/>
          </a:xfrm>
          <a:prstGeom prst="rightArrow">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34095" y="859536"/>
            <a:ext cx="3291840" cy="1005840"/>
          </a:xfrm>
          <a:prstGeom prst="roundRect">
            <a:avLst>
              <a:gd name="adj" fmla="val 5000"/>
            </a:avLst>
          </a:prstGeom>
          <a:solidFill>
            <a:srgbClr val="FFF7ED"/>
          </a:solidFill>
          <a:ln w="1778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34095" y="859536"/>
            <a:ext cx="54864" cy="10058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35263" y="932688"/>
            <a:ext cx="3017520" cy="219456"/>
          </a:xfrm>
          <a:prstGeom prst="rect">
            <a:avLst/>
          </a:prstGeom>
          <a:noFill/>
        </p:spPr>
        <p:txBody>
          <a:bodyPr wrap="square" anchor="t" lIns="36000" rIns="36000" tIns="18000" bIns="18000">
            <a:spAutoFit/>
          </a:bodyPr>
          <a:lstStyle/>
          <a:p>
            <a:pPr algn="l"/>
            <a:r>
              <a:rPr sz="1000" b="1" i="0">
                <a:solidFill>
                  <a:srgbClr val="9F7639"/>
                </a:solidFill>
                <a:latin typeface="Noto Sans JP"/>
              </a:rPr>
              <a:t>結果（予想と逆）</a:t>
            </a:r>
          </a:p>
        </p:txBody>
      </p:sp>
      <p:sp>
        <p:nvSpPr>
          <p:cNvPr id="22" name="TextBox 21"/>
          <p:cNvSpPr txBox="1"/>
          <p:nvPr/>
        </p:nvSpPr>
        <p:spPr>
          <a:xfrm>
            <a:off x="8735263"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添加で Foaming Index が低下</a:t>
            </a:r>
          </a:p>
          <a:p>
            <a:pPr algn="l"/>
            <a:r>
              <a:rPr sz="1100" b="0" i="0">
                <a:solidFill>
                  <a:srgbClr val="334155"/>
                </a:solidFill>
                <a:latin typeface="Noto Sans JP"/>
              </a:rPr>
              <a:t>2.6（SDS 0%） → 2.3（0.1%）→ さらに低下（0.5%）</a:t>
            </a:r>
          </a:p>
          <a:p>
            <a:pPr algn="l"/>
            <a:r>
              <a:rPr sz="1100" b="0" i="0">
                <a:solidFill>
                  <a:srgbClr val="334155"/>
                </a:solidFill>
                <a:latin typeface="Noto Sans JP"/>
              </a:rPr>
              <a:t>発泡性向上には寄与せず</a:t>
            </a:r>
          </a:p>
        </p:txBody>
      </p:sp>
      <p:sp>
        <p:nvSpPr>
          <p:cNvPr id="23" name="Rounded Rectangle 22"/>
          <p:cNvSpPr/>
          <p:nvPr/>
        </p:nvSpPr>
        <p:spPr>
          <a:xfrm>
            <a:off x="365760"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5488"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26" name="TextBox 25"/>
          <p:cNvSpPr txBox="1"/>
          <p:nvPr/>
        </p:nvSpPr>
        <p:spPr>
          <a:xfrm>
            <a:off x="365760"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365760"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燃焼後の発泡層外観（SDS 濃度別）</a:t>
            </a:r>
          </a:p>
        </p:txBody>
      </p:sp>
      <p:sp>
        <p:nvSpPr>
          <p:cNvPr id="28" name="Rounded Rectangle 27"/>
          <p:cNvSpPr/>
          <p:nvPr/>
        </p:nvSpPr>
        <p:spPr>
          <a:xfrm>
            <a:off x="6187287"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97015"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7015"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31" name="TextBox 30"/>
          <p:cNvSpPr txBox="1"/>
          <p:nvPr/>
        </p:nvSpPr>
        <p:spPr>
          <a:xfrm>
            <a:off x="6187287"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6187287"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Index（定量）</a:t>
            </a:r>
          </a:p>
        </p:txBody>
      </p:sp>
      <p:sp>
        <p:nvSpPr>
          <p:cNvPr id="33" name="TextBox 32"/>
          <p:cNvSpPr txBox="1"/>
          <p:nvPr/>
        </p:nvSpPr>
        <p:spPr>
          <a:xfrm>
            <a:off x="365760" y="4297680"/>
            <a:ext cx="5730087" cy="237744"/>
          </a:xfrm>
          <a:prstGeom prst="rect">
            <a:avLst/>
          </a:prstGeom>
          <a:noFill/>
        </p:spPr>
        <p:txBody>
          <a:bodyPr wrap="square" anchor="t" lIns="36000" rIns="36000" tIns="18000" bIns="18000">
            <a:spAutoFit/>
          </a:bodyPr>
          <a:lstStyle/>
          <a:p>
            <a:pPr algn="l"/>
            <a:r>
              <a:rPr sz="1100" b="1" i="0">
                <a:solidFill>
                  <a:srgbClr val="64748B"/>
                </a:solidFill>
                <a:latin typeface="Noto Sans JP"/>
              </a:rPr>
              <a:t>Foaming Index（発泡後厚 / 初期厚）</a:t>
            </a:r>
          </a:p>
        </p:txBody>
      </p:sp>
      <p:sp>
        <p:nvSpPr>
          <p:cNvPr id="34" name="TextBox 33"/>
          <p:cNvSpPr txBox="1"/>
          <p:nvPr/>
        </p:nvSpPr>
        <p:spPr>
          <a:xfrm>
            <a:off x="365760" y="459028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1-5（SDS 0%）</a:t>
            </a:r>
          </a:p>
        </p:txBody>
      </p:sp>
      <p:sp>
        <p:nvSpPr>
          <p:cNvPr id="35" name="Rounded Rectangle 34"/>
          <p:cNvSpPr/>
          <p:nvPr/>
        </p:nvSpPr>
        <p:spPr>
          <a:xfrm>
            <a:off x="3383280" y="466344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383280" y="4663440"/>
            <a:ext cx="3081948"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668" y="459028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8" name="TextBox 37"/>
          <p:cNvSpPr txBox="1"/>
          <p:nvPr/>
        </p:nvSpPr>
        <p:spPr>
          <a:xfrm>
            <a:off x="365760" y="495604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9" name="Rounded Rectangle 38"/>
          <p:cNvSpPr/>
          <p:nvPr/>
        </p:nvSpPr>
        <p:spPr>
          <a:xfrm>
            <a:off x="3383280" y="502920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383280" y="5029200"/>
            <a:ext cx="2712114" cy="146304"/>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668" y="495604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42" name="TextBox 41"/>
          <p:cNvSpPr txBox="1"/>
          <p:nvPr/>
        </p:nvSpPr>
        <p:spPr>
          <a:xfrm>
            <a:off x="365760" y="532180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1-5-0.5</a:t>
            </a:r>
          </a:p>
        </p:txBody>
      </p:sp>
      <p:sp>
        <p:nvSpPr>
          <p:cNvPr id="43" name="Rounded Rectangle 42"/>
          <p:cNvSpPr/>
          <p:nvPr/>
        </p:nvSpPr>
        <p:spPr>
          <a:xfrm>
            <a:off x="3383280" y="539496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83280" y="5394960"/>
            <a:ext cx="2219002"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668" y="532180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さらに低下</a:t>
            </a:r>
          </a:p>
        </p:txBody>
      </p:sp>
      <p:sp>
        <p:nvSpPr>
          <p:cNvPr id="46" name="TextBox 45"/>
          <p:cNvSpPr txBox="1"/>
          <p:nvPr/>
        </p:nvSpPr>
        <p:spPr>
          <a:xfrm>
            <a:off x="365760" y="568756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AquaGel-K（参考）</a:t>
            </a:r>
          </a:p>
        </p:txBody>
      </p:sp>
      <p:sp>
        <p:nvSpPr>
          <p:cNvPr id="47" name="Rounded Rectangle 46"/>
          <p:cNvSpPr/>
          <p:nvPr/>
        </p:nvSpPr>
        <p:spPr>
          <a:xfrm>
            <a:off x="3383280" y="576072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3383280" y="5760720"/>
            <a:ext cx="6163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668" y="568756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50" name="Rounded Rectangle 49"/>
          <p:cNvSpPr/>
          <p:nvPr/>
        </p:nvSpPr>
        <p:spPr>
          <a:xfrm>
            <a:off x="365760" y="6144768"/>
            <a:ext cx="11460175" cy="530352"/>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6144768"/>
            <a:ext cx="54864" cy="530352"/>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6144768"/>
            <a:ext cx="365760" cy="530352"/>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3" name="TextBox 52"/>
          <p:cNvSpPr txBox="1"/>
          <p:nvPr/>
        </p:nvSpPr>
        <p:spPr>
          <a:xfrm>
            <a:off x="960120" y="6144768"/>
            <a:ext cx="10774375" cy="530352"/>
          </a:xfrm>
          <a:prstGeom prst="rect">
            <a:avLst/>
          </a:prstGeom>
          <a:noFill/>
        </p:spPr>
        <p:txBody>
          <a:bodyPr wrap="square" anchor="ctr" lIns="36000" rIns="36000" tIns="18000" bIns="18000">
            <a:spAutoFit/>
          </a:bodyPr>
          <a:lstStyle/>
          <a:p>
            <a:pPr algn="l"/>
            <a:r>
              <a:rPr sz="1300" b="1" i="0">
                <a:solidFill>
                  <a:srgbClr val="FFFFFF"/>
                </a:solidFill>
                <a:latin typeface="Noto Sans JP"/>
              </a:rPr>
              <a:t>SDS は発泡に寄与せず、むしろ気泡を粗大化・不均一化（Fig. 4c SEM）→ 発泡指数低下の原因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43</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43</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1)</a:t>
            </a:r>
          </a:p>
        </p:txBody>
      </p:sp>
      <p:sp>
        <p:nvSpPr>
          <p:cNvPr id="30" name="TextBox 29"/>
          <p:cNvSpPr txBox="1"/>
          <p:nvPr/>
        </p:nvSpPr>
        <p:spPr>
          <a:xfrm>
            <a:off x="4564575"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fit（作製直後）</a:t>
            </a:r>
          </a:p>
        </p:txBody>
      </p:sp>
      <p:sp>
        <p:nvSpPr>
          <p:cNvPr id="32" name="Rounded Rectangle 31"/>
          <p:cNvSpPr/>
          <p:nvPr/>
        </p:nvSpPr>
        <p:spPr>
          <a:xfrm>
            <a:off x="8268407"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78135"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78135"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455)</a:t>
            </a:r>
          </a:p>
        </p:txBody>
      </p:sp>
      <p:sp>
        <p:nvSpPr>
          <p:cNvPr id="35" name="TextBox 34"/>
          <p:cNvSpPr txBox="1"/>
          <p:nvPr/>
        </p:nvSpPr>
        <p:spPr>
          <a:xfrm>
            <a:off x="8268407"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6" name="TextBox 35"/>
          <p:cNvSpPr txBox="1"/>
          <p:nvPr/>
        </p:nvSpPr>
        <p:spPr>
          <a:xfrm>
            <a:off x="8268407"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fit（455日経過後）</a:t>
            </a:r>
          </a:p>
        </p:txBody>
      </p:sp>
      <p:sp>
        <p:nvSpPr>
          <p:cNvPr id="37" name="Rounded Rectangle 36"/>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0" name="TextBox 39"/>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MHEC 系の優位性：経時安定性とコスト</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43</a:t>
            </a:r>
          </a:p>
        </p:txBody>
      </p:sp>
      <p:sp>
        <p:nvSpPr>
          <p:cNvPr id="10" name="Rectangle 9"/>
          <p:cNvSpPr/>
          <p:nvPr/>
        </p:nvSpPr>
        <p:spPr>
          <a:xfrm>
            <a:off x="365760" y="859536"/>
            <a:ext cx="54864" cy="25603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① 経時変化が穏やか（SI Fig. S7）</a:t>
            </a:r>
          </a:p>
        </p:txBody>
      </p:sp>
      <p:sp>
        <p:nvSpPr>
          <p:cNvPr id="12" name="TextBox 11"/>
          <p:cNvSpPr txBox="1"/>
          <p:nvPr/>
        </p:nvSpPr>
        <p:spPr>
          <a:xfrm>
            <a:off x="548640" y="1243584"/>
            <a:ext cx="541919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Day 1 → Day 455 の降伏応力変化</a:t>
            </a:r>
          </a:p>
        </p:txBody>
      </p:sp>
      <p:sp>
        <p:nvSpPr>
          <p:cNvPr id="13" name="TextBox 12"/>
          <p:cNvSpPr txBox="1"/>
          <p:nvPr/>
        </p:nvSpPr>
        <p:spPr>
          <a:xfrm>
            <a:off x="548640" y="166420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MHEC / CSP</a:t>
            </a:r>
          </a:p>
        </p:txBody>
      </p:sp>
      <p:sp>
        <p:nvSpPr>
          <p:cNvPr id="14" name="Rounded Rectangle 13"/>
          <p:cNvSpPr/>
          <p:nvPr/>
        </p:nvSpPr>
        <p:spPr>
          <a:xfrm>
            <a:off x="548640" y="193852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1938528"/>
            <a:ext cx="1800705" cy="201168"/>
          </a:xfrm>
          <a:prstGeom prst="roundRect">
            <a:avLst>
              <a:gd name="adj" fmla="val 4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59073" y="1865376"/>
            <a:ext cx="1280160" cy="365760"/>
          </a:xfrm>
          <a:prstGeom prst="rect">
            <a:avLst/>
          </a:prstGeom>
          <a:noFill/>
        </p:spPr>
        <p:txBody>
          <a:bodyPr wrap="square" anchor="t" lIns="36000" rIns="36000" tIns="18000" bIns="18000">
            <a:spAutoFit/>
          </a:bodyPr>
          <a:lstStyle/>
          <a:p>
            <a:pPr algn="l"/>
            <a:r>
              <a:rPr sz="1000" b="1" i="0">
                <a:solidFill>
                  <a:srgbClr val="4A7C8C"/>
                </a:solidFill>
                <a:latin typeface="Noto Sans JP"/>
              </a:rPr>
              <a:t>+38 %</a:t>
            </a:r>
          </a:p>
          <a:p>
            <a:pPr algn="l"/>
            <a:r>
              <a:rPr sz="1000" b="1" i="0">
                <a:solidFill>
                  <a:srgbClr val="4A7C8C"/>
                </a:solidFill>
                <a:latin typeface="Noto Sans JP"/>
              </a:rPr>
              <a:t>(3.31 → 4.56 Pa)</a:t>
            </a:r>
          </a:p>
        </p:txBody>
      </p:sp>
      <p:sp>
        <p:nvSpPr>
          <p:cNvPr id="17" name="TextBox 16"/>
          <p:cNvSpPr txBox="1"/>
          <p:nvPr/>
        </p:nvSpPr>
        <p:spPr>
          <a:xfrm>
            <a:off x="548640" y="248716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HEC+MC / CSP</a:t>
            </a:r>
          </a:p>
        </p:txBody>
      </p:sp>
      <p:sp>
        <p:nvSpPr>
          <p:cNvPr id="18" name="Rounded Rectangle 17"/>
          <p:cNvSpPr/>
          <p:nvPr/>
        </p:nvSpPr>
        <p:spPr>
          <a:xfrm>
            <a:off x="548640" y="276148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2761488"/>
            <a:ext cx="5144871" cy="201168"/>
          </a:xfrm>
          <a:prstGeom prst="roundRect">
            <a:avLst>
              <a:gd name="adj" fmla="val 4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3239" y="2688336"/>
            <a:ext cx="1280160" cy="365760"/>
          </a:xfrm>
          <a:prstGeom prst="rect">
            <a:avLst/>
          </a:prstGeom>
          <a:noFill/>
        </p:spPr>
        <p:txBody>
          <a:bodyPr wrap="square" anchor="t" lIns="36000" rIns="36000" tIns="18000" bIns="18000">
            <a:spAutoFit/>
          </a:bodyPr>
          <a:lstStyle/>
          <a:p>
            <a:pPr algn="l"/>
            <a:r>
              <a:rPr sz="1000" b="1" i="0">
                <a:solidFill>
                  <a:srgbClr val="9F7639"/>
                </a:solidFill>
                <a:latin typeface="Noto Sans JP"/>
              </a:rPr>
              <a:t>+107 %</a:t>
            </a:r>
          </a:p>
          <a:p>
            <a:pPr algn="l"/>
            <a:r>
              <a:rPr sz="1000" b="1" i="0">
                <a:solidFill>
                  <a:srgbClr val="9F7639"/>
                </a:solidFill>
                <a:latin typeface="Noto Sans JP"/>
              </a:rPr>
              <a:t>(33.3 → 68.9 Pa)</a:t>
            </a:r>
          </a:p>
        </p:txBody>
      </p:sp>
      <p:sp>
        <p:nvSpPr>
          <p:cNvPr id="21" name="Rounded Rectangle 20"/>
          <p:cNvSpPr/>
          <p:nvPr/>
        </p:nvSpPr>
        <p:spPr>
          <a:xfrm>
            <a:off x="457200" y="3401568"/>
            <a:ext cx="5419191" cy="822960"/>
          </a:xfrm>
          <a:prstGeom prst="roundRect">
            <a:avLst>
              <a:gd name="adj" fmla="val 4000"/>
            </a:avLst>
          </a:prstGeom>
          <a:solidFill>
            <a:srgbClr val="F8FAFC"/>
          </a:solidFill>
          <a:ln w="1016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511296"/>
            <a:ext cx="5181447" cy="658368"/>
          </a:xfrm>
          <a:prstGeom prst="rect">
            <a:avLst/>
          </a:prstGeom>
          <a:noFill/>
        </p:spPr>
        <p:txBody>
          <a:bodyPr wrap="square" anchor="t" lIns="36000" rIns="36000" tIns="18000" bIns="18000">
            <a:spAutoFit/>
          </a:bodyPr>
          <a:lstStyle/>
          <a:p>
            <a:pPr algn="l"/>
            <a:r>
              <a:rPr sz="1100" b="0" i="0">
                <a:solidFill>
                  <a:srgbClr val="334155"/>
                </a:solidFill>
                <a:latin typeface="Noto Sans JP"/>
              </a:rPr>
              <a:t>MHEC系は非共有結合が主体のまま経時変化</a:t>
            </a:r>
          </a:p>
          <a:p>
            <a:pPr algn="l"/>
            <a:r>
              <a:rPr sz="1100" b="0" i="0">
                <a:solidFill>
                  <a:srgbClr val="334155"/>
                </a:solidFill>
                <a:latin typeface="Noto Sans JP"/>
              </a:rPr>
              <a:t>→ 製品特性が1年以上にわたって安定</a:t>
            </a:r>
          </a:p>
          <a:p>
            <a:pPr algn="l"/>
            <a:r>
              <a:rPr sz="1100" b="0" i="0">
                <a:solidFill>
                  <a:srgbClr val="334155"/>
                </a:solidFill>
                <a:latin typeface="Noto Sans JP"/>
              </a:rPr>
              <a:t>（HEC+MC系は共有結合化が進み剛性が変動）</a:t>
            </a:r>
          </a:p>
        </p:txBody>
      </p:sp>
      <p:sp>
        <p:nvSpPr>
          <p:cNvPr id="23" name="TextBox 22"/>
          <p:cNvSpPr txBox="1"/>
          <p:nvPr/>
        </p:nvSpPr>
        <p:spPr>
          <a:xfrm>
            <a:off x="548640" y="4389120"/>
            <a:ext cx="5236311"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出典：SI Fig. S7（フロースイープ・HB モデル fit）</a:t>
            </a:r>
          </a:p>
        </p:txBody>
      </p:sp>
      <p:sp>
        <p:nvSpPr>
          <p:cNvPr id="24" name="Rectangle 23"/>
          <p:cNvSpPr/>
          <p:nvPr/>
        </p:nvSpPr>
        <p:spPr>
          <a:xfrm>
            <a:off x="365760" y="3547872"/>
            <a:ext cx="5602071"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57600"/>
            <a:ext cx="5419191" cy="237744"/>
          </a:xfrm>
          <a:prstGeom prst="rect">
            <a:avLst/>
          </a:prstGeom>
          <a:noFill/>
        </p:spPr>
        <p:txBody>
          <a:bodyPr wrap="square" anchor="t" lIns="36000" rIns="36000" tIns="18000" bIns="18000">
            <a:spAutoFit/>
          </a:bodyPr>
          <a:lstStyle/>
          <a:p>
            <a:pPr algn="l"/>
            <a:r>
              <a:rPr sz="1100" b="1" i="0">
                <a:solidFill>
                  <a:srgbClr val="4A7C8C"/>
                </a:solidFill>
                <a:latin typeface="Noto Sans JP"/>
              </a:rPr>
              <a:t>なぜ安定か：Si–O 共有結合縮合が起こりにくい</a:t>
            </a:r>
          </a:p>
        </p:txBody>
      </p:sp>
      <p:sp>
        <p:nvSpPr>
          <p:cNvPr id="26" name="TextBox 25"/>
          <p:cNvSpPr txBox="1"/>
          <p:nvPr/>
        </p:nvSpPr>
        <p:spPr>
          <a:xfrm>
            <a:off x="548640" y="3950208"/>
            <a:ext cx="5419191"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HEC+MC/CSP では熟成とともに CSP と高分子の間で</a:t>
            </a:r>
          </a:p>
          <a:p>
            <a:pPr algn="l"/>
            <a:r>
              <a:rPr sz="1050" b="0" i="0">
                <a:solidFill>
                  <a:srgbClr val="334155"/>
                </a:solidFill>
                <a:latin typeface="Noto Sans JP"/>
              </a:rPr>
              <a:t>Si–O 縮合が進行し剛性が上昇する。MHEC/CSP では</a:t>
            </a:r>
          </a:p>
          <a:p>
            <a:pPr algn="l"/>
            <a:r>
              <a:rPr sz="1050" b="0" i="0">
                <a:solidFill>
                  <a:srgbClr val="334155"/>
                </a:solidFill>
                <a:latin typeface="Noto Sans JP"/>
              </a:rPr>
              <a:t>この縮合が抑制され、特性が緩やかに変化する。</a:t>
            </a:r>
          </a:p>
        </p:txBody>
      </p:sp>
      <p:sp>
        <p:nvSpPr>
          <p:cNvPr id="27" name="Rectangle 26"/>
          <p:cNvSpPr/>
          <p:nvPr/>
        </p:nvSpPr>
        <p:spPr>
          <a:xfrm>
            <a:off x="6223863" y="859536"/>
            <a:ext cx="54864" cy="384048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② 製造コスト・品質管理で有利</a:t>
            </a:r>
          </a:p>
        </p:txBody>
      </p:sp>
      <p:sp>
        <p:nvSpPr>
          <p:cNvPr id="29" name="Rounded Rectangle 28"/>
          <p:cNvSpPr/>
          <p:nvPr/>
        </p:nvSpPr>
        <p:spPr>
          <a:xfrm>
            <a:off x="6315303" y="1335024"/>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1444752"/>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単一ポリマー</a:t>
            </a:r>
          </a:p>
        </p:txBody>
      </p:sp>
      <p:sp>
        <p:nvSpPr>
          <p:cNvPr id="31" name="TextBox 30"/>
          <p:cNvSpPr txBox="1"/>
          <p:nvPr/>
        </p:nvSpPr>
        <p:spPr>
          <a:xfrm>
            <a:off x="6461607" y="1737360"/>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HEC と MC を別途調達・混合する必要がない</a:t>
            </a:r>
          </a:p>
          <a:p>
            <a:pPr algn="l"/>
            <a:r>
              <a:rPr sz="1050" b="0" i="0">
                <a:solidFill>
                  <a:srgbClr val="334155"/>
                </a:solidFill>
                <a:latin typeface="Noto Sans JP"/>
              </a:rPr>
              <a:t>→ 原料種数を削減</a:t>
            </a:r>
          </a:p>
        </p:txBody>
      </p:sp>
      <p:sp>
        <p:nvSpPr>
          <p:cNvPr id="32" name="Rounded Rectangle 31"/>
          <p:cNvSpPr/>
          <p:nvPr/>
        </p:nvSpPr>
        <p:spPr>
          <a:xfrm>
            <a:off x="6315303" y="2304288"/>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1607" y="2414016"/>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配合工程の簡略化</a:t>
            </a:r>
          </a:p>
        </p:txBody>
      </p:sp>
      <p:sp>
        <p:nvSpPr>
          <p:cNvPr id="34" name="TextBox 33"/>
          <p:cNvSpPr txBox="1"/>
          <p:nvPr/>
        </p:nvSpPr>
        <p:spPr>
          <a:xfrm>
            <a:off x="6461607" y="2706624"/>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2成分の混合比調整・均一分散の管理が不要</a:t>
            </a:r>
          </a:p>
          <a:p>
            <a:pPr algn="l"/>
            <a:r>
              <a:rPr sz="1050" b="0" i="0">
                <a:solidFill>
                  <a:srgbClr val="334155"/>
                </a:solidFill>
                <a:latin typeface="Noto Sans JP"/>
              </a:rPr>
              <a:t>→ 製造バッチ間のばらつきを低減</a:t>
            </a:r>
          </a:p>
        </p:txBody>
      </p:sp>
      <p:sp>
        <p:nvSpPr>
          <p:cNvPr id="35" name="Rounded Rectangle 34"/>
          <p:cNvSpPr/>
          <p:nvPr/>
        </p:nvSpPr>
        <p:spPr>
          <a:xfrm>
            <a:off x="6315303" y="3273552"/>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61607" y="3383280"/>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品質管理の負担軽減</a:t>
            </a:r>
          </a:p>
        </p:txBody>
      </p:sp>
      <p:sp>
        <p:nvSpPr>
          <p:cNvPr id="37" name="TextBox 36"/>
          <p:cNvSpPr txBox="1"/>
          <p:nvPr/>
        </p:nvSpPr>
        <p:spPr>
          <a:xfrm>
            <a:off x="6461607" y="3675888"/>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1種類の原料規格を管理するだけで良い</a:t>
            </a:r>
          </a:p>
          <a:p>
            <a:pPr algn="l"/>
            <a:r>
              <a:rPr sz="1050" b="0" i="0">
                <a:solidFill>
                  <a:srgbClr val="334155"/>
                </a:solidFill>
                <a:latin typeface="Noto Sans JP"/>
              </a:rPr>
              <a:t>→ スケールアップ時のコスト優位性が顕在化</a:t>
            </a:r>
          </a:p>
        </p:txBody>
      </p:sp>
      <p:sp>
        <p:nvSpPr>
          <p:cNvPr id="38" name="Rounded Rectangle 37"/>
          <p:cNvSpPr/>
          <p:nvPr/>
        </p:nvSpPr>
        <p:spPr>
          <a:xfrm>
            <a:off x="6315303" y="4242816"/>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61607" y="4352544"/>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廃棄・物流コスト</a:t>
            </a:r>
          </a:p>
        </p:txBody>
      </p:sp>
      <p:sp>
        <p:nvSpPr>
          <p:cNvPr id="40" name="TextBox 39"/>
          <p:cNvSpPr txBox="1"/>
          <p:nvPr/>
        </p:nvSpPr>
        <p:spPr>
          <a:xfrm>
            <a:off x="6461607" y="4645152"/>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保管・輸送する原料が1種類に統合</a:t>
            </a:r>
          </a:p>
          <a:p>
            <a:pPr algn="l"/>
            <a:r>
              <a:rPr sz="1050" b="0" i="0">
                <a:solidFill>
                  <a:srgbClr val="334155"/>
                </a:solidFill>
                <a:latin typeface="Noto Sans JP"/>
              </a:rPr>
              <a:t>→ サプライチェーンを簡素化</a:t>
            </a:r>
          </a:p>
        </p:txBody>
      </p:sp>
      <p:sp>
        <p:nvSpPr>
          <p:cNvPr id="41" name="Rounded Rectangle 40"/>
          <p:cNvSpPr/>
          <p:nvPr/>
        </p:nvSpPr>
        <p:spPr>
          <a:xfrm>
            <a:off x="365760" y="5925312"/>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5760" y="5925312"/>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925312"/>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4" name="TextBox 43"/>
          <p:cNvSpPr txBox="1"/>
          <p:nvPr/>
        </p:nvSpPr>
        <p:spPr>
          <a:xfrm>
            <a:off x="960120" y="5925312"/>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注：コスト比較の定量データは本論文には掲載されていない。MHEC の優位性は「単一ポリマー」であることと「経時安定性」の実測（SI Fig. S7）に基づく定性的評価である。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39 / 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43</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41 / 43</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42 / 43</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実証</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42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