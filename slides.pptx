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93992"/>
            <a:ext cx="12191695" cy="64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0"/>
            <a:ext cx="7315200" cy="365760"/>
          </a:xfrm>
          <a:prstGeom prst="rect">
            <a:avLst/>
          </a:prstGeom>
          <a:noFill/>
        </p:spPr>
        <p:txBody>
          <a:bodyPr wrap="square" anchor="t" lIns="36000" rIns="36000" tIns="18000" bIns="18000">
            <a:spAutoFit/>
          </a:bodyPr>
          <a:lstStyle/>
          <a:p>
            <a:pPr algn="l"/>
            <a:r>
              <a:rPr sz="1100" b="1" i="0">
                <a:solidFill>
                  <a:srgbClr val="889AB0"/>
                </a:solidFill>
                <a:latin typeface="Noto Sans JP"/>
              </a:rPr>
              <a:t>RESEARCH PRESENTATION  ·  2024</a:t>
            </a:r>
          </a:p>
        </p:txBody>
      </p:sp>
      <p:sp>
        <p:nvSpPr>
          <p:cNvPr id="6" name="TextBox 5"/>
          <p:cNvSpPr txBox="1"/>
          <p:nvPr/>
        </p:nvSpPr>
        <p:spPr>
          <a:xfrm>
            <a:off x="7162495" y="457200"/>
            <a:ext cx="4572000" cy="365760"/>
          </a:xfrm>
          <a:prstGeom prst="rect">
            <a:avLst/>
          </a:prstGeom>
          <a:noFill/>
        </p:spPr>
        <p:txBody>
          <a:bodyPr wrap="square" anchor="t" lIns="36000" rIns="36000" tIns="18000" bIns="18000">
            <a:spAutoFit/>
          </a:bodyPr>
          <a:lstStyle/>
          <a:p>
            <a:pPr algn="r"/>
            <a:r>
              <a:rPr sz="1100" b="0" i="0">
                <a:solidFill>
                  <a:srgbClr val="889AB0"/>
                </a:solidFill>
                <a:latin typeface="Noto Sans JP"/>
              </a:rPr>
              <a:t>Adv. Mater.  ·  Dong et al., 2024</a:t>
            </a:r>
          </a:p>
        </p:txBody>
      </p:sp>
      <p:sp>
        <p:nvSpPr>
          <p:cNvPr id="7" name="TextBox 6"/>
          <p:cNvSpPr txBox="1"/>
          <p:nvPr/>
        </p:nvSpPr>
        <p:spPr>
          <a:xfrm>
            <a:off x="731520" y="1554480"/>
            <a:ext cx="10698480" cy="411480"/>
          </a:xfrm>
          <a:prstGeom prst="rect">
            <a:avLst/>
          </a:prstGeom>
          <a:noFill/>
        </p:spPr>
        <p:txBody>
          <a:bodyPr wrap="square" anchor="t" lIns="36000" rIns="36000" tIns="18000" bIns="18000">
            <a:spAutoFit/>
          </a:bodyPr>
          <a:lstStyle/>
          <a:p>
            <a:pPr algn="ctr"/>
            <a:r>
              <a:rPr sz="1200" b="1" i="0">
                <a:solidFill>
                  <a:srgbClr val="889AB0"/>
                </a:solidFill>
                <a:latin typeface="Noto Sans JP"/>
              </a:rPr>
              <a:t>WATER-ENHANCING GELS  ·  ADVANCED MATERIALS 2024</a:t>
            </a:r>
          </a:p>
        </p:txBody>
      </p:sp>
      <p:sp>
        <p:nvSpPr>
          <p:cNvPr id="8" name="TextBox 7"/>
          <p:cNvSpPr txBox="1"/>
          <p:nvPr/>
        </p:nvSpPr>
        <p:spPr>
          <a:xfrm>
            <a:off x="457200" y="2103120"/>
            <a:ext cx="11247120" cy="1097280"/>
          </a:xfrm>
          <a:prstGeom prst="rect">
            <a:avLst/>
          </a:prstGeom>
          <a:noFill/>
        </p:spPr>
        <p:txBody>
          <a:bodyPr wrap="square" anchor="t" lIns="36000" rIns="36000" tIns="18000" bIns="18000">
            <a:spAutoFit/>
          </a:bodyPr>
          <a:lstStyle/>
          <a:p>
            <a:pPr algn="ctr"/>
            <a:r>
              <a:rPr sz="4400" b="1" i="0">
                <a:solidFill>
                  <a:srgbClr val="FFFFFF"/>
                </a:solidFill>
                <a:latin typeface="Noto Sans JP"/>
              </a:rPr>
              <a:t>山火事から守る</a:t>
            </a:r>
          </a:p>
        </p:txBody>
      </p:sp>
      <p:sp>
        <p:nvSpPr>
          <p:cNvPr id="9" name="TextBox 8"/>
          <p:cNvSpPr txBox="1"/>
          <p:nvPr/>
        </p:nvSpPr>
        <p:spPr>
          <a:xfrm>
            <a:off x="457200" y="2926080"/>
            <a:ext cx="11247120" cy="914400"/>
          </a:xfrm>
          <a:prstGeom prst="rect">
            <a:avLst/>
          </a:prstGeom>
          <a:noFill/>
        </p:spPr>
        <p:txBody>
          <a:bodyPr wrap="square" anchor="t" lIns="36000" rIns="36000" tIns="18000" bIns="18000">
            <a:spAutoFit/>
          </a:bodyPr>
          <a:lstStyle/>
          <a:p>
            <a:pPr algn="ctr"/>
            <a:r>
              <a:rPr sz="4400" b="1" i="0">
                <a:solidFill>
                  <a:srgbClr val="D4A574"/>
                </a:solidFill>
                <a:latin typeface="Noto Sans JP"/>
              </a:rPr>
              <a:t>熱活性化シリカエアロゲル</a:t>
            </a:r>
          </a:p>
        </p:txBody>
      </p:sp>
      <p:sp>
        <p:nvSpPr>
          <p:cNvPr id="10" name="TextBox 9"/>
          <p:cNvSpPr txBox="1"/>
          <p:nvPr/>
        </p:nvSpPr>
        <p:spPr>
          <a:xfrm>
            <a:off x="914400" y="4114800"/>
            <a:ext cx="10332720" cy="914400"/>
          </a:xfrm>
          <a:prstGeom prst="rect">
            <a:avLst/>
          </a:prstGeom>
          <a:noFill/>
        </p:spPr>
        <p:txBody>
          <a:bodyPr wrap="square" anchor="t" lIns="36000" rIns="36000" tIns="18000" bIns="18000">
            <a:spAutoFit/>
          </a:bodyPr>
          <a:lstStyle/>
          <a:p>
            <a:pPr algn="ctr"/>
            <a:r>
              <a:rPr sz="1500" b="0" i="0">
                <a:solidFill>
                  <a:srgbClr val="B8CCE2"/>
                </a:solidFill>
                <a:latin typeface="Noto Sans JP"/>
              </a:rPr>
              <a:t>セルロース系ポリマー × コロイダルシリカ粒子で実現した、</a:t>
            </a:r>
          </a:p>
          <a:p>
            <a:pPr algn="ctr"/>
            <a:r>
              <a:rPr sz="1500" b="0" i="0">
                <a:solidFill>
                  <a:srgbClr val="B8CCE2"/>
                </a:solidFill>
                <a:latin typeface="Noto Sans JP"/>
              </a:rPr>
              <a:t>加熱時に自己発泡してエアロゲル層を形成する次世代難燃ゲル</a:t>
            </a:r>
          </a:p>
        </p:txBody>
      </p:sp>
      <p:sp>
        <p:nvSpPr>
          <p:cNvPr id="11" name="TextBox 10"/>
          <p:cNvSpPr txBox="1"/>
          <p:nvPr/>
        </p:nvSpPr>
        <p:spPr>
          <a:xfrm>
            <a:off x="457200" y="5486400"/>
            <a:ext cx="11247120" cy="365760"/>
          </a:xfrm>
          <a:prstGeom prst="rect">
            <a:avLst/>
          </a:prstGeom>
          <a:noFill/>
        </p:spPr>
        <p:txBody>
          <a:bodyPr wrap="square" anchor="t" lIns="36000" rIns="36000" tIns="18000" bIns="18000">
            <a:spAutoFit/>
          </a:bodyPr>
          <a:lstStyle/>
          <a:p>
            <a:pPr algn="ctr"/>
            <a:r>
              <a:rPr sz="1200" b="0" i="0">
                <a:solidFill>
                  <a:srgbClr val="889CB4"/>
                </a:solidFill>
                <a:latin typeface="Noto Sans JP"/>
              </a:rPr>
              <a:t>材料化学 / 防火工学    ·    Stanford University, Appel Lab    ·    Adv. Mater. 36, 2407375</a:t>
            </a:r>
          </a:p>
        </p:txBody>
      </p:sp>
      <p:sp>
        <p:nvSpPr>
          <p:cNvPr id="12" name="TextBox 11"/>
          <p:cNvSpPr txBox="1"/>
          <p:nvPr/>
        </p:nvSpPr>
        <p:spPr>
          <a:xfrm>
            <a:off x="457200" y="6035040"/>
            <a:ext cx="7315200" cy="274320"/>
          </a:xfrm>
          <a:prstGeom prst="rect">
            <a:avLst/>
          </a:prstGeom>
          <a:noFill/>
        </p:spPr>
        <p:txBody>
          <a:bodyPr wrap="square" anchor="t" lIns="36000" rIns="36000" tIns="18000" bIns="18000">
            <a:spAutoFit/>
          </a:bodyPr>
          <a:lstStyle/>
          <a:p>
            <a:pPr algn="l"/>
            <a:r>
              <a:rPr sz="1000" b="0" i="0">
                <a:solidFill>
                  <a:srgbClr val="667788"/>
                </a:solidFill>
                <a:latin typeface="Noto Sans JP"/>
              </a:rPr>
              <a:t>DOI: 10.1002/adma.202407375</a:t>
            </a:r>
          </a:p>
        </p:txBody>
      </p:sp>
      <p:sp>
        <p:nvSpPr>
          <p:cNvPr id="13" name="TextBox 12"/>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 / 39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Contents</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発表の構成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 / 39</a:t>
            </a:r>
          </a:p>
        </p:txBody>
      </p:sp>
      <p:sp>
        <p:nvSpPr>
          <p:cNvPr id="10" name="Rounded Rectangle 9"/>
          <p:cNvSpPr/>
          <p:nvPr/>
        </p:nvSpPr>
        <p:spPr>
          <a:xfrm>
            <a:off x="365760"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48640"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1</a:t>
            </a:r>
          </a:p>
        </p:txBody>
      </p:sp>
      <p:sp>
        <p:nvSpPr>
          <p:cNvPr id="14" name="TextBox 13"/>
          <p:cNvSpPr txBox="1"/>
          <p:nvPr/>
        </p:nvSpPr>
        <p:spPr>
          <a:xfrm>
            <a:off x="548640"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研究背景</a:t>
            </a:r>
          </a:p>
        </p:txBody>
      </p:sp>
      <p:sp>
        <p:nvSpPr>
          <p:cNvPr id="15" name="TextBox 14"/>
          <p:cNvSpPr txBox="1"/>
          <p:nvPr/>
        </p:nvSpPr>
        <p:spPr>
          <a:xfrm>
            <a:off x="548640"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山火事の現状、既存技術（Phos-Chek, AquaGel-K）の限界、本研究の革新点</a:t>
            </a:r>
          </a:p>
        </p:txBody>
      </p:sp>
      <p:sp>
        <p:nvSpPr>
          <p:cNvPr id="16" name="TextBox 15"/>
          <p:cNvSpPr txBox="1"/>
          <p:nvPr/>
        </p:nvSpPr>
        <p:spPr>
          <a:xfrm>
            <a:off x="548640"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4–7</a:t>
            </a:r>
          </a:p>
        </p:txBody>
      </p:sp>
      <p:sp>
        <p:nvSpPr>
          <p:cNvPr id="17" name="Rounded Rectangle 16"/>
          <p:cNvSpPr/>
          <p:nvPr/>
        </p:nvSpPr>
        <p:spPr>
          <a:xfrm>
            <a:off x="3262807"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5687"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0" name="TextBox 19"/>
          <p:cNvSpPr txBox="1"/>
          <p:nvPr/>
        </p:nvSpPr>
        <p:spPr>
          <a:xfrm>
            <a:off x="3445687"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2</a:t>
            </a:r>
          </a:p>
        </p:txBody>
      </p:sp>
      <p:sp>
        <p:nvSpPr>
          <p:cNvPr id="21" name="TextBox 20"/>
          <p:cNvSpPr txBox="1"/>
          <p:nvPr/>
        </p:nvSpPr>
        <p:spPr>
          <a:xfrm>
            <a:off x="3445687"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材料・方法</a:t>
            </a:r>
          </a:p>
        </p:txBody>
      </p:sp>
      <p:sp>
        <p:nvSpPr>
          <p:cNvPr id="22" name="TextBox 21"/>
          <p:cNvSpPr txBox="1"/>
          <p:nvPr/>
        </p:nvSpPr>
        <p:spPr>
          <a:xfrm>
            <a:off x="3445687"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セルロース系ポリマー、CSP、配合系（5種）、評価手法</a:t>
            </a:r>
          </a:p>
        </p:txBody>
      </p:sp>
      <p:sp>
        <p:nvSpPr>
          <p:cNvPr id="23" name="TextBox 22"/>
          <p:cNvSpPr txBox="1"/>
          <p:nvPr/>
        </p:nvSpPr>
        <p:spPr>
          <a:xfrm>
            <a:off x="3445687"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9–16</a:t>
            </a:r>
          </a:p>
        </p:txBody>
      </p:sp>
      <p:sp>
        <p:nvSpPr>
          <p:cNvPr id="24" name="Rounded Rectangle 23"/>
          <p:cNvSpPr/>
          <p:nvPr/>
        </p:nvSpPr>
        <p:spPr>
          <a:xfrm>
            <a:off x="6159855"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2735"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7" name="TextBox 26"/>
          <p:cNvSpPr txBox="1"/>
          <p:nvPr/>
        </p:nvSpPr>
        <p:spPr>
          <a:xfrm>
            <a:off x="6342735"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3</a:t>
            </a:r>
          </a:p>
        </p:txBody>
      </p:sp>
      <p:sp>
        <p:nvSpPr>
          <p:cNvPr id="28" name="TextBox 27"/>
          <p:cNvSpPr txBox="1"/>
          <p:nvPr/>
        </p:nvSpPr>
        <p:spPr>
          <a:xfrm>
            <a:off x="6342735"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実験結果</a:t>
            </a:r>
          </a:p>
        </p:txBody>
      </p:sp>
      <p:sp>
        <p:nvSpPr>
          <p:cNvPr id="29" name="TextBox 28"/>
          <p:cNvSpPr txBox="1"/>
          <p:nvPr/>
        </p:nvSpPr>
        <p:spPr>
          <a:xfrm>
            <a:off x="6342735"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レオロジー、燃焼試験、発泡指数、SEM観察、メカニズム</a:t>
            </a:r>
          </a:p>
        </p:txBody>
      </p:sp>
      <p:sp>
        <p:nvSpPr>
          <p:cNvPr id="30" name="TextBox 29"/>
          <p:cNvSpPr txBox="1"/>
          <p:nvPr/>
        </p:nvSpPr>
        <p:spPr>
          <a:xfrm>
            <a:off x="6342735"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18–34</a:t>
            </a:r>
          </a:p>
        </p:txBody>
      </p:sp>
      <p:sp>
        <p:nvSpPr>
          <p:cNvPr id="31" name="Rounded Rectangle 30"/>
          <p:cNvSpPr/>
          <p:nvPr/>
        </p:nvSpPr>
        <p:spPr>
          <a:xfrm>
            <a:off x="9056903"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9783"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34" name="TextBox 33"/>
          <p:cNvSpPr txBox="1"/>
          <p:nvPr/>
        </p:nvSpPr>
        <p:spPr>
          <a:xfrm>
            <a:off x="9239783"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4</a:t>
            </a:r>
          </a:p>
        </p:txBody>
      </p:sp>
      <p:sp>
        <p:nvSpPr>
          <p:cNvPr id="35" name="TextBox 34"/>
          <p:cNvSpPr txBox="1"/>
          <p:nvPr/>
        </p:nvSpPr>
        <p:spPr>
          <a:xfrm>
            <a:off x="9239783"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考察・まとめ</a:t>
            </a:r>
          </a:p>
        </p:txBody>
      </p:sp>
      <p:sp>
        <p:nvSpPr>
          <p:cNvPr id="36" name="TextBox 35"/>
          <p:cNvSpPr txBox="1"/>
          <p:nvPr/>
        </p:nvSpPr>
        <p:spPr>
          <a:xfrm>
            <a:off x="9239783"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実装シナリオ、既存品との比較、結論と今後の展望</a:t>
            </a:r>
          </a:p>
        </p:txBody>
      </p:sp>
      <p:sp>
        <p:nvSpPr>
          <p:cNvPr id="37" name="TextBox 36"/>
          <p:cNvSpPr txBox="1"/>
          <p:nvPr/>
        </p:nvSpPr>
        <p:spPr>
          <a:xfrm>
            <a:off x="9239783"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36–39</a:t>
            </a:r>
          </a:p>
        </p:txBody>
      </p:sp>
      <p:sp>
        <p:nvSpPr>
          <p:cNvPr id="38" name="Rounded Rectangle 37"/>
          <p:cNvSpPr/>
          <p:nvPr/>
        </p:nvSpPr>
        <p:spPr>
          <a:xfrm>
            <a:off x="365760" y="4864608"/>
            <a:ext cx="11460175" cy="5029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4864608"/>
            <a:ext cx="54864" cy="502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4864608"/>
            <a:ext cx="365760" cy="5029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4864608"/>
            <a:ext cx="10774375" cy="502920"/>
          </a:xfrm>
          <a:prstGeom prst="rect">
            <a:avLst/>
          </a:prstGeom>
          <a:noFill/>
        </p:spPr>
        <p:txBody>
          <a:bodyPr wrap="square" anchor="ctr" lIns="36000" rIns="36000" tIns="18000" bIns="18000">
            <a:spAutoFit/>
          </a:bodyPr>
          <a:lstStyle/>
          <a:p>
            <a:pPr algn="l"/>
            <a:r>
              <a:rPr sz="1300" b="1" i="0">
                <a:solidFill>
                  <a:srgbClr val="1E293B"/>
                </a:solidFill>
                <a:latin typeface="Noto Sans JP"/>
              </a:rPr>
              <a:t>キーメッセージ：加熱時の発泡＋シリカ粒子の焼結によりエアロゲル層が自己形成され、市販品を超える長時間保護を実現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01</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1</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研究背景</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気候変動下の山火事被害と、既存難燃技術が抱える本質的な限界</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山火事の現状</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既存WEG / 難燃剤</a:t>
            </a:r>
          </a:p>
        </p:txBody>
      </p:sp>
      <p:sp>
        <p:nvSpPr>
          <p:cNvPr id="12" name="Rounded Rectangle 11"/>
          <p:cNvSpPr/>
          <p:nvPr/>
        </p:nvSpPr>
        <p:spPr>
          <a:xfrm>
            <a:off x="4736591"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本研究の革新</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 / 39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1/4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山火事被害の深刻化とWUIリスク</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 / 39</a:t>
            </a:r>
          </a:p>
        </p:txBody>
      </p:sp>
      <p:sp>
        <p:nvSpPr>
          <p:cNvPr id="10" name="Rectangle 9"/>
          <p:cNvSpPr/>
          <p:nvPr/>
        </p:nvSpPr>
        <p:spPr>
          <a:xfrm>
            <a:off x="365760" y="859536"/>
            <a:ext cx="45720" cy="1645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538953" cy="1005840"/>
          </a:xfrm>
          <a:prstGeom prst="rect">
            <a:avLst/>
          </a:prstGeom>
          <a:noFill/>
        </p:spPr>
        <p:txBody>
          <a:bodyPr wrap="square" anchor="t" lIns="36000" rIns="36000" tIns="18000" bIns="18000">
            <a:spAutoFit/>
          </a:bodyPr>
          <a:lstStyle/>
          <a:p>
            <a:pPr algn="l"/>
            <a:r>
              <a:rPr sz="6800" b="1" i="0">
                <a:solidFill>
                  <a:srgbClr val="1E293B"/>
                </a:solidFill>
                <a:latin typeface="Noto Sans JP"/>
              </a:rPr>
              <a:t>5×</a:t>
            </a:r>
          </a:p>
        </p:txBody>
      </p:sp>
      <p:sp>
        <p:nvSpPr>
          <p:cNvPr id="12" name="TextBox 11"/>
          <p:cNvSpPr txBox="1"/>
          <p:nvPr/>
        </p:nvSpPr>
        <p:spPr>
          <a:xfrm>
            <a:off x="530352" y="184708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大規模山火事の増加（過去30年）</a:t>
            </a:r>
          </a:p>
        </p:txBody>
      </p:sp>
      <p:sp>
        <p:nvSpPr>
          <p:cNvPr id="13" name="TextBox 12"/>
          <p:cNvSpPr txBox="1"/>
          <p:nvPr/>
        </p:nvSpPr>
        <p:spPr>
          <a:xfrm>
            <a:off x="530352" y="213969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気候変動・可燃物の蓄積が主要因（米・欧・豪）</a:t>
            </a:r>
          </a:p>
        </p:txBody>
      </p:sp>
      <p:sp>
        <p:nvSpPr>
          <p:cNvPr id="14" name="Rectangle 13"/>
          <p:cNvSpPr/>
          <p:nvPr/>
        </p:nvSpPr>
        <p:spPr>
          <a:xfrm>
            <a:off x="530352" y="2560320"/>
            <a:ext cx="3527659"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2761488"/>
            <a:ext cx="45720" cy="146304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2761488"/>
            <a:ext cx="4538953" cy="822960"/>
          </a:xfrm>
          <a:prstGeom prst="rect">
            <a:avLst/>
          </a:prstGeom>
          <a:noFill/>
        </p:spPr>
        <p:txBody>
          <a:bodyPr wrap="square" anchor="t" lIns="36000" rIns="36000" tIns="18000" bIns="18000">
            <a:spAutoFit/>
          </a:bodyPr>
          <a:lstStyle/>
          <a:p>
            <a:pPr algn="l"/>
            <a:r>
              <a:rPr sz="4000" b="1" i="0">
                <a:solidFill>
                  <a:srgbClr val="1E293B"/>
                </a:solidFill>
                <a:latin typeface="Noto Sans JP"/>
              </a:rPr>
              <a:t>4500万人</a:t>
            </a:r>
          </a:p>
        </p:txBody>
      </p:sp>
      <p:sp>
        <p:nvSpPr>
          <p:cNvPr id="17" name="TextBox 16"/>
          <p:cNvSpPr txBox="1"/>
          <p:nvPr/>
        </p:nvSpPr>
        <p:spPr>
          <a:xfrm>
            <a:off x="530352" y="358444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米国WUI居住者</a:t>
            </a:r>
          </a:p>
        </p:txBody>
      </p:sp>
      <p:sp>
        <p:nvSpPr>
          <p:cNvPr id="18" name="TextBox 17"/>
          <p:cNvSpPr txBox="1"/>
          <p:nvPr/>
        </p:nvSpPr>
        <p:spPr>
          <a:xfrm>
            <a:off x="530352" y="387705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野生地と都市の境界帯（WUI）の高リスク層</a:t>
            </a:r>
          </a:p>
        </p:txBody>
      </p:sp>
      <p:sp>
        <p:nvSpPr>
          <p:cNvPr id="19" name="Rectangle 18"/>
          <p:cNvSpPr/>
          <p:nvPr/>
        </p:nvSpPr>
        <p:spPr>
          <a:xfrm>
            <a:off x="530352" y="4315968"/>
            <a:ext cx="423319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 y="4480560"/>
            <a:ext cx="4538953" cy="640080"/>
          </a:xfrm>
          <a:prstGeom prst="rect">
            <a:avLst/>
          </a:prstGeom>
          <a:noFill/>
        </p:spPr>
        <p:txBody>
          <a:bodyPr wrap="square" anchor="t" lIns="36000" rIns="36000" tIns="18000" bIns="18000">
            <a:spAutoFit/>
          </a:bodyPr>
          <a:lstStyle/>
          <a:p>
            <a:pPr algn="l"/>
            <a:r>
              <a:rPr sz="1200" b="0" i="1">
                <a:solidFill>
                  <a:srgbClr val="475569"/>
                </a:solidFill>
                <a:latin typeface="Noto Sans JP"/>
              </a:rPr>
              <a:t>経済・インフラ・自然資源・WUI住民に甚大な被害 ─</a:t>
            </a:r>
          </a:p>
          <a:p>
            <a:pPr algn="l"/>
            <a:r>
              <a:rPr sz="1200" b="0" i="1">
                <a:solidFill>
                  <a:srgbClr val="475569"/>
                </a:solidFill>
                <a:latin typeface="Noto Sans JP"/>
              </a:rPr>
              <a:t>環境に優しい新たな火災遅延剤の開発が急務</a:t>
            </a:r>
          </a:p>
        </p:txBody>
      </p:sp>
      <p:sp>
        <p:nvSpPr>
          <p:cNvPr id="21" name="Rounded Rectangle 20"/>
          <p:cNvSpPr/>
          <p:nvPr/>
        </p:nvSpPr>
        <p:spPr>
          <a:xfrm>
            <a:off x="5252185" y="859536"/>
            <a:ext cx="6573749" cy="29260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6191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6191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Image</a:t>
            </a:r>
          </a:p>
        </p:txBody>
      </p:sp>
      <p:sp>
        <p:nvSpPr>
          <p:cNvPr id="24" name="TextBox 23"/>
          <p:cNvSpPr txBox="1"/>
          <p:nvPr/>
        </p:nvSpPr>
        <p:spPr>
          <a:xfrm>
            <a:off x="5252185" y="859536"/>
            <a:ext cx="6573749" cy="29260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5" name="TextBox 24"/>
          <p:cNvSpPr txBox="1"/>
          <p:nvPr/>
        </p:nvSpPr>
        <p:spPr>
          <a:xfrm>
            <a:off x="5252185" y="3822192"/>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山火事・WUI境界帯（写真）</a:t>
            </a:r>
          </a:p>
        </p:txBody>
      </p:sp>
      <p:sp>
        <p:nvSpPr>
          <p:cNvPr id="26" name="Rounded Rectangle 25"/>
          <p:cNvSpPr/>
          <p:nvPr/>
        </p:nvSpPr>
        <p:spPr>
          <a:xfrm>
            <a:off x="5252185" y="4206240"/>
            <a:ext cx="6573749"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361913" y="431596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61913" y="431596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29" name="TextBox 28"/>
          <p:cNvSpPr txBox="1"/>
          <p:nvPr/>
        </p:nvSpPr>
        <p:spPr>
          <a:xfrm>
            <a:off x="5252185" y="4206240"/>
            <a:ext cx="6573749"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0" name="TextBox 29"/>
          <p:cNvSpPr txBox="1"/>
          <p:nvPr/>
        </p:nvSpPr>
        <p:spPr>
          <a:xfrm>
            <a:off x="5361913" y="5687568"/>
            <a:ext cx="6354293"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1" name="TextBox 30"/>
          <p:cNvSpPr txBox="1"/>
          <p:nvPr/>
        </p:nvSpPr>
        <p:spPr>
          <a:xfrm>
            <a:off x="5252185" y="6071616"/>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山火事の大規模化・年間焼失面積の経年トレンド</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2/4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本研究のアプローチ：4段階の保護プロセス</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5 / 39</a:t>
            </a:r>
          </a:p>
        </p:txBody>
      </p:sp>
      <p:sp>
        <p:nvSpPr>
          <p:cNvPr id="10" name="Rounded Rectangle 9"/>
          <p:cNvSpPr/>
          <p:nvPr/>
        </p:nvSpPr>
        <p:spPr>
          <a:xfrm>
            <a:off x="365760" y="859536"/>
            <a:ext cx="11460175" cy="32004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1a</a:t>
            </a:r>
          </a:p>
        </p:txBody>
      </p:sp>
      <p:sp>
        <p:nvSpPr>
          <p:cNvPr id="13" name="TextBox 12"/>
          <p:cNvSpPr txBox="1"/>
          <p:nvPr/>
        </p:nvSpPr>
        <p:spPr>
          <a:xfrm>
            <a:off x="365760" y="859536"/>
            <a:ext cx="11460175" cy="32004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40965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難燃ゲル散布 → 火炎接触 → 熱活性化エアロゲル形成 → 構造物の保護</a:t>
            </a:r>
          </a:p>
        </p:txBody>
      </p:sp>
      <p:sp>
        <p:nvSpPr>
          <p:cNvPr id="15" name="Rounded Rectangle 14"/>
          <p:cNvSpPr/>
          <p:nvPr/>
        </p:nvSpPr>
        <p:spPr>
          <a:xfrm>
            <a:off x="1549107"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49107"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1</a:t>
            </a:r>
          </a:p>
        </p:txBody>
      </p:sp>
      <p:sp>
        <p:nvSpPr>
          <p:cNvPr id="17" name="Rectangle 16"/>
          <p:cNvSpPr/>
          <p:nvPr/>
        </p:nvSpPr>
        <p:spPr>
          <a:xfrm>
            <a:off x="3171367"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ゲル散布</a:t>
            </a:r>
          </a:p>
        </p:txBody>
      </p:sp>
      <p:sp>
        <p:nvSpPr>
          <p:cNvPr id="19" name="TextBox 18"/>
          <p:cNvSpPr txBox="1"/>
          <p:nvPr/>
        </p:nvSpPr>
        <p:spPr>
          <a:xfrm>
            <a:off x="365760"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セルロース系ゲルを</a:t>
            </a:r>
          </a:p>
          <a:p>
            <a:pPr algn="ctr"/>
            <a:r>
              <a:rPr sz="1100" b="0" i="0">
                <a:solidFill>
                  <a:srgbClr val="475569"/>
                </a:solidFill>
                <a:latin typeface="Noto Sans JP"/>
              </a:rPr>
              <a:t>建物・植生にスプレー塗布</a:t>
            </a:r>
          </a:p>
        </p:txBody>
      </p:sp>
      <p:sp>
        <p:nvSpPr>
          <p:cNvPr id="20" name="Rounded Rectangle 19"/>
          <p:cNvSpPr/>
          <p:nvPr/>
        </p:nvSpPr>
        <p:spPr>
          <a:xfrm>
            <a:off x="4446155"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46155"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2</a:t>
            </a:r>
          </a:p>
        </p:txBody>
      </p:sp>
      <p:sp>
        <p:nvSpPr>
          <p:cNvPr id="22" name="Rectangle 21"/>
          <p:cNvSpPr/>
          <p:nvPr/>
        </p:nvSpPr>
        <p:spPr>
          <a:xfrm>
            <a:off x="6068415"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62807"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火炎接触</a:t>
            </a:r>
          </a:p>
        </p:txBody>
      </p:sp>
      <p:sp>
        <p:nvSpPr>
          <p:cNvPr id="24" name="TextBox 23"/>
          <p:cNvSpPr txBox="1"/>
          <p:nvPr/>
        </p:nvSpPr>
        <p:spPr>
          <a:xfrm>
            <a:off x="3262807"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水分蒸発、ゲルが発泡</a:t>
            </a:r>
          </a:p>
          <a:p>
            <a:pPr algn="ctr"/>
            <a:r>
              <a:rPr sz="1100" b="0" i="0">
                <a:solidFill>
                  <a:srgbClr val="475569"/>
                </a:solidFill>
                <a:latin typeface="Noto Sans JP"/>
              </a:rPr>
              <a:t>しながら粒子が凝集</a:t>
            </a:r>
          </a:p>
        </p:txBody>
      </p:sp>
      <p:sp>
        <p:nvSpPr>
          <p:cNvPr id="25" name="Rounded Rectangle 24"/>
          <p:cNvSpPr/>
          <p:nvPr/>
        </p:nvSpPr>
        <p:spPr>
          <a:xfrm>
            <a:off x="7343203"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43203"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3</a:t>
            </a:r>
          </a:p>
        </p:txBody>
      </p:sp>
      <p:sp>
        <p:nvSpPr>
          <p:cNvPr id="27" name="Rectangle 26"/>
          <p:cNvSpPr/>
          <p:nvPr/>
        </p:nvSpPr>
        <p:spPr>
          <a:xfrm>
            <a:off x="8965463"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59855"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エアロゲル形成</a:t>
            </a:r>
          </a:p>
        </p:txBody>
      </p:sp>
      <p:sp>
        <p:nvSpPr>
          <p:cNvPr id="29" name="TextBox 28"/>
          <p:cNvSpPr txBox="1"/>
          <p:nvPr/>
        </p:nvSpPr>
        <p:spPr>
          <a:xfrm>
            <a:off x="6159855"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シリカ粒子が焼結し</a:t>
            </a:r>
          </a:p>
          <a:p>
            <a:pPr algn="ctr"/>
            <a:r>
              <a:rPr sz="1100" b="0" i="0">
                <a:solidFill>
                  <a:srgbClr val="475569"/>
                </a:solidFill>
                <a:latin typeface="Noto Sans JP"/>
              </a:rPr>
              <a:t>多孔質断熱層を形成</a:t>
            </a:r>
          </a:p>
        </p:txBody>
      </p:sp>
      <p:sp>
        <p:nvSpPr>
          <p:cNvPr id="30" name="Rounded Rectangle 29"/>
          <p:cNvSpPr/>
          <p:nvPr/>
        </p:nvSpPr>
        <p:spPr>
          <a:xfrm>
            <a:off x="10240251"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0251"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4</a:t>
            </a:r>
          </a:p>
        </p:txBody>
      </p:sp>
      <p:sp>
        <p:nvSpPr>
          <p:cNvPr id="32" name="TextBox 31"/>
          <p:cNvSpPr txBox="1"/>
          <p:nvPr/>
        </p:nvSpPr>
        <p:spPr>
          <a:xfrm>
            <a:off x="9056903"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継続保護</a:t>
            </a:r>
          </a:p>
        </p:txBody>
      </p:sp>
      <p:sp>
        <p:nvSpPr>
          <p:cNvPr id="33" name="TextBox 32"/>
          <p:cNvSpPr txBox="1"/>
          <p:nvPr/>
        </p:nvSpPr>
        <p:spPr>
          <a:xfrm>
            <a:off x="9056903"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超低熱伝導の断熱層が</a:t>
            </a:r>
          </a:p>
          <a:p>
            <a:pPr algn="ctr"/>
            <a:r>
              <a:rPr sz="1100" b="0" i="0">
                <a:solidFill>
                  <a:srgbClr val="475569"/>
                </a:solidFill>
                <a:latin typeface="Noto Sans JP"/>
              </a:rPr>
              <a:t>基材を継続的に守る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3/4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既存の山火事用消火剤と、その限界（米国森林局の3分類）</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6 / 39</a:t>
            </a:r>
          </a:p>
        </p:txBody>
      </p:sp>
      <p:sp>
        <p:nvSpPr>
          <p:cNvPr id="10" name="Rounded Rectangle 9"/>
          <p:cNvSpPr/>
          <p:nvPr/>
        </p:nvSpPr>
        <p:spPr>
          <a:xfrm>
            <a:off x="365760" y="859536"/>
            <a:ext cx="3685946" cy="4974336"/>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1133856"/>
            <a:ext cx="3283610" cy="365760"/>
          </a:xfrm>
          <a:prstGeom prst="rect">
            <a:avLst/>
          </a:prstGeom>
          <a:noFill/>
        </p:spPr>
        <p:txBody>
          <a:bodyPr wrap="square" anchor="t" lIns="36000" rIns="36000" tIns="18000" bIns="18000">
            <a:spAutoFit/>
          </a:bodyPr>
          <a:lstStyle/>
          <a:p>
            <a:pPr algn="l"/>
            <a:r>
              <a:rPr sz="1800" b="1" i="0">
                <a:solidFill>
                  <a:srgbClr val="1E293B"/>
                </a:solidFill>
                <a:latin typeface="Noto Sans JP"/>
              </a:rPr>
              <a:t>長期遅延剤</a:t>
            </a:r>
          </a:p>
        </p:txBody>
      </p:sp>
      <p:sp>
        <p:nvSpPr>
          <p:cNvPr id="13" name="TextBox 12"/>
          <p:cNvSpPr txBox="1"/>
          <p:nvPr/>
        </p:nvSpPr>
        <p:spPr>
          <a:xfrm>
            <a:off x="566928" y="1536192"/>
            <a:ext cx="3283610" cy="237744"/>
          </a:xfrm>
          <a:prstGeom prst="rect">
            <a:avLst/>
          </a:prstGeom>
          <a:noFill/>
        </p:spPr>
        <p:txBody>
          <a:bodyPr wrap="square" anchor="t" lIns="36000" rIns="36000" tIns="18000" bIns="18000">
            <a:spAutoFit/>
          </a:bodyPr>
          <a:lstStyle/>
          <a:p>
            <a:pPr algn="l"/>
            <a:r>
              <a:rPr sz="1000" b="0" i="1">
                <a:solidFill>
                  <a:srgbClr val="64748B"/>
                </a:solidFill>
                <a:latin typeface="Noto Sans JP"/>
              </a:rPr>
              <a:t>Long-term retardant</a:t>
            </a:r>
          </a:p>
        </p:txBody>
      </p:sp>
      <p:sp>
        <p:nvSpPr>
          <p:cNvPr id="14" name="Rectangle 13"/>
          <p:cNvSpPr/>
          <p:nvPr/>
        </p:nvSpPr>
        <p:spPr>
          <a:xfrm>
            <a:off x="566928" y="1865376"/>
            <a:ext cx="3283610"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11680"/>
            <a:ext cx="3283610"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主成分</a:t>
            </a:r>
          </a:p>
        </p:txBody>
      </p:sp>
      <p:sp>
        <p:nvSpPr>
          <p:cNvPr id="16" name="TextBox 15"/>
          <p:cNvSpPr txBox="1"/>
          <p:nvPr/>
        </p:nvSpPr>
        <p:spPr>
          <a:xfrm>
            <a:off x="566928" y="2231136"/>
            <a:ext cx="3283610" cy="475488"/>
          </a:xfrm>
          <a:prstGeom prst="rect">
            <a:avLst/>
          </a:prstGeom>
          <a:noFill/>
        </p:spPr>
        <p:txBody>
          <a:bodyPr wrap="square" anchor="t" lIns="36000" rIns="36000" tIns="18000" bIns="18000">
            <a:spAutoFit/>
          </a:bodyPr>
          <a:lstStyle/>
          <a:p>
            <a:pPr algn="l"/>
            <a:r>
              <a:rPr sz="1200" b="0" i="0">
                <a:solidFill>
                  <a:srgbClr val="475569"/>
                </a:solidFill>
                <a:latin typeface="Noto Sans JP"/>
              </a:rPr>
              <a:t>リン酸アンモニウム等の化学物質</a:t>
            </a:r>
          </a:p>
        </p:txBody>
      </p:sp>
      <p:sp>
        <p:nvSpPr>
          <p:cNvPr id="17" name="TextBox 16"/>
          <p:cNvSpPr txBox="1"/>
          <p:nvPr/>
        </p:nvSpPr>
        <p:spPr>
          <a:xfrm>
            <a:off x="566928" y="2743200"/>
            <a:ext cx="3283610"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効果・保持</a:t>
            </a:r>
          </a:p>
        </p:txBody>
      </p:sp>
      <p:sp>
        <p:nvSpPr>
          <p:cNvPr id="18" name="TextBox 17"/>
          <p:cNvSpPr txBox="1"/>
          <p:nvPr/>
        </p:nvSpPr>
        <p:spPr>
          <a:xfrm>
            <a:off x="566928" y="2962656"/>
            <a:ext cx="3283610" cy="475488"/>
          </a:xfrm>
          <a:prstGeom prst="rect">
            <a:avLst/>
          </a:prstGeom>
          <a:noFill/>
        </p:spPr>
        <p:txBody>
          <a:bodyPr wrap="square" anchor="t" lIns="36000" rIns="36000" tIns="18000" bIns="18000">
            <a:spAutoFit/>
          </a:bodyPr>
          <a:lstStyle/>
          <a:p>
            <a:pPr algn="l"/>
            <a:r>
              <a:rPr sz="1200" b="0" i="0">
                <a:solidFill>
                  <a:srgbClr val="475569"/>
                </a:solidFill>
                <a:latin typeface="Noto Sans JP"/>
              </a:rPr>
              <a:t>残留物がある限り効果が持続</a:t>
            </a:r>
          </a:p>
        </p:txBody>
      </p:sp>
      <p:sp>
        <p:nvSpPr>
          <p:cNvPr id="19" name="TextBox 18"/>
          <p:cNvSpPr txBox="1"/>
          <p:nvPr/>
        </p:nvSpPr>
        <p:spPr>
          <a:xfrm>
            <a:off x="566928" y="3493008"/>
            <a:ext cx="3283610" cy="219456"/>
          </a:xfrm>
          <a:prstGeom prst="rect">
            <a:avLst/>
          </a:prstGeom>
          <a:noFill/>
        </p:spPr>
        <p:txBody>
          <a:bodyPr wrap="square" anchor="t" lIns="36000" rIns="36000" tIns="18000" bIns="18000">
            <a:spAutoFit/>
          </a:bodyPr>
          <a:lstStyle/>
          <a:p>
            <a:pPr algn="l"/>
            <a:r>
              <a:rPr sz="1000" b="1" i="0">
                <a:solidFill>
                  <a:srgbClr val="A05656"/>
                </a:solidFill>
                <a:latin typeface="Noto Sans JP"/>
              </a:rPr>
              <a:t>課題</a:t>
            </a:r>
          </a:p>
        </p:txBody>
      </p:sp>
      <p:sp>
        <p:nvSpPr>
          <p:cNvPr id="20" name="TextBox 19"/>
          <p:cNvSpPr txBox="1"/>
          <p:nvPr/>
        </p:nvSpPr>
        <p:spPr>
          <a:xfrm>
            <a:off x="566928" y="3712464"/>
            <a:ext cx="3283610" cy="1956816"/>
          </a:xfrm>
          <a:prstGeom prst="rect">
            <a:avLst/>
          </a:prstGeom>
          <a:noFill/>
        </p:spPr>
        <p:txBody>
          <a:bodyPr wrap="square" anchor="t" lIns="36000" rIns="36000" tIns="18000" bIns="18000">
            <a:spAutoFit/>
          </a:bodyPr>
          <a:lstStyle/>
          <a:p>
            <a:pPr algn="l"/>
            <a:r>
              <a:rPr sz="1200" b="1" i="0">
                <a:solidFill>
                  <a:srgbClr val="A05656"/>
                </a:solidFill>
                <a:latin typeface="Noto Sans JP"/>
              </a:rPr>
              <a:t>化学物質が対象物に残留する</a:t>
            </a:r>
          </a:p>
        </p:txBody>
      </p:sp>
      <p:sp>
        <p:nvSpPr>
          <p:cNvPr id="21" name="Rounded Rectangle 20"/>
          <p:cNvSpPr/>
          <p:nvPr/>
        </p:nvSpPr>
        <p:spPr>
          <a:xfrm>
            <a:off x="4252874" y="859536"/>
            <a:ext cx="3685946" cy="4974336"/>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52874"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54042" y="1133856"/>
            <a:ext cx="3283610" cy="365760"/>
          </a:xfrm>
          <a:prstGeom prst="rect">
            <a:avLst/>
          </a:prstGeom>
          <a:noFill/>
        </p:spPr>
        <p:txBody>
          <a:bodyPr wrap="square" anchor="t" lIns="36000" rIns="36000" tIns="18000" bIns="18000">
            <a:spAutoFit/>
          </a:bodyPr>
          <a:lstStyle/>
          <a:p>
            <a:pPr algn="l"/>
            <a:r>
              <a:rPr sz="1800" b="1" i="0">
                <a:solidFill>
                  <a:srgbClr val="1E293B"/>
                </a:solidFill>
                <a:latin typeface="Noto Sans JP"/>
              </a:rPr>
              <a:t>泡消火剤</a:t>
            </a:r>
          </a:p>
        </p:txBody>
      </p:sp>
      <p:sp>
        <p:nvSpPr>
          <p:cNvPr id="24" name="TextBox 23"/>
          <p:cNvSpPr txBox="1"/>
          <p:nvPr/>
        </p:nvSpPr>
        <p:spPr>
          <a:xfrm>
            <a:off x="4454042" y="1536192"/>
            <a:ext cx="3283610" cy="237744"/>
          </a:xfrm>
          <a:prstGeom prst="rect">
            <a:avLst/>
          </a:prstGeom>
          <a:noFill/>
        </p:spPr>
        <p:txBody>
          <a:bodyPr wrap="square" anchor="t" lIns="36000" rIns="36000" tIns="18000" bIns="18000">
            <a:spAutoFit/>
          </a:bodyPr>
          <a:lstStyle/>
          <a:p>
            <a:pPr algn="l"/>
            <a:r>
              <a:rPr sz="1000" b="0" i="1">
                <a:solidFill>
                  <a:srgbClr val="64748B"/>
                </a:solidFill>
                <a:latin typeface="Noto Sans JP"/>
              </a:rPr>
              <a:t>Foam suppressant</a:t>
            </a:r>
          </a:p>
        </p:txBody>
      </p:sp>
      <p:sp>
        <p:nvSpPr>
          <p:cNvPr id="25" name="Rectangle 24"/>
          <p:cNvSpPr/>
          <p:nvPr/>
        </p:nvSpPr>
        <p:spPr>
          <a:xfrm>
            <a:off x="4454042" y="1865376"/>
            <a:ext cx="3283610"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4042" y="2011680"/>
            <a:ext cx="3283610"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主成分</a:t>
            </a:r>
          </a:p>
        </p:txBody>
      </p:sp>
      <p:sp>
        <p:nvSpPr>
          <p:cNvPr id="27" name="TextBox 26"/>
          <p:cNvSpPr txBox="1"/>
          <p:nvPr/>
        </p:nvSpPr>
        <p:spPr>
          <a:xfrm>
            <a:off x="4454042" y="2231136"/>
            <a:ext cx="3283610" cy="475488"/>
          </a:xfrm>
          <a:prstGeom prst="rect">
            <a:avLst/>
          </a:prstGeom>
          <a:noFill/>
        </p:spPr>
        <p:txBody>
          <a:bodyPr wrap="square" anchor="t" lIns="36000" rIns="36000" tIns="18000" bIns="18000">
            <a:spAutoFit/>
          </a:bodyPr>
          <a:lstStyle/>
          <a:p>
            <a:pPr algn="l"/>
            <a:r>
              <a:rPr sz="1200" b="0" i="0">
                <a:solidFill>
                  <a:srgbClr val="475569"/>
                </a:solidFill>
                <a:latin typeface="Noto Sans JP"/>
              </a:rPr>
              <a:t>界面活性剤（旧来はフッ素系）</a:t>
            </a:r>
          </a:p>
        </p:txBody>
      </p:sp>
      <p:sp>
        <p:nvSpPr>
          <p:cNvPr id="28" name="TextBox 27"/>
          <p:cNvSpPr txBox="1"/>
          <p:nvPr/>
        </p:nvSpPr>
        <p:spPr>
          <a:xfrm>
            <a:off x="4454042" y="2743200"/>
            <a:ext cx="3283610"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効果・保持</a:t>
            </a:r>
          </a:p>
        </p:txBody>
      </p:sp>
      <p:sp>
        <p:nvSpPr>
          <p:cNvPr id="29" name="TextBox 28"/>
          <p:cNvSpPr txBox="1"/>
          <p:nvPr/>
        </p:nvSpPr>
        <p:spPr>
          <a:xfrm>
            <a:off x="4454042" y="2962656"/>
            <a:ext cx="3283610" cy="475488"/>
          </a:xfrm>
          <a:prstGeom prst="rect">
            <a:avLst/>
          </a:prstGeom>
          <a:noFill/>
        </p:spPr>
        <p:txBody>
          <a:bodyPr wrap="square" anchor="t" lIns="36000" rIns="36000" tIns="18000" bIns="18000">
            <a:spAutoFit/>
          </a:bodyPr>
          <a:lstStyle/>
          <a:p>
            <a:pPr algn="l"/>
            <a:r>
              <a:rPr sz="1200" b="0" i="0">
                <a:solidFill>
                  <a:srgbClr val="475569"/>
                </a:solidFill>
                <a:latin typeface="Noto Sans JP"/>
              </a:rPr>
              <a:t>水分保持 15〜30分（短期的）</a:t>
            </a:r>
          </a:p>
        </p:txBody>
      </p:sp>
      <p:sp>
        <p:nvSpPr>
          <p:cNvPr id="30" name="TextBox 29"/>
          <p:cNvSpPr txBox="1"/>
          <p:nvPr/>
        </p:nvSpPr>
        <p:spPr>
          <a:xfrm>
            <a:off x="4454042" y="3493008"/>
            <a:ext cx="3283610" cy="219456"/>
          </a:xfrm>
          <a:prstGeom prst="rect">
            <a:avLst/>
          </a:prstGeom>
          <a:noFill/>
        </p:spPr>
        <p:txBody>
          <a:bodyPr wrap="square" anchor="t" lIns="36000" rIns="36000" tIns="18000" bIns="18000">
            <a:spAutoFit/>
          </a:bodyPr>
          <a:lstStyle/>
          <a:p>
            <a:pPr algn="l"/>
            <a:r>
              <a:rPr sz="1000" b="1" i="0">
                <a:solidFill>
                  <a:srgbClr val="A05656"/>
                </a:solidFill>
                <a:latin typeface="Noto Sans JP"/>
              </a:rPr>
              <a:t>課題</a:t>
            </a:r>
          </a:p>
        </p:txBody>
      </p:sp>
      <p:sp>
        <p:nvSpPr>
          <p:cNvPr id="31" name="TextBox 30"/>
          <p:cNvSpPr txBox="1"/>
          <p:nvPr/>
        </p:nvSpPr>
        <p:spPr>
          <a:xfrm>
            <a:off x="4454042" y="3712464"/>
            <a:ext cx="3283610" cy="1956816"/>
          </a:xfrm>
          <a:prstGeom prst="rect">
            <a:avLst/>
          </a:prstGeom>
          <a:noFill/>
        </p:spPr>
        <p:txBody>
          <a:bodyPr wrap="square" anchor="t" lIns="36000" rIns="36000" tIns="18000" bIns="18000">
            <a:spAutoFit/>
          </a:bodyPr>
          <a:lstStyle/>
          <a:p>
            <a:pPr algn="l"/>
            <a:r>
              <a:rPr sz="1200" b="1" i="0">
                <a:solidFill>
                  <a:srgbClr val="A05656"/>
                </a:solidFill>
                <a:latin typeface="Noto Sans JP"/>
              </a:rPr>
              <a:t>乾燥で効果消失／フッ素系は生体蓄積・環境毒性</a:t>
            </a:r>
          </a:p>
        </p:txBody>
      </p:sp>
      <p:sp>
        <p:nvSpPr>
          <p:cNvPr id="32" name="Rounded Rectangle 31"/>
          <p:cNvSpPr/>
          <p:nvPr/>
        </p:nvSpPr>
        <p:spPr>
          <a:xfrm>
            <a:off x="8139988" y="859536"/>
            <a:ext cx="3685946" cy="4974336"/>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39988" y="859536"/>
            <a:ext cx="3685946" cy="457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41156" y="1133856"/>
            <a:ext cx="3283610" cy="365760"/>
          </a:xfrm>
          <a:prstGeom prst="rect">
            <a:avLst/>
          </a:prstGeom>
          <a:noFill/>
        </p:spPr>
        <p:txBody>
          <a:bodyPr wrap="square" anchor="t" lIns="36000" rIns="36000" tIns="18000" bIns="18000">
            <a:spAutoFit/>
          </a:bodyPr>
          <a:lstStyle/>
          <a:p>
            <a:pPr algn="l"/>
            <a:r>
              <a:rPr sz="1800" b="1" i="0">
                <a:solidFill>
                  <a:srgbClr val="FFFFFF"/>
                </a:solidFill>
                <a:latin typeface="Noto Sans JP"/>
              </a:rPr>
              <a:t>水強化ゲル（WEG）</a:t>
            </a:r>
          </a:p>
        </p:txBody>
      </p:sp>
      <p:sp>
        <p:nvSpPr>
          <p:cNvPr id="35" name="TextBox 34"/>
          <p:cNvSpPr txBox="1"/>
          <p:nvPr/>
        </p:nvSpPr>
        <p:spPr>
          <a:xfrm>
            <a:off x="8341156" y="1536192"/>
            <a:ext cx="3283610" cy="237744"/>
          </a:xfrm>
          <a:prstGeom prst="rect">
            <a:avLst/>
          </a:prstGeom>
          <a:noFill/>
        </p:spPr>
        <p:txBody>
          <a:bodyPr wrap="square" anchor="t" lIns="36000" rIns="36000" tIns="18000" bIns="18000">
            <a:spAutoFit/>
          </a:bodyPr>
          <a:lstStyle/>
          <a:p>
            <a:pPr algn="l"/>
            <a:r>
              <a:rPr sz="1000" b="0" i="1">
                <a:solidFill>
                  <a:srgbClr val="A0B8D0"/>
                </a:solidFill>
                <a:latin typeface="Noto Sans JP"/>
              </a:rPr>
              <a:t>Water-enhancing gel</a:t>
            </a:r>
          </a:p>
        </p:txBody>
      </p:sp>
      <p:sp>
        <p:nvSpPr>
          <p:cNvPr id="36" name="Rectangle 35"/>
          <p:cNvSpPr/>
          <p:nvPr/>
        </p:nvSpPr>
        <p:spPr>
          <a:xfrm>
            <a:off x="8341156" y="1865376"/>
            <a:ext cx="3283610" cy="13716"/>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41156" y="2011680"/>
            <a:ext cx="3283610" cy="219456"/>
          </a:xfrm>
          <a:prstGeom prst="rect">
            <a:avLst/>
          </a:prstGeom>
          <a:noFill/>
        </p:spPr>
        <p:txBody>
          <a:bodyPr wrap="square" anchor="t" lIns="36000" rIns="36000" tIns="18000" bIns="18000">
            <a:spAutoFit/>
          </a:bodyPr>
          <a:lstStyle/>
          <a:p>
            <a:pPr algn="l"/>
            <a:r>
              <a:rPr sz="1000" b="1" i="0">
                <a:solidFill>
                  <a:srgbClr val="88A0B8"/>
                </a:solidFill>
                <a:latin typeface="Noto Sans JP"/>
              </a:rPr>
              <a:t>主成分</a:t>
            </a:r>
          </a:p>
        </p:txBody>
      </p:sp>
      <p:sp>
        <p:nvSpPr>
          <p:cNvPr id="38" name="TextBox 37"/>
          <p:cNvSpPr txBox="1"/>
          <p:nvPr/>
        </p:nvSpPr>
        <p:spPr>
          <a:xfrm>
            <a:off x="8341156" y="2231136"/>
            <a:ext cx="3283610" cy="475488"/>
          </a:xfrm>
          <a:prstGeom prst="rect">
            <a:avLst/>
          </a:prstGeom>
          <a:noFill/>
        </p:spPr>
        <p:txBody>
          <a:bodyPr wrap="square" anchor="t" lIns="36000" rIns="36000" tIns="18000" bIns="18000">
            <a:spAutoFit/>
          </a:bodyPr>
          <a:lstStyle/>
          <a:p>
            <a:pPr algn="l"/>
            <a:r>
              <a:rPr sz="1200" b="0" i="0">
                <a:solidFill>
                  <a:srgbClr val="D8E2EE"/>
                </a:solidFill>
                <a:latin typeface="Noto Sans JP"/>
              </a:rPr>
              <a:t>高吸水性ポリマー（環境配慮型）</a:t>
            </a:r>
          </a:p>
        </p:txBody>
      </p:sp>
      <p:sp>
        <p:nvSpPr>
          <p:cNvPr id="39" name="TextBox 38"/>
          <p:cNvSpPr txBox="1"/>
          <p:nvPr/>
        </p:nvSpPr>
        <p:spPr>
          <a:xfrm>
            <a:off x="8341156" y="2743200"/>
            <a:ext cx="3283610" cy="219456"/>
          </a:xfrm>
          <a:prstGeom prst="rect">
            <a:avLst/>
          </a:prstGeom>
          <a:noFill/>
        </p:spPr>
        <p:txBody>
          <a:bodyPr wrap="square" anchor="t" lIns="36000" rIns="36000" tIns="18000" bIns="18000">
            <a:spAutoFit/>
          </a:bodyPr>
          <a:lstStyle/>
          <a:p>
            <a:pPr algn="l"/>
            <a:r>
              <a:rPr sz="1000" b="1" i="0">
                <a:solidFill>
                  <a:srgbClr val="88A0B8"/>
                </a:solidFill>
                <a:latin typeface="Noto Sans JP"/>
              </a:rPr>
              <a:t>効果・保持</a:t>
            </a:r>
          </a:p>
        </p:txBody>
      </p:sp>
      <p:sp>
        <p:nvSpPr>
          <p:cNvPr id="40" name="TextBox 39"/>
          <p:cNvSpPr txBox="1"/>
          <p:nvPr/>
        </p:nvSpPr>
        <p:spPr>
          <a:xfrm>
            <a:off x="8341156" y="2962656"/>
            <a:ext cx="3283610" cy="475488"/>
          </a:xfrm>
          <a:prstGeom prst="rect">
            <a:avLst/>
          </a:prstGeom>
          <a:noFill/>
        </p:spPr>
        <p:txBody>
          <a:bodyPr wrap="square" anchor="t" lIns="36000" rIns="36000" tIns="18000" bIns="18000">
            <a:spAutoFit/>
          </a:bodyPr>
          <a:lstStyle/>
          <a:p>
            <a:pPr algn="l"/>
            <a:r>
              <a:rPr sz="1200" b="0" i="0">
                <a:solidFill>
                  <a:srgbClr val="D8E2EE"/>
                </a:solidFill>
                <a:latin typeface="Noto Sans JP"/>
              </a:rPr>
              <a:t>水分保持 30〜60分・建物保護に有効</a:t>
            </a:r>
          </a:p>
        </p:txBody>
      </p:sp>
      <p:sp>
        <p:nvSpPr>
          <p:cNvPr id="41" name="TextBox 40"/>
          <p:cNvSpPr txBox="1"/>
          <p:nvPr/>
        </p:nvSpPr>
        <p:spPr>
          <a:xfrm>
            <a:off x="8341156" y="3493008"/>
            <a:ext cx="3283610" cy="219456"/>
          </a:xfrm>
          <a:prstGeom prst="rect">
            <a:avLst/>
          </a:prstGeom>
          <a:noFill/>
        </p:spPr>
        <p:txBody>
          <a:bodyPr wrap="square" anchor="t" lIns="36000" rIns="36000" tIns="18000" bIns="18000">
            <a:spAutoFit/>
          </a:bodyPr>
          <a:lstStyle/>
          <a:p>
            <a:pPr algn="l"/>
            <a:r>
              <a:rPr sz="1000" b="1" i="0">
                <a:solidFill>
                  <a:srgbClr val="D4A574"/>
                </a:solidFill>
                <a:latin typeface="Noto Sans JP"/>
              </a:rPr>
              <a:t>課題</a:t>
            </a:r>
          </a:p>
        </p:txBody>
      </p:sp>
      <p:sp>
        <p:nvSpPr>
          <p:cNvPr id="42" name="TextBox 41"/>
          <p:cNvSpPr txBox="1"/>
          <p:nvPr/>
        </p:nvSpPr>
        <p:spPr>
          <a:xfrm>
            <a:off x="8341156" y="3712464"/>
            <a:ext cx="3283610" cy="1956816"/>
          </a:xfrm>
          <a:prstGeom prst="rect">
            <a:avLst/>
          </a:prstGeom>
          <a:noFill/>
        </p:spPr>
        <p:txBody>
          <a:bodyPr wrap="square" anchor="t" lIns="36000" rIns="36000" tIns="18000" bIns="18000">
            <a:spAutoFit/>
          </a:bodyPr>
          <a:lstStyle/>
          <a:p>
            <a:pPr algn="l"/>
            <a:r>
              <a:rPr sz="1200" b="1" i="0">
                <a:solidFill>
                  <a:srgbClr val="FFFFFF"/>
                </a:solidFill>
                <a:latin typeface="Noto Sans JP"/>
              </a:rPr>
              <a:t>高温・強風で乾燥すると効果を完全に喪失</a:t>
            </a:r>
          </a:p>
        </p:txBody>
      </p:sp>
      <p:sp>
        <p:nvSpPr>
          <p:cNvPr id="43" name="Rounded Rectangle 42"/>
          <p:cNvSpPr/>
          <p:nvPr/>
        </p:nvSpPr>
        <p:spPr>
          <a:xfrm>
            <a:off x="365760" y="5998464"/>
            <a:ext cx="11460175" cy="47548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65760" y="5998464"/>
            <a:ext cx="54864" cy="4754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8640" y="5998464"/>
            <a:ext cx="365760" cy="47548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6" name="TextBox 45"/>
          <p:cNvSpPr txBox="1"/>
          <p:nvPr/>
        </p:nvSpPr>
        <p:spPr>
          <a:xfrm>
            <a:off x="960120" y="5998464"/>
            <a:ext cx="10774375" cy="475488"/>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本研究は、環境配慮型WEGが持つ「乾燥すると無効になる」致命的な弱点を克服する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4/4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本研究の核心：熱活性化エアロゲル形成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7 / 39</a:t>
            </a:r>
          </a:p>
        </p:txBody>
      </p:sp>
      <p:sp>
        <p:nvSpPr>
          <p:cNvPr id="10" name="Rectangle 9"/>
          <p:cNvSpPr/>
          <p:nvPr/>
        </p:nvSpPr>
        <p:spPr>
          <a:xfrm>
            <a:off x="365760" y="859536"/>
            <a:ext cx="45720" cy="13898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080546" cy="475488"/>
          </a:xfrm>
          <a:prstGeom prst="rect">
            <a:avLst/>
          </a:prstGeom>
          <a:noFill/>
        </p:spPr>
        <p:txBody>
          <a:bodyPr wrap="square" anchor="t" lIns="36000" rIns="36000" tIns="18000" bIns="18000">
            <a:spAutoFit/>
          </a:bodyPr>
          <a:lstStyle/>
          <a:p>
            <a:pPr algn="l"/>
            <a:r>
              <a:rPr sz="2200" b="1" i="1">
                <a:solidFill>
                  <a:srgbClr val="1E293B"/>
                </a:solidFill>
                <a:latin typeface="Noto Sans JP"/>
              </a:rPr>
              <a:t>Heat-Activated</a:t>
            </a:r>
          </a:p>
        </p:txBody>
      </p:sp>
      <p:sp>
        <p:nvSpPr>
          <p:cNvPr id="12" name="TextBox 11"/>
          <p:cNvSpPr txBox="1"/>
          <p:nvPr/>
        </p:nvSpPr>
        <p:spPr>
          <a:xfrm>
            <a:off x="530352" y="1316736"/>
            <a:ext cx="4080546" cy="475488"/>
          </a:xfrm>
          <a:prstGeom prst="rect">
            <a:avLst/>
          </a:prstGeom>
          <a:noFill/>
        </p:spPr>
        <p:txBody>
          <a:bodyPr wrap="square" anchor="t" lIns="36000" rIns="36000" tIns="18000" bIns="18000">
            <a:spAutoFit/>
          </a:bodyPr>
          <a:lstStyle/>
          <a:p>
            <a:pPr algn="l"/>
            <a:r>
              <a:rPr sz="2200" b="1" i="1">
                <a:solidFill>
                  <a:srgbClr val="3B5174"/>
                </a:solidFill>
                <a:latin typeface="Noto Sans JP"/>
              </a:rPr>
              <a:t>Aerogel Formation</a:t>
            </a:r>
          </a:p>
        </p:txBody>
      </p:sp>
      <p:sp>
        <p:nvSpPr>
          <p:cNvPr id="13" name="TextBox 12"/>
          <p:cNvSpPr txBox="1"/>
          <p:nvPr/>
        </p:nvSpPr>
        <p:spPr>
          <a:xfrm>
            <a:off x="530352" y="1810512"/>
            <a:ext cx="4080546" cy="310896"/>
          </a:xfrm>
          <a:prstGeom prst="rect">
            <a:avLst/>
          </a:prstGeom>
          <a:noFill/>
        </p:spPr>
        <p:txBody>
          <a:bodyPr wrap="square" anchor="t" lIns="36000" rIns="36000" tIns="18000" bIns="18000">
            <a:spAutoFit/>
          </a:bodyPr>
          <a:lstStyle/>
          <a:p>
            <a:pPr algn="l"/>
            <a:r>
              <a:rPr sz="1100" b="0" i="0">
                <a:solidFill>
                  <a:srgbClr val="475569"/>
                </a:solidFill>
                <a:latin typeface="Noto Sans JP"/>
              </a:rPr>
              <a:t>火炎接触をトリガーに、ゲル自体が断熱材へ変態</a:t>
            </a:r>
          </a:p>
        </p:txBody>
      </p:sp>
      <p:sp>
        <p:nvSpPr>
          <p:cNvPr id="14" name="Rectangle 13"/>
          <p:cNvSpPr/>
          <p:nvPr/>
        </p:nvSpPr>
        <p:spPr>
          <a:xfrm>
            <a:off x="530352" y="2267712"/>
            <a:ext cx="3608367"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45059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01</a:t>
            </a:r>
          </a:p>
        </p:txBody>
      </p:sp>
      <p:sp>
        <p:nvSpPr>
          <p:cNvPr id="16" name="TextBox 15"/>
          <p:cNvSpPr txBox="1"/>
          <p:nvPr/>
        </p:nvSpPr>
        <p:spPr>
          <a:xfrm>
            <a:off x="786384" y="245059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材料構成</a:t>
            </a:r>
          </a:p>
        </p:txBody>
      </p:sp>
      <p:sp>
        <p:nvSpPr>
          <p:cNvPr id="17" name="TextBox 16"/>
          <p:cNvSpPr txBox="1"/>
          <p:nvPr/>
        </p:nvSpPr>
        <p:spPr>
          <a:xfrm>
            <a:off x="786384" y="270662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セルロース系バイオポリマー × コロイダルシリカの物理架橋</a:t>
            </a:r>
          </a:p>
        </p:txBody>
      </p:sp>
      <p:sp>
        <p:nvSpPr>
          <p:cNvPr id="18" name="TextBox 17"/>
          <p:cNvSpPr txBox="1"/>
          <p:nvPr/>
        </p:nvSpPr>
        <p:spPr>
          <a:xfrm>
            <a:off x="365760" y="309067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02</a:t>
            </a:r>
          </a:p>
        </p:txBody>
      </p:sp>
      <p:sp>
        <p:nvSpPr>
          <p:cNvPr id="19" name="TextBox 18"/>
          <p:cNvSpPr txBox="1"/>
          <p:nvPr/>
        </p:nvSpPr>
        <p:spPr>
          <a:xfrm>
            <a:off x="786384" y="309067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エアロゲル化</a:t>
            </a:r>
          </a:p>
        </p:txBody>
      </p:sp>
      <p:sp>
        <p:nvSpPr>
          <p:cNvPr id="20" name="TextBox 19"/>
          <p:cNvSpPr txBox="1"/>
          <p:nvPr/>
        </p:nvSpPr>
        <p:spPr>
          <a:xfrm>
            <a:off x="786384" y="334670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炎で水分が失われると多孔質シリカ網がその場形成</a:t>
            </a:r>
          </a:p>
        </p:txBody>
      </p:sp>
      <p:sp>
        <p:nvSpPr>
          <p:cNvPr id="21" name="TextBox 20"/>
          <p:cNvSpPr txBox="1"/>
          <p:nvPr/>
        </p:nvSpPr>
        <p:spPr>
          <a:xfrm>
            <a:off x="365760" y="373075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03</a:t>
            </a:r>
          </a:p>
        </p:txBody>
      </p:sp>
      <p:sp>
        <p:nvSpPr>
          <p:cNvPr id="22" name="TextBox 21"/>
          <p:cNvSpPr txBox="1"/>
          <p:nvPr/>
        </p:nvSpPr>
        <p:spPr>
          <a:xfrm>
            <a:off x="786384" y="373075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持続的防護</a:t>
            </a:r>
          </a:p>
        </p:txBody>
      </p:sp>
      <p:sp>
        <p:nvSpPr>
          <p:cNvPr id="23" name="TextBox 22"/>
          <p:cNvSpPr txBox="1"/>
          <p:nvPr/>
        </p:nvSpPr>
        <p:spPr>
          <a:xfrm>
            <a:off x="786384" y="398678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水分が枯渇した後も断熱バリアが発火を防ぐ</a:t>
            </a:r>
          </a:p>
        </p:txBody>
      </p:sp>
      <p:sp>
        <p:nvSpPr>
          <p:cNvPr id="24" name="TextBox 23"/>
          <p:cNvSpPr txBox="1"/>
          <p:nvPr/>
        </p:nvSpPr>
        <p:spPr>
          <a:xfrm>
            <a:off x="365760" y="437083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04</a:t>
            </a:r>
          </a:p>
        </p:txBody>
      </p:sp>
      <p:sp>
        <p:nvSpPr>
          <p:cNvPr id="25" name="TextBox 24"/>
          <p:cNvSpPr txBox="1"/>
          <p:nvPr/>
        </p:nvSpPr>
        <p:spPr>
          <a:xfrm>
            <a:off x="786384" y="437083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応用性・拡張性</a:t>
            </a:r>
          </a:p>
        </p:txBody>
      </p:sp>
      <p:sp>
        <p:nvSpPr>
          <p:cNvPr id="26" name="TextBox 25"/>
          <p:cNvSpPr txBox="1"/>
          <p:nvPr/>
        </p:nvSpPr>
        <p:spPr>
          <a:xfrm>
            <a:off x="786384" y="462686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噴霧・ポンプ送液に適した流動特性／大規模製造も可能</a:t>
            </a:r>
          </a:p>
        </p:txBody>
      </p:sp>
      <p:sp>
        <p:nvSpPr>
          <p:cNvPr id="27" name="Rounded Rectangle 26"/>
          <p:cNvSpPr/>
          <p:nvPr/>
        </p:nvSpPr>
        <p:spPr>
          <a:xfrm>
            <a:off x="4793778" y="859536"/>
            <a:ext cx="7032156" cy="28346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90350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0350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概念図</a:t>
            </a:r>
          </a:p>
        </p:txBody>
      </p:sp>
      <p:sp>
        <p:nvSpPr>
          <p:cNvPr id="30" name="TextBox 29"/>
          <p:cNvSpPr txBox="1"/>
          <p:nvPr/>
        </p:nvSpPr>
        <p:spPr>
          <a:xfrm>
            <a:off x="4793778" y="859536"/>
            <a:ext cx="7032156" cy="28346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793778" y="3730752"/>
            <a:ext cx="70321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加熱トリガーでゲルが多孔質エアロゲル断熱層へ変態</a:t>
            </a:r>
          </a:p>
        </p:txBody>
      </p:sp>
      <p:sp>
        <p:nvSpPr>
          <p:cNvPr id="32" name="Rounded Rectangle 31"/>
          <p:cNvSpPr/>
          <p:nvPr/>
        </p:nvSpPr>
        <p:spPr>
          <a:xfrm>
            <a:off x="4793778"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903506"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03506"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5" name="TextBox 34"/>
          <p:cNvSpPr txBox="1"/>
          <p:nvPr/>
        </p:nvSpPr>
        <p:spPr>
          <a:xfrm>
            <a:off x="4793778"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6" name="TextBox 35"/>
          <p:cNvSpPr txBox="1"/>
          <p:nvPr/>
        </p:nvSpPr>
        <p:spPr>
          <a:xfrm>
            <a:off x="4903506"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7" name="TextBox 36"/>
          <p:cNvSpPr txBox="1"/>
          <p:nvPr/>
        </p:nvSpPr>
        <p:spPr>
          <a:xfrm>
            <a:off x="4793778"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シリカエアロゲルのSEM微細構造</a:t>
            </a:r>
          </a:p>
        </p:txBody>
      </p:sp>
      <p:sp>
        <p:nvSpPr>
          <p:cNvPr id="38" name="Rounded Rectangle 37"/>
          <p:cNvSpPr/>
          <p:nvPr/>
        </p:nvSpPr>
        <p:spPr>
          <a:xfrm>
            <a:off x="8392152"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501880"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01880"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41" name="TextBox 40"/>
          <p:cNvSpPr txBox="1"/>
          <p:nvPr/>
        </p:nvSpPr>
        <p:spPr>
          <a:xfrm>
            <a:off x="8392152"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42" name="TextBox 41"/>
          <p:cNvSpPr txBox="1"/>
          <p:nvPr/>
        </p:nvSpPr>
        <p:spPr>
          <a:xfrm>
            <a:off x="8501880"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43" name="TextBox 42"/>
          <p:cNvSpPr txBox="1"/>
          <p:nvPr/>
        </p:nvSpPr>
        <p:spPr>
          <a:xfrm>
            <a:off x="8392152"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エアロゲルの断熱性デモ（炎上の試料等）</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02</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2</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材料・実験方法</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セルロース系ポリマーとコロイダルシリカの組み合わせによる新規ゲル設計</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ポリマー成分</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シリカ粒子・界面活性剤</a:t>
            </a:r>
          </a:p>
        </p:txBody>
      </p:sp>
      <p:sp>
        <p:nvSpPr>
          <p:cNvPr id="12" name="Rounded Rectangle 11"/>
          <p:cNvSpPr/>
          <p:nvPr/>
        </p:nvSpPr>
        <p:spPr>
          <a:xfrm>
            <a:off x="4736591" y="4572000"/>
            <a:ext cx="1481328"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81328"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配合系（5種）</a:t>
            </a:r>
          </a:p>
        </p:txBody>
      </p:sp>
      <p:sp>
        <p:nvSpPr>
          <p:cNvPr id="14" name="Rounded Rectangle 13"/>
          <p:cNvSpPr/>
          <p:nvPr/>
        </p:nvSpPr>
        <p:spPr>
          <a:xfrm>
            <a:off x="6364223"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3"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評価手法</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8 / 39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概要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材料構成：持続可能かつ高性能</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9 / 39</a:t>
            </a:r>
          </a:p>
        </p:txBody>
      </p:sp>
      <p:sp>
        <p:nvSpPr>
          <p:cNvPr id="10" name="TextBox 9"/>
          <p:cNvSpPr txBox="1"/>
          <p:nvPr/>
        </p:nvSpPr>
        <p:spPr>
          <a:xfrm>
            <a:off x="365760" y="859536"/>
            <a:ext cx="11460175" cy="457200"/>
          </a:xfrm>
          <a:prstGeom prst="rect">
            <a:avLst/>
          </a:prstGeom>
          <a:noFill/>
        </p:spPr>
        <p:txBody>
          <a:bodyPr wrap="square" anchor="ctr" lIns="36000" rIns="36000" tIns="18000" bIns="18000">
            <a:spAutoFit/>
          </a:bodyPr>
          <a:lstStyle/>
          <a:p>
            <a:pPr algn="l"/>
            <a:r>
              <a:rPr sz="1400" b="0" i="0">
                <a:solidFill>
                  <a:srgbClr val="334155"/>
                </a:solidFill>
                <a:latin typeface="Noto Sans JP"/>
              </a:rPr>
              <a:t>本ゲルは「骨格・機能・結合」を担う3要素で構成され、生分解性と高性能を両立します。</a:t>
            </a:r>
          </a:p>
        </p:txBody>
      </p:sp>
      <p:sp>
        <p:nvSpPr>
          <p:cNvPr id="11" name="Rounded Rectangle 10"/>
          <p:cNvSpPr/>
          <p:nvPr/>
        </p:nvSpPr>
        <p:spPr>
          <a:xfrm>
            <a:off x="365760"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444752"/>
            <a:ext cx="3637178"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1719072"/>
            <a:ext cx="3637178" cy="512064"/>
          </a:xfrm>
          <a:prstGeom prst="rect">
            <a:avLst/>
          </a:prstGeom>
          <a:noFill/>
        </p:spPr>
        <p:txBody>
          <a:bodyPr wrap="square" anchor="ctr" lIns="36000" rIns="36000" tIns="18000" bIns="18000">
            <a:spAutoFit/>
          </a:bodyPr>
          <a:lstStyle/>
          <a:p>
            <a:pPr algn="ctr"/>
            <a:r>
              <a:rPr sz="3000" b="0" i="0">
                <a:solidFill>
                  <a:srgbClr val="3B5174"/>
                </a:solidFill>
                <a:latin typeface="Noto Sans JP"/>
              </a:rPr>
              <a:t>🌿</a:t>
            </a:r>
          </a:p>
        </p:txBody>
      </p:sp>
      <p:sp>
        <p:nvSpPr>
          <p:cNvPr id="14" name="TextBox 13"/>
          <p:cNvSpPr txBox="1"/>
          <p:nvPr/>
        </p:nvSpPr>
        <p:spPr>
          <a:xfrm>
            <a:off x="585216"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セルロース誘導体</a:t>
            </a:r>
          </a:p>
        </p:txBody>
      </p:sp>
      <p:sp>
        <p:nvSpPr>
          <p:cNvPr id="15" name="TextBox 14"/>
          <p:cNvSpPr txBox="1"/>
          <p:nvPr/>
        </p:nvSpPr>
        <p:spPr>
          <a:xfrm>
            <a:off x="585216"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Cellulose derivatives</a:t>
            </a:r>
          </a:p>
        </p:txBody>
      </p:sp>
      <p:sp>
        <p:nvSpPr>
          <p:cNvPr id="16" name="Rectangle 15"/>
          <p:cNvSpPr/>
          <p:nvPr/>
        </p:nvSpPr>
        <p:spPr>
          <a:xfrm>
            <a:off x="658368"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5216"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植物由来のバイオポリマー。ゲルネットワークの骨格を形成します。</a:t>
            </a:r>
          </a:p>
        </p:txBody>
      </p:sp>
      <p:sp>
        <p:nvSpPr>
          <p:cNvPr id="18" name="Rounded Rectangle 17"/>
          <p:cNvSpPr/>
          <p:nvPr/>
        </p:nvSpPr>
        <p:spPr>
          <a:xfrm>
            <a:off x="585216" y="4279392"/>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 y="4279392"/>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3種</a:t>
            </a:r>
          </a:p>
        </p:txBody>
      </p:sp>
      <p:sp>
        <p:nvSpPr>
          <p:cNvPr id="20" name="TextBox 19"/>
          <p:cNvSpPr txBox="1"/>
          <p:nvPr/>
        </p:nvSpPr>
        <p:spPr>
          <a:xfrm>
            <a:off x="1517904"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HEC・MC・MHEC を使用</a:t>
            </a:r>
          </a:p>
        </p:txBody>
      </p:sp>
      <p:sp>
        <p:nvSpPr>
          <p:cNvPr id="21" name="Rounded Rectangle 20"/>
          <p:cNvSpPr/>
          <p:nvPr/>
        </p:nvSpPr>
        <p:spPr>
          <a:xfrm>
            <a:off x="585216" y="4956048"/>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4956048"/>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生分解性</a:t>
            </a:r>
          </a:p>
        </p:txBody>
      </p:sp>
      <p:sp>
        <p:nvSpPr>
          <p:cNvPr id="23" name="TextBox 22"/>
          <p:cNvSpPr txBox="1"/>
          <p:nvPr/>
        </p:nvSpPr>
        <p:spPr>
          <a:xfrm>
            <a:off x="1517904"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環境負荷が低い</a:t>
            </a:r>
          </a:p>
        </p:txBody>
      </p:sp>
      <p:sp>
        <p:nvSpPr>
          <p:cNvPr id="24" name="Rounded Rectangle 23"/>
          <p:cNvSpPr/>
          <p:nvPr/>
        </p:nvSpPr>
        <p:spPr>
          <a:xfrm>
            <a:off x="585216" y="5632704"/>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 y="5632704"/>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役割</a:t>
            </a:r>
          </a:p>
        </p:txBody>
      </p:sp>
      <p:sp>
        <p:nvSpPr>
          <p:cNvPr id="26" name="TextBox 25"/>
          <p:cNvSpPr txBox="1"/>
          <p:nvPr/>
        </p:nvSpPr>
        <p:spPr>
          <a:xfrm>
            <a:off x="1517904"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粘性・構造の土台</a:t>
            </a:r>
          </a:p>
        </p:txBody>
      </p:sp>
      <p:sp>
        <p:nvSpPr>
          <p:cNvPr id="27" name="Rounded Rectangle 26"/>
          <p:cNvSpPr/>
          <p:nvPr/>
        </p:nvSpPr>
        <p:spPr>
          <a:xfrm>
            <a:off x="4277258"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7258" y="1444752"/>
            <a:ext cx="3637178" cy="54864"/>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77258" y="1719072"/>
            <a:ext cx="3637178" cy="512064"/>
          </a:xfrm>
          <a:prstGeom prst="rect">
            <a:avLst/>
          </a:prstGeom>
          <a:noFill/>
        </p:spPr>
        <p:txBody>
          <a:bodyPr wrap="square" anchor="ctr" lIns="36000" rIns="36000" tIns="18000" bIns="18000">
            <a:spAutoFit/>
          </a:bodyPr>
          <a:lstStyle/>
          <a:p>
            <a:pPr algn="ctr"/>
            <a:r>
              <a:rPr sz="3000" b="0" i="0">
                <a:solidFill>
                  <a:srgbClr val="4A7C8C"/>
                </a:solidFill>
                <a:latin typeface="Noto Sans JP"/>
              </a:rPr>
              <a:t>◎</a:t>
            </a:r>
          </a:p>
        </p:txBody>
      </p:sp>
      <p:sp>
        <p:nvSpPr>
          <p:cNvPr id="30" name="TextBox 29"/>
          <p:cNvSpPr txBox="1"/>
          <p:nvPr/>
        </p:nvSpPr>
        <p:spPr>
          <a:xfrm>
            <a:off x="4496714"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コロイダルシリカ（CSP）</a:t>
            </a:r>
          </a:p>
        </p:txBody>
      </p:sp>
      <p:sp>
        <p:nvSpPr>
          <p:cNvPr id="31" name="TextBox 30"/>
          <p:cNvSpPr txBox="1"/>
          <p:nvPr/>
        </p:nvSpPr>
        <p:spPr>
          <a:xfrm>
            <a:off x="4496714"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Colloidal Silica Particles</a:t>
            </a:r>
          </a:p>
        </p:txBody>
      </p:sp>
      <p:sp>
        <p:nvSpPr>
          <p:cNvPr id="32" name="Rectangle 31"/>
          <p:cNvSpPr/>
          <p:nvPr/>
        </p:nvSpPr>
        <p:spPr>
          <a:xfrm>
            <a:off x="4569866"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496714"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ポリマーと動的に相互作用し、熱でエアロゲルを形成する主役成分です。</a:t>
            </a:r>
          </a:p>
        </p:txBody>
      </p:sp>
      <p:sp>
        <p:nvSpPr>
          <p:cNvPr id="34" name="Rounded Rectangle 33"/>
          <p:cNvSpPr/>
          <p:nvPr/>
        </p:nvSpPr>
        <p:spPr>
          <a:xfrm>
            <a:off x="4496714" y="4279392"/>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96714" y="4279392"/>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直径</a:t>
            </a:r>
          </a:p>
        </p:txBody>
      </p:sp>
      <p:sp>
        <p:nvSpPr>
          <p:cNvPr id="36" name="TextBox 35"/>
          <p:cNvSpPr txBox="1"/>
          <p:nvPr/>
        </p:nvSpPr>
        <p:spPr>
          <a:xfrm>
            <a:off x="5429402"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約 22 nm の単分散粒子</a:t>
            </a:r>
          </a:p>
        </p:txBody>
      </p:sp>
      <p:sp>
        <p:nvSpPr>
          <p:cNvPr id="37" name="Rounded Rectangle 36"/>
          <p:cNvSpPr/>
          <p:nvPr/>
        </p:nvSpPr>
        <p:spPr>
          <a:xfrm>
            <a:off x="4496714" y="4956048"/>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96714" y="4956048"/>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焼結</a:t>
            </a:r>
          </a:p>
        </p:txBody>
      </p:sp>
      <p:sp>
        <p:nvSpPr>
          <p:cNvPr id="39" name="TextBox 38"/>
          <p:cNvSpPr txBox="1"/>
          <p:nvPr/>
        </p:nvSpPr>
        <p:spPr>
          <a:xfrm>
            <a:off x="5429402"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加熱でシリカ骨格を形成</a:t>
            </a:r>
          </a:p>
        </p:txBody>
      </p:sp>
      <p:sp>
        <p:nvSpPr>
          <p:cNvPr id="40" name="Rounded Rectangle 39"/>
          <p:cNvSpPr/>
          <p:nvPr/>
        </p:nvSpPr>
        <p:spPr>
          <a:xfrm>
            <a:off x="4496714" y="5632704"/>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96714" y="5632704"/>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役割</a:t>
            </a:r>
          </a:p>
        </p:txBody>
      </p:sp>
      <p:sp>
        <p:nvSpPr>
          <p:cNvPr id="42" name="TextBox 41"/>
          <p:cNvSpPr txBox="1"/>
          <p:nvPr/>
        </p:nvSpPr>
        <p:spPr>
          <a:xfrm>
            <a:off x="5429402"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断熱エアロゲルの源</a:t>
            </a:r>
          </a:p>
        </p:txBody>
      </p:sp>
      <p:sp>
        <p:nvSpPr>
          <p:cNvPr id="43" name="Rounded Rectangle 42"/>
          <p:cNvSpPr/>
          <p:nvPr/>
        </p:nvSpPr>
        <p:spPr>
          <a:xfrm>
            <a:off x="8188756"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88756" y="1444752"/>
            <a:ext cx="3637178" cy="54864"/>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188756" y="1719072"/>
            <a:ext cx="3637178" cy="512064"/>
          </a:xfrm>
          <a:prstGeom prst="rect">
            <a:avLst/>
          </a:prstGeom>
          <a:noFill/>
        </p:spPr>
        <p:txBody>
          <a:bodyPr wrap="square" anchor="ctr" lIns="36000" rIns="36000" tIns="18000" bIns="18000">
            <a:spAutoFit/>
          </a:bodyPr>
          <a:lstStyle/>
          <a:p>
            <a:pPr algn="ctr"/>
            <a:r>
              <a:rPr sz="3000" b="0" i="0">
                <a:solidFill>
                  <a:srgbClr val="9F7639"/>
                </a:solidFill>
                <a:latin typeface="Noto Sans JP"/>
              </a:rPr>
              <a:t>⬡</a:t>
            </a:r>
          </a:p>
        </p:txBody>
      </p:sp>
      <p:sp>
        <p:nvSpPr>
          <p:cNvPr id="46" name="TextBox 45"/>
          <p:cNvSpPr txBox="1"/>
          <p:nvPr/>
        </p:nvSpPr>
        <p:spPr>
          <a:xfrm>
            <a:off x="8408212"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PP 相互作用</a:t>
            </a:r>
          </a:p>
        </p:txBody>
      </p:sp>
      <p:sp>
        <p:nvSpPr>
          <p:cNvPr id="47" name="TextBox 46"/>
          <p:cNvSpPr txBox="1"/>
          <p:nvPr/>
        </p:nvSpPr>
        <p:spPr>
          <a:xfrm>
            <a:off x="8408212"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Polymer–Particle Interaction</a:t>
            </a:r>
          </a:p>
        </p:txBody>
      </p:sp>
      <p:sp>
        <p:nvSpPr>
          <p:cNvPr id="48" name="Rectangle 47"/>
          <p:cNvSpPr/>
          <p:nvPr/>
        </p:nvSpPr>
        <p:spPr>
          <a:xfrm>
            <a:off x="8481364"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08212"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動的な多価水素結合でネットワークを構築。共有結合に依存しません。</a:t>
            </a:r>
          </a:p>
        </p:txBody>
      </p:sp>
      <p:sp>
        <p:nvSpPr>
          <p:cNvPr id="50" name="Rounded Rectangle 49"/>
          <p:cNvSpPr/>
          <p:nvPr/>
        </p:nvSpPr>
        <p:spPr>
          <a:xfrm>
            <a:off x="8408212" y="4279392"/>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408212" y="4279392"/>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結合</a:t>
            </a:r>
          </a:p>
        </p:txBody>
      </p:sp>
      <p:sp>
        <p:nvSpPr>
          <p:cNvPr id="52" name="TextBox 51"/>
          <p:cNvSpPr txBox="1"/>
          <p:nvPr/>
        </p:nvSpPr>
        <p:spPr>
          <a:xfrm>
            <a:off x="9340900"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動的・多価の水素結合</a:t>
            </a:r>
          </a:p>
        </p:txBody>
      </p:sp>
      <p:sp>
        <p:nvSpPr>
          <p:cNvPr id="53" name="Rounded Rectangle 52"/>
          <p:cNvSpPr/>
          <p:nvPr/>
        </p:nvSpPr>
        <p:spPr>
          <a:xfrm>
            <a:off x="8408212" y="4956048"/>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08212" y="4956048"/>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自己修復</a:t>
            </a:r>
          </a:p>
        </p:txBody>
      </p:sp>
      <p:sp>
        <p:nvSpPr>
          <p:cNvPr id="55" name="TextBox 54"/>
          <p:cNvSpPr txBox="1"/>
          <p:nvPr/>
        </p:nvSpPr>
        <p:spPr>
          <a:xfrm>
            <a:off x="9340900"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ひずみ後にゲルが回復</a:t>
            </a:r>
          </a:p>
        </p:txBody>
      </p:sp>
      <p:sp>
        <p:nvSpPr>
          <p:cNvPr id="56" name="Rounded Rectangle 55"/>
          <p:cNvSpPr/>
          <p:nvPr/>
        </p:nvSpPr>
        <p:spPr>
          <a:xfrm>
            <a:off x="8408212" y="5632704"/>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408212" y="5632704"/>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噴霧適性</a:t>
            </a:r>
          </a:p>
        </p:txBody>
      </p:sp>
      <p:sp>
        <p:nvSpPr>
          <p:cNvPr id="58" name="TextBox 57"/>
          <p:cNvSpPr txBox="1"/>
          <p:nvPr/>
        </p:nvSpPr>
        <p:spPr>
          <a:xfrm>
            <a:off x="9340900"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スプレー塗布が容易</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概要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噴霧・付着・耐火のメカニズム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10 / 39</a:t>
            </a:r>
          </a:p>
        </p:txBody>
      </p:sp>
      <p:sp>
        <p:nvSpPr>
          <p:cNvPr id="10" name="TextBox 9"/>
          <p:cNvSpPr txBox="1"/>
          <p:nvPr/>
        </p:nvSpPr>
        <p:spPr>
          <a:xfrm>
            <a:off x="365760" y="859536"/>
            <a:ext cx="11460175" cy="475488"/>
          </a:xfrm>
          <a:prstGeom prst="rect">
            <a:avLst/>
          </a:prstGeom>
          <a:noFill/>
        </p:spPr>
        <p:txBody>
          <a:bodyPr wrap="square" anchor="ctr" lIns="36000" rIns="36000" tIns="18000" bIns="18000">
            <a:spAutoFit/>
          </a:bodyPr>
          <a:lstStyle/>
          <a:p>
            <a:pPr algn="l"/>
            <a:r>
              <a:rPr sz="1500" b="1" i="0">
                <a:solidFill>
                  <a:srgbClr val="1E293B"/>
                </a:solidFill>
                <a:latin typeface="Noto Sans JP"/>
              </a:rPr>
              <a:t>温度ではなく「せん断力」と「自己修復性」が、噴霧から付着までを支配します。</a:t>
            </a:r>
          </a:p>
        </p:txBody>
      </p:sp>
      <p:sp>
        <p:nvSpPr>
          <p:cNvPr id="11" name="Rounded Rectangle 10"/>
          <p:cNvSpPr/>
          <p:nvPr/>
        </p:nvSpPr>
        <p:spPr>
          <a:xfrm>
            <a:off x="365760"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463040"/>
            <a:ext cx="2659303"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627632"/>
            <a:ext cx="2293543" cy="310896"/>
          </a:xfrm>
          <a:prstGeom prst="rect">
            <a:avLst/>
          </a:prstGeom>
          <a:noFill/>
        </p:spPr>
        <p:txBody>
          <a:bodyPr wrap="square" anchor="t" lIns="36000" rIns="36000" tIns="18000" bIns="18000">
            <a:spAutoFit/>
          </a:bodyPr>
          <a:lstStyle/>
          <a:p>
            <a:pPr algn="l"/>
            <a:r>
              <a:rPr sz="1300" b="1" i="0">
                <a:solidFill>
                  <a:srgbClr val="3B5174"/>
                </a:solidFill>
                <a:latin typeface="Noto Sans JP"/>
              </a:rPr>
              <a:t>01</a:t>
            </a:r>
          </a:p>
        </p:txBody>
      </p:sp>
      <p:sp>
        <p:nvSpPr>
          <p:cNvPr id="14" name="TextBox 13"/>
          <p:cNvSpPr txBox="1"/>
          <p:nvPr/>
        </p:nvSpPr>
        <p:spPr>
          <a:xfrm>
            <a:off x="548640"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静止時</a:t>
            </a:r>
          </a:p>
        </p:txBody>
      </p:sp>
      <p:sp>
        <p:nvSpPr>
          <p:cNvPr id="15" name="TextBox 14"/>
          <p:cNvSpPr txBox="1"/>
          <p:nvPr/>
        </p:nvSpPr>
        <p:spPr>
          <a:xfrm>
            <a:off x="548640"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ゲル</a:t>
            </a:r>
          </a:p>
        </p:txBody>
      </p:sp>
      <p:sp>
        <p:nvSpPr>
          <p:cNvPr id="16" name="Rectangle 15"/>
          <p:cNvSpPr/>
          <p:nvPr/>
        </p:nvSpPr>
        <p:spPr>
          <a:xfrm>
            <a:off x="548640"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高粘度の弾性ゲル。G′ &gt; G″ で構造を保持。</a:t>
            </a:r>
          </a:p>
        </p:txBody>
      </p:sp>
      <p:sp>
        <p:nvSpPr>
          <p:cNvPr id="18" name="Rounded Rectangle 17"/>
          <p:cNvSpPr/>
          <p:nvPr/>
        </p:nvSpPr>
        <p:spPr>
          <a:xfrm>
            <a:off x="548640" y="4078224"/>
            <a:ext cx="2293543" cy="420624"/>
          </a:xfrm>
          <a:prstGeom prst="roundRect">
            <a:avLst>
              <a:gd name="adj" fmla="val 6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078224"/>
            <a:ext cx="2293543" cy="420624"/>
          </a:xfrm>
          <a:prstGeom prst="rect">
            <a:avLst/>
          </a:prstGeom>
          <a:noFill/>
        </p:spPr>
        <p:txBody>
          <a:bodyPr wrap="square" anchor="ctr" lIns="36000" rIns="36000" tIns="18000" bIns="18000">
            <a:spAutoFit/>
          </a:bodyPr>
          <a:lstStyle/>
          <a:p>
            <a:pPr algn="ctr"/>
            <a:r>
              <a:rPr sz="1100" b="1" i="0">
                <a:solidFill>
                  <a:srgbClr val="3B5174"/>
                </a:solidFill>
                <a:latin typeface="Noto Sans JP"/>
              </a:rPr>
              <a:t>降伏応力 ~33 Pa</a:t>
            </a:r>
          </a:p>
        </p:txBody>
      </p:sp>
      <p:sp>
        <p:nvSpPr>
          <p:cNvPr id="20" name="TextBox 19"/>
          <p:cNvSpPr txBox="1"/>
          <p:nvPr/>
        </p:nvSpPr>
        <p:spPr>
          <a:xfrm>
            <a:off x="3025063"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21" name="Rounded Rectangle 20"/>
          <p:cNvSpPr/>
          <p:nvPr/>
        </p:nvSpPr>
        <p:spPr>
          <a:xfrm>
            <a:off x="3299383"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99383" y="1463040"/>
            <a:ext cx="2659303" cy="54864"/>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82263" y="1627632"/>
            <a:ext cx="2293543" cy="310896"/>
          </a:xfrm>
          <a:prstGeom prst="rect">
            <a:avLst/>
          </a:prstGeom>
          <a:noFill/>
        </p:spPr>
        <p:txBody>
          <a:bodyPr wrap="square" anchor="t" lIns="36000" rIns="36000" tIns="18000" bIns="18000">
            <a:spAutoFit/>
          </a:bodyPr>
          <a:lstStyle/>
          <a:p>
            <a:pPr algn="l"/>
            <a:r>
              <a:rPr sz="1300" b="1" i="0">
                <a:solidFill>
                  <a:srgbClr val="4A7C8C"/>
                </a:solidFill>
                <a:latin typeface="Noto Sans JP"/>
              </a:rPr>
              <a:t>02</a:t>
            </a:r>
          </a:p>
        </p:txBody>
      </p:sp>
      <p:sp>
        <p:nvSpPr>
          <p:cNvPr id="24" name="TextBox 23"/>
          <p:cNvSpPr txBox="1"/>
          <p:nvPr/>
        </p:nvSpPr>
        <p:spPr>
          <a:xfrm>
            <a:off x="3482263"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噴霧時</a:t>
            </a:r>
          </a:p>
        </p:txBody>
      </p:sp>
      <p:sp>
        <p:nvSpPr>
          <p:cNvPr id="25" name="TextBox 24"/>
          <p:cNvSpPr txBox="1"/>
          <p:nvPr/>
        </p:nvSpPr>
        <p:spPr>
          <a:xfrm>
            <a:off x="3482263"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ゾル様</a:t>
            </a:r>
          </a:p>
        </p:txBody>
      </p:sp>
      <p:sp>
        <p:nvSpPr>
          <p:cNvPr id="26" name="Rectangle 25"/>
          <p:cNvSpPr/>
          <p:nvPr/>
        </p:nvSpPr>
        <p:spPr>
          <a:xfrm>
            <a:off x="3482263"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82263"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せん断ひずみで粘度が低下し、流動化。</a:t>
            </a:r>
          </a:p>
        </p:txBody>
      </p:sp>
      <p:sp>
        <p:nvSpPr>
          <p:cNvPr id="28" name="Rounded Rectangle 27"/>
          <p:cNvSpPr/>
          <p:nvPr/>
        </p:nvSpPr>
        <p:spPr>
          <a:xfrm>
            <a:off x="3482263" y="4078224"/>
            <a:ext cx="2293543" cy="420624"/>
          </a:xfrm>
          <a:prstGeom prst="roundRect">
            <a:avLst>
              <a:gd name="adj" fmla="val 6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82263" y="4078224"/>
            <a:ext cx="2293543" cy="420624"/>
          </a:xfrm>
          <a:prstGeom prst="rect">
            <a:avLst/>
          </a:prstGeom>
          <a:noFill/>
        </p:spPr>
        <p:txBody>
          <a:bodyPr wrap="square" anchor="ctr" lIns="36000" rIns="36000" tIns="18000" bIns="18000">
            <a:spAutoFit/>
          </a:bodyPr>
          <a:lstStyle/>
          <a:p>
            <a:pPr algn="ctr"/>
            <a:r>
              <a:rPr sz="1100" b="1" i="0">
                <a:solidFill>
                  <a:srgbClr val="4A7C8C"/>
                </a:solidFill>
                <a:latin typeface="Noto Sans JP"/>
              </a:rPr>
              <a:t>せん断希薄化 n &lt; 1</a:t>
            </a:r>
          </a:p>
        </p:txBody>
      </p:sp>
      <p:sp>
        <p:nvSpPr>
          <p:cNvPr id="30" name="TextBox 29"/>
          <p:cNvSpPr txBox="1"/>
          <p:nvPr/>
        </p:nvSpPr>
        <p:spPr>
          <a:xfrm>
            <a:off x="5958687"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31" name="Rounded Rectangle 30"/>
          <p:cNvSpPr/>
          <p:nvPr/>
        </p:nvSpPr>
        <p:spPr>
          <a:xfrm>
            <a:off x="6233007"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3007" y="1463040"/>
            <a:ext cx="2659303" cy="54864"/>
          </a:xfrm>
          <a:prstGeom prst="rect">
            <a:avLst/>
          </a:prstGeom>
          <a:solidFill>
            <a:srgbClr val="5B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15887" y="1627632"/>
            <a:ext cx="2293543" cy="310896"/>
          </a:xfrm>
          <a:prstGeom prst="rect">
            <a:avLst/>
          </a:prstGeom>
          <a:noFill/>
        </p:spPr>
        <p:txBody>
          <a:bodyPr wrap="square" anchor="t" lIns="36000" rIns="36000" tIns="18000" bIns="18000">
            <a:spAutoFit/>
          </a:bodyPr>
          <a:lstStyle/>
          <a:p>
            <a:pPr algn="l"/>
            <a:r>
              <a:rPr sz="1300" b="1" i="0">
                <a:solidFill>
                  <a:srgbClr val="5B8C5A"/>
                </a:solidFill>
                <a:latin typeface="Noto Sans JP"/>
              </a:rPr>
              <a:t>03</a:t>
            </a:r>
          </a:p>
        </p:txBody>
      </p:sp>
      <p:sp>
        <p:nvSpPr>
          <p:cNvPr id="34" name="TextBox 33"/>
          <p:cNvSpPr txBox="1"/>
          <p:nvPr/>
        </p:nvSpPr>
        <p:spPr>
          <a:xfrm>
            <a:off x="6415887"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付着後</a:t>
            </a:r>
          </a:p>
        </p:txBody>
      </p:sp>
      <p:sp>
        <p:nvSpPr>
          <p:cNvPr id="35" name="TextBox 34"/>
          <p:cNvSpPr txBox="1"/>
          <p:nvPr/>
        </p:nvSpPr>
        <p:spPr>
          <a:xfrm>
            <a:off x="6415887"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自己修復ゲル</a:t>
            </a:r>
          </a:p>
        </p:txBody>
      </p:sp>
      <p:sp>
        <p:nvSpPr>
          <p:cNvPr id="36" name="Rectangle 35"/>
          <p:cNvSpPr/>
          <p:nvPr/>
        </p:nvSpPr>
        <p:spPr>
          <a:xfrm>
            <a:off x="6415887"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5887"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ひずみ解放で即座にゲル構造を回復。</a:t>
            </a:r>
          </a:p>
        </p:txBody>
      </p:sp>
      <p:sp>
        <p:nvSpPr>
          <p:cNvPr id="38" name="Rounded Rectangle 37"/>
          <p:cNvSpPr/>
          <p:nvPr/>
        </p:nvSpPr>
        <p:spPr>
          <a:xfrm>
            <a:off x="6415887" y="4078224"/>
            <a:ext cx="2293543" cy="420624"/>
          </a:xfrm>
          <a:prstGeom prst="roundRect">
            <a:avLst>
              <a:gd name="adj" fmla="val 6000"/>
            </a:avLst>
          </a:prstGeom>
          <a:solidFill>
            <a:srgbClr val="FFFFFF"/>
          </a:solidFill>
          <a:ln w="889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15887" y="4078224"/>
            <a:ext cx="2293543" cy="420624"/>
          </a:xfrm>
          <a:prstGeom prst="rect">
            <a:avLst/>
          </a:prstGeom>
          <a:noFill/>
        </p:spPr>
        <p:txBody>
          <a:bodyPr wrap="square" anchor="ctr" lIns="36000" rIns="36000" tIns="18000" bIns="18000">
            <a:spAutoFit/>
          </a:bodyPr>
          <a:lstStyle/>
          <a:p>
            <a:pPr algn="ctr"/>
            <a:r>
              <a:rPr sz="1100" b="1" i="0">
                <a:solidFill>
                  <a:srgbClr val="5B8C5A"/>
                </a:solidFill>
                <a:latin typeface="Noto Sans JP"/>
              </a:rPr>
              <a:t>G′ 回復率 ~90%</a:t>
            </a:r>
          </a:p>
        </p:txBody>
      </p:sp>
      <p:sp>
        <p:nvSpPr>
          <p:cNvPr id="40" name="TextBox 39"/>
          <p:cNvSpPr txBox="1"/>
          <p:nvPr/>
        </p:nvSpPr>
        <p:spPr>
          <a:xfrm>
            <a:off x="8892311"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41" name="Rounded Rectangle 40"/>
          <p:cNvSpPr/>
          <p:nvPr/>
        </p:nvSpPr>
        <p:spPr>
          <a:xfrm>
            <a:off x="9166631"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166631" y="1463040"/>
            <a:ext cx="2659303" cy="54864"/>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349511" y="1627632"/>
            <a:ext cx="2293543" cy="310896"/>
          </a:xfrm>
          <a:prstGeom prst="rect">
            <a:avLst/>
          </a:prstGeom>
          <a:noFill/>
        </p:spPr>
        <p:txBody>
          <a:bodyPr wrap="square" anchor="t" lIns="36000" rIns="36000" tIns="18000" bIns="18000">
            <a:spAutoFit/>
          </a:bodyPr>
          <a:lstStyle/>
          <a:p>
            <a:pPr algn="l"/>
            <a:r>
              <a:rPr sz="1300" b="1" i="0">
                <a:solidFill>
                  <a:srgbClr val="9F7639"/>
                </a:solidFill>
                <a:latin typeface="Noto Sans JP"/>
              </a:rPr>
              <a:t>04</a:t>
            </a:r>
          </a:p>
        </p:txBody>
      </p:sp>
      <p:sp>
        <p:nvSpPr>
          <p:cNvPr id="44" name="TextBox 43"/>
          <p:cNvSpPr txBox="1"/>
          <p:nvPr/>
        </p:nvSpPr>
        <p:spPr>
          <a:xfrm>
            <a:off x="9349511"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炎接触</a:t>
            </a:r>
          </a:p>
        </p:txBody>
      </p:sp>
      <p:sp>
        <p:nvSpPr>
          <p:cNvPr id="45" name="TextBox 44"/>
          <p:cNvSpPr txBox="1"/>
          <p:nvPr/>
        </p:nvSpPr>
        <p:spPr>
          <a:xfrm>
            <a:off x="9349511"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エアロゲル</a:t>
            </a:r>
          </a:p>
        </p:txBody>
      </p:sp>
      <p:sp>
        <p:nvSpPr>
          <p:cNvPr id="46" name="Rectangle 45"/>
          <p:cNvSpPr/>
          <p:nvPr/>
        </p:nvSpPr>
        <p:spPr>
          <a:xfrm>
            <a:off x="9349511"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349511"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CSP が焼結し多孔質シリカ層を形成。</a:t>
            </a:r>
          </a:p>
        </p:txBody>
      </p:sp>
      <p:sp>
        <p:nvSpPr>
          <p:cNvPr id="48" name="Rounded Rectangle 47"/>
          <p:cNvSpPr/>
          <p:nvPr/>
        </p:nvSpPr>
        <p:spPr>
          <a:xfrm>
            <a:off x="9349511" y="4078224"/>
            <a:ext cx="2293543" cy="420624"/>
          </a:xfrm>
          <a:prstGeom prst="roundRect">
            <a:avLst>
              <a:gd name="adj" fmla="val 6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349511" y="4078224"/>
            <a:ext cx="2293543" cy="420624"/>
          </a:xfrm>
          <a:prstGeom prst="rect">
            <a:avLst/>
          </a:prstGeom>
          <a:noFill/>
        </p:spPr>
        <p:txBody>
          <a:bodyPr wrap="square" anchor="ctr" lIns="36000" rIns="36000" tIns="18000" bIns="18000">
            <a:spAutoFit/>
          </a:bodyPr>
          <a:lstStyle/>
          <a:p>
            <a:pPr algn="ctr"/>
            <a:r>
              <a:rPr sz="1100" b="1" i="0">
                <a:solidFill>
                  <a:srgbClr val="9F7639"/>
                </a:solidFill>
                <a:latin typeface="Noto Sans JP"/>
              </a:rPr>
              <a:t>断熱バリアとして機能</a:t>
            </a:r>
          </a:p>
        </p:txBody>
      </p:sp>
      <p:sp>
        <p:nvSpPr>
          <p:cNvPr id="50" name="Rounded Rectangle 49"/>
          <p:cNvSpPr/>
          <p:nvPr/>
        </p:nvSpPr>
        <p:spPr>
          <a:xfrm>
            <a:off x="365760" y="4846320"/>
            <a:ext cx="11460175" cy="1755648"/>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65760" y="4846320"/>
            <a:ext cx="73152" cy="175564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080" y="4846320"/>
            <a:ext cx="2194560" cy="1755648"/>
          </a:xfrm>
          <a:prstGeom prst="rect">
            <a:avLst/>
          </a:prstGeom>
          <a:noFill/>
        </p:spPr>
        <p:txBody>
          <a:bodyPr wrap="square" anchor="ctr" lIns="36000" rIns="36000" tIns="18000" bIns="18000">
            <a:spAutoFit/>
          </a:bodyPr>
          <a:lstStyle/>
          <a:p>
            <a:pPr algn="l"/>
            <a:r>
              <a:rPr sz="1300" b="1" i="0">
                <a:solidFill>
                  <a:srgbClr val="D4A574"/>
                </a:solidFill>
                <a:latin typeface="Noto Sans JP"/>
              </a:rPr>
              <a:t>POINT</a:t>
            </a:r>
          </a:p>
        </p:txBody>
      </p:sp>
      <p:sp>
        <p:nvSpPr>
          <p:cNvPr id="53" name="TextBox 52"/>
          <p:cNvSpPr txBox="1"/>
          <p:nvPr/>
        </p:nvSpPr>
        <p:spPr>
          <a:xfrm>
            <a:off x="2194560" y="4846320"/>
            <a:ext cx="9357055" cy="1755648"/>
          </a:xfrm>
          <a:prstGeom prst="rect">
            <a:avLst/>
          </a:prstGeom>
          <a:noFill/>
        </p:spPr>
        <p:txBody>
          <a:bodyPr wrap="square" anchor="ctr" lIns="36000" rIns="36000" tIns="18000" bIns="18000">
            <a:spAutoFit/>
          </a:bodyPr>
          <a:lstStyle/>
          <a:p>
            <a:pPr algn="l"/>
            <a:r>
              <a:rPr sz="1300" b="0" i="0">
                <a:solidFill>
                  <a:srgbClr val="FFFFFF"/>
                </a:solidFill>
                <a:latin typeface="Noto Sans JP"/>
              </a:rPr>
              <a:t>MC の温度応答性（LCST）に頼らず、レオロジー特性だけで「飛ばす→留める→固める」を実現する点が本材料の核心です。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1/6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使用したセルロース系ポリマー</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11 / 39</a:t>
            </a:r>
          </a:p>
        </p:txBody>
      </p:sp>
      <p:sp>
        <p:nvSpPr>
          <p:cNvPr id="10" name="TextBox 9"/>
          <p:cNvSpPr txBox="1"/>
          <p:nvPr/>
        </p:nvSpPr>
        <p:spPr>
          <a:xfrm>
            <a:off x="365760" y="85953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A</a:t>
            </a:r>
          </a:p>
        </p:txBody>
      </p:sp>
      <p:sp>
        <p:nvSpPr>
          <p:cNvPr id="11" name="TextBox 10"/>
          <p:cNvSpPr txBox="1"/>
          <p:nvPr/>
        </p:nvSpPr>
        <p:spPr>
          <a:xfrm>
            <a:off x="1234440" y="106070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HEC</a:t>
            </a:r>
          </a:p>
        </p:txBody>
      </p:sp>
      <p:sp>
        <p:nvSpPr>
          <p:cNvPr id="12" name="TextBox 11"/>
          <p:cNvSpPr txBox="1"/>
          <p:nvPr/>
        </p:nvSpPr>
        <p:spPr>
          <a:xfrm>
            <a:off x="1234440" y="149961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Hydroxyethyl cellulose</a:t>
            </a:r>
          </a:p>
        </p:txBody>
      </p:sp>
      <p:sp>
        <p:nvSpPr>
          <p:cNvPr id="13" name="TextBox 12"/>
          <p:cNvSpPr txBox="1"/>
          <p:nvPr/>
        </p:nvSpPr>
        <p:spPr>
          <a:xfrm>
            <a:off x="1234440" y="177393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ベース粘性を付与する骨格成分</a:t>
            </a:r>
          </a:p>
        </p:txBody>
      </p:sp>
      <p:sp>
        <p:nvSpPr>
          <p:cNvPr id="14" name="Rectangle 13"/>
          <p:cNvSpPr/>
          <p:nvPr/>
        </p:nvSpPr>
        <p:spPr>
          <a:xfrm>
            <a:off x="365760" y="276148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77977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B</a:t>
            </a:r>
          </a:p>
        </p:txBody>
      </p:sp>
      <p:sp>
        <p:nvSpPr>
          <p:cNvPr id="16" name="TextBox 15"/>
          <p:cNvSpPr txBox="1"/>
          <p:nvPr/>
        </p:nvSpPr>
        <p:spPr>
          <a:xfrm>
            <a:off x="1234440" y="298094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MC</a:t>
            </a:r>
          </a:p>
        </p:txBody>
      </p:sp>
      <p:sp>
        <p:nvSpPr>
          <p:cNvPr id="17" name="TextBox 16"/>
          <p:cNvSpPr txBox="1"/>
          <p:nvPr/>
        </p:nvSpPr>
        <p:spPr>
          <a:xfrm>
            <a:off x="1234440" y="341985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cellulose</a:t>
            </a:r>
          </a:p>
        </p:txBody>
      </p:sp>
      <p:sp>
        <p:nvSpPr>
          <p:cNvPr id="18" name="TextBox 17"/>
          <p:cNvSpPr txBox="1"/>
          <p:nvPr/>
        </p:nvSpPr>
        <p:spPr>
          <a:xfrm>
            <a:off x="1234440" y="369417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加熱でゲル化（熱可逆性）── 火炎保護の鍵</a:t>
            </a:r>
          </a:p>
        </p:txBody>
      </p:sp>
      <p:sp>
        <p:nvSpPr>
          <p:cNvPr id="19" name="Rectangle 18"/>
          <p:cNvSpPr/>
          <p:nvPr/>
        </p:nvSpPr>
        <p:spPr>
          <a:xfrm>
            <a:off x="365760" y="468172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470001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C</a:t>
            </a:r>
          </a:p>
        </p:txBody>
      </p:sp>
      <p:sp>
        <p:nvSpPr>
          <p:cNvPr id="21" name="TextBox 20"/>
          <p:cNvSpPr txBox="1"/>
          <p:nvPr/>
        </p:nvSpPr>
        <p:spPr>
          <a:xfrm>
            <a:off x="1234440" y="490118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MHEC</a:t>
            </a:r>
          </a:p>
        </p:txBody>
      </p:sp>
      <p:sp>
        <p:nvSpPr>
          <p:cNvPr id="22" name="TextBox 21"/>
          <p:cNvSpPr txBox="1"/>
          <p:nvPr/>
        </p:nvSpPr>
        <p:spPr>
          <a:xfrm>
            <a:off x="1234440" y="534009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2-hydroxyethyl cellulose</a:t>
            </a:r>
          </a:p>
        </p:txBody>
      </p:sp>
      <p:sp>
        <p:nvSpPr>
          <p:cNvPr id="23" name="TextBox 22"/>
          <p:cNvSpPr txBox="1"/>
          <p:nvPr/>
        </p:nvSpPr>
        <p:spPr>
          <a:xfrm>
            <a:off x="1234440" y="561441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AとBの特性を併せ持つ複合型</a:t>
            </a:r>
          </a:p>
        </p:txBody>
      </p:sp>
      <p:sp>
        <p:nvSpPr>
          <p:cNvPr id="24" name="Rounded Rectangle 23"/>
          <p:cNvSpPr/>
          <p:nvPr/>
        </p:nvSpPr>
        <p:spPr>
          <a:xfrm>
            <a:off x="6742008" y="859536"/>
            <a:ext cx="5083926" cy="30175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8517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17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1b/c</a:t>
            </a:r>
          </a:p>
        </p:txBody>
      </p:sp>
      <p:sp>
        <p:nvSpPr>
          <p:cNvPr id="27" name="TextBox 26"/>
          <p:cNvSpPr txBox="1"/>
          <p:nvPr/>
        </p:nvSpPr>
        <p:spPr>
          <a:xfrm>
            <a:off x="6742008" y="859536"/>
            <a:ext cx="5083926" cy="30175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742008" y="3913632"/>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各ポリマーの化学構造とCSP混合スキーム</a:t>
            </a:r>
          </a:p>
        </p:txBody>
      </p:sp>
      <p:sp>
        <p:nvSpPr>
          <p:cNvPr id="29" name="Rounded Rectangle 28"/>
          <p:cNvSpPr/>
          <p:nvPr/>
        </p:nvSpPr>
        <p:spPr>
          <a:xfrm>
            <a:off x="6742008" y="4297680"/>
            <a:ext cx="5083926"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1736" y="440740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1736" y="440740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2" name="TextBox 31"/>
          <p:cNvSpPr txBox="1"/>
          <p:nvPr/>
        </p:nvSpPr>
        <p:spPr>
          <a:xfrm>
            <a:off x="6742008" y="4297680"/>
            <a:ext cx="5083926"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3" name="TextBox 32"/>
          <p:cNvSpPr txBox="1"/>
          <p:nvPr/>
        </p:nvSpPr>
        <p:spPr>
          <a:xfrm>
            <a:off x="6851736" y="5779008"/>
            <a:ext cx="4864470"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4" name="TextBox 33"/>
          <p:cNvSpPr txBox="1"/>
          <p:nvPr/>
        </p:nvSpPr>
        <p:spPr>
          <a:xfrm>
            <a:off x="6742008" y="6163056"/>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セルロースの分子構造（参考）</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2/6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レオロジー設計：せん断希薄化と自己修復性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12 / 39</a:t>
            </a:r>
          </a:p>
        </p:txBody>
      </p:sp>
      <p:sp>
        <p:nvSpPr>
          <p:cNvPr id="10" name="Rounded Rectangle 9"/>
          <p:cNvSpPr/>
          <p:nvPr/>
        </p:nvSpPr>
        <p:spPr>
          <a:xfrm>
            <a:off x="365760" y="859536"/>
            <a:ext cx="5409444" cy="2468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t>
            </a:r>
          </a:p>
        </p:txBody>
      </p:sp>
      <p:sp>
        <p:nvSpPr>
          <p:cNvPr id="13" name="TextBox 12"/>
          <p:cNvSpPr txBox="1"/>
          <p:nvPr/>
        </p:nvSpPr>
        <p:spPr>
          <a:xfrm>
            <a:off x="365760" y="859536"/>
            <a:ext cx="5409444" cy="2468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364992"/>
            <a:ext cx="540944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せん断速度（シアシニング挙動）</a:t>
            </a:r>
          </a:p>
        </p:txBody>
      </p:sp>
      <p:sp>
        <p:nvSpPr>
          <p:cNvPr id="15" name="Rectangle 14"/>
          <p:cNvSpPr/>
          <p:nvPr/>
        </p:nvSpPr>
        <p:spPr>
          <a:xfrm>
            <a:off x="365760" y="3511296"/>
            <a:ext cx="4868499"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367588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せん断希薄化</a:t>
            </a:r>
          </a:p>
        </p:txBody>
      </p:sp>
      <p:sp>
        <p:nvSpPr>
          <p:cNvPr id="17" name="TextBox 16"/>
          <p:cNvSpPr txBox="1"/>
          <p:nvPr/>
        </p:nvSpPr>
        <p:spPr>
          <a:xfrm>
            <a:off x="1408175" y="367588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流動指数 n &lt; 1（噴霧時に低粘度化）</a:t>
            </a:r>
          </a:p>
        </p:txBody>
      </p:sp>
      <p:sp>
        <p:nvSpPr>
          <p:cNvPr id="18" name="TextBox 17"/>
          <p:cNvSpPr txBox="1"/>
          <p:nvPr/>
        </p:nvSpPr>
        <p:spPr>
          <a:xfrm>
            <a:off x="365760" y="404164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降伏応力</a:t>
            </a:r>
          </a:p>
        </p:txBody>
      </p:sp>
      <p:sp>
        <p:nvSpPr>
          <p:cNvPr id="19" name="TextBox 18"/>
          <p:cNvSpPr txBox="1"/>
          <p:nvPr/>
        </p:nvSpPr>
        <p:spPr>
          <a:xfrm>
            <a:off x="1408175" y="404164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~33 Pa（静止時のゲル構造を維持）</a:t>
            </a:r>
          </a:p>
        </p:txBody>
      </p:sp>
      <p:sp>
        <p:nvSpPr>
          <p:cNvPr id="20" name="TextBox 19"/>
          <p:cNvSpPr txBox="1"/>
          <p:nvPr/>
        </p:nvSpPr>
        <p:spPr>
          <a:xfrm>
            <a:off x="365760" y="440740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自己修復性</a:t>
            </a:r>
          </a:p>
        </p:txBody>
      </p:sp>
      <p:sp>
        <p:nvSpPr>
          <p:cNvPr id="21" name="TextBox 20"/>
          <p:cNvSpPr txBox="1"/>
          <p:nvPr/>
        </p:nvSpPr>
        <p:spPr>
          <a:xfrm>
            <a:off x="1408175" y="440740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ひずみ除去後 G' が ~90% 回復</a:t>
            </a:r>
          </a:p>
        </p:txBody>
      </p:sp>
      <p:sp>
        <p:nvSpPr>
          <p:cNvPr id="22" name="Rounded Rectangle 21"/>
          <p:cNvSpPr/>
          <p:nvPr/>
        </p:nvSpPr>
        <p:spPr>
          <a:xfrm>
            <a:off x="595808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8610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24" name="TextBox 23"/>
          <p:cNvSpPr txBox="1"/>
          <p:nvPr/>
        </p:nvSpPr>
        <p:spPr>
          <a:xfrm>
            <a:off x="6086100" y="1225296"/>
            <a:ext cx="1638958"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&lt; 1</a:t>
            </a:r>
          </a:p>
        </p:txBody>
      </p:sp>
      <p:sp>
        <p:nvSpPr>
          <p:cNvPr id="25" name="TextBox 24"/>
          <p:cNvSpPr txBox="1"/>
          <p:nvPr/>
        </p:nvSpPr>
        <p:spPr>
          <a:xfrm>
            <a:off x="608610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強いせん断希薄化</a:t>
            </a:r>
          </a:p>
        </p:txBody>
      </p:sp>
      <p:sp>
        <p:nvSpPr>
          <p:cNvPr id="26" name="Rounded Rectangle 25"/>
          <p:cNvSpPr/>
          <p:nvPr/>
        </p:nvSpPr>
        <p:spPr>
          <a:xfrm>
            <a:off x="794451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7253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静的降伏応力</a:t>
            </a:r>
          </a:p>
        </p:txBody>
      </p:sp>
      <p:sp>
        <p:nvSpPr>
          <p:cNvPr id="28" name="TextBox 27"/>
          <p:cNvSpPr txBox="1"/>
          <p:nvPr/>
        </p:nvSpPr>
        <p:spPr>
          <a:xfrm>
            <a:off x="8072530" y="1225296"/>
            <a:ext cx="1638958"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~33 Pa</a:t>
            </a:r>
          </a:p>
        </p:txBody>
      </p:sp>
      <p:sp>
        <p:nvSpPr>
          <p:cNvPr id="29" name="TextBox 28"/>
          <p:cNvSpPr txBox="1"/>
          <p:nvPr/>
        </p:nvSpPr>
        <p:spPr>
          <a:xfrm>
            <a:off x="807253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a:t>
            </a:r>
          </a:p>
        </p:txBody>
      </p:sp>
      <p:sp>
        <p:nvSpPr>
          <p:cNvPr id="30" name="Rounded Rectangle 29"/>
          <p:cNvSpPr/>
          <p:nvPr/>
        </p:nvSpPr>
        <p:spPr>
          <a:xfrm>
            <a:off x="993094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96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G' 回復率</a:t>
            </a:r>
          </a:p>
        </p:txBody>
      </p:sp>
      <p:sp>
        <p:nvSpPr>
          <p:cNvPr id="32" name="TextBox 31"/>
          <p:cNvSpPr txBox="1"/>
          <p:nvPr/>
        </p:nvSpPr>
        <p:spPr>
          <a:xfrm>
            <a:off x="10058960" y="1225296"/>
            <a:ext cx="1638958" cy="411480"/>
          </a:xfrm>
          <a:prstGeom prst="rect">
            <a:avLst/>
          </a:prstGeom>
          <a:noFill/>
        </p:spPr>
        <p:txBody>
          <a:bodyPr wrap="square" anchor="t" lIns="36000" rIns="36000" tIns="18000" bIns="18000">
            <a:spAutoFit/>
          </a:bodyPr>
          <a:lstStyle/>
          <a:p>
            <a:pPr algn="l"/>
            <a:r>
              <a:rPr sz="2000" b="1" i="0">
                <a:solidFill>
                  <a:srgbClr val="5B8C5A"/>
                </a:solidFill>
                <a:latin typeface="Noto Sans JP"/>
              </a:rPr>
              <a:t>~90%</a:t>
            </a:r>
          </a:p>
        </p:txBody>
      </p:sp>
      <p:sp>
        <p:nvSpPr>
          <p:cNvPr id="33" name="TextBox 32"/>
          <p:cNvSpPr txBox="1"/>
          <p:nvPr/>
        </p:nvSpPr>
        <p:spPr>
          <a:xfrm>
            <a:off x="1005896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1000秒後</a:t>
            </a:r>
          </a:p>
        </p:txBody>
      </p:sp>
      <p:sp>
        <p:nvSpPr>
          <p:cNvPr id="34" name="Rounded Rectangle 33"/>
          <p:cNvSpPr/>
          <p:nvPr/>
        </p:nvSpPr>
        <p:spPr>
          <a:xfrm>
            <a:off x="5958084" y="2414016"/>
            <a:ext cx="5867851" cy="24688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40964" y="2578608"/>
            <a:ext cx="5502091" cy="274320"/>
          </a:xfrm>
          <a:prstGeom prst="rect">
            <a:avLst/>
          </a:prstGeom>
          <a:noFill/>
        </p:spPr>
        <p:txBody>
          <a:bodyPr wrap="square" anchor="t" lIns="36000" rIns="36000" tIns="18000" bIns="18000">
            <a:spAutoFit/>
          </a:bodyPr>
          <a:lstStyle/>
          <a:p>
            <a:pPr algn="l"/>
            <a:r>
              <a:rPr sz="1100" b="1" i="0">
                <a:solidFill>
                  <a:srgbClr val="A0B8D0"/>
                </a:solidFill>
                <a:latin typeface="Noto Sans JP"/>
              </a:rPr>
              <a:t>噴霧〜耐火プロセス</a:t>
            </a:r>
          </a:p>
        </p:txBody>
      </p:sp>
      <p:sp>
        <p:nvSpPr>
          <p:cNvPr id="36" name="Rounded Rectangle 35"/>
          <p:cNvSpPr/>
          <p:nvPr/>
        </p:nvSpPr>
        <p:spPr>
          <a:xfrm>
            <a:off x="6140964"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32404"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静止時</a:t>
            </a:r>
          </a:p>
        </p:txBody>
      </p:sp>
      <p:sp>
        <p:nvSpPr>
          <p:cNvPr id="38" name="TextBox 37"/>
          <p:cNvSpPr txBox="1"/>
          <p:nvPr/>
        </p:nvSpPr>
        <p:spPr>
          <a:xfrm>
            <a:off x="6232404"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ゲル状態</a:t>
            </a:r>
          </a:p>
        </p:txBody>
      </p:sp>
      <p:sp>
        <p:nvSpPr>
          <p:cNvPr id="39" name="TextBox 38"/>
          <p:cNvSpPr txBox="1"/>
          <p:nvPr/>
        </p:nvSpPr>
        <p:spPr>
          <a:xfrm>
            <a:off x="6232404"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G' &gt; G''</a:t>
            </a:r>
          </a:p>
        </p:txBody>
      </p:sp>
      <p:sp>
        <p:nvSpPr>
          <p:cNvPr id="40" name="TextBox 39"/>
          <p:cNvSpPr txBox="1"/>
          <p:nvPr/>
        </p:nvSpPr>
        <p:spPr>
          <a:xfrm>
            <a:off x="7310746"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1" name="Rounded Rectangle 40"/>
          <p:cNvSpPr/>
          <p:nvPr/>
        </p:nvSpPr>
        <p:spPr>
          <a:xfrm>
            <a:off x="7402186"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93626"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噴霧時</a:t>
            </a:r>
          </a:p>
        </p:txBody>
      </p:sp>
      <p:sp>
        <p:nvSpPr>
          <p:cNvPr id="43" name="TextBox 42"/>
          <p:cNvSpPr txBox="1"/>
          <p:nvPr/>
        </p:nvSpPr>
        <p:spPr>
          <a:xfrm>
            <a:off x="7493626"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せん断希薄化</a:t>
            </a:r>
          </a:p>
        </p:txBody>
      </p:sp>
      <p:sp>
        <p:nvSpPr>
          <p:cNvPr id="44" name="TextBox 43"/>
          <p:cNvSpPr txBox="1"/>
          <p:nvPr/>
        </p:nvSpPr>
        <p:spPr>
          <a:xfrm>
            <a:off x="7493626"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低粘度・ゾル様</a:t>
            </a:r>
          </a:p>
        </p:txBody>
      </p:sp>
      <p:sp>
        <p:nvSpPr>
          <p:cNvPr id="45" name="TextBox 44"/>
          <p:cNvSpPr txBox="1"/>
          <p:nvPr/>
        </p:nvSpPr>
        <p:spPr>
          <a:xfrm>
            <a:off x="8571969"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6" name="Rounded Rectangle 45"/>
          <p:cNvSpPr/>
          <p:nvPr/>
        </p:nvSpPr>
        <p:spPr>
          <a:xfrm>
            <a:off x="8663409"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754849"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付着後</a:t>
            </a:r>
          </a:p>
        </p:txBody>
      </p:sp>
      <p:sp>
        <p:nvSpPr>
          <p:cNvPr id="48" name="TextBox 47"/>
          <p:cNvSpPr txBox="1"/>
          <p:nvPr/>
        </p:nvSpPr>
        <p:spPr>
          <a:xfrm>
            <a:off x="8754849"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自己修復</a:t>
            </a:r>
          </a:p>
        </p:txBody>
      </p:sp>
      <p:sp>
        <p:nvSpPr>
          <p:cNvPr id="49" name="TextBox 48"/>
          <p:cNvSpPr txBox="1"/>
          <p:nvPr/>
        </p:nvSpPr>
        <p:spPr>
          <a:xfrm>
            <a:off x="8754849"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G' 回復</a:t>
            </a:r>
          </a:p>
        </p:txBody>
      </p:sp>
      <p:sp>
        <p:nvSpPr>
          <p:cNvPr id="50" name="TextBox 49"/>
          <p:cNvSpPr txBox="1"/>
          <p:nvPr/>
        </p:nvSpPr>
        <p:spPr>
          <a:xfrm>
            <a:off x="9833192"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51" name="Rounded Rectangle 50"/>
          <p:cNvSpPr/>
          <p:nvPr/>
        </p:nvSpPr>
        <p:spPr>
          <a:xfrm>
            <a:off x="9924632"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016072"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炎接触</a:t>
            </a:r>
          </a:p>
        </p:txBody>
      </p:sp>
      <p:sp>
        <p:nvSpPr>
          <p:cNvPr id="53" name="TextBox 52"/>
          <p:cNvSpPr txBox="1"/>
          <p:nvPr/>
        </p:nvSpPr>
        <p:spPr>
          <a:xfrm>
            <a:off x="10016072"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エアロゲル化</a:t>
            </a:r>
          </a:p>
        </p:txBody>
      </p:sp>
      <p:sp>
        <p:nvSpPr>
          <p:cNvPr id="54" name="TextBox 53"/>
          <p:cNvSpPr txBox="1"/>
          <p:nvPr/>
        </p:nvSpPr>
        <p:spPr>
          <a:xfrm>
            <a:off x="10016072"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多孔質シリカ層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3/6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コロイダルシリカ粒子(CSP)と界面活性剤(SDS)</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13 / 39</a:t>
            </a:r>
          </a:p>
        </p:txBody>
      </p:sp>
      <p:sp>
        <p:nvSpPr>
          <p:cNvPr id="10" name="Rounded Rectangle 9"/>
          <p:cNvSpPr/>
          <p:nvPr/>
        </p:nvSpPr>
        <p:spPr>
          <a:xfrm>
            <a:off x="365760"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TEM</a:t>
            </a:r>
          </a:p>
        </p:txBody>
      </p:sp>
      <p:sp>
        <p:nvSpPr>
          <p:cNvPr id="13" name="TextBox 12"/>
          <p:cNvSpPr txBox="1"/>
          <p:nvPr/>
        </p:nvSpPr>
        <p:spPr>
          <a:xfrm>
            <a:off x="365760"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CSP粒子（22 nm、単分散）</a:t>
            </a:r>
          </a:p>
        </p:txBody>
      </p:sp>
      <p:sp>
        <p:nvSpPr>
          <p:cNvPr id="15" name="TextBox 14"/>
          <p:cNvSpPr txBox="1"/>
          <p:nvPr/>
        </p:nvSpPr>
        <p:spPr>
          <a:xfrm>
            <a:off x="365760"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CSP — Colloidal Silica Particles</a:t>
            </a:r>
          </a:p>
        </p:txBody>
      </p:sp>
      <p:sp>
        <p:nvSpPr>
          <p:cNvPr id="16" name="TextBox 15"/>
          <p:cNvSpPr txBox="1"/>
          <p:nvPr/>
        </p:nvSpPr>
        <p:spPr>
          <a:xfrm>
            <a:off x="365760"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566928"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LUDOX TM-50（原液 50 wt%）→ 15 wt%に希釈（pH 9）</a:t>
            </a:r>
          </a:p>
        </p:txBody>
      </p:sp>
      <p:sp>
        <p:nvSpPr>
          <p:cNvPr id="18" name="TextBox 17"/>
          <p:cNvSpPr txBox="1"/>
          <p:nvPr/>
        </p:nvSpPr>
        <p:spPr>
          <a:xfrm>
            <a:off x="365760"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566928"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粒子サイズ：22 nm（単分散）</a:t>
            </a:r>
          </a:p>
        </p:txBody>
      </p:sp>
      <p:sp>
        <p:nvSpPr>
          <p:cNvPr id="20" name="TextBox 19"/>
          <p:cNvSpPr txBox="1"/>
          <p:nvPr/>
        </p:nvSpPr>
        <p:spPr>
          <a:xfrm>
            <a:off x="365760"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1" name="TextBox 20"/>
          <p:cNvSpPr txBox="1"/>
          <p:nvPr/>
        </p:nvSpPr>
        <p:spPr>
          <a:xfrm>
            <a:off x="566928"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配合濃度：ゲル中 5 wt%</a:t>
            </a:r>
          </a:p>
        </p:txBody>
      </p:sp>
      <p:sp>
        <p:nvSpPr>
          <p:cNvPr id="22" name="TextBox 21"/>
          <p:cNvSpPr txBox="1"/>
          <p:nvPr/>
        </p:nvSpPr>
        <p:spPr>
          <a:xfrm>
            <a:off x="365760"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3" name="TextBox 22"/>
          <p:cNvSpPr txBox="1"/>
          <p:nvPr/>
        </p:nvSpPr>
        <p:spPr>
          <a:xfrm>
            <a:off x="566928"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加熱時に焼結 → silica aerogel に変態</a:t>
            </a:r>
          </a:p>
        </p:txBody>
      </p:sp>
      <p:sp>
        <p:nvSpPr>
          <p:cNvPr id="24" name="Rounded Rectangle 23"/>
          <p:cNvSpPr/>
          <p:nvPr/>
        </p:nvSpPr>
        <p:spPr>
          <a:xfrm>
            <a:off x="6178143"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87871"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7871"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SEM</a:t>
            </a:r>
          </a:p>
        </p:txBody>
      </p:sp>
      <p:sp>
        <p:nvSpPr>
          <p:cNvPr id="27" name="TextBox 26"/>
          <p:cNvSpPr txBox="1"/>
          <p:nvPr/>
        </p:nvSpPr>
        <p:spPr>
          <a:xfrm>
            <a:off x="6178143"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178143"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SDS添加量による発泡構造の変化</a:t>
            </a:r>
          </a:p>
        </p:txBody>
      </p:sp>
      <p:sp>
        <p:nvSpPr>
          <p:cNvPr id="29" name="TextBox 28"/>
          <p:cNvSpPr txBox="1"/>
          <p:nvPr/>
        </p:nvSpPr>
        <p:spPr>
          <a:xfrm>
            <a:off x="6178143"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SDS — Sodium Dodecyl Sulfate</a:t>
            </a:r>
          </a:p>
        </p:txBody>
      </p:sp>
      <p:sp>
        <p:nvSpPr>
          <p:cNvPr id="30" name="TextBox 29"/>
          <p:cNvSpPr txBox="1"/>
          <p:nvPr/>
        </p:nvSpPr>
        <p:spPr>
          <a:xfrm>
            <a:off x="6178143"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1" name="TextBox 30"/>
          <p:cNvSpPr txBox="1"/>
          <p:nvPr/>
        </p:nvSpPr>
        <p:spPr>
          <a:xfrm>
            <a:off x="6379311"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陰イオン性界面活性剤（添加剤）</a:t>
            </a:r>
          </a:p>
        </p:txBody>
      </p:sp>
      <p:sp>
        <p:nvSpPr>
          <p:cNvPr id="32" name="TextBox 31"/>
          <p:cNvSpPr txBox="1"/>
          <p:nvPr/>
        </p:nvSpPr>
        <p:spPr>
          <a:xfrm>
            <a:off x="6178143"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3" name="TextBox 32"/>
          <p:cNvSpPr txBox="1"/>
          <p:nvPr/>
        </p:nvSpPr>
        <p:spPr>
          <a:xfrm>
            <a:off x="6379311"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SDS添加でも Foaming Index は改善しなかった</a:t>
            </a:r>
          </a:p>
        </p:txBody>
      </p:sp>
      <p:sp>
        <p:nvSpPr>
          <p:cNvPr id="34" name="TextBox 33"/>
          <p:cNvSpPr txBox="1"/>
          <p:nvPr/>
        </p:nvSpPr>
        <p:spPr>
          <a:xfrm>
            <a:off x="6178143"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6379311"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添加濃度：0.1 wt% ・ 0.5 wt% の2水準</a:t>
            </a:r>
          </a:p>
        </p:txBody>
      </p:sp>
      <p:sp>
        <p:nvSpPr>
          <p:cNvPr id="36" name="TextBox 35"/>
          <p:cNvSpPr txBox="1"/>
          <p:nvPr/>
        </p:nvSpPr>
        <p:spPr>
          <a:xfrm>
            <a:off x="6178143"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6379311"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SDS量増加で気泡が粗大化（SEM確認）</a:t>
            </a:r>
          </a:p>
        </p:txBody>
      </p:sp>
      <p:sp>
        <p:nvSpPr>
          <p:cNvPr id="38" name="Rounded Rectangle 37"/>
          <p:cNvSpPr/>
          <p:nvPr/>
        </p:nvSpPr>
        <p:spPr>
          <a:xfrm>
            <a:off x="365760" y="6053328"/>
            <a:ext cx="11460175" cy="65836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6053328"/>
            <a:ext cx="54864" cy="65836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6053328"/>
            <a:ext cx="365760" cy="65836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6053328"/>
            <a:ext cx="10774375" cy="658368"/>
          </a:xfrm>
          <a:prstGeom prst="rect">
            <a:avLst/>
          </a:prstGeom>
          <a:noFill/>
        </p:spPr>
        <p:txBody>
          <a:bodyPr wrap="square" anchor="ctr" lIns="36000" rIns="36000" tIns="18000" bIns="18000">
            <a:spAutoFit/>
          </a:bodyPr>
          <a:lstStyle/>
          <a:p>
            <a:pPr algn="l"/>
            <a:r>
              <a:rPr sz="1300" b="1" i="0">
                <a:solidFill>
                  <a:srgbClr val="1E293B"/>
                </a:solidFill>
                <a:latin typeface="Noto Sans JP"/>
              </a:rPr>
              <a:t>CSPの焼結温度域とセルロースの熱分解温度が重なるため、熱応答が同期して断熱層を形成</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4/6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評価した5種類の配合系</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14 / 39</a:t>
            </a:r>
          </a:p>
        </p:txBody>
      </p:sp>
      <p:sp>
        <p:nvSpPr>
          <p:cNvPr id="10" name="Rounded Rectangle 9"/>
          <p:cNvSpPr/>
          <p:nvPr/>
        </p:nvSpPr>
        <p:spPr>
          <a:xfrm>
            <a:off x="365760" y="859536"/>
            <a:ext cx="1999427" cy="173736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対照</a:t>
            </a:r>
          </a:p>
        </p:txBody>
      </p:sp>
      <p:sp>
        <p:nvSpPr>
          <p:cNvPr id="12" name="TextBox 11"/>
          <p:cNvSpPr txBox="1"/>
          <p:nvPr/>
        </p:nvSpPr>
        <p:spPr>
          <a:xfrm>
            <a:off x="457200"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AquaGel-K</a:t>
            </a:r>
          </a:p>
        </p:txBody>
      </p:sp>
      <p:sp>
        <p:nvSpPr>
          <p:cNvPr id="13" name="TextBox 12"/>
          <p:cNvSpPr txBox="1"/>
          <p:nvPr/>
        </p:nvSpPr>
        <p:spPr>
          <a:xfrm>
            <a:off x="457200"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0.5 wt%</a:t>
            </a:r>
          </a:p>
          <a:p>
            <a:pPr algn="ctr"/>
            <a:r>
              <a:rPr sz="1000" b="0" i="0">
                <a:solidFill>
                  <a:srgbClr val="64748B"/>
                </a:solidFill>
                <a:latin typeface="Noto Sans JP"/>
              </a:rPr>
              <a:t>市販WEG基準</a:t>
            </a:r>
          </a:p>
        </p:txBody>
      </p:sp>
      <p:sp>
        <p:nvSpPr>
          <p:cNvPr id="14" name="Rounded Rectangle 13"/>
          <p:cNvSpPr/>
          <p:nvPr/>
        </p:nvSpPr>
        <p:spPr>
          <a:xfrm>
            <a:off x="2456627"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48067"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1</a:t>
            </a:r>
          </a:p>
        </p:txBody>
      </p:sp>
      <p:sp>
        <p:nvSpPr>
          <p:cNvPr id="16" name="TextBox 15"/>
          <p:cNvSpPr txBox="1"/>
          <p:nvPr/>
        </p:nvSpPr>
        <p:spPr>
          <a:xfrm>
            <a:off x="2548067"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a:t>
            </a:r>
          </a:p>
        </p:txBody>
      </p:sp>
      <p:sp>
        <p:nvSpPr>
          <p:cNvPr id="17" name="TextBox 16"/>
          <p:cNvSpPr txBox="1"/>
          <p:nvPr/>
        </p:nvSpPr>
        <p:spPr>
          <a:xfrm>
            <a:off x="2548067"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HEC+MC 1 wt%</a:t>
            </a:r>
          </a:p>
          <a:p>
            <a:pPr algn="ctr"/>
            <a:r>
              <a:rPr sz="1000" b="0" i="0">
                <a:solidFill>
                  <a:srgbClr val="64748B"/>
                </a:solidFill>
                <a:latin typeface="Noto Sans JP"/>
              </a:rPr>
              <a:t>CSP 5 wt%</a:t>
            </a:r>
          </a:p>
        </p:txBody>
      </p:sp>
      <p:sp>
        <p:nvSpPr>
          <p:cNvPr id="18" name="Rounded Rectangle 17"/>
          <p:cNvSpPr/>
          <p:nvPr/>
        </p:nvSpPr>
        <p:spPr>
          <a:xfrm>
            <a:off x="4547494"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38934"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2</a:t>
            </a:r>
          </a:p>
        </p:txBody>
      </p:sp>
      <p:sp>
        <p:nvSpPr>
          <p:cNvPr id="20" name="TextBox 19"/>
          <p:cNvSpPr txBox="1"/>
          <p:nvPr/>
        </p:nvSpPr>
        <p:spPr>
          <a:xfrm>
            <a:off x="4638934"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MHEC / CSP</a:t>
            </a:r>
          </a:p>
        </p:txBody>
      </p:sp>
      <p:sp>
        <p:nvSpPr>
          <p:cNvPr id="21" name="TextBox 20"/>
          <p:cNvSpPr txBox="1"/>
          <p:nvPr/>
        </p:nvSpPr>
        <p:spPr>
          <a:xfrm>
            <a:off x="4638934"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MHEC 1 wt%</a:t>
            </a:r>
          </a:p>
          <a:p>
            <a:pPr algn="ctr"/>
            <a:r>
              <a:rPr sz="1000" b="0" i="0">
                <a:solidFill>
                  <a:srgbClr val="64748B"/>
                </a:solidFill>
                <a:latin typeface="Noto Sans JP"/>
              </a:rPr>
              <a:t>CSP 5 wt%</a:t>
            </a:r>
          </a:p>
        </p:txBody>
      </p:sp>
      <p:sp>
        <p:nvSpPr>
          <p:cNvPr id="22" name="Rounded Rectangle 21"/>
          <p:cNvSpPr/>
          <p:nvPr/>
        </p:nvSpPr>
        <p:spPr>
          <a:xfrm>
            <a:off x="6638361"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9801"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3</a:t>
            </a:r>
          </a:p>
        </p:txBody>
      </p:sp>
      <p:sp>
        <p:nvSpPr>
          <p:cNvPr id="24" name="TextBox 23"/>
          <p:cNvSpPr txBox="1"/>
          <p:nvPr/>
        </p:nvSpPr>
        <p:spPr>
          <a:xfrm>
            <a:off x="6729801"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5" name="TextBox 24"/>
          <p:cNvSpPr txBox="1"/>
          <p:nvPr/>
        </p:nvSpPr>
        <p:spPr>
          <a:xfrm>
            <a:off x="6729801"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0.1 wt%</a:t>
            </a:r>
          </a:p>
        </p:txBody>
      </p:sp>
      <p:sp>
        <p:nvSpPr>
          <p:cNvPr id="26" name="Rounded Rectangle 25"/>
          <p:cNvSpPr/>
          <p:nvPr/>
        </p:nvSpPr>
        <p:spPr>
          <a:xfrm>
            <a:off x="8729228"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0668"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4</a:t>
            </a:r>
          </a:p>
        </p:txBody>
      </p:sp>
      <p:sp>
        <p:nvSpPr>
          <p:cNvPr id="28" name="TextBox 27"/>
          <p:cNvSpPr txBox="1"/>
          <p:nvPr/>
        </p:nvSpPr>
        <p:spPr>
          <a:xfrm>
            <a:off x="8820668"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9" name="TextBox 28"/>
          <p:cNvSpPr txBox="1"/>
          <p:nvPr/>
        </p:nvSpPr>
        <p:spPr>
          <a:xfrm>
            <a:off x="8820668"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0.5 wt%</a:t>
            </a:r>
          </a:p>
        </p:txBody>
      </p:sp>
      <p:sp>
        <p:nvSpPr>
          <p:cNvPr id="30" name="Rounded Rectangle 29"/>
          <p:cNvSpPr/>
          <p:nvPr/>
        </p:nvSpPr>
        <p:spPr>
          <a:xfrm>
            <a:off x="365760"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配合設計の意図</a:t>
            </a:r>
          </a:p>
        </p:txBody>
      </p:sp>
      <p:sp>
        <p:nvSpPr>
          <p:cNvPr id="33" name="TextBox 32"/>
          <p:cNvSpPr txBox="1"/>
          <p:nvPr/>
        </p:nvSpPr>
        <p:spPr>
          <a:xfrm>
            <a:off x="548640" y="349300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4" name="TextBox 33"/>
          <p:cNvSpPr txBox="1"/>
          <p:nvPr/>
        </p:nvSpPr>
        <p:spPr>
          <a:xfrm>
            <a:off x="749808" y="349300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ポリマー種を変えて機能差を比較</a:t>
            </a:r>
          </a:p>
        </p:txBody>
      </p:sp>
      <p:sp>
        <p:nvSpPr>
          <p:cNvPr id="35" name="TextBox 34"/>
          <p:cNvSpPr txBox="1"/>
          <p:nvPr/>
        </p:nvSpPr>
        <p:spPr>
          <a:xfrm>
            <a:off x="548640" y="376732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6" name="TextBox 35"/>
          <p:cNvSpPr txBox="1"/>
          <p:nvPr/>
        </p:nvSpPr>
        <p:spPr>
          <a:xfrm>
            <a:off x="749808" y="376732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SDS濃度を2水準で発泡構造を検証</a:t>
            </a:r>
          </a:p>
        </p:txBody>
      </p:sp>
      <p:sp>
        <p:nvSpPr>
          <p:cNvPr id="37" name="TextBox 36"/>
          <p:cNvSpPr txBox="1"/>
          <p:nvPr/>
        </p:nvSpPr>
        <p:spPr>
          <a:xfrm>
            <a:off x="548640" y="404164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8" name="TextBox 37"/>
          <p:cNvSpPr txBox="1"/>
          <p:nvPr/>
        </p:nvSpPr>
        <p:spPr>
          <a:xfrm>
            <a:off x="749808" y="404164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市販品AquaGel-Kと直接比較</a:t>
            </a:r>
          </a:p>
        </p:txBody>
      </p:sp>
      <p:sp>
        <p:nvSpPr>
          <p:cNvPr id="39" name="Rounded Rectangle 38"/>
          <p:cNvSpPr/>
          <p:nvPr/>
        </p:nvSpPr>
        <p:spPr>
          <a:xfrm>
            <a:off x="4240682"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40682"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23562"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記法の読み方</a:t>
            </a:r>
          </a:p>
        </p:txBody>
      </p:sp>
      <p:sp>
        <p:nvSpPr>
          <p:cNvPr id="42" name="TextBox 41"/>
          <p:cNvSpPr txBox="1"/>
          <p:nvPr/>
        </p:nvSpPr>
        <p:spPr>
          <a:xfrm>
            <a:off x="4423562" y="3493008"/>
            <a:ext cx="3344570" cy="1645920"/>
          </a:xfrm>
          <a:prstGeom prst="rect">
            <a:avLst/>
          </a:prstGeom>
          <a:noFill/>
        </p:spPr>
        <p:txBody>
          <a:bodyPr wrap="square" anchor="t" lIns="36000" rIns="36000" tIns="18000" bIns="18000">
            <a:spAutoFit/>
          </a:bodyPr>
          <a:lstStyle/>
          <a:p>
            <a:pPr algn="l"/>
            <a:r>
              <a:rPr sz="1300" b="0" i="0">
                <a:solidFill>
                  <a:srgbClr val="475569"/>
                </a:solidFill>
                <a:latin typeface="Noto Sans JP"/>
              </a:rPr>
              <a:t>HEC+MC/CSP/SDS 1-5-0.1</a:t>
            </a:r>
          </a:p>
          <a:p>
            <a:pPr algn="l"/>
            <a:r>
              <a:rPr sz="1300" b="0" i="0">
                <a:solidFill>
                  <a:srgbClr val="475569"/>
                </a:solidFill>
                <a:latin typeface="Noto Sans JP"/>
              </a:rPr>
              <a:t>→ HEC+MC 1 wt%</a:t>
            </a:r>
          </a:p>
          <a:p>
            <a:pPr algn="l"/>
            <a:r>
              <a:rPr sz="1300" b="0" i="0">
                <a:solidFill>
                  <a:srgbClr val="475569"/>
                </a:solidFill>
                <a:latin typeface="Noto Sans JP"/>
              </a:rPr>
              <a:t>／ CSP 5 wt%</a:t>
            </a:r>
          </a:p>
          <a:p>
            <a:pPr algn="l"/>
            <a:r>
              <a:rPr sz="1300" b="0" i="0">
                <a:solidFill>
                  <a:srgbClr val="475569"/>
                </a:solidFill>
                <a:latin typeface="Noto Sans JP"/>
              </a:rPr>
              <a:t>／ SDS 0.1 wt%</a:t>
            </a:r>
          </a:p>
        </p:txBody>
      </p:sp>
      <p:sp>
        <p:nvSpPr>
          <p:cNvPr id="43" name="Rounded Rectangle 42"/>
          <p:cNvSpPr/>
          <p:nvPr/>
        </p:nvSpPr>
        <p:spPr>
          <a:xfrm>
            <a:off x="8115604" y="2962656"/>
            <a:ext cx="3710330" cy="197510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225332" y="307238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5332" y="307238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46" name="TextBox 45"/>
          <p:cNvSpPr txBox="1"/>
          <p:nvPr/>
        </p:nvSpPr>
        <p:spPr>
          <a:xfrm>
            <a:off x="8115604" y="2962656"/>
            <a:ext cx="3710330" cy="197510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7" name="TextBox 46"/>
          <p:cNvSpPr txBox="1"/>
          <p:nvPr/>
        </p:nvSpPr>
        <p:spPr>
          <a:xfrm>
            <a:off x="8115604" y="4974336"/>
            <a:ext cx="37103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5配合系のゲル外観</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5/6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評価手法の全体像</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15 / 39</a:t>
            </a:r>
          </a:p>
        </p:txBody>
      </p:sp>
      <p:sp>
        <p:nvSpPr>
          <p:cNvPr id="10" name="Rounded Rectangle 9"/>
          <p:cNvSpPr/>
          <p:nvPr/>
        </p:nvSpPr>
        <p:spPr>
          <a:xfrm>
            <a:off x="365760" y="859536"/>
            <a:ext cx="3805019" cy="544982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Setup</a:t>
            </a:r>
          </a:p>
        </p:txBody>
      </p:sp>
      <p:sp>
        <p:nvSpPr>
          <p:cNvPr id="13" name="TextBox 12"/>
          <p:cNvSpPr txBox="1"/>
          <p:nvPr/>
        </p:nvSpPr>
        <p:spPr>
          <a:xfrm>
            <a:off x="365760" y="859536"/>
            <a:ext cx="3805019" cy="544982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6345936"/>
            <a:ext cx="380501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燃焼試験セットアップ（MAP-Proトーチ／合板基板）</a:t>
            </a:r>
          </a:p>
        </p:txBody>
      </p:sp>
      <p:sp>
        <p:nvSpPr>
          <p:cNvPr id="15" name="Rounded Rectangle 14"/>
          <p:cNvSpPr/>
          <p:nvPr/>
        </p:nvSpPr>
        <p:spPr>
          <a:xfrm>
            <a:off x="4353659"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53659"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6539"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8" name="TextBox 17"/>
          <p:cNvSpPr txBox="1"/>
          <p:nvPr/>
        </p:nvSpPr>
        <p:spPr>
          <a:xfrm>
            <a:off x="4536539"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レオロジー測定</a:t>
            </a:r>
          </a:p>
        </p:txBody>
      </p:sp>
      <p:sp>
        <p:nvSpPr>
          <p:cNvPr id="19" name="TextBox 18"/>
          <p:cNvSpPr txBox="1"/>
          <p:nvPr/>
        </p:nvSpPr>
        <p:spPr>
          <a:xfrm>
            <a:off x="4536539"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0" name="TextBox 19"/>
          <p:cNvSpPr txBox="1"/>
          <p:nvPr/>
        </p:nvSpPr>
        <p:spPr>
          <a:xfrm>
            <a:off x="4737707"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振動周波数掃引（G', G''）</a:t>
            </a:r>
          </a:p>
        </p:txBody>
      </p:sp>
      <p:sp>
        <p:nvSpPr>
          <p:cNvPr id="21" name="TextBox 20"/>
          <p:cNvSpPr txBox="1"/>
          <p:nvPr/>
        </p:nvSpPr>
        <p:spPr>
          <a:xfrm>
            <a:off x="4536539"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2" name="TextBox 21"/>
          <p:cNvSpPr txBox="1"/>
          <p:nvPr/>
        </p:nvSpPr>
        <p:spPr>
          <a:xfrm>
            <a:off x="4737707"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定常流動掃引（粘度）</a:t>
            </a:r>
          </a:p>
        </p:txBody>
      </p:sp>
      <p:sp>
        <p:nvSpPr>
          <p:cNvPr id="23" name="TextBox 22"/>
          <p:cNvSpPr txBox="1"/>
          <p:nvPr/>
        </p:nvSpPr>
        <p:spPr>
          <a:xfrm>
            <a:off x="4536539"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4" name="TextBox 23"/>
          <p:cNvSpPr txBox="1"/>
          <p:nvPr/>
        </p:nvSpPr>
        <p:spPr>
          <a:xfrm>
            <a:off x="4737707"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Herschel-Bulkley適合</a:t>
            </a:r>
          </a:p>
        </p:txBody>
      </p:sp>
      <p:sp>
        <p:nvSpPr>
          <p:cNvPr id="25" name="Rounded Rectangle 24"/>
          <p:cNvSpPr/>
          <p:nvPr/>
        </p:nvSpPr>
        <p:spPr>
          <a:xfrm>
            <a:off x="8158377"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58377"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41257"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BURN TEST</a:t>
            </a:r>
          </a:p>
        </p:txBody>
      </p:sp>
      <p:sp>
        <p:nvSpPr>
          <p:cNvPr id="28" name="TextBox 27"/>
          <p:cNvSpPr txBox="1"/>
          <p:nvPr/>
        </p:nvSpPr>
        <p:spPr>
          <a:xfrm>
            <a:off x="8341257"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燃焼試験</a:t>
            </a:r>
          </a:p>
        </p:txBody>
      </p:sp>
      <p:sp>
        <p:nvSpPr>
          <p:cNvPr id="29" name="TextBox 28"/>
          <p:cNvSpPr txBox="1"/>
          <p:nvPr/>
        </p:nvSpPr>
        <p:spPr>
          <a:xfrm>
            <a:off x="8341257"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0" name="TextBox 29"/>
          <p:cNvSpPr txBox="1"/>
          <p:nvPr/>
        </p:nvSpPr>
        <p:spPr>
          <a:xfrm>
            <a:off x="8542425"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MAP-Proトーチ(~2054°C)で加熱</a:t>
            </a:r>
          </a:p>
        </p:txBody>
      </p:sp>
      <p:sp>
        <p:nvSpPr>
          <p:cNvPr id="31" name="TextBox 30"/>
          <p:cNvSpPr txBox="1"/>
          <p:nvPr/>
        </p:nvSpPr>
        <p:spPr>
          <a:xfrm>
            <a:off x="8341257"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2" name="TextBox 31"/>
          <p:cNvSpPr txBox="1"/>
          <p:nvPr/>
        </p:nvSpPr>
        <p:spPr>
          <a:xfrm>
            <a:off x="8542425"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炭化開始までの時間を計測</a:t>
            </a:r>
          </a:p>
        </p:txBody>
      </p:sp>
      <p:sp>
        <p:nvSpPr>
          <p:cNvPr id="33" name="TextBox 32"/>
          <p:cNvSpPr txBox="1"/>
          <p:nvPr/>
        </p:nvSpPr>
        <p:spPr>
          <a:xfrm>
            <a:off x="8341257"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4" name="TextBox 33"/>
          <p:cNvSpPr txBox="1"/>
          <p:nvPr/>
        </p:nvSpPr>
        <p:spPr>
          <a:xfrm>
            <a:off x="8542425"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120/300 s時点を比較</a:t>
            </a:r>
          </a:p>
        </p:txBody>
      </p:sp>
      <p:sp>
        <p:nvSpPr>
          <p:cNvPr id="35" name="Rounded Rectangle 34"/>
          <p:cNvSpPr/>
          <p:nvPr/>
        </p:nvSpPr>
        <p:spPr>
          <a:xfrm>
            <a:off x="4353659"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53659"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6539"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a:t>
            </a:r>
          </a:p>
        </p:txBody>
      </p:sp>
      <p:sp>
        <p:nvSpPr>
          <p:cNvPr id="38" name="TextBox 37"/>
          <p:cNvSpPr txBox="1"/>
          <p:nvPr/>
        </p:nvSpPr>
        <p:spPr>
          <a:xfrm>
            <a:off x="4536539"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発泡指数測定</a:t>
            </a:r>
          </a:p>
        </p:txBody>
      </p:sp>
      <p:sp>
        <p:nvSpPr>
          <p:cNvPr id="39" name="TextBox 38"/>
          <p:cNvSpPr txBox="1"/>
          <p:nvPr/>
        </p:nvSpPr>
        <p:spPr>
          <a:xfrm>
            <a:off x="4536539"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0" name="TextBox 39"/>
          <p:cNvSpPr txBox="1"/>
          <p:nvPr/>
        </p:nvSpPr>
        <p:spPr>
          <a:xfrm>
            <a:off x="4737707"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燃焼後の発泡層厚さを計測</a:t>
            </a:r>
          </a:p>
        </p:txBody>
      </p:sp>
      <p:sp>
        <p:nvSpPr>
          <p:cNvPr id="41" name="TextBox 40"/>
          <p:cNvSpPr txBox="1"/>
          <p:nvPr/>
        </p:nvSpPr>
        <p:spPr>
          <a:xfrm>
            <a:off x="4536539"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2" name="TextBox 41"/>
          <p:cNvSpPr txBox="1"/>
          <p:nvPr/>
        </p:nvSpPr>
        <p:spPr>
          <a:xfrm>
            <a:off x="4737707"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初期厚さ比 = Foaming Index</a:t>
            </a:r>
          </a:p>
        </p:txBody>
      </p:sp>
      <p:sp>
        <p:nvSpPr>
          <p:cNvPr id="43" name="Rounded Rectangle 42"/>
          <p:cNvSpPr/>
          <p:nvPr/>
        </p:nvSpPr>
        <p:spPr>
          <a:xfrm>
            <a:off x="8158377"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58377"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41257"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SEM</a:t>
            </a:r>
          </a:p>
        </p:txBody>
      </p:sp>
      <p:sp>
        <p:nvSpPr>
          <p:cNvPr id="46" name="TextBox 45"/>
          <p:cNvSpPr txBox="1"/>
          <p:nvPr/>
        </p:nvSpPr>
        <p:spPr>
          <a:xfrm>
            <a:off x="8341257"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SEM形態観察</a:t>
            </a:r>
          </a:p>
        </p:txBody>
      </p:sp>
      <p:sp>
        <p:nvSpPr>
          <p:cNvPr id="47" name="TextBox 46"/>
          <p:cNvSpPr txBox="1"/>
          <p:nvPr/>
        </p:nvSpPr>
        <p:spPr>
          <a:xfrm>
            <a:off x="8341257"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8" name="TextBox 47"/>
          <p:cNvSpPr txBox="1"/>
          <p:nvPr/>
        </p:nvSpPr>
        <p:spPr>
          <a:xfrm>
            <a:off x="8542425"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SDS濃度別の発泡構造</a:t>
            </a:r>
          </a:p>
        </p:txBody>
      </p:sp>
      <p:sp>
        <p:nvSpPr>
          <p:cNvPr id="49" name="TextBox 48"/>
          <p:cNvSpPr txBox="1"/>
          <p:nvPr/>
        </p:nvSpPr>
        <p:spPr>
          <a:xfrm>
            <a:off x="8341257"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0" name="TextBox 49"/>
          <p:cNvSpPr txBox="1"/>
          <p:nvPr/>
        </p:nvSpPr>
        <p:spPr>
          <a:xfrm>
            <a:off x="8542425"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燃焼時間別の焼結進行</a:t>
            </a:r>
          </a:p>
        </p:txBody>
      </p:sp>
      <p:sp>
        <p:nvSpPr>
          <p:cNvPr id="51" name="Rounded Rectangle 50"/>
          <p:cNvSpPr/>
          <p:nvPr/>
        </p:nvSpPr>
        <p:spPr>
          <a:xfrm>
            <a:off x="4353659"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353659"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536539"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SPECTROSCOPY</a:t>
            </a:r>
          </a:p>
        </p:txBody>
      </p:sp>
      <p:sp>
        <p:nvSpPr>
          <p:cNvPr id="54" name="TextBox 53"/>
          <p:cNvSpPr txBox="1"/>
          <p:nvPr/>
        </p:nvSpPr>
        <p:spPr>
          <a:xfrm>
            <a:off x="4536539"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分光分析</a:t>
            </a:r>
          </a:p>
        </p:txBody>
      </p:sp>
      <p:sp>
        <p:nvSpPr>
          <p:cNvPr id="55" name="TextBox 54"/>
          <p:cNvSpPr txBox="1"/>
          <p:nvPr/>
        </p:nvSpPr>
        <p:spPr>
          <a:xfrm>
            <a:off x="4536539"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6" name="TextBox 55"/>
          <p:cNvSpPr txBox="1"/>
          <p:nvPr/>
        </p:nvSpPr>
        <p:spPr>
          <a:xfrm>
            <a:off x="4737707"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FT-IR（化学結合）</a:t>
            </a:r>
          </a:p>
        </p:txBody>
      </p:sp>
      <p:sp>
        <p:nvSpPr>
          <p:cNvPr id="57" name="TextBox 56"/>
          <p:cNvSpPr txBox="1"/>
          <p:nvPr/>
        </p:nvSpPr>
        <p:spPr>
          <a:xfrm>
            <a:off x="4536539"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8" name="TextBox 57"/>
          <p:cNvSpPr txBox="1"/>
          <p:nvPr/>
        </p:nvSpPr>
        <p:spPr>
          <a:xfrm>
            <a:off x="4737707"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XPS（表面組成）</a:t>
            </a:r>
          </a:p>
        </p:txBody>
      </p:sp>
      <p:sp>
        <p:nvSpPr>
          <p:cNvPr id="59" name="Rounded Rectangle 58"/>
          <p:cNvSpPr/>
          <p:nvPr/>
        </p:nvSpPr>
        <p:spPr>
          <a:xfrm>
            <a:off x="8158377"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158377"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41257"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THERMAL</a:t>
            </a:r>
          </a:p>
        </p:txBody>
      </p:sp>
      <p:sp>
        <p:nvSpPr>
          <p:cNvPr id="62" name="TextBox 61"/>
          <p:cNvSpPr txBox="1"/>
          <p:nvPr/>
        </p:nvSpPr>
        <p:spPr>
          <a:xfrm>
            <a:off x="8341257"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熱分析</a:t>
            </a:r>
          </a:p>
        </p:txBody>
      </p:sp>
      <p:sp>
        <p:nvSpPr>
          <p:cNvPr id="63" name="TextBox 62"/>
          <p:cNvSpPr txBox="1"/>
          <p:nvPr/>
        </p:nvSpPr>
        <p:spPr>
          <a:xfrm>
            <a:off x="8341257"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4" name="TextBox 63"/>
          <p:cNvSpPr txBox="1"/>
          <p:nvPr/>
        </p:nvSpPr>
        <p:spPr>
          <a:xfrm>
            <a:off x="8542425"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TGA（熱重量）</a:t>
            </a:r>
          </a:p>
        </p:txBody>
      </p:sp>
      <p:sp>
        <p:nvSpPr>
          <p:cNvPr id="65" name="TextBox 64"/>
          <p:cNvSpPr txBox="1"/>
          <p:nvPr/>
        </p:nvSpPr>
        <p:spPr>
          <a:xfrm>
            <a:off x="8341257"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6" name="TextBox 65"/>
          <p:cNvSpPr txBox="1"/>
          <p:nvPr/>
        </p:nvSpPr>
        <p:spPr>
          <a:xfrm>
            <a:off x="8542425"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DSC（熱量）</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6/6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付着性・表面濡れ性：実装に不可欠な特性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16 / 39</a:t>
            </a:r>
          </a:p>
        </p:txBody>
      </p:sp>
      <p:sp>
        <p:nvSpPr>
          <p:cNvPr id="10" name="Rounded Rectangle 9"/>
          <p:cNvSpPr/>
          <p:nvPr/>
        </p:nvSpPr>
        <p:spPr>
          <a:xfrm>
            <a:off x="365760" y="859536"/>
            <a:ext cx="3734714"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13" name="TextBox 12"/>
          <p:cNvSpPr txBox="1"/>
          <p:nvPr/>
        </p:nvSpPr>
        <p:spPr>
          <a:xfrm>
            <a:off x="365760" y="859536"/>
            <a:ext cx="3734714"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373471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木材上での接触角</a:t>
            </a:r>
          </a:p>
        </p:txBody>
      </p:sp>
      <p:sp>
        <p:nvSpPr>
          <p:cNvPr id="15" name="TextBox 14"/>
          <p:cNvSpPr txBox="1"/>
          <p:nvPr/>
        </p:nvSpPr>
        <p:spPr>
          <a:xfrm>
            <a:off x="365760" y="3401568"/>
            <a:ext cx="3734714" cy="237744"/>
          </a:xfrm>
          <a:prstGeom prst="rect">
            <a:avLst/>
          </a:prstGeom>
          <a:noFill/>
        </p:spPr>
        <p:txBody>
          <a:bodyPr wrap="square" anchor="t" lIns="36000" rIns="36000" tIns="18000" bIns="18000">
            <a:spAutoFit/>
          </a:bodyPr>
          <a:lstStyle/>
          <a:p>
            <a:pPr algn="l"/>
            <a:r>
              <a:rPr sz="1000" b="1" i="0">
                <a:solidFill>
                  <a:srgbClr val="64748B"/>
                </a:solidFill>
                <a:latin typeface="Noto Sans JP"/>
              </a:rPr>
              <a:t>WETTING</a:t>
            </a:r>
          </a:p>
        </p:txBody>
      </p:sp>
      <p:sp>
        <p:nvSpPr>
          <p:cNvPr id="16" name="TextBox 15"/>
          <p:cNvSpPr txBox="1"/>
          <p:nvPr/>
        </p:nvSpPr>
        <p:spPr>
          <a:xfrm>
            <a:off x="365760" y="3639312"/>
            <a:ext cx="3734714"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接触角測定</a:t>
            </a:r>
          </a:p>
        </p:txBody>
      </p:sp>
      <p:sp>
        <p:nvSpPr>
          <p:cNvPr id="17" name="TextBox 16"/>
          <p:cNvSpPr txBox="1"/>
          <p:nvPr/>
        </p:nvSpPr>
        <p:spPr>
          <a:xfrm>
            <a:off x="365760" y="4023360"/>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8" name="TextBox 17"/>
          <p:cNvSpPr txBox="1"/>
          <p:nvPr/>
        </p:nvSpPr>
        <p:spPr>
          <a:xfrm>
            <a:off x="566928" y="4023360"/>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木材・コンクリート・金属で評価</a:t>
            </a:r>
          </a:p>
        </p:txBody>
      </p:sp>
      <p:sp>
        <p:nvSpPr>
          <p:cNvPr id="19" name="TextBox 18"/>
          <p:cNvSpPr txBox="1"/>
          <p:nvPr/>
        </p:nvSpPr>
        <p:spPr>
          <a:xfrm>
            <a:off x="365760" y="4334256"/>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0" name="TextBox 19"/>
          <p:cNvSpPr txBox="1"/>
          <p:nvPr/>
        </p:nvSpPr>
        <p:spPr>
          <a:xfrm>
            <a:off x="566928" y="4334256"/>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WEGは低接触角 → 高い濡れ性</a:t>
            </a:r>
          </a:p>
        </p:txBody>
      </p:sp>
      <p:sp>
        <p:nvSpPr>
          <p:cNvPr id="21" name="TextBox 20"/>
          <p:cNvSpPr txBox="1"/>
          <p:nvPr/>
        </p:nvSpPr>
        <p:spPr>
          <a:xfrm>
            <a:off x="365760" y="46451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2" name="TextBox 21"/>
          <p:cNvSpPr txBox="1"/>
          <p:nvPr/>
        </p:nvSpPr>
        <p:spPr>
          <a:xfrm>
            <a:off x="566928" y="4645152"/>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HEC+MCは木材との親和性が高い</a:t>
            </a:r>
          </a:p>
        </p:txBody>
      </p:sp>
      <p:sp>
        <p:nvSpPr>
          <p:cNvPr id="23" name="Rounded Rectangle 22"/>
          <p:cNvSpPr/>
          <p:nvPr/>
        </p:nvSpPr>
        <p:spPr>
          <a:xfrm>
            <a:off x="4228490" y="859536"/>
            <a:ext cx="3734714"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3821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3821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26" name="TextBox 25"/>
          <p:cNvSpPr txBox="1"/>
          <p:nvPr/>
        </p:nvSpPr>
        <p:spPr>
          <a:xfrm>
            <a:off x="4228490" y="859536"/>
            <a:ext cx="3734714"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7" name="TextBox 26"/>
          <p:cNvSpPr txBox="1"/>
          <p:nvPr/>
        </p:nvSpPr>
        <p:spPr>
          <a:xfrm>
            <a:off x="4228490" y="3090672"/>
            <a:ext cx="373471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垂直基板でのゲル保持</a:t>
            </a:r>
          </a:p>
        </p:txBody>
      </p:sp>
      <p:sp>
        <p:nvSpPr>
          <p:cNvPr id="28" name="TextBox 27"/>
          <p:cNvSpPr txBox="1"/>
          <p:nvPr/>
        </p:nvSpPr>
        <p:spPr>
          <a:xfrm>
            <a:off x="4228490" y="3401568"/>
            <a:ext cx="3734714" cy="237744"/>
          </a:xfrm>
          <a:prstGeom prst="rect">
            <a:avLst/>
          </a:prstGeom>
          <a:noFill/>
        </p:spPr>
        <p:txBody>
          <a:bodyPr wrap="square" anchor="t" lIns="36000" rIns="36000" tIns="18000" bIns="18000">
            <a:spAutoFit/>
          </a:bodyPr>
          <a:lstStyle/>
          <a:p>
            <a:pPr algn="l"/>
            <a:r>
              <a:rPr sz="1000" b="1" i="0">
                <a:solidFill>
                  <a:srgbClr val="64748B"/>
                </a:solidFill>
                <a:latin typeface="Noto Sans JP"/>
              </a:rPr>
              <a:t>ADHESION</a:t>
            </a:r>
          </a:p>
        </p:txBody>
      </p:sp>
      <p:sp>
        <p:nvSpPr>
          <p:cNvPr id="29" name="TextBox 28"/>
          <p:cNvSpPr txBox="1"/>
          <p:nvPr/>
        </p:nvSpPr>
        <p:spPr>
          <a:xfrm>
            <a:off x="4228490" y="3639312"/>
            <a:ext cx="3734714"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垂直面付着試験</a:t>
            </a:r>
          </a:p>
        </p:txBody>
      </p:sp>
      <p:sp>
        <p:nvSpPr>
          <p:cNvPr id="30" name="TextBox 29"/>
          <p:cNvSpPr txBox="1"/>
          <p:nvPr/>
        </p:nvSpPr>
        <p:spPr>
          <a:xfrm>
            <a:off x="4228490" y="4023360"/>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1" name="TextBox 30"/>
          <p:cNvSpPr txBox="1"/>
          <p:nvPr/>
        </p:nvSpPr>
        <p:spPr>
          <a:xfrm>
            <a:off x="4429658" y="4023360"/>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垂直基板に塗布し保持性を評価</a:t>
            </a:r>
          </a:p>
        </p:txBody>
      </p:sp>
      <p:sp>
        <p:nvSpPr>
          <p:cNvPr id="32" name="TextBox 31"/>
          <p:cNvSpPr txBox="1"/>
          <p:nvPr/>
        </p:nvSpPr>
        <p:spPr>
          <a:xfrm>
            <a:off x="4228490" y="4334256"/>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3" name="TextBox 32"/>
          <p:cNvSpPr txBox="1"/>
          <p:nvPr/>
        </p:nvSpPr>
        <p:spPr>
          <a:xfrm>
            <a:off x="4429658" y="4334256"/>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G' ≫ G'' → 流れ落ちない</a:t>
            </a:r>
          </a:p>
        </p:txBody>
      </p:sp>
      <p:sp>
        <p:nvSpPr>
          <p:cNvPr id="34" name="TextBox 33"/>
          <p:cNvSpPr txBox="1"/>
          <p:nvPr/>
        </p:nvSpPr>
        <p:spPr>
          <a:xfrm>
            <a:off x="4228490" y="46451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5" name="TextBox 34"/>
          <p:cNvSpPr txBox="1"/>
          <p:nvPr/>
        </p:nvSpPr>
        <p:spPr>
          <a:xfrm>
            <a:off x="4429658" y="4645152"/>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AquaGel-K同等以上の保持性</a:t>
            </a:r>
          </a:p>
        </p:txBody>
      </p:sp>
      <p:sp>
        <p:nvSpPr>
          <p:cNvPr id="36" name="Rounded Rectangle 35"/>
          <p:cNvSpPr/>
          <p:nvPr/>
        </p:nvSpPr>
        <p:spPr>
          <a:xfrm>
            <a:off x="8091220" y="859536"/>
            <a:ext cx="3734714"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20094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0094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39" name="TextBox 38"/>
          <p:cNvSpPr txBox="1"/>
          <p:nvPr/>
        </p:nvSpPr>
        <p:spPr>
          <a:xfrm>
            <a:off x="8091220" y="859536"/>
            <a:ext cx="3734714"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0" name="TextBox 39"/>
          <p:cNvSpPr txBox="1"/>
          <p:nvPr/>
        </p:nvSpPr>
        <p:spPr>
          <a:xfrm>
            <a:off x="8091220" y="3090672"/>
            <a:ext cx="373471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ノズル噴霧の様子</a:t>
            </a:r>
          </a:p>
        </p:txBody>
      </p:sp>
      <p:sp>
        <p:nvSpPr>
          <p:cNvPr id="41" name="TextBox 40"/>
          <p:cNvSpPr txBox="1"/>
          <p:nvPr/>
        </p:nvSpPr>
        <p:spPr>
          <a:xfrm>
            <a:off x="8091220" y="3401568"/>
            <a:ext cx="3734714" cy="237744"/>
          </a:xfrm>
          <a:prstGeom prst="rect">
            <a:avLst/>
          </a:prstGeom>
          <a:noFill/>
        </p:spPr>
        <p:txBody>
          <a:bodyPr wrap="square" anchor="t" lIns="36000" rIns="36000" tIns="18000" bIns="18000">
            <a:spAutoFit/>
          </a:bodyPr>
          <a:lstStyle/>
          <a:p>
            <a:pPr algn="l"/>
            <a:r>
              <a:rPr sz="1000" b="1" i="0">
                <a:solidFill>
                  <a:srgbClr val="64748B"/>
                </a:solidFill>
                <a:latin typeface="Noto Sans JP"/>
              </a:rPr>
              <a:t>SPRAY</a:t>
            </a:r>
          </a:p>
        </p:txBody>
      </p:sp>
      <p:sp>
        <p:nvSpPr>
          <p:cNvPr id="42" name="TextBox 41"/>
          <p:cNvSpPr txBox="1"/>
          <p:nvPr/>
        </p:nvSpPr>
        <p:spPr>
          <a:xfrm>
            <a:off x="8091220" y="3639312"/>
            <a:ext cx="3734714"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スプレー散布適性</a:t>
            </a:r>
          </a:p>
        </p:txBody>
      </p:sp>
      <p:sp>
        <p:nvSpPr>
          <p:cNvPr id="43" name="TextBox 42"/>
          <p:cNvSpPr txBox="1"/>
          <p:nvPr/>
        </p:nvSpPr>
        <p:spPr>
          <a:xfrm>
            <a:off x="8091220" y="4023360"/>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4" name="TextBox 43"/>
          <p:cNvSpPr txBox="1"/>
          <p:nvPr/>
        </p:nvSpPr>
        <p:spPr>
          <a:xfrm>
            <a:off x="8292388" y="4023360"/>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高せん断で粘度が急低下</a:t>
            </a:r>
          </a:p>
        </p:txBody>
      </p:sp>
      <p:sp>
        <p:nvSpPr>
          <p:cNvPr id="45" name="TextBox 44"/>
          <p:cNvSpPr txBox="1"/>
          <p:nvPr/>
        </p:nvSpPr>
        <p:spPr>
          <a:xfrm>
            <a:off x="8091220" y="4334256"/>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6" name="TextBox 45"/>
          <p:cNvSpPr txBox="1"/>
          <p:nvPr/>
        </p:nvSpPr>
        <p:spPr>
          <a:xfrm>
            <a:off x="8292388" y="4334256"/>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到達後すぐ高粘度を回復</a:t>
            </a:r>
          </a:p>
        </p:txBody>
      </p:sp>
      <p:sp>
        <p:nvSpPr>
          <p:cNvPr id="47" name="TextBox 46"/>
          <p:cNvSpPr txBox="1"/>
          <p:nvPr/>
        </p:nvSpPr>
        <p:spPr>
          <a:xfrm>
            <a:off x="8091220" y="46451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8" name="TextBox 47"/>
          <p:cNvSpPr txBox="1"/>
          <p:nvPr/>
        </p:nvSpPr>
        <p:spPr>
          <a:xfrm>
            <a:off x="8292388" y="4645152"/>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既存ホース・ノズルと互換</a:t>
            </a:r>
          </a:p>
        </p:txBody>
      </p:sp>
      <p:sp>
        <p:nvSpPr>
          <p:cNvPr id="49" name="Rounded Rectangle 48"/>
          <p:cNvSpPr/>
          <p:nvPr/>
        </p:nvSpPr>
        <p:spPr>
          <a:xfrm>
            <a:off x="365760" y="5980176"/>
            <a:ext cx="11460175" cy="65836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65760" y="5980176"/>
            <a:ext cx="54864" cy="65836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5980176"/>
            <a:ext cx="365760" cy="65836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2" name="TextBox 51"/>
          <p:cNvSpPr txBox="1"/>
          <p:nvPr/>
        </p:nvSpPr>
        <p:spPr>
          <a:xfrm>
            <a:off x="960120" y="5980176"/>
            <a:ext cx="10774375" cy="658368"/>
          </a:xfrm>
          <a:prstGeom prst="rect">
            <a:avLst/>
          </a:prstGeom>
          <a:noFill/>
        </p:spPr>
        <p:txBody>
          <a:bodyPr wrap="square" anchor="ctr" lIns="36000" rIns="36000" tIns="18000" bIns="18000">
            <a:spAutoFit/>
          </a:bodyPr>
          <a:lstStyle/>
          <a:p>
            <a:pPr algn="l"/>
            <a:r>
              <a:rPr sz="1300" b="1" i="0">
                <a:solidFill>
                  <a:srgbClr val="1E293B"/>
                </a:solidFill>
                <a:latin typeface="Noto Sans JP"/>
              </a:rPr>
              <a:t>流動学的設計（低 n、高 G'）により、散布適性と付着保持を同時に達成</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03</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3</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実験結果</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レオロジー特性、燃焼性能、発泡構造、エアロゲル形成メカニズムまで</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レオロジー</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燃焼試験</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発泡指数</a:t>
            </a:r>
          </a:p>
        </p:txBody>
      </p:sp>
      <p:sp>
        <p:nvSpPr>
          <p:cNvPr id="14" name="Rounded Rectangle 13"/>
          <p:cNvSpPr/>
          <p:nvPr/>
        </p:nvSpPr>
        <p:spPr>
          <a:xfrm>
            <a:off x="5742432"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42432"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SEM観察</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17 / 39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レオロジー①：振動弾性率 G' / G''</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18 / 39</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2a–b</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角周波数 vs Storage modulus G' ・ Loss modulus G''</a:t>
            </a:r>
          </a:p>
        </p:txBody>
      </p:sp>
      <p:sp>
        <p:nvSpPr>
          <p:cNvPr id="15" name="Rounded Rectangle 14"/>
          <p:cNvSpPr/>
          <p:nvPr/>
        </p:nvSpPr>
        <p:spPr>
          <a:xfrm>
            <a:off x="7104101" y="859536"/>
            <a:ext cx="4721833"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04101" y="859536"/>
            <a:ext cx="4721833"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86981" y="1024128"/>
            <a:ext cx="4356073"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KEY OBSERVATION</a:t>
            </a:r>
          </a:p>
        </p:txBody>
      </p:sp>
      <p:sp>
        <p:nvSpPr>
          <p:cNvPr id="18" name="TextBox 17"/>
          <p:cNvSpPr txBox="1"/>
          <p:nvPr/>
        </p:nvSpPr>
        <p:spPr>
          <a:xfrm>
            <a:off x="7286981" y="1261872"/>
            <a:ext cx="4356073"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主な観察</a:t>
            </a:r>
          </a:p>
        </p:txBody>
      </p:sp>
      <p:sp>
        <p:nvSpPr>
          <p:cNvPr id="19" name="TextBox 18"/>
          <p:cNvSpPr txBox="1"/>
          <p:nvPr/>
        </p:nvSpPr>
        <p:spPr>
          <a:xfrm>
            <a:off x="7286981"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88149" y="162763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全配合系で G' &gt; G'' → 固体的（ゲル）挙動</a:t>
            </a:r>
          </a:p>
        </p:txBody>
      </p:sp>
      <p:sp>
        <p:nvSpPr>
          <p:cNvPr id="21" name="TextBox 20"/>
          <p:cNvSpPr txBox="1"/>
          <p:nvPr/>
        </p:nvSpPr>
        <p:spPr>
          <a:xfrm>
            <a:off x="7286981"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88149" y="190195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周波数依存性が小さい → 安定したネットワーク</a:t>
            </a:r>
          </a:p>
        </p:txBody>
      </p:sp>
      <p:sp>
        <p:nvSpPr>
          <p:cNvPr id="23" name="TextBox 22"/>
          <p:cNvSpPr txBox="1"/>
          <p:nvPr/>
        </p:nvSpPr>
        <p:spPr>
          <a:xfrm>
            <a:off x="7286981"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88149" y="217627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AquaGel-K（G'=457 Pa）より低い G'（46/26 Pa）だが全系でゲル挙動</a:t>
            </a:r>
          </a:p>
        </p:txBody>
      </p:sp>
      <p:sp>
        <p:nvSpPr>
          <p:cNvPr id="25" name="Rounded Rectangle 24"/>
          <p:cNvSpPr/>
          <p:nvPr/>
        </p:nvSpPr>
        <p:spPr>
          <a:xfrm>
            <a:off x="7104101" y="3648456"/>
            <a:ext cx="4721833"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04101" y="36484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86981" y="36484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7698461" y="3648456"/>
            <a:ext cx="4036033"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ゲル骨格が明確に形成されており、塗布後に流れ落ちない</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2/11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レオロジー②：剪断希薄化と Power-law 指数</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19 / 39</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2c–d</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剪断速度（shear-thinning挙動）</a:t>
            </a:r>
          </a:p>
        </p:txBody>
      </p:sp>
      <p:sp>
        <p:nvSpPr>
          <p:cNvPr id="15" name="Rounded Rectangle 14"/>
          <p:cNvSpPr/>
          <p:nvPr/>
        </p:nvSpPr>
        <p:spPr>
          <a:xfrm>
            <a:off x="7104101" y="85953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117" y="96926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17" name="TextBox 16"/>
          <p:cNvSpPr txBox="1"/>
          <p:nvPr/>
        </p:nvSpPr>
        <p:spPr>
          <a:xfrm>
            <a:off x="7232117" y="122529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n &lt; 1</a:t>
            </a:r>
          </a:p>
        </p:txBody>
      </p:sp>
      <p:sp>
        <p:nvSpPr>
          <p:cNvPr id="18" name="TextBox 17"/>
          <p:cNvSpPr txBox="1"/>
          <p:nvPr/>
        </p:nvSpPr>
        <p:spPr>
          <a:xfrm>
            <a:off x="7232117" y="164592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 — 強い剪断希薄化</a:t>
            </a:r>
          </a:p>
        </p:txBody>
      </p:sp>
      <p:sp>
        <p:nvSpPr>
          <p:cNvPr id="19" name="Rounded Rectangle 18"/>
          <p:cNvSpPr/>
          <p:nvPr/>
        </p:nvSpPr>
        <p:spPr>
          <a:xfrm>
            <a:off x="7104101" y="209397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117" y="220370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21" name="TextBox 20"/>
          <p:cNvSpPr txBox="1"/>
          <p:nvPr/>
        </p:nvSpPr>
        <p:spPr>
          <a:xfrm>
            <a:off x="7232117" y="245973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n &lt; 1</a:t>
            </a:r>
          </a:p>
        </p:txBody>
      </p:sp>
      <p:sp>
        <p:nvSpPr>
          <p:cNvPr id="22" name="TextBox 21"/>
          <p:cNvSpPr txBox="1"/>
          <p:nvPr/>
        </p:nvSpPr>
        <p:spPr>
          <a:xfrm>
            <a:off x="7232117" y="288036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MHEC/CSP — 同様に剪断希薄化</a:t>
            </a:r>
          </a:p>
        </p:txBody>
      </p:sp>
      <p:sp>
        <p:nvSpPr>
          <p:cNvPr id="23" name="Rounded Rectangle 22"/>
          <p:cNvSpPr/>
          <p:nvPr/>
        </p:nvSpPr>
        <p:spPr>
          <a:xfrm>
            <a:off x="7104101" y="3419856"/>
            <a:ext cx="4721833" cy="91440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41261" y="3557016"/>
            <a:ext cx="4447513"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n &lt; 1 = 剪断希薄化（shear-thinning）</a:t>
            </a:r>
          </a:p>
          <a:p>
            <a:pPr algn="l"/>
            <a:r>
              <a:rPr sz="1200" b="0" i="0">
                <a:solidFill>
                  <a:srgbClr val="475569"/>
                </a:solidFill>
                <a:latin typeface="Noto Sans JP"/>
              </a:rPr>
              <a:t>低いほど高せん断でよく流れる → スプレー性◎</a:t>
            </a:r>
          </a:p>
        </p:txBody>
      </p:sp>
      <p:sp>
        <p:nvSpPr>
          <p:cNvPr id="25" name="Rounded Rectangle 24"/>
          <p:cNvSpPr/>
          <p:nvPr/>
        </p:nvSpPr>
        <p:spPr>
          <a:xfrm>
            <a:off x="365760" y="5431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5760" y="5431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431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960120" y="5431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静止時は高粘度で付着、噴霧時は低粘度で散布 — 既存の消火機材でそのまま使える流動特性</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3/11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レオロジー③：静的降伏応力と長期安定性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20 / 39</a:t>
            </a:r>
          </a:p>
        </p:txBody>
      </p:sp>
      <p:sp>
        <p:nvSpPr>
          <p:cNvPr id="10" name="Rounded Rectangle 9"/>
          <p:cNvSpPr/>
          <p:nvPr/>
        </p:nvSpPr>
        <p:spPr>
          <a:xfrm>
            <a:off x="365760" y="859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ƒ</a:t>
            </a:r>
          </a:p>
        </p:txBody>
      </p:sp>
      <p:sp>
        <p:nvSpPr>
          <p:cNvPr id="13" name="TextBox 12"/>
          <p:cNvSpPr txBox="1"/>
          <p:nvPr/>
        </p:nvSpPr>
        <p:spPr>
          <a:xfrm>
            <a:off x="960120" y="859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静的降伏応力：振幅掃引のG'/G'' クロスオーバー点（σ_s）。流れ始めに必要な最小応力</a:t>
            </a:r>
          </a:p>
        </p:txBody>
      </p:sp>
      <p:sp>
        <p:nvSpPr>
          <p:cNvPr id="14" name="Rectangle 13"/>
          <p:cNvSpPr/>
          <p:nvPr/>
        </p:nvSpPr>
        <p:spPr>
          <a:xfrm>
            <a:off x="365760" y="1636776"/>
            <a:ext cx="11460175"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636776"/>
            <a:ext cx="3554979"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16" name="TextBox 15"/>
          <p:cNvSpPr txBox="1"/>
          <p:nvPr/>
        </p:nvSpPr>
        <p:spPr>
          <a:xfrm>
            <a:off x="410361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静的降伏応力（新鮮）</a:t>
            </a:r>
          </a:p>
        </p:txBody>
      </p:sp>
      <p:sp>
        <p:nvSpPr>
          <p:cNvPr id="17" name="TextBox 16"/>
          <p:cNvSpPr txBox="1"/>
          <p:nvPr/>
        </p:nvSpPr>
        <p:spPr>
          <a:xfrm>
            <a:off x="6708204"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静的降伏応力（455日後）</a:t>
            </a:r>
          </a:p>
        </p:txBody>
      </p:sp>
      <p:sp>
        <p:nvSpPr>
          <p:cNvPr id="18" name="TextBox 17"/>
          <p:cNvSpPr txBox="1"/>
          <p:nvPr/>
        </p:nvSpPr>
        <p:spPr>
          <a:xfrm>
            <a:off x="931278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備考</a:t>
            </a:r>
          </a:p>
        </p:txBody>
      </p:sp>
      <p:sp>
        <p:nvSpPr>
          <p:cNvPr id="19" name="Rectangle 18"/>
          <p:cNvSpPr/>
          <p:nvPr/>
        </p:nvSpPr>
        <p:spPr>
          <a:xfrm>
            <a:off x="365760" y="213969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3969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 1-5</a:t>
            </a:r>
          </a:p>
        </p:txBody>
      </p:sp>
      <p:sp>
        <p:nvSpPr>
          <p:cNvPr id="21" name="TextBox 20"/>
          <p:cNvSpPr txBox="1"/>
          <p:nvPr/>
        </p:nvSpPr>
        <p:spPr>
          <a:xfrm>
            <a:off x="4103619" y="213969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33.34 Pa</a:t>
            </a:r>
          </a:p>
        </p:txBody>
      </p:sp>
      <p:sp>
        <p:nvSpPr>
          <p:cNvPr id="22" name="TextBox 21"/>
          <p:cNvSpPr txBox="1"/>
          <p:nvPr/>
        </p:nvSpPr>
        <p:spPr>
          <a:xfrm>
            <a:off x="6708204" y="213969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68.9 Pa</a:t>
            </a:r>
          </a:p>
        </p:txBody>
      </p:sp>
      <p:sp>
        <p:nvSpPr>
          <p:cNvPr id="23" name="TextBox 22"/>
          <p:cNvSpPr txBox="1"/>
          <p:nvPr/>
        </p:nvSpPr>
        <p:spPr>
          <a:xfrm>
            <a:off x="9312789" y="213969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ゲル強度が経時で増大</a:t>
            </a:r>
          </a:p>
        </p:txBody>
      </p:sp>
      <p:sp>
        <p:nvSpPr>
          <p:cNvPr id="24" name="Rectangle 23"/>
          <p:cNvSpPr/>
          <p:nvPr/>
        </p:nvSpPr>
        <p:spPr>
          <a:xfrm>
            <a:off x="365760" y="2642616"/>
            <a:ext cx="11460175" cy="50292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264261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 1-5</a:t>
            </a:r>
          </a:p>
        </p:txBody>
      </p:sp>
      <p:sp>
        <p:nvSpPr>
          <p:cNvPr id="26" name="TextBox 25"/>
          <p:cNvSpPr txBox="1"/>
          <p:nvPr/>
        </p:nvSpPr>
        <p:spPr>
          <a:xfrm>
            <a:off x="4103619" y="264261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3.31 Pa</a:t>
            </a:r>
          </a:p>
        </p:txBody>
      </p:sp>
      <p:sp>
        <p:nvSpPr>
          <p:cNvPr id="27" name="TextBox 26"/>
          <p:cNvSpPr txBox="1"/>
          <p:nvPr/>
        </p:nvSpPr>
        <p:spPr>
          <a:xfrm>
            <a:off x="6708204" y="264261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4.56 Pa</a:t>
            </a:r>
          </a:p>
        </p:txBody>
      </p:sp>
      <p:sp>
        <p:nvSpPr>
          <p:cNvPr id="28" name="TextBox 27"/>
          <p:cNvSpPr txBox="1"/>
          <p:nvPr/>
        </p:nvSpPr>
        <p:spPr>
          <a:xfrm>
            <a:off x="9312789" y="264261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長期安定性を確認（455日）</a:t>
            </a:r>
          </a:p>
        </p:txBody>
      </p:sp>
      <p:sp>
        <p:nvSpPr>
          <p:cNvPr id="29" name="Rectangle 28"/>
          <p:cNvSpPr/>
          <p:nvPr/>
        </p:nvSpPr>
        <p:spPr>
          <a:xfrm>
            <a:off x="365760" y="314553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3145536"/>
            <a:ext cx="3554979"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AquaGel-K（市販対照）</a:t>
            </a:r>
          </a:p>
        </p:txBody>
      </p:sp>
      <p:sp>
        <p:nvSpPr>
          <p:cNvPr id="31" name="TextBox 30"/>
          <p:cNvSpPr txBox="1"/>
          <p:nvPr/>
        </p:nvSpPr>
        <p:spPr>
          <a:xfrm>
            <a:off x="4103619"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2" name="TextBox 31"/>
          <p:cNvSpPr txBox="1"/>
          <p:nvPr/>
        </p:nvSpPr>
        <p:spPr>
          <a:xfrm>
            <a:off x="6708204"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3" name="TextBox 32"/>
          <p:cNvSpPr txBox="1"/>
          <p:nvPr/>
        </p:nvSpPr>
        <p:spPr>
          <a:xfrm>
            <a:off x="9312789" y="3145536"/>
            <a:ext cx="2513145" cy="502920"/>
          </a:xfrm>
          <a:prstGeom prst="rect">
            <a:avLst/>
          </a:prstGeom>
          <a:noFill/>
        </p:spPr>
        <p:txBody>
          <a:bodyPr wrap="square" anchor="ctr" lIns="36000" rIns="36000" tIns="18000" bIns="18000">
            <a:spAutoFit/>
          </a:bodyPr>
          <a:lstStyle/>
          <a:p>
            <a:pPr algn="l"/>
            <a:r>
              <a:rPr sz="1100" b="0" i="0">
                <a:solidFill>
                  <a:srgbClr val="64748B"/>
                </a:solidFill>
                <a:latin typeface="Noto Sans JP"/>
              </a:rPr>
              <a:t>比較対照</a:t>
            </a:r>
          </a:p>
        </p:txBody>
      </p:sp>
      <p:sp>
        <p:nvSpPr>
          <p:cNvPr id="34" name="Rounded Rectangle 33"/>
          <p:cNvSpPr/>
          <p:nvPr/>
        </p:nvSpPr>
        <p:spPr>
          <a:xfrm>
            <a:off x="365760"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30352"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静的降伏応力</a:t>
            </a:r>
          </a:p>
        </p:txBody>
      </p:sp>
      <p:sp>
        <p:nvSpPr>
          <p:cNvPr id="36" name="TextBox 35"/>
          <p:cNvSpPr txBox="1"/>
          <p:nvPr/>
        </p:nvSpPr>
        <p:spPr>
          <a:xfrm>
            <a:off x="530352"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振幅掃引のG'/G''クロスオーバー点で測定。HEC+MC/CSPは33.34 Pa、MHEC/CSPは3.31 Pa（新鮮配合）</a:t>
            </a:r>
          </a:p>
        </p:txBody>
      </p:sp>
      <p:sp>
        <p:nvSpPr>
          <p:cNvPr id="37" name="Rounded Rectangle 36"/>
          <p:cNvSpPr/>
          <p:nvPr/>
        </p:nvSpPr>
        <p:spPr>
          <a:xfrm>
            <a:off x="4231538"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96130"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長期安定性</a:t>
            </a:r>
          </a:p>
        </p:txBody>
      </p:sp>
      <p:sp>
        <p:nvSpPr>
          <p:cNvPr id="39" name="TextBox 38"/>
          <p:cNvSpPr txBox="1"/>
          <p:nvPr/>
        </p:nvSpPr>
        <p:spPr>
          <a:xfrm>
            <a:off x="4396130"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MHEC/CSPは455日経時後も3.31→4.56 Paとわずかな変化のみ。実用配合の長期安定性を実証</a:t>
            </a:r>
          </a:p>
        </p:txBody>
      </p:sp>
      <p:sp>
        <p:nvSpPr>
          <p:cNvPr id="40" name="Rounded Rectangle 39"/>
          <p:cNvSpPr/>
          <p:nvPr/>
        </p:nvSpPr>
        <p:spPr>
          <a:xfrm>
            <a:off x="8097316"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61908"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HEC+MC vs MHEC</a:t>
            </a:r>
          </a:p>
        </p:txBody>
      </p:sp>
      <p:sp>
        <p:nvSpPr>
          <p:cNvPr id="42" name="TextBox 41"/>
          <p:cNvSpPr txBox="1"/>
          <p:nvPr/>
        </p:nvSpPr>
        <p:spPr>
          <a:xfrm>
            <a:off x="8261908"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HEC+MC系はより高い降伏応力で垂直面付着に有利。MHEC系は単一ポリマーで製造が簡便</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4/11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レオロジー④：貯蔵弾性率 G' と粘弾性（tan δ）</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21 / 39</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貯蔵弾性率（1 rad/s）</a:t>
            </a:r>
          </a:p>
        </p:txBody>
      </p:sp>
      <p:sp>
        <p:nvSpPr>
          <p:cNvPr id="11" name="TextBox 10"/>
          <p:cNvSpPr txBox="1"/>
          <p:nvPr/>
        </p:nvSpPr>
        <p:spPr>
          <a:xfrm>
            <a:off x="365760"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12" name="Rounded Rectangle 11"/>
          <p:cNvSpPr/>
          <p:nvPr/>
        </p:nvSpPr>
        <p:spPr>
          <a:xfrm>
            <a:off x="2286000"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86000" y="1344168"/>
            <a:ext cx="34669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44287"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25.6 Pa</a:t>
            </a:r>
          </a:p>
        </p:txBody>
      </p:sp>
      <p:sp>
        <p:nvSpPr>
          <p:cNvPr id="15" name="TextBox 14"/>
          <p:cNvSpPr txBox="1"/>
          <p:nvPr/>
        </p:nvSpPr>
        <p:spPr>
          <a:xfrm>
            <a:off x="365760"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16" name="Rounded Rectangle 15"/>
          <p:cNvSpPr/>
          <p:nvPr/>
        </p:nvSpPr>
        <p:spPr>
          <a:xfrm>
            <a:off x="2286000"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86000" y="1801368"/>
            <a:ext cx="666711"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4287"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46.4 Pa</a:t>
            </a:r>
          </a:p>
        </p:txBody>
      </p:sp>
      <p:sp>
        <p:nvSpPr>
          <p:cNvPr id="19" name="TextBox 18"/>
          <p:cNvSpPr txBox="1"/>
          <p:nvPr/>
        </p:nvSpPr>
        <p:spPr>
          <a:xfrm>
            <a:off x="365760"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0" name="Rounded Rectangle 19"/>
          <p:cNvSpPr/>
          <p:nvPr/>
        </p:nvSpPr>
        <p:spPr>
          <a:xfrm>
            <a:off x="2286000"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286000" y="2258568"/>
            <a:ext cx="253350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4287"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456.8 Pa</a:t>
            </a:r>
          </a:p>
        </p:txBody>
      </p:sp>
      <p:sp>
        <p:nvSpPr>
          <p:cNvPr id="23" name="Rounded Rectangle 22"/>
          <p:cNvSpPr/>
          <p:nvPr/>
        </p:nvSpPr>
        <p:spPr>
          <a:xfrm>
            <a:off x="365760" y="2779776"/>
            <a:ext cx="5592927"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277977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77977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6" name="TextBox 25"/>
          <p:cNvSpPr txBox="1"/>
          <p:nvPr/>
        </p:nvSpPr>
        <p:spPr>
          <a:xfrm>
            <a:off x="960120" y="2779776"/>
            <a:ext cx="4907127"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全系でG'&gt;G''（ゲル挙動）。AquaGel-KのG'が最高だがtan δ も大きく流動的</a:t>
            </a:r>
          </a:p>
        </p:txBody>
      </p:sp>
      <p:sp>
        <p:nvSpPr>
          <p:cNvPr id="27" name="TextBox 26"/>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損失正接 tan δ = G'' / G'（弾性支配 = &lt;1）</a:t>
            </a:r>
          </a:p>
        </p:txBody>
      </p:sp>
      <p:sp>
        <p:nvSpPr>
          <p:cNvPr id="28" name="TextBox 27"/>
          <p:cNvSpPr txBox="1"/>
          <p:nvPr/>
        </p:nvSpPr>
        <p:spPr>
          <a:xfrm>
            <a:off x="6233007"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9" name="Rounded Rectangle 28"/>
          <p:cNvSpPr/>
          <p:nvPr/>
        </p:nvSpPr>
        <p:spPr>
          <a:xfrm>
            <a:off x="8153247"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153247" y="1344168"/>
            <a:ext cx="112007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11535"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0.168</a:t>
            </a:r>
          </a:p>
        </p:txBody>
      </p:sp>
      <p:sp>
        <p:nvSpPr>
          <p:cNvPr id="32" name="TextBox 31"/>
          <p:cNvSpPr txBox="1"/>
          <p:nvPr/>
        </p:nvSpPr>
        <p:spPr>
          <a:xfrm>
            <a:off x="6233007"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3" name="Rounded Rectangle 32"/>
          <p:cNvSpPr/>
          <p:nvPr/>
        </p:nvSpPr>
        <p:spPr>
          <a:xfrm>
            <a:off x="8153247"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153247" y="1801368"/>
            <a:ext cx="1466766"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11535"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0.219</a:t>
            </a:r>
          </a:p>
        </p:txBody>
      </p:sp>
      <p:sp>
        <p:nvSpPr>
          <p:cNvPr id="36" name="TextBox 35"/>
          <p:cNvSpPr txBox="1"/>
          <p:nvPr/>
        </p:nvSpPr>
        <p:spPr>
          <a:xfrm>
            <a:off x="6233007"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37" name="Rounded Rectangle 36"/>
          <p:cNvSpPr/>
          <p:nvPr/>
        </p:nvSpPr>
        <p:spPr>
          <a:xfrm>
            <a:off x="8153247"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153247" y="2258568"/>
            <a:ext cx="2666847"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11535"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0.400</a:t>
            </a:r>
          </a:p>
        </p:txBody>
      </p:sp>
      <p:sp>
        <p:nvSpPr>
          <p:cNvPr id="40" name="Rounded Rectangle 39"/>
          <p:cNvSpPr/>
          <p:nvPr/>
        </p:nvSpPr>
        <p:spPr>
          <a:xfrm>
            <a:off x="6233007" y="2779776"/>
            <a:ext cx="5592927"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33007" y="27797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15887" y="27797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3" name="TextBox 42"/>
          <p:cNvSpPr txBox="1"/>
          <p:nvPr/>
        </p:nvSpPr>
        <p:spPr>
          <a:xfrm>
            <a:off x="6827367" y="2779776"/>
            <a:ext cx="4907127"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全系でtan δ &lt; 1 → ゲル挙動。AquaGel-K が最も弾性的（0.168）。MHEC系は流動性が高め（0.400）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5/11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HEC+MC vs MHEC：二系統の比較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22 / 39</a:t>
            </a:r>
          </a:p>
        </p:txBody>
      </p:sp>
      <p:sp>
        <p:nvSpPr>
          <p:cNvPr id="10" name="Rounded Rectangle 9"/>
          <p:cNvSpPr/>
          <p:nvPr/>
        </p:nvSpPr>
        <p:spPr>
          <a:xfrm>
            <a:off x="365760"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HEC + MC 混合系</a:t>
            </a:r>
          </a:p>
        </p:txBody>
      </p:sp>
      <p:sp>
        <p:nvSpPr>
          <p:cNvPr id="13" name="TextBox 12"/>
          <p:cNvSpPr txBox="1"/>
          <p:nvPr/>
        </p:nvSpPr>
        <p:spPr>
          <a:xfrm>
            <a:off x="548640"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HEC（非熱ゲル化） + MC（熱ゲル化・LCST）</a:t>
            </a:r>
          </a:p>
        </p:txBody>
      </p:sp>
      <p:sp>
        <p:nvSpPr>
          <p:cNvPr id="14" name="TextBox 13"/>
          <p:cNvSpPr txBox="1"/>
          <p:nvPr/>
        </p:nvSpPr>
        <p:spPr>
          <a:xfrm>
            <a:off x="640080"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5" name="TextBox 14"/>
          <p:cNvSpPr txBox="1"/>
          <p:nvPr/>
        </p:nvSpPr>
        <p:spPr>
          <a:xfrm>
            <a:off x="868680"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HECで常温粘度・付着性を確保</a:t>
            </a:r>
          </a:p>
        </p:txBody>
      </p:sp>
      <p:sp>
        <p:nvSpPr>
          <p:cNvPr id="16" name="TextBox 15"/>
          <p:cNvSpPr txBox="1"/>
          <p:nvPr/>
        </p:nvSpPr>
        <p:spPr>
          <a:xfrm>
            <a:off x="640080"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7" name="TextBox 16"/>
          <p:cNvSpPr txBox="1"/>
          <p:nvPr/>
        </p:nvSpPr>
        <p:spPr>
          <a:xfrm>
            <a:off x="868680"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MCで加熱時の構造維持を担当</a:t>
            </a:r>
          </a:p>
        </p:txBody>
      </p:sp>
      <p:sp>
        <p:nvSpPr>
          <p:cNvPr id="18" name="TextBox 17"/>
          <p:cNvSpPr txBox="1"/>
          <p:nvPr/>
        </p:nvSpPr>
        <p:spPr>
          <a:xfrm>
            <a:off x="640080"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9" name="TextBox 18"/>
          <p:cNvSpPr txBox="1"/>
          <p:nvPr/>
        </p:nvSpPr>
        <p:spPr>
          <a:xfrm>
            <a:off x="868680"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強い剪断希薄化（n &lt; 1）</a:t>
            </a:r>
          </a:p>
        </p:txBody>
      </p:sp>
      <p:sp>
        <p:nvSpPr>
          <p:cNvPr id="20" name="TextBox 19"/>
          <p:cNvSpPr txBox="1"/>
          <p:nvPr/>
        </p:nvSpPr>
        <p:spPr>
          <a:xfrm>
            <a:off x="640080"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1" name="TextBox 20"/>
          <p:cNvSpPr txBox="1"/>
          <p:nvPr/>
        </p:nvSpPr>
        <p:spPr>
          <a:xfrm>
            <a:off x="868680"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7 min</a:t>
            </a:r>
          </a:p>
        </p:txBody>
      </p:sp>
      <p:sp>
        <p:nvSpPr>
          <p:cNvPr id="22" name="TextBox 21"/>
          <p:cNvSpPr txBox="1"/>
          <p:nvPr/>
        </p:nvSpPr>
        <p:spPr>
          <a:xfrm>
            <a:off x="640080"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3" name="TextBox 22"/>
          <p:cNvSpPr txBox="1"/>
          <p:nvPr/>
        </p:nvSpPr>
        <p:spPr>
          <a:xfrm>
            <a:off x="868680"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Foaming Index 最大≈2.6（SDS無し）</a:t>
            </a:r>
          </a:p>
        </p:txBody>
      </p:sp>
      <p:sp>
        <p:nvSpPr>
          <p:cNvPr id="24" name="Rounded Rectangle 23"/>
          <p:cNvSpPr/>
          <p:nvPr/>
        </p:nvSpPr>
        <p:spPr>
          <a:xfrm>
            <a:off x="548640"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SDSとの相性も良く、発泡構造の最適化に優れる</a:t>
            </a:r>
          </a:p>
        </p:txBody>
      </p:sp>
      <p:sp>
        <p:nvSpPr>
          <p:cNvPr id="26" name="Rounded Rectangle 25"/>
          <p:cNvSpPr/>
          <p:nvPr/>
        </p:nvSpPr>
        <p:spPr>
          <a:xfrm>
            <a:off x="6187287"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7287"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0167"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MHEC 単独系</a:t>
            </a:r>
          </a:p>
        </p:txBody>
      </p:sp>
      <p:sp>
        <p:nvSpPr>
          <p:cNvPr id="29" name="TextBox 28"/>
          <p:cNvSpPr txBox="1"/>
          <p:nvPr/>
        </p:nvSpPr>
        <p:spPr>
          <a:xfrm>
            <a:off x="6370167"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MHEC（HEC+MCの機能を一分子に統合）</a:t>
            </a:r>
          </a:p>
        </p:txBody>
      </p:sp>
      <p:sp>
        <p:nvSpPr>
          <p:cNvPr id="30" name="TextBox 29"/>
          <p:cNvSpPr txBox="1"/>
          <p:nvPr/>
        </p:nvSpPr>
        <p:spPr>
          <a:xfrm>
            <a:off x="6461607"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1" name="TextBox 30"/>
          <p:cNvSpPr txBox="1"/>
          <p:nvPr/>
        </p:nvSpPr>
        <p:spPr>
          <a:xfrm>
            <a:off x="6690207"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ヒドロキシエチル基とメチル基を同一鎖上に有する</a:t>
            </a:r>
          </a:p>
        </p:txBody>
      </p:sp>
      <p:sp>
        <p:nvSpPr>
          <p:cNvPr id="32" name="TextBox 31"/>
          <p:cNvSpPr txBox="1"/>
          <p:nvPr/>
        </p:nvSpPr>
        <p:spPr>
          <a:xfrm>
            <a:off x="6461607"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3" name="TextBox 32"/>
          <p:cNvSpPr txBox="1"/>
          <p:nvPr/>
        </p:nvSpPr>
        <p:spPr>
          <a:xfrm>
            <a:off x="6690207"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単一ポリマーで同等の粘弾性・熱応答を実現</a:t>
            </a:r>
          </a:p>
        </p:txBody>
      </p:sp>
      <p:sp>
        <p:nvSpPr>
          <p:cNvPr id="34" name="TextBox 33"/>
          <p:cNvSpPr txBox="1"/>
          <p:nvPr/>
        </p:nvSpPr>
        <p:spPr>
          <a:xfrm>
            <a:off x="6461607"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5" name="TextBox 34"/>
          <p:cNvSpPr txBox="1"/>
          <p:nvPr/>
        </p:nvSpPr>
        <p:spPr>
          <a:xfrm>
            <a:off x="6690207"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剪断希薄化（n &lt; 1）</a:t>
            </a:r>
          </a:p>
        </p:txBody>
      </p:sp>
      <p:sp>
        <p:nvSpPr>
          <p:cNvPr id="36" name="TextBox 35"/>
          <p:cNvSpPr txBox="1"/>
          <p:nvPr/>
        </p:nvSpPr>
        <p:spPr>
          <a:xfrm>
            <a:off x="6461607"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7" name="TextBox 36"/>
          <p:cNvSpPr txBox="1"/>
          <p:nvPr/>
        </p:nvSpPr>
        <p:spPr>
          <a:xfrm>
            <a:off x="6690207"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5 min</a:t>
            </a:r>
          </a:p>
        </p:txBody>
      </p:sp>
      <p:sp>
        <p:nvSpPr>
          <p:cNvPr id="38" name="TextBox 37"/>
          <p:cNvSpPr txBox="1"/>
          <p:nvPr/>
        </p:nvSpPr>
        <p:spPr>
          <a:xfrm>
            <a:off x="6461607"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690207"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配合・品質管理が単純化される利点</a:t>
            </a:r>
          </a:p>
        </p:txBody>
      </p:sp>
      <p:sp>
        <p:nvSpPr>
          <p:cNvPr id="40" name="Rounded Rectangle 39"/>
          <p:cNvSpPr/>
          <p:nvPr/>
        </p:nvSpPr>
        <p:spPr>
          <a:xfrm>
            <a:off x="6370167"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スケールアップ・製造コスト低減に有利</a:t>
            </a:r>
          </a:p>
        </p:txBody>
      </p:sp>
      <p:sp>
        <p:nvSpPr>
          <p:cNvPr id="42" name="Rounded Rectangle 41"/>
          <p:cNvSpPr/>
          <p:nvPr/>
        </p:nvSpPr>
        <p:spPr>
          <a:xfrm>
            <a:off x="365760" y="547725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65760" y="54772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54772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960120" y="547725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両系統とも市販AquaGel-Kを大幅に上回る性能。HEC+MC系は発泡最適化、MHEC系は製造簡便性に優れる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6/11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燃焼試験のセットアップ</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23 / 39</a:t>
            </a:r>
          </a:p>
        </p:txBody>
      </p:sp>
      <p:sp>
        <p:nvSpPr>
          <p:cNvPr id="10" name="Rounded Rectangle 9"/>
          <p:cNvSpPr/>
          <p:nvPr/>
        </p:nvSpPr>
        <p:spPr>
          <a:xfrm>
            <a:off x="365760" y="859536"/>
            <a:ext cx="6211656" cy="4206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3a</a:t>
            </a:r>
          </a:p>
        </p:txBody>
      </p:sp>
      <p:sp>
        <p:nvSpPr>
          <p:cNvPr id="13" name="TextBox 12"/>
          <p:cNvSpPr txBox="1"/>
          <p:nvPr/>
        </p:nvSpPr>
        <p:spPr>
          <a:xfrm>
            <a:off x="365760" y="859536"/>
            <a:ext cx="6211656" cy="4206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102352"/>
            <a:ext cx="62116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燃焼試験の実験セットアップ</a:t>
            </a:r>
          </a:p>
        </p:txBody>
      </p:sp>
      <p:sp>
        <p:nvSpPr>
          <p:cNvPr id="15" name="Rounded Rectangle 14"/>
          <p:cNvSpPr/>
          <p:nvPr/>
        </p:nvSpPr>
        <p:spPr>
          <a:xfrm>
            <a:off x="6760296" y="859536"/>
            <a:ext cx="5065638"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60296" y="859536"/>
            <a:ext cx="506563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3176" y="1024128"/>
            <a:ext cx="469987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EXPERIMENTAL</a:t>
            </a:r>
          </a:p>
        </p:txBody>
      </p:sp>
      <p:sp>
        <p:nvSpPr>
          <p:cNvPr id="18" name="TextBox 17"/>
          <p:cNvSpPr txBox="1"/>
          <p:nvPr/>
        </p:nvSpPr>
        <p:spPr>
          <a:xfrm>
            <a:off x="6943176" y="1261872"/>
            <a:ext cx="4699878"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 試験条件</a:t>
            </a:r>
          </a:p>
        </p:txBody>
      </p:sp>
      <p:sp>
        <p:nvSpPr>
          <p:cNvPr id="19" name="TextBox 18"/>
          <p:cNvSpPr txBox="1"/>
          <p:nvPr/>
        </p:nvSpPr>
        <p:spPr>
          <a:xfrm>
            <a:off x="6943176"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144344" y="162763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基板：白木合板（whitewood plywood）</a:t>
            </a:r>
          </a:p>
        </p:txBody>
      </p:sp>
      <p:sp>
        <p:nvSpPr>
          <p:cNvPr id="21" name="TextBox 20"/>
          <p:cNvSpPr txBox="1"/>
          <p:nvPr/>
        </p:nvSpPr>
        <p:spPr>
          <a:xfrm>
            <a:off x="6943176"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144344" y="190195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ゲル散布厚：均一に塗布</a:t>
            </a:r>
          </a:p>
        </p:txBody>
      </p:sp>
      <p:sp>
        <p:nvSpPr>
          <p:cNvPr id="23" name="TextBox 22"/>
          <p:cNvSpPr txBox="1"/>
          <p:nvPr/>
        </p:nvSpPr>
        <p:spPr>
          <a:xfrm>
            <a:off x="6943176"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144344" y="217627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火炎源：MAP-Pro トーチ（~2054°C）</a:t>
            </a:r>
          </a:p>
        </p:txBody>
      </p:sp>
      <p:sp>
        <p:nvSpPr>
          <p:cNvPr id="25" name="TextBox 24"/>
          <p:cNvSpPr txBox="1"/>
          <p:nvPr/>
        </p:nvSpPr>
        <p:spPr>
          <a:xfrm>
            <a:off x="6943176" y="24505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6" name="TextBox 25"/>
          <p:cNvSpPr txBox="1"/>
          <p:nvPr/>
        </p:nvSpPr>
        <p:spPr>
          <a:xfrm>
            <a:off x="7144344" y="245059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計測：基材が炭化するまでの時間</a:t>
            </a:r>
          </a:p>
        </p:txBody>
      </p:sp>
      <p:sp>
        <p:nvSpPr>
          <p:cNvPr id="27" name="TextBox 26"/>
          <p:cNvSpPr txBox="1"/>
          <p:nvPr/>
        </p:nvSpPr>
        <p:spPr>
          <a:xfrm>
            <a:off x="6943176" y="27249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8" name="TextBox 27"/>
          <p:cNvSpPr txBox="1"/>
          <p:nvPr/>
        </p:nvSpPr>
        <p:spPr>
          <a:xfrm>
            <a:off x="7144344" y="272491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120 s時点・300 s時点で外観撮影</a:t>
            </a:r>
          </a:p>
        </p:txBody>
      </p:sp>
      <p:sp>
        <p:nvSpPr>
          <p:cNvPr id="29" name="Rounded Rectangle 28"/>
          <p:cNvSpPr/>
          <p:nvPr/>
        </p:nvSpPr>
        <p:spPr>
          <a:xfrm>
            <a:off x="6760296" y="4242816"/>
            <a:ext cx="506563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60296" y="424281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43176" y="424281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2" name="TextBox 31"/>
          <p:cNvSpPr txBox="1"/>
          <p:nvPr/>
        </p:nvSpPr>
        <p:spPr>
          <a:xfrm>
            <a:off x="7354656" y="4242816"/>
            <a:ext cx="437983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Time to char = 木材表面が炭化するまでに要した時間（長いほど高保護）</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7/11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Time to char：5配合系の定量比較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24 / 39</a:t>
            </a:r>
          </a:p>
        </p:txBody>
      </p:sp>
      <p:sp>
        <p:nvSpPr>
          <p:cNvPr id="10" name="TextBox 9"/>
          <p:cNvSpPr txBox="1"/>
          <p:nvPr/>
        </p:nvSpPr>
        <p:spPr>
          <a:xfrm>
            <a:off x="365760" y="859536"/>
            <a:ext cx="7013868"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Time to char（炭化開始までの時間）</a:t>
            </a:r>
          </a:p>
        </p:txBody>
      </p:sp>
      <p:sp>
        <p:nvSpPr>
          <p:cNvPr id="11" name="TextBox 10"/>
          <p:cNvSpPr txBox="1"/>
          <p:nvPr/>
        </p:nvSpPr>
        <p:spPr>
          <a:xfrm>
            <a:off x="365760" y="127101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Water</a:t>
            </a:r>
          </a:p>
        </p:txBody>
      </p:sp>
      <p:sp>
        <p:nvSpPr>
          <p:cNvPr id="12" name="Rounded Rectangle 11"/>
          <p:cNvSpPr/>
          <p:nvPr/>
        </p:nvSpPr>
        <p:spPr>
          <a:xfrm>
            <a:off x="2834640" y="134416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34640" y="1344168"/>
            <a:ext cx="13790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3788" y="127101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~0.3 min</a:t>
            </a:r>
          </a:p>
        </p:txBody>
      </p:sp>
      <p:sp>
        <p:nvSpPr>
          <p:cNvPr id="15" name="TextBox 14"/>
          <p:cNvSpPr txBox="1"/>
          <p:nvPr/>
        </p:nvSpPr>
        <p:spPr>
          <a:xfrm>
            <a:off x="365760" y="177393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AquaGel-K（市販品）</a:t>
            </a:r>
          </a:p>
        </p:txBody>
      </p:sp>
      <p:sp>
        <p:nvSpPr>
          <p:cNvPr id="16" name="Rounded Rectangle 15"/>
          <p:cNvSpPr/>
          <p:nvPr/>
        </p:nvSpPr>
        <p:spPr>
          <a:xfrm>
            <a:off x="2834640" y="184708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834640" y="1847088"/>
            <a:ext cx="689541"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788" y="177393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~1.5 min</a:t>
            </a:r>
          </a:p>
        </p:txBody>
      </p:sp>
      <p:sp>
        <p:nvSpPr>
          <p:cNvPr id="19" name="TextBox 18"/>
          <p:cNvSpPr txBox="1"/>
          <p:nvPr/>
        </p:nvSpPr>
        <p:spPr>
          <a:xfrm>
            <a:off x="365760" y="227685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0" name="Rounded Rectangle 19"/>
          <p:cNvSpPr/>
          <p:nvPr/>
        </p:nvSpPr>
        <p:spPr>
          <a:xfrm>
            <a:off x="2834640" y="235000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34640" y="2350008"/>
            <a:ext cx="224101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3788" y="227685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&gt;5 min</a:t>
            </a:r>
          </a:p>
        </p:txBody>
      </p:sp>
      <p:sp>
        <p:nvSpPr>
          <p:cNvPr id="23" name="TextBox 22"/>
          <p:cNvSpPr txBox="1"/>
          <p:nvPr/>
        </p:nvSpPr>
        <p:spPr>
          <a:xfrm>
            <a:off x="365760" y="277977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24" name="Rounded Rectangle 23"/>
          <p:cNvSpPr/>
          <p:nvPr/>
        </p:nvSpPr>
        <p:spPr>
          <a:xfrm>
            <a:off x="2834640" y="285292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834640" y="2852928"/>
            <a:ext cx="3102937"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73788" y="277977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27" name="TextBox 26"/>
          <p:cNvSpPr txBox="1"/>
          <p:nvPr/>
        </p:nvSpPr>
        <p:spPr>
          <a:xfrm>
            <a:off x="365760" y="328269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28" name="Rounded Rectangle 27"/>
          <p:cNvSpPr/>
          <p:nvPr/>
        </p:nvSpPr>
        <p:spPr>
          <a:xfrm>
            <a:off x="2834640" y="335584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834640" y="3355848"/>
            <a:ext cx="3102937"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788" y="328269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31" name="Rounded Rectangle 30"/>
          <p:cNvSpPr/>
          <p:nvPr/>
        </p:nvSpPr>
        <p:spPr>
          <a:xfrm>
            <a:off x="365760" y="3922776"/>
            <a:ext cx="701386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5760" y="392277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92277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960120" y="3922776"/>
            <a:ext cx="632806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本研究WEGは市販AquaGel-Kの3〜6倍の保護時間を達成（全試験でn≥3）</a:t>
            </a:r>
          </a:p>
        </p:txBody>
      </p:sp>
      <p:sp>
        <p:nvSpPr>
          <p:cNvPr id="35" name="Rounded Rectangle 34"/>
          <p:cNvSpPr/>
          <p:nvPr/>
        </p:nvSpPr>
        <p:spPr>
          <a:xfrm>
            <a:off x="7562508" y="859536"/>
            <a:ext cx="4263426" cy="4754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722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722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3b</a:t>
            </a:r>
          </a:p>
        </p:txBody>
      </p:sp>
      <p:sp>
        <p:nvSpPr>
          <p:cNvPr id="38" name="TextBox 37"/>
          <p:cNvSpPr txBox="1"/>
          <p:nvPr/>
        </p:nvSpPr>
        <p:spPr>
          <a:xfrm>
            <a:off x="7562508" y="859536"/>
            <a:ext cx="4263426" cy="4754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9" name="TextBox 38"/>
          <p:cNvSpPr txBox="1"/>
          <p:nvPr/>
        </p:nvSpPr>
        <p:spPr>
          <a:xfrm>
            <a:off x="7562508" y="5650992"/>
            <a:ext cx="42634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Time-to-char バーチャート（n≧3、エラーバーは標準偏差）</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燃焼過程の時系列観察</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25 / 39</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3c</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各配合系の火炎接触時の連続写真</a:t>
            </a:r>
          </a:p>
        </p:txBody>
      </p:sp>
      <p:sp>
        <p:nvSpPr>
          <p:cNvPr id="15" name="Rounded Rectangle 14"/>
          <p:cNvSpPr/>
          <p:nvPr/>
        </p:nvSpPr>
        <p:spPr>
          <a:xfrm>
            <a:off x="36576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675888"/>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4105656"/>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18" name="TextBox 17"/>
          <p:cNvSpPr txBox="1"/>
          <p:nvPr/>
        </p:nvSpPr>
        <p:spPr>
          <a:xfrm>
            <a:off x="79552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直炎で即座に蒸発・流失</a:t>
            </a:r>
          </a:p>
        </p:txBody>
      </p:sp>
      <p:sp>
        <p:nvSpPr>
          <p:cNvPr id="19" name="TextBox 18"/>
          <p:cNvSpPr txBox="1"/>
          <p:nvPr/>
        </p:nvSpPr>
        <p:spPr>
          <a:xfrm>
            <a:off x="566928" y="4489704"/>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0" name="TextBox 19"/>
          <p:cNvSpPr txBox="1"/>
          <p:nvPr/>
        </p:nvSpPr>
        <p:spPr>
          <a:xfrm>
            <a:off x="79552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~0.3分（約18秒）で炭化</a:t>
            </a:r>
          </a:p>
        </p:txBody>
      </p:sp>
      <p:sp>
        <p:nvSpPr>
          <p:cNvPr id="21" name="TextBox 20"/>
          <p:cNvSpPr txBox="1"/>
          <p:nvPr/>
        </p:nvSpPr>
        <p:spPr>
          <a:xfrm>
            <a:off x="566928" y="4873752"/>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2" name="TextBox 21"/>
          <p:cNvSpPr txBox="1"/>
          <p:nvPr/>
        </p:nvSpPr>
        <p:spPr>
          <a:xfrm>
            <a:off x="79552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保護層ゼロ</a:t>
            </a:r>
          </a:p>
        </p:txBody>
      </p:sp>
      <p:sp>
        <p:nvSpPr>
          <p:cNvPr id="23" name="Rounded Rectangle 22"/>
          <p:cNvSpPr/>
          <p:nvPr/>
        </p:nvSpPr>
        <p:spPr>
          <a:xfrm>
            <a:off x="422849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93082" y="3675888"/>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a:t>
            </a:r>
          </a:p>
        </p:txBody>
      </p:sp>
      <p:sp>
        <p:nvSpPr>
          <p:cNvPr id="25" name="TextBox 24"/>
          <p:cNvSpPr txBox="1"/>
          <p:nvPr/>
        </p:nvSpPr>
        <p:spPr>
          <a:xfrm>
            <a:off x="4429658" y="4105656"/>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6" name="TextBox 25"/>
          <p:cNvSpPr txBox="1"/>
          <p:nvPr/>
        </p:nvSpPr>
        <p:spPr>
          <a:xfrm>
            <a:off x="465825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水を保持するが水蒸発で終了</a:t>
            </a:r>
          </a:p>
        </p:txBody>
      </p:sp>
      <p:sp>
        <p:nvSpPr>
          <p:cNvPr id="27" name="TextBox 26"/>
          <p:cNvSpPr txBox="1"/>
          <p:nvPr/>
        </p:nvSpPr>
        <p:spPr>
          <a:xfrm>
            <a:off x="4429658" y="4489704"/>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8" name="TextBox 27"/>
          <p:cNvSpPr txBox="1"/>
          <p:nvPr/>
        </p:nvSpPr>
        <p:spPr>
          <a:xfrm>
            <a:off x="465825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~1.5分で炭化</a:t>
            </a:r>
          </a:p>
        </p:txBody>
      </p:sp>
      <p:sp>
        <p:nvSpPr>
          <p:cNvPr id="29" name="TextBox 28"/>
          <p:cNvSpPr txBox="1"/>
          <p:nvPr/>
        </p:nvSpPr>
        <p:spPr>
          <a:xfrm>
            <a:off x="4429658" y="4873752"/>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30" name="TextBox 29"/>
          <p:cNvSpPr txBox="1"/>
          <p:nvPr/>
        </p:nvSpPr>
        <p:spPr>
          <a:xfrm>
            <a:off x="465825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固体保護層を形成しない</a:t>
            </a:r>
          </a:p>
        </p:txBody>
      </p:sp>
      <p:sp>
        <p:nvSpPr>
          <p:cNvPr id="31" name="Rounded Rectangle 30"/>
          <p:cNvSpPr/>
          <p:nvPr/>
        </p:nvSpPr>
        <p:spPr>
          <a:xfrm>
            <a:off x="8091220" y="3511296"/>
            <a:ext cx="3734714"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55812" y="3675888"/>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33" name="TextBox 32"/>
          <p:cNvSpPr txBox="1"/>
          <p:nvPr/>
        </p:nvSpPr>
        <p:spPr>
          <a:xfrm>
            <a:off x="8292388" y="4105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852098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水蒸発と同時にゲルが発泡・膨張</a:t>
            </a:r>
          </a:p>
        </p:txBody>
      </p:sp>
      <p:sp>
        <p:nvSpPr>
          <p:cNvPr id="35" name="TextBox 34"/>
          <p:cNvSpPr txBox="1"/>
          <p:nvPr/>
        </p:nvSpPr>
        <p:spPr>
          <a:xfrm>
            <a:off x="8292388" y="44897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6" name="TextBox 35"/>
          <p:cNvSpPr txBox="1"/>
          <p:nvPr/>
        </p:nvSpPr>
        <p:spPr>
          <a:xfrm>
            <a:off x="852098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多孔質エアロゲル層が継続保護</a:t>
            </a:r>
          </a:p>
        </p:txBody>
      </p:sp>
      <p:sp>
        <p:nvSpPr>
          <p:cNvPr id="37" name="TextBox 36"/>
          <p:cNvSpPr txBox="1"/>
          <p:nvPr/>
        </p:nvSpPr>
        <p:spPr>
          <a:xfrm>
            <a:off x="8292388" y="48737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852098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&gt;7分間（HEC+MC）炭化を阻止</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120秒 / 300秒時点の表面状態比較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26 / 39</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3d</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120秒時点（上段）と300秒時点（下段）の表面状態比較</a:t>
            </a:r>
          </a:p>
        </p:txBody>
      </p:sp>
      <p:sp>
        <p:nvSpPr>
          <p:cNvPr id="15" name="Rounded Rectangle 14"/>
          <p:cNvSpPr/>
          <p:nvPr/>
        </p:nvSpPr>
        <p:spPr>
          <a:xfrm>
            <a:off x="36576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566160"/>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s：既に広範囲が炭化開始</a:t>
            </a:r>
          </a:p>
        </p:txBody>
      </p:sp>
      <p:sp>
        <p:nvSpPr>
          <p:cNvPr id="18" name="TextBox 17"/>
          <p:cNvSpPr txBox="1"/>
          <p:nvPr/>
        </p:nvSpPr>
        <p:spPr>
          <a:xfrm>
            <a:off x="56692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s：表面全体が黒化・損傷甚大</a:t>
            </a:r>
          </a:p>
        </p:txBody>
      </p:sp>
      <p:sp>
        <p:nvSpPr>
          <p:cNvPr id="19" name="TextBox 18"/>
          <p:cNvSpPr txBox="1"/>
          <p:nvPr/>
        </p:nvSpPr>
        <p:spPr>
          <a:xfrm>
            <a:off x="530352" y="5614416"/>
            <a:ext cx="3405530" cy="274320"/>
          </a:xfrm>
          <a:prstGeom prst="rect">
            <a:avLst/>
          </a:prstGeom>
          <a:noFill/>
        </p:spPr>
        <p:txBody>
          <a:bodyPr wrap="square" anchor="t" lIns="36000" rIns="36000" tIns="18000" bIns="18000">
            <a:spAutoFit/>
          </a:bodyPr>
          <a:lstStyle/>
          <a:p>
            <a:pPr algn="l"/>
            <a:r>
              <a:rPr sz="1200" b="1" i="0">
                <a:solidFill>
                  <a:srgbClr val="A05656"/>
                </a:solidFill>
                <a:latin typeface="Noto Sans JP"/>
              </a:rPr>
              <a:t>Time to char：~0.3 min</a:t>
            </a:r>
          </a:p>
        </p:txBody>
      </p:sp>
      <p:sp>
        <p:nvSpPr>
          <p:cNvPr id="20" name="Rounded Rectangle 19"/>
          <p:cNvSpPr/>
          <p:nvPr/>
        </p:nvSpPr>
        <p:spPr>
          <a:xfrm>
            <a:off x="422849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93082" y="3566160"/>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AquaGel-K（市販品）</a:t>
            </a:r>
          </a:p>
        </p:txBody>
      </p:sp>
      <p:sp>
        <p:nvSpPr>
          <p:cNvPr id="22" name="TextBox 21"/>
          <p:cNvSpPr txBox="1"/>
          <p:nvPr/>
        </p:nvSpPr>
        <p:spPr>
          <a:xfrm>
            <a:off x="442965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s：ゲルが乾燥し一部炭化</a:t>
            </a:r>
          </a:p>
        </p:txBody>
      </p:sp>
      <p:sp>
        <p:nvSpPr>
          <p:cNvPr id="23" name="TextBox 22"/>
          <p:cNvSpPr txBox="1"/>
          <p:nvPr/>
        </p:nvSpPr>
        <p:spPr>
          <a:xfrm>
            <a:off x="442965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s：保護層なし、部分炭化</a:t>
            </a:r>
          </a:p>
        </p:txBody>
      </p:sp>
      <p:sp>
        <p:nvSpPr>
          <p:cNvPr id="24" name="TextBox 23"/>
          <p:cNvSpPr txBox="1"/>
          <p:nvPr/>
        </p:nvSpPr>
        <p:spPr>
          <a:xfrm>
            <a:off x="4393082" y="5614416"/>
            <a:ext cx="3405530" cy="274320"/>
          </a:xfrm>
          <a:prstGeom prst="rect">
            <a:avLst/>
          </a:prstGeom>
          <a:noFill/>
        </p:spPr>
        <p:txBody>
          <a:bodyPr wrap="square" anchor="t" lIns="36000" rIns="36000" tIns="18000" bIns="18000">
            <a:spAutoFit/>
          </a:bodyPr>
          <a:lstStyle/>
          <a:p>
            <a:pPr algn="l"/>
            <a:r>
              <a:rPr sz="1200" b="1" i="0">
                <a:solidFill>
                  <a:srgbClr val="9F7639"/>
                </a:solidFill>
                <a:latin typeface="Noto Sans JP"/>
              </a:rPr>
              <a:t>Time to char：~1.5 min</a:t>
            </a:r>
          </a:p>
        </p:txBody>
      </p:sp>
      <p:sp>
        <p:nvSpPr>
          <p:cNvPr id="25" name="Rounded Rectangle 24"/>
          <p:cNvSpPr/>
          <p:nvPr/>
        </p:nvSpPr>
        <p:spPr>
          <a:xfrm>
            <a:off x="8091220" y="3419856"/>
            <a:ext cx="3734714" cy="25603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812" y="3566160"/>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27" name="TextBox 26"/>
          <p:cNvSpPr txBox="1"/>
          <p:nvPr/>
        </p:nvSpPr>
        <p:spPr>
          <a:xfrm>
            <a:off x="829238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s：エアロゲル層が形成・膨張中</a:t>
            </a:r>
          </a:p>
        </p:txBody>
      </p:sp>
      <p:sp>
        <p:nvSpPr>
          <p:cNvPr id="28" name="TextBox 27"/>
          <p:cNvSpPr txBox="1"/>
          <p:nvPr/>
        </p:nvSpPr>
        <p:spPr>
          <a:xfrm>
            <a:off x="829238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s：表面ほぼ無傷、層が残存</a:t>
            </a:r>
          </a:p>
        </p:txBody>
      </p:sp>
      <p:sp>
        <p:nvSpPr>
          <p:cNvPr id="29" name="TextBox 28"/>
          <p:cNvSpPr txBox="1"/>
          <p:nvPr/>
        </p:nvSpPr>
        <p:spPr>
          <a:xfrm>
            <a:off x="8255812" y="5614416"/>
            <a:ext cx="3405530"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Time to char：&gt;7 min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KEY RESULT</a:t>
            </a:r>
          </a:p>
        </p:txBody>
      </p:sp>
      <p:sp>
        <p:nvSpPr>
          <p:cNvPr id="4" name="TextBox 3"/>
          <p:cNvSpPr txBox="1"/>
          <p:nvPr/>
        </p:nvSpPr>
        <p:spPr>
          <a:xfrm>
            <a:off x="457200" y="1737360"/>
            <a:ext cx="11247120" cy="2103120"/>
          </a:xfrm>
          <a:prstGeom prst="rect">
            <a:avLst/>
          </a:prstGeom>
          <a:noFill/>
        </p:spPr>
        <p:txBody>
          <a:bodyPr wrap="square" anchor="ctr" lIns="36000" rIns="36000" tIns="18000" bIns="18000">
            <a:spAutoFit/>
          </a:bodyPr>
          <a:lstStyle/>
          <a:p>
            <a:pPr algn="ctr"/>
            <a:r>
              <a:rPr sz="13000" b="1" i="0">
                <a:solidFill>
                  <a:srgbClr val="D4A574"/>
                </a:solidFill>
                <a:latin typeface="Noto Sans JP"/>
              </a:rPr>
              <a:t>&gt;7</a:t>
            </a:r>
            <a:r>
              <a:rPr sz="6000" b="0" i="0">
                <a:solidFill>
                  <a:srgbClr val="C89A68"/>
                </a:solidFill>
                <a:latin typeface="Noto Sans JP"/>
              </a:rPr>
              <a:t> min</a:t>
            </a:r>
          </a:p>
        </p:txBody>
      </p:sp>
      <p:sp>
        <p:nvSpPr>
          <p:cNvPr id="5" name="TextBox 4"/>
          <p:cNvSpPr txBox="1"/>
          <p:nvPr/>
        </p:nvSpPr>
        <p:spPr>
          <a:xfrm>
            <a:off x="457200" y="4023360"/>
            <a:ext cx="11247120" cy="548640"/>
          </a:xfrm>
          <a:prstGeom prst="rect">
            <a:avLst/>
          </a:prstGeom>
          <a:noFill/>
        </p:spPr>
        <p:txBody>
          <a:bodyPr wrap="square" anchor="t" lIns="36000" rIns="36000" tIns="18000" bIns="18000">
            <a:spAutoFit/>
          </a:bodyPr>
          <a:lstStyle/>
          <a:p>
            <a:pPr algn="ctr"/>
            <a:r>
              <a:rPr sz="2600" b="1" i="0">
                <a:solidFill>
                  <a:srgbClr val="FFFFFF"/>
                </a:solidFill>
                <a:latin typeface="Noto Sans JP"/>
              </a:rPr>
              <a:t>本研究WEGの Time to char（HEC+MC/CSP）</a:t>
            </a:r>
          </a:p>
        </p:txBody>
      </p:sp>
      <p:sp>
        <p:nvSpPr>
          <p:cNvPr id="6" name="TextBox 5"/>
          <p:cNvSpPr txBox="1"/>
          <p:nvPr/>
        </p:nvSpPr>
        <p:spPr>
          <a:xfrm>
            <a:off x="1371600" y="4709160"/>
            <a:ext cx="9418320" cy="640080"/>
          </a:xfrm>
          <a:prstGeom prst="rect">
            <a:avLst/>
          </a:prstGeom>
          <a:noFill/>
        </p:spPr>
        <p:txBody>
          <a:bodyPr wrap="square" anchor="t" lIns="36000" rIns="36000" tIns="18000" bIns="18000">
            <a:spAutoFit/>
          </a:bodyPr>
          <a:lstStyle/>
          <a:p>
            <a:pPr algn="ctr"/>
            <a:r>
              <a:rPr sz="1400" b="0" i="0">
                <a:solidFill>
                  <a:srgbClr val="9CB4CC"/>
                </a:solidFill>
                <a:latin typeface="Noto Sans JP"/>
              </a:rPr>
              <a:t>市販AquaGel-K（~1.5分）の3〜6倍の保護時間を達成（全試験でn≥3）</a:t>
            </a:r>
          </a:p>
        </p:txBody>
      </p:sp>
      <p:sp>
        <p:nvSpPr>
          <p:cNvPr id="7" name="TextBox 6"/>
          <p:cNvSpPr txBox="1"/>
          <p:nvPr/>
        </p:nvSpPr>
        <p:spPr>
          <a:xfrm>
            <a:off x="2286000" y="553212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Water</a:t>
            </a:r>
          </a:p>
        </p:txBody>
      </p:sp>
      <p:sp>
        <p:nvSpPr>
          <p:cNvPr id="8" name="Rounded Rectangle 7"/>
          <p:cNvSpPr/>
          <p:nvPr/>
        </p:nvSpPr>
        <p:spPr>
          <a:xfrm>
            <a:off x="3931920" y="556869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931920" y="5568696"/>
            <a:ext cx="256032" cy="164592"/>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69880" y="553212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~0.3 min</a:t>
            </a:r>
          </a:p>
        </p:txBody>
      </p:sp>
      <p:sp>
        <p:nvSpPr>
          <p:cNvPr id="11" name="TextBox 10"/>
          <p:cNvSpPr txBox="1"/>
          <p:nvPr/>
        </p:nvSpPr>
        <p:spPr>
          <a:xfrm>
            <a:off x="2286000" y="585216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AquaGel-K</a:t>
            </a:r>
          </a:p>
        </p:txBody>
      </p:sp>
      <p:sp>
        <p:nvSpPr>
          <p:cNvPr id="12" name="Rounded Rectangle 11"/>
          <p:cNvSpPr/>
          <p:nvPr/>
        </p:nvSpPr>
        <p:spPr>
          <a:xfrm>
            <a:off x="3931920" y="588873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931920" y="5888736"/>
            <a:ext cx="1280160" cy="164592"/>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69880" y="585216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~1.5 min</a:t>
            </a:r>
          </a:p>
        </p:txBody>
      </p:sp>
      <p:sp>
        <p:nvSpPr>
          <p:cNvPr id="15" name="TextBox 14"/>
          <p:cNvSpPr txBox="1"/>
          <p:nvPr/>
        </p:nvSpPr>
        <p:spPr>
          <a:xfrm>
            <a:off x="2286000" y="617220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本研究 WEG</a:t>
            </a:r>
          </a:p>
        </p:txBody>
      </p:sp>
      <p:sp>
        <p:nvSpPr>
          <p:cNvPr id="16" name="Rounded Rectangle 15"/>
          <p:cNvSpPr/>
          <p:nvPr/>
        </p:nvSpPr>
        <p:spPr>
          <a:xfrm>
            <a:off x="3931920" y="620877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931920" y="6208776"/>
            <a:ext cx="6080760" cy="164592"/>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69880" y="617220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27 / 39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発泡指数（Foaming Index）の比較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28 / 39</a:t>
            </a:r>
          </a:p>
        </p:txBody>
      </p:sp>
      <p:sp>
        <p:nvSpPr>
          <p:cNvPr id="10" name="Rounded Rectangle 9"/>
          <p:cNvSpPr/>
          <p:nvPr/>
        </p:nvSpPr>
        <p:spPr>
          <a:xfrm>
            <a:off x="365760"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4a</a:t>
            </a:r>
          </a:p>
        </p:txBody>
      </p:sp>
      <p:sp>
        <p:nvSpPr>
          <p:cNvPr id="13" name="TextBox 12"/>
          <p:cNvSpPr txBox="1"/>
          <p:nvPr/>
        </p:nvSpPr>
        <p:spPr>
          <a:xfrm>
            <a:off x="365760"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燃焼後の発泡層外観</a:t>
            </a:r>
          </a:p>
        </p:txBody>
      </p:sp>
      <p:sp>
        <p:nvSpPr>
          <p:cNvPr id="15" name="Rounded Rectangle 14"/>
          <p:cNvSpPr/>
          <p:nvPr/>
        </p:nvSpPr>
        <p:spPr>
          <a:xfrm>
            <a:off x="6187287"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97015"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97015"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4b</a:t>
            </a:r>
          </a:p>
        </p:txBody>
      </p:sp>
      <p:sp>
        <p:nvSpPr>
          <p:cNvPr id="18" name="TextBox 17"/>
          <p:cNvSpPr txBox="1"/>
          <p:nvPr/>
        </p:nvSpPr>
        <p:spPr>
          <a:xfrm>
            <a:off x="6187287"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9" name="TextBox 18"/>
          <p:cNvSpPr txBox="1"/>
          <p:nvPr/>
        </p:nvSpPr>
        <p:spPr>
          <a:xfrm>
            <a:off x="6187287"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 Foaming Index</a:t>
            </a:r>
          </a:p>
        </p:txBody>
      </p:sp>
      <p:sp>
        <p:nvSpPr>
          <p:cNvPr id="20" name="TextBox 19"/>
          <p:cNvSpPr txBox="1"/>
          <p:nvPr/>
        </p:nvSpPr>
        <p:spPr>
          <a:xfrm>
            <a:off x="365760"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Foaming Index（発泡後厚 / 初期厚）</a:t>
            </a:r>
          </a:p>
        </p:txBody>
      </p:sp>
      <p:sp>
        <p:nvSpPr>
          <p:cNvPr id="21" name="TextBox 20"/>
          <p:cNvSpPr txBox="1"/>
          <p:nvPr/>
        </p:nvSpPr>
        <p:spPr>
          <a:xfrm>
            <a:off x="365760" y="373989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2" name="Rounded Rectangle 21"/>
          <p:cNvSpPr/>
          <p:nvPr/>
        </p:nvSpPr>
        <p:spPr>
          <a:xfrm>
            <a:off x="1920240" y="381304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920240" y="3813048"/>
            <a:ext cx="62480"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35727" y="373989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a:t>
            </a:r>
          </a:p>
        </p:txBody>
      </p:sp>
      <p:sp>
        <p:nvSpPr>
          <p:cNvPr id="25" name="TextBox 24"/>
          <p:cNvSpPr txBox="1"/>
          <p:nvPr/>
        </p:nvSpPr>
        <p:spPr>
          <a:xfrm>
            <a:off x="365760" y="415137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6" name="Rounded Rectangle 25"/>
          <p:cNvSpPr/>
          <p:nvPr/>
        </p:nvSpPr>
        <p:spPr>
          <a:xfrm>
            <a:off x="1920240" y="422452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920240" y="4224528"/>
            <a:ext cx="1655745"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35727" y="415137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≈2.1×</a:t>
            </a:r>
          </a:p>
        </p:txBody>
      </p:sp>
      <p:sp>
        <p:nvSpPr>
          <p:cNvPr id="29" name="TextBox 28"/>
          <p:cNvSpPr txBox="1"/>
          <p:nvPr/>
        </p:nvSpPr>
        <p:spPr>
          <a:xfrm>
            <a:off x="365760" y="456285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30" name="Rounded Rectangle 29"/>
          <p:cNvSpPr/>
          <p:nvPr/>
        </p:nvSpPr>
        <p:spPr>
          <a:xfrm>
            <a:off x="1920240" y="463600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920240" y="4636008"/>
            <a:ext cx="1874428"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35727" y="456285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≈2.3×</a:t>
            </a:r>
          </a:p>
        </p:txBody>
      </p:sp>
      <p:sp>
        <p:nvSpPr>
          <p:cNvPr id="33" name="TextBox 32"/>
          <p:cNvSpPr txBox="1"/>
          <p:nvPr/>
        </p:nvSpPr>
        <p:spPr>
          <a:xfrm>
            <a:off x="365760" y="497433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4" name="Rounded Rectangle 33"/>
          <p:cNvSpPr/>
          <p:nvPr/>
        </p:nvSpPr>
        <p:spPr>
          <a:xfrm>
            <a:off x="1920240" y="504748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920240" y="5047488"/>
            <a:ext cx="2124352"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35727" y="497433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≈2.6×</a:t>
            </a:r>
          </a:p>
        </p:txBody>
      </p:sp>
      <p:sp>
        <p:nvSpPr>
          <p:cNvPr id="37" name="TextBox 36"/>
          <p:cNvSpPr txBox="1"/>
          <p:nvPr/>
        </p:nvSpPr>
        <p:spPr>
          <a:xfrm>
            <a:off x="6187287"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発泡がもたらす断熱効果</a:t>
            </a:r>
          </a:p>
        </p:txBody>
      </p:sp>
      <p:sp>
        <p:nvSpPr>
          <p:cNvPr id="38" name="TextBox 37"/>
          <p:cNvSpPr txBox="1"/>
          <p:nvPr/>
        </p:nvSpPr>
        <p:spPr>
          <a:xfrm>
            <a:off x="6233007" y="3739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461607" y="3739896"/>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初期厚の2倍以上に膨張 → 熱伝導経路が延長</a:t>
            </a:r>
          </a:p>
        </p:txBody>
      </p:sp>
      <p:sp>
        <p:nvSpPr>
          <p:cNvPr id="40" name="TextBox 39"/>
          <p:cNvSpPr txBox="1"/>
          <p:nvPr/>
        </p:nvSpPr>
        <p:spPr>
          <a:xfrm>
            <a:off x="6233007" y="412394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6461607" y="4123944"/>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気孔内に空気が閉じ込められ断熱性が向上</a:t>
            </a:r>
          </a:p>
        </p:txBody>
      </p:sp>
      <p:sp>
        <p:nvSpPr>
          <p:cNvPr id="42" name="TextBox 41"/>
          <p:cNvSpPr txBox="1"/>
          <p:nvPr/>
        </p:nvSpPr>
        <p:spPr>
          <a:xfrm>
            <a:off x="6233007" y="450799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3" name="TextBox 42"/>
          <p:cNvSpPr txBox="1"/>
          <p:nvPr/>
        </p:nvSpPr>
        <p:spPr>
          <a:xfrm>
            <a:off x="6461607" y="4507992"/>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AquaGel-Kは発泡せず → 火炎で平坦に崩壊</a:t>
            </a:r>
          </a:p>
        </p:txBody>
      </p:sp>
      <p:sp>
        <p:nvSpPr>
          <p:cNvPr id="44" name="TextBox 43"/>
          <p:cNvSpPr txBox="1"/>
          <p:nvPr/>
        </p:nvSpPr>
        <p:spPr>
          <a:xfrm>
            <a:off x="6233007" y="4892040"/>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6461607" y="4892040"/>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SDS無しのHEC+MC/CSPが最高発泡指数（≈2.6）を達成</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SDS濃度がエアロゲル微細構造に与える影響</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29 / 39</a:t>
            </a:r>
          </a:p>
        </p:txBody>
      </p:sp>
      <p:sp>
        <p:nvSpPr>
          <p:cNvPr id="10" name="Rounded Rectangle 9"/>
          <p:cNvSpPr/>
          <p:nvPr/>
        </p:nvSpPr>
        <p:spPr>
          <a:xfrm>
            <a:off x="365760" y="859536"/>
            <a:ext cx="11460175" cy="27432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4c</a:t>
            </a:r>
          </a:p>
        </p:txBody>
      </p:sp>
      <p:sp>
        <p:nvSpPr>
          <p:cNvPr id="13" name="TextBox 12"/>
          <p:cNvSpPr txBox="1"/>
          <p:nvPr/>
        </p:nvSpPr>
        <p:spPr>
          <a:xfrm>
            <a:off x="365760" y="859536"/>
            <a:ext cx="11460175" cy="27432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6393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SDS濃度別のFE-SEM観察像（0%, 0.1%, 0.5%）</a:t>
            </a:r>
          </a:p>
        </p:txBody>
      </p:sp>
      <p:sp>
        <p:nvSpPr>
          <p:cNvPr id="15" name="Rounded Rectangle 14"/>
          <p:cNvSpPr/>
          <p:nvPr/>
        </p:nvSpPr>
        <p:spPr>
          <a:xfrm>
            <a:off x="365760" y="4014216"/>
            <a:ext cx="3734714" cy="21031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4215384"/>
            <a:ext cx="3405530" cy="320040"/>
          </a:xfrm>
          <a:prstGeom prst="rect">
            <a:avLst/>
          </a:prstGeom>
          <a:noFill/>
        </p:spPr>
        <p:txBody>
          <a:bodyPr wrap="square" anchor="t" lIns="36000" rIns="36000" tIns="18000" bIns="18000">
            <a:spAutoFit/>
          </a:bodyPr>
          <a:lstStyle/>
          <a:p>
            <a:pPr algn="l"/>
            <a:r>
              <a:rPr sz="1300" b="1" i="0">
                <a:solidFill>
                  <a:srgbClr val="3B5174"/>
                </a:solidFill>
                <a:latin typeface="Noto Sans JP"/>
              </a:rPr>
              <a:t>0% SDS</a:t>
            </a:r>
          </a:p>
        </p:txBody>
      </p:sp>
      <p:sp>
        <p:nvSpPr>
          <p:cNvPr id="17" name="TextBox 16"/>
          <p:cNvSpPr txBox="1"/>
          <p:nvPr/>
        </p:nvSpPr>
        <p:spPr>
          <a:xfrm>
            <a:off x="53035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最高の発泡指数（≈2.6）。SDSなしが膨張率最大。</a:t>
            </a:r>
          </a:p>
        </p:txBody>
      </p:sp>
      <p:sp>
        <p:nvSpPr>
          <p:cNvPr id="18" name="Rounded Rectangle 17"/>
          <p:cNvSpPr/>
          <p:nvPr/>
        </p:nvSpPr>
        <p:spPr>
          <a:xfrm>
            <a:off x="422849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9308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0.1% SDS</a:t>
            </a:r>
          </a:p>
        </p:txBody>
      </p:sp>
      <p:sp>
        <p:nvSpPr>
          <p:cNvPr id="20" name="TextBox 19"/>
          <p:cNvSpPr txBox="1"/>
          <p:nvPr/>
        </p:nvSpPr>
        <p:spPr>
          <a:xfrm>
            <a:off x="439308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均一な微細気泡構造。発泡指数≈2.3（SDSなしより低い）。</a:t>
            </a:r>
          </a:p>
        </p:txBody>
      </p:sp>
      <p:sp>
        <p:nvSpPr>
          <p:cNvPr id="21" name="Rounded Rectangle 20"/>
          <p:cNvSpPr/>
          <p:nvPr/>
        </p:nvSpPr>
        <p:spPr>
          <a:xfrm>
            <a:off x="809122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81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0.5% SDS（過剰）</a:t>
            </a:r>
          </a:p>
        </p:txBody>
      </p:sp>
      <p:sp>
        <p:nvSpPr>
          <p:cNvPr id="23" name="TextBox 22"/>
          <p:cNvSpPr txBox="1"/>
          <p:nvPr/>
        </p:nvSpPr>
        <p:spPr>
          <a:xfrm>
            <a:off x="825581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気泡サイズ不均一・粗大化。発泡指数がさらに低下。</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10/11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FT-IR・XPS：化学組成の変化（燃焼前後）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30 / 39</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FT-IR 主要ピーク帰属</a:t>
            </a:r>
          </a:p>
        </p:txBody>
      </p:sp>
      <p:sp>
        <p:nvSpPr>
          <p:cNvPr id="11" name="Rectangle 10"/>
          <p:cNvSpPr/>
          <p:nvPr/>
        </p:nvSpPr>
        <p:spPr>
          <a:xfrm>
            <a:off x="365760" y="1243584"/>
            <a:ext cx="5638647" cy="4572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243584"/>
            <a:ext cx="1209786"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波数 (cm⁻¹)</a:t>
            </a:r>
          </a:p>
        </p:txBody>
      </p:sp>
      <p:sp>
        <p:nvSpPr>
          <p:cNvPr id="13" name="TextBox 12"/>
          <p:cNvSpPr txBox="1"/>
          <p:nvPr/>
        </p:nvSpPr>
        <p:spPr>
          <a:xfrm>
            <a:off x="1758426" y="1243584"/>
            <a:ext cx="2619448"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帰属</a:t>
            </a:r>
          </a:p>
        </p:txBody>
      </p:sp>
      <p:sp>
        <p:nvSpPr>
          <p:cNvPr id="14" name="TextBox 13"/>
          <p:cNvSpPr txBox="1"/>
          <p:nvPr/>
        </p:nvSpPr>
        <p:spPr>
          <a:xfrm>
            <a:off x="4469314" y="1243584"/>
            <a:ext cx="1535092"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燃焼後</a:t>
            </a:r>
          </a:p>
        </p:txBody>
      </p:sp>
      <p:sp>
        <p:nvSpPr>
          <p:cNvPr id="15" name="Rectangle 14"/>
          <p:cNvSpPr/>
          <p:nvPr/>
        </p:nvSpPr>
        <p:spPr>
          <a:xfrm>
            <a:off x="365760" y="17007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17007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3200–3500</a:t>
            </a:r>
          </a:p>
        </p:txBody>
      </p:sp>
      <p:sp>
        <p:nvSpPr>
          <p:cNvPr id="17" name="TextBox 16"/>
          <p:cNvSpPr txBox="1"/>
          <p:nvPr/>
        </p:nvSpPr>
        <p:spPr>
          <a:xfrm>
            <a:off x="1758426" y="17007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O–H 伸縮（セルロース・水）</a:t>
            </a:r>
          </a:p>
        </p:txBody>
      </p:sp>
      <p:sp>
        <p:nvSpPr>
          <p:cNvPr id="18" name="TextBox 17"/>
          <p:cNvSpPr txBox="1"/>
          <p:nvPr/>
        </p:nvSpPr>
        <p:spPr>
          <a:xfrm>
            <a:off x="4469314" y="17007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消失（脱水）</a:t>
            </a:r>
          </a:p>
        </p:txBody>
      </p:sp>
      <p:sp>
        <p:nvSpPr>
          <p:cNvPr id="19" name="Rectangle 18"/>
          <p:cNvSpPr/>
          <p:nvPr/>
        </p:nvSpPr>
        <p:spPr>
          <a:xfrm>
            <a:off x="365760" y="21579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579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2850–2950</a:t>
            </a:r>
          </a:p>
        </p:txBody>
      </p:sp>
      <p:sp>
        <p:nvSpPr>
          <p:cNvPr id="21" name="TextBox 20"/>
          <p:cNvSpPr txBox="1"/>
          <p:nvPr/>
        </p:nvSpPr>
        <p:spPr>
          <a:xfrm>
            <a:off x="1758426" y="21579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C–H 伸縮（メチル基）</a:t>
            </a:r>
          </a:p>
        </p:txBody>
      </p:sp>
      <p:sp>
        <p:nvSpPr>
          <p:cNvPr id="22" name="TextBox 21"/>
          <p:cNvSpPr txBox="1"/>
          <p:nvPr/>
        </p:nvSpPr>
        <p:spPr>
          <a:xfrm>
            <a:off x="4469314" y="21579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消失（有機分解）</a:t>
            </a:r>
          </a:p>
        </p:txBody>
      </p:sp>
      <p:sp>
        <p:nvSpPr>
          <p:cNvPr id="23" name="Rectangle 22"/>
          <p:cNvSpPr/>
          <p:nvPr/>
        </p:nvSpPr>
        <p:spPr>
          <a:xfrm>
            <a:off x="365760" y="26151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26151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1050–1100</a:t>
            </a:r>
          </a:p>
        </p:txBody>
      </p:sp>
      <p:sp>
        <p:nvSpPr>
          <p:cNvPr id="25" name="TextBox 24"/>
          <p:cNvSpPr txBox="1"/>
          <p:nvPr/>
        </p:nvSpPr>
        <p:spPr>
          <a:xfrm>
            <a:off x="1758426" y="26151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Si–O–Si 伸縮（シリカ）</a:t>
            </a:r>
          </a:p>
        </p:txBody>
      </p:sp>
      <p:sp>
        <p:nvSpPr>
          <p:cNvPr id="26" name="TextBox 25"/>
          <p:cNvSpPr txBox="1"/>
          <p:nvPr/>
        </p:nvSpPr>
        <p:spPr>
          <a:xfrm>
            <a:off x="4469314" y="26151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強度増大</a:t>
            </a:r>
          </a:p>
        </p:txBody>
      </p:sp>
      <p:sp>
        <p:nvSpPr>
          <p:cNvPr id="27" name="Rectangle 26"/>
          <p:cNvSpPr/>
          <p:nvPr/>
        </p:nvSpPr>
        <p:spPr>
          <a:xfrm>
            <a:off x="365760" y="30723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30723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800</a:t>
            </a:r>
          </a:p>
        </p:txBody>
      </p:sp>
      <p:sp>
        <p:nvSpPr>
          <p:cNvPr id="29" name="TextBox 28"/>
          <p:cNvSpPr txBox="1"/>
          <p:nvPr/>
        </p:nvSpPr>
        <p:spPr>
          <a:xfrm>
            <a:off x="1758426" y="30723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変角振動</a:t>
            </a:r>
          </a:p>
        </p:txBody>
      </p:sp>
      <p:sp>
        <p:nvSpPr>
          <p:cNvPr id="30" name="TextBox 29"/>
          <p:cNvSpPr txBox="1"/>
          <p:nvPr/>
        </p:nvSpPr>
        <p:spPr>
          <a:xfrm>
            <a:off x="4469314" y="30723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明確化</a:t>
            </a:r>
          </a:p>
        </p:txBody>
      </p:sp>
      <p:sp>
        <p:nvSpPr>
          <p:cNvPr id="31" name="Rectangle 30"/>
          <p:cNvSpPr/>
          <p:nvPr/>
        </p:nvSpPr>
        <p:spPr>
          <a:xfrm>
            <a:off x="365760" y="35295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35295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450</a:t>
            </a:r>
          </a:p>
        </p:txBody>
      </p:sp>
      <p:sp>
        <p:nvSpPr>
          <p:cNvPr id="33" name="TextBox 32"/>
          <p:cNvSpPr txBox="1"/>
          <p:nvPr/>
        </p:nvSpPr>
        <p:spPr>
          <a:xfrm>
            <a:off x="1758426" y="35295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曲げ振動</a:t>
            </a:r>
          </a:p>
        </p:txBody>
      </p:sp>
      <p:sp>
        <p:nvSpPr>
          <p:cNvPr id="34" name="TextBox 33"/>
          <p:cNvSpPr txBox="1"/>
          <p:nvPr/>
        </p:nvSpPr>
        <p:spPr>
          <a:xfrm>
            <a:off x="4469314" y="35295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シャープ化</a:t>
            </a:r>
          </a:p>
        </p:txBody>
      </p:sp>
      <p:sp>
        <p:nvSpPr>
          <p:cNvPr id="35" name="Rounded Rectangle 34"/>
          <p:cNvSpPr/>
          <p:nvPr/>
        </p:nvSpPr>
        <p:spPr>
          <a:xfrm>
            <a:off x="365760" y="4169664"/>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4169664"/>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169664"/>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960120" y="4169664"/>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燃焼後のスペクトルは純シリカ（SiO₂）と一致 → エアロゲル化を化学的に確認</a:t>
            </a:r>
          </a:p>
        </p:txBody>
      </p:sp>
      <p:sp>
        <p:nvSpPr>
          <p:cNvPr id="39" name="TextBox 38"/>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XPS 表面元素組成（at%）</a:t>
            </a:r>
          </a:p>
        </p:txBody>
      </p:sp>
      <p:sp>
        <p:nvSpPr>
          <p:cNvPr id="40" name="Rectangle 39"/>
          <p:cNvSpPr/>
          <p:nvPr/>
        </p:nvSpPr>
        <p:spPr>
          <a:xfrm>
            <a:off x="6187287" y="1243584"/>
            <a:ext cx="5638647"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78727" y="1243584"/>
            <a:ext cx="192236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42" name="TextBox 41"/>
          <p:cNvSpPr txBox="1"/>
          <p:nvPr/>
        </p:nvSpPr>
        <p:spPr>
          <a:xfrm>
            <a:off x="8292530"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燃焼前 (at%)</a:t>
            </a:r>
          </a:p>
        </p:txBody>
      </p:sp>
      <p:sp>
        <p:nvSpPr>
          <p:cNvPr id="43" name="TextBox 42"/>
          <p:cNvSpPr txBox="1"/>
          <p:nvPr/>
        </p:nvSpPr>
        <p:spPr>
          <a:xfrm>
            <a:off x="10104952"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燃焼後 (at%)</a:t>
            </a:r>
          </a:p>
        </p:txBody>
      </p:sp>
      <p:sp>
        <p:nvSpPr>
          <p:cNvPr id="44" name="Rectangle 43"/>
          <p:cNvSpPr/>
          <p:nvPr/>
        </p:nvSpPr>
        <p:spPr>
          <a:xfrm>
            <a:off x="6187287" y="1883664"/>
            <a:ext cx="5638647" cy="64008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78727" y="188366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a:t>
            </a:r>
          </a:p>
        </p:txBody>
      </p:sp>
      <p:sp>
        <p:nvSpPr>
          <p:cNvPr id="46" name="TextBox 45"/>
          <p:cNvSpPr txBox="1"/>
          <p:nvPr/>
        </p:nvSpPr>
        <p:spPr>
          <a:xfrm>
            <a:off x="8292530" y="188366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25.6</a:t>
            </a:r>
          </a:p>
        </p:txBody>
      </p:sp>
      <p:sp>
        <p:nvSpPr>
          <p:cNvPr id="47" name="TextBox 46"/>
          <p:cNvSpPr txBox="1"/>
          <p:nvPr/>
        </p:nvSpPr>
        <p:spPr>
          <a:xfrm>
            <a:off x="10104952" y="188366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14.9</a:t>
            </a:r>
          </a:p>
        </p:txBody>
      </p:sp>
      <p:sp>
        <p:nvSpPr>
          <p:cNvPr id="48" name="Rectangle 47"/>
          <p:cNvSpPr/>
          <p:nvPr/>
        </p:nvSpPr>
        <p:spPr>
          <a:xfrm>
            <a:off x="6187287" y="2523744"/>
            <a:ext cx="5638647" cy="64008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78727" y="252374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a:t>
            </a:r>
          </a:p>
        </p:txBody>
      </p:sp>
      <p:sp>
        <p:nvSpPr>
          <p:cNvPr id="50" name="TextBox 49"/>
          <p:cNvSpPr txBox="1"/>
          <p:nvPr/>
        </p:nvSpPr>
        <p:spPr>
          <a:xfrm>
            <a:off x="8292530" y="252374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38.3</a:t>
            </a:r>
          </a:p>
        </p:txBody>
      </p:sp>
      <p:sp>
        <p:nvSpPr>
          <p:cNvPr id="51" name="TextBox 50"/>
          <p:cNvSpPr txBox="1"/>
          <p:nvPr/>
        </p:nvSpPr>
        <p:spPr>
          <a:xfrm>
            <a:off x="10104952" y="252374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4.8</a:t>
            </a:r>
          </a:p>
        </p:txBody>
      </p:sp>
      <p:sp>
        <p:nvSpPr>
          <p:cNvPr id="52" name="Rounded Rectangle 51"/>
          <p:cNvSpPr/>
          <p:nvPr/>
        </p:nvSpPr>
        <p:spPr>
          <a:xfrm>
            <a:off x="6187287" y="3300984"/>
            <a:ext cx="5638647" cy="77724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187287" y="3300984"/>
            <a:ext cx="54864" cy="77724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70167" y="3300984"/>
            <a:ext cx="365760" cy="77724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5" name="TextBox 54"/>
          <p:cNvSpPr txBox="1"/>
          <p:nvPr/>
        </p:nvSpPr>
        <p:spPr>
          <a:xfrm>
            <a:off x="6781647" y="3300984"/>
            <a:ext cx="4952847" cy="777240"/>
          </a:xfrm>
          <a:prstGeom prst="rect">
            <a:avLst/>
          </a:prstGeom>
          <a:noFill/>
        </p:spPr>
        <p:txBody>
          <a:bodyPr wrap="square" anchor="ctr" lIns="36000" rIns="36000" tIns="18000" bIns="18000">
            <a:spAutoFit/>
          </a:bodyPr>
          <a:lstStyle/>
          <a:p>
            <a:pPr algn="l"/>
            <a:r>
              <a:rPr sz="1300" b="1" i="0">
                <a:solidFill>
                  <a:srgbClr val="FFFFFF"/>
                </a:solidFill>
                <a:latin typeface="Noto Sans JP"/>
              </a:rPr>
              <a:t>炭素濃度が大幅減（MHEC: 38.3→4.8 at%）→ 有機マトリクスが燃焼除去、シリカが残存・露出</a:t>
            </a:r>
          </a:p>
        </p:txBody>
      </p:sp>
      <p:sp>
        <p:nvSpPr>
          <p:cNvPr id="56" name="Rounded Rectangle 55"/>
          <p:cNvSpPr/>
          <p:nvPr/>
        </p:nvSpPr>
        <p:spPr>
          <a:xfrm>
            <a:off x="6187287" y="4261104"/>
            <a:ext cx="5638647" cy="7772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51879" y="4389120"/>
            <a:ext cx="5309463"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ピーク位置の確認</a:t>
            </a:r>
          </a:p>
        </p:txBody>
      </p:sp>
      <p:sp>
        <p:nvSpPr>
          <p:cNvPr id="58" name="TextBox 57"/>
          <p:cNvSpPr txBox="1"/>
          <p:nvPr/>
        </p:nvSpPr>
        <p:spPr>
          <a:xfrm>
            <a:off x="6351879" y="4645152"/>
            <a:ext cx="5309463" cy="411480"/>
          </a:xfrm>
          <a:prstGeom prst="rect">
            <a:avLst/>
          </a:prstGeom>
          <a:noFill/>
        </p:spPr>
        <p:txBody>
          <a:bodyPr wrap="square" anchor="t" lIns="36000" rIns="36000" tIns="18000" bIns="18000">
            <a:spAutoFit/>
          </a:bodyPr>
          <a:lstStyle/>
          <a:p>
            <a:pPr algn="l"/>
            <a:r>
              <a:rPr sz="1200" b="0" i="0">
                <a:solidFill>
                  <a:srgbClr val="475569"/>
                </a:solidFill>
                <a:latin typeface="Noto Sans JP"/>
              </a:rPr>
              <a:t>Si 2p ピーク：~103.5 eV（SiO₂と一致）／ O 1s ピーク：~533 eV</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TGA/DSC：熱分解プロファイルと各成分の役割</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31 / 39</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TGA：重量損失プロファイル（N₂雰囲気）</a:t>
            </a:r>
          </a:p>
        </p:txBody>
      </p:sp>
      <p:sp>
        <p:nvSpPr>
          <p:cNvPr id="11" name="TextBox 10"/>
          <p:cNvSpPr txBox="1"/>
          <p:nvPr/>
        </p:nvSpPr>
        <p:spPr>
          <a:xfrm>
            <a:off x="365760" y="1271016"/>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50–150°C：自由水・吸着水の蒸発</a:t>
            </a:r>
          </a:p>
        </p:txBody>
      </p:sp>
      <p:sp>
        <p:nvSpPr>
          <p:cNvPr id="12" name="Rounded Rectangle 11"/>
          <p:cNvSpPr/>
          <p:nvPr/>
        </p:nvSpPr>
        <p:spPr>
          <a:xfrm>
            <a:off x="365760" y="1545336"/>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5760" y="1545336"/>
            <a:ext cx="1691594" cy="128016"/>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1837944"/>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200–350°C：HEC・MC有機鎖の熱分解（主要重量損失）</a:t>
            </a:r>
          </a:p>
        </p:txBody>
      </p:sp>
      <p:sp>
        <p:nvSpPr>
          <p:cNvPr id="15" name="Rounded Rectangle 14"/>
          <p:cNvSpPr/>
          <p:nvPr/>
        </p:nvSpPr>
        <p:spPr>
          <a:xfrm>
            <a:off x="365760" y="2112264"/>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65760" y="2112264"/>
            <a:ext cx="4792850" cy="128016"/>
          </a:xfrm>
          <a:prstGeom prst="roundRect">
            <a:avLst>
              <a:gd name="adj" fmla="val 50000"/>
            </a:avLst>
          </a:prstGeom>
          <a:solidFill>
            <a:srgbClr val="A056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404872"/>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350–600°C：残留炭素の酸化・消失（空気中）</a:t>
            </a:r>
          </a:p>
        </p:txBody>
      </p:sp>
      <p:sp>
        <p:nvSpPr>
          <p:cNvPr id="18" name="Rounded Rectangle 17"/>
          <p:cNvSpPr/>
          <p:nvPr/>
        </p:nvSpPr>
        <p:spPr>
          <a:xfrm>
            <a:off x="365760" y="2679192"/>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2679192"/>
            <a:ext cx="2819323" cy="128016"/>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2971800"/>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&gt;600°C：シリカ残渣（~5–8 wt%、変化なし）</a:t>
            </a:r>
          </a:p>
        </p:txBody>
      </p:sp>
      <p:sp>
        <p:nvSpPr>
          <p:cNvPr id="21" name="Rounded Rectangle 20"/>
          <p:cNvSpPr/>
          <p:nvPr/>
        </p:nvSpPr>
        <p:spPr>
          <a:xfrm>
            <a:off x="365760" y="3246120"/>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5760" y="3246120"/>
            <a:ext cx="451091" cy="128016"/>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DSC：熱イベントの帰属</a:t>
            </a:r>
          </a:p>
        </p:txBody>
      </p:sp>
      <p:sp>
        <p:nvSpPr>
          <p:cNvPr id="24" name="Rectangle 23"/>
          <p:cNvSpPr/>
          <p:nvPr/>
        </p:nvSpPr>
        <p:spPr>
          <a:xfrm>
            <a:off x="6187287" y="1271016"/>
            <a:ext cx="5638647" cy="3657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78727" y="1271016"/>
            <a:ext cx="1392414"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温度域</a:t>
            </a:r>
          </a:p>
        </p:txBody>
      </p:sp>
      <p:sp>
        <p:nvSpPr>
          <p:cNvPr id="26" name="TextBox 25"/>
          <p:cNvSpPr txBox="1"/>
          <p:nvPr/>
        </p:nvSpPr>
        <p:spPr>
          <a:xfrm>
            <a:off x="7762582" y="1271016"/>
            <a:ext cx="2876269"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イベント</a:t>
            </a:r>
          </a:p>
        </p:txBody>
      </p:sp>
      <p:sp>
        <p:nvSpPr>
          <p:cNvPr id="27" name="TextBox 26"/>
          <p:cNvSpPr txBox="1"/>
          <p:nvPr/>
        </p:nvSpPr>
        <p:spPr>
          <a:xfrm>
            <a:off x="10730291" y="1271016"/>
            <a:ext cx="1095643"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ΔH</a:t>
            </a:r>
          </a:p>
        </p:txBody>
      </p:sp>
      <p:sp>
        <p:nvSpPr>
          <p:cNvPr id="28" name="Rectangle 27"/>
          <p:cNvSpPr/>
          <p:nvPr/>
        </p:nvSpPr>
        <p:spPr>
          <a:xfrm>
            <a:off x="6187287" y="163677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163677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~100°C</a:t>
            </a:r>
          </a:p>
        </p:txBody>
      </p:sp>
      <p:sp>
        <p:nvSpPr>
          <p:cNvPr id="30" name="TextBox 29"/>
          <p:cNvSpPr txBox="1"/>
          <p:nvPr/>
        </p:nvSpPr>
        <p:spPr>
          <a:xfrm>
            <a:off x="7762582" y="163677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吸熱：水の蒸発</a:t>
            </a:r>
          </a:p>
        </p:txBody>
      </p:sp>
      <p:sp>
        <p:nvSpPr>
          <p:cNvPr id="31" name="TextBox 30"/>
          <p:cNvSpPr txBox="1"/>
          <p:nvPr/>
        </p:nvSpPr>
        <p:spPr>
          <a:xfrm>
            <a:off x="10730291" y="1636776"/>
            <a:ext cx="1095643"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a:t>
            </a:r>
          </a:p>
        </p:txBody>
      </p:sp>
      <p:sp>
        <p:nvSpPr>
          <p:cNvPr id="32" name="Rectangle 31"/>
          <p:cNvSpPr/>
          <p:nvPr/>
        </p:nvSpPr>
        <p:spPr>
          <a:xfrm>
            <a:off x="6187287" y="2002536"/>
            <a:ext cx="5638647" cy="36576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78727" y="200253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~55–80°C</a:t>
            </a:r>
          </a:p>
        </p:txBody>
      </p:sp>
      <p:sp>
        <p:nvSpPr>
          <p:cNvPr id="34" name="TextBox 33"/>
          <p:cNvSpPr txBox="1"/>
          <p:nvPr/>
        </p:nvSpPr>
        <p:spPr>
          <a:xfrm>
            <a:off x="7762582" y="200253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発熱：MCゲル化転移</a:t>
            </a:r>
          </a:p>
        </p:txBody>
      </p:sp>
      <p:sp>
        <p:nvSpPr>
          <p:cNvPr id="35" name="TextBox 34"/>
          <p:cNvSpPr txBox="1"/>
          <p:nvPr/>
        </p:nvSpPr>
        <p:spPr>
          <a:xfrm>
            <a:off x="10730291" y="2002536"/>
            <a:ext cx="1095643" cy="365760"/>
          </a:xfrm>
          <a:prstGeom prst="rect">
            <a:avLst/>
          </a:prstGeom>
          <a:noFill/>
        </p:spPr>
        <p:txBody>
          <a:bodyPr wrap="square" anchor="ctr" lIns="36000" rIns="36000" tIns="18000" bIns="18000">
            <a:spAutoFit/>
          </a:bodyPr>
          <a:lstStyle/>
          <a:p>
            <a:pPr algn="l"/>
            <a:r>
              <a:rPr sz="1100" b="0" i="0">
                <a:solidFill>
                  <a:srgbClr val="5B8C5A"/>
                </a:solidFill>
                <a:latin typeface="Noto Sans JP"/>
              </a:rPr>
              <a:t>微発熱</a:t>
            </a:r>
          </a:p>
        </p:txBody>
      </p:sp>
      <p:sp>
        <p:nvSpPr>
          <p:cNvPr id="36" name="Rectangle 35"/>
          <p:cNvSpPr/>
          <p:nvPr/>
        </p:nvSpPr>
        <p:spPr>
          <a:xfrm>
            <a:off x="6187287" y="236829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78727" y="236829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~250–300°C</a:t>
            </a:r>
          </a:p>
        </p:txBody>
      </p:sp>
      <p:sp>
        <p:nvSpPr>
          <p:cNvPr id="38" name="TextBox 37"/>
          <p:cNvSpPr txBox="1"/>
          <p:nvPr/>
        </p:nvSpPr>
        <p:spPr>
          <a:xfrm>
            <a:off x="7762582" y="236829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発熱：有機鎖の酸化分解</a:t>
            </a:r>
          </a:p>
        </p:txBody>
      </p:sp>
      <p:sp>
        <p:nvSpPr>
          <p:cNvPr id="39" name="TextBox 38"/>
          <p:cNvSpPr txBox="1"/>
          <p:nvPr/>
        </p:nvSpPr>
        <p:spPr>
          <a:xfrm>
            <a:off x="10730291" y="2368296"/>
            <a:ext cx="1095643" cy="365760"/>
          </a:xfrm>
          <a:prstGeom prst="rect">
            <a:avLst/>
          </a:prstGeom>
          <a:noFill/>
        </p:spPr>
        <p:txBody>
          <a:bodyPr wrap="square" anchor="ctr" lIns="36000" rIns="36000" tIns="18000" bIns="18000">
            <a:spAutoFit/>
          </a:bodyPr>
          <a:lstStyle/>
          <a:p>
            <a:pPr algn="l"/>
            <a:r>
              <a:rPr sz="1100" b="0" i="0">
                <a:solidFill>
                  <a:srgbClr val="A05656"/>
                </a:solidFill>
                <a:latin typeface="Noto Sans JP"/>
              </a:rPr>
              <a:t>発熱</a:t>
            </a:r>
          </a:p>
        </p:txBody>
      </p:sp>
      <p:sp>
        <p:nvSpPr>
          <p:cNvPr id="40" name="Rounded Rectangle 39"/>
          <p:cNvSpPr/>
          <p:nvPr/>
        </p:nvSpPr>
        <p:spPr>
          <a:xfrm>
            <a:off x="6187287"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15303"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最終シリカ残渣</a:t>
            </a:r>
          </a:p>
        </p:txBody>
      </p:sp>
      <p:sp>
        <p:nvSpPr>
          <p:cNvPr id="42" name="TextBox 41"/>
          <p:cNvSpPr txBox="1"/>
          <p:nvPr/>
        </p:nvSpPr>
        <p:spPr>
          <a:xfrm>
            <a:off x="6315303" y="3374136"/>
            <a:ext cx="2494711"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~5–8 wt%</a:t>
            </a:r>
          </a:p>
        </p:txBody>
      </p:sp>
      <p:sp>
        <p:nvSpPr>
          <p:cNvPr id="43" name="TextBox 42"/>
          <p:cNvSpPr txBox="1"/>
          <p:nvPr/>
        </p:nvSpPr>
        <p:spPr>
          <a:xfrm>
            <a:off x="6315303"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CSP 5 wt% に相当</a:t>
            </a:r>
          </a:p>
        </p:txBody>
      </p:sp>
      <p:sp>
        <p:nvSpPr>
          <p:cNvPr id="44" name="Rounded Rectangle 43"/>
          <p:cNvSpPr/>
          <p:nvPr/>
        </p:nvSpPr>
        <p:spPr>
          <a:xfrm>
            <a:off x="9075191"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03207"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セルロース分解ピーク</a:t>
            </a:r>
          </a:p>
        </p:txBody>
      </p:sp>
      <p:sp>
        <p:nvSpPr>
          <p:cNvPr id="46" name="TextBox 45"/>
          <p:cNvSpPr txBox="1"/>
          <p:nvPr/>
        </p:nvSpPr>
        <p:spPr>
          <a:xfrm>
            <a:off x="9203207" y="3374136"/>
            <a:ext cx="2494711"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~280°C</a:t>
            </a:r>
          </a:p>
        </p:txBody>
      </p:sp>
      <p:sp>
        <p:nvSpPr>
          <p:cNvPr id="47" name="TextBox 46"/>
          <p:cNvSpPr txBox="1"/>
          <p:nvPr/>
        </p:nvSpPr>
        <p:spPr>
          <a:xfrm>
            <a:off x="9203207"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HEC/MC共通</a:t>
            </a:r>
          </a:p>
        </p:txBody>
      </p:sp>
      <p:sp>
        <p:nvSpPr>
          <p:cNvPr id="48" name="Rounded Rectangle 47"/>
          <p:cNvSpPr/>
          <p:nvPr/>
        </p:nvSpPr>
        <p:spPr>
          <a:xfrm>
            <a:off x="6187287" y="4288536"/>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87287" y="428853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70167" y="428853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1" name="TextBox 50"/>
          <p:cNvSpPr txBox="1"/>
          <p:nvPr/>
        </p:nvSpPr>
        <p:spPr>
          <a:xfrm>
            <a:off x="6781647" y="4288536"/>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CSP焼結（~200°C〜）とセルロース分解（~280°C〜）が温度的に重複 → エアロゲル化が同期</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シリカエアロゲル形成のメカニズム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32 / 39</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5a</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火炎活性化によるWEG → シリカエアロゲル変態の3段階模式図</a:t>
            </a:r>
          </a:p>
        </p:txBody>
      </p:sp>
      <p:sp>
        <p:nvSpPr>
          <p:cNvPr id="15" name="Rounded Rectangle 14"/>
          <p:cNvSpPr/>
          <p:nvPr/>
        </p:nvSpPr>
        <p:spPr>
          <a:xfrm>
            <a:off x="36576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1</a:t>
            </a:r>
          </a:p>
        </p:txBody>
      </p:sp>
      <p:sp>
        <p:nvSpPr>
          <p:cNvPr id="18" name="TextBox 17"/>
          <p:cNvSpPr txBox="1"/>
          <p:nvPr/>
        </p:nvSpPr>
        <p:spPr>
          <a:xfrm>
            <a:off x="54864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Unsintered</a:t>
            </a:r>
          </a:p>
        </p:txBody>
      </p:sp>
      <p:sp>
        <p:nvSpPr>
          <p:cNvPr id="19" name="TextBox 18"/>
          <p:cNvSpPr txBox="1"/>
          <p:nvPr/>
        </p:nvSpPr>
        <p:spPr>
          <a:xfrm>
            <a:off x="54864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980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シリカ粒子が独立分散</a:t>
            </a:r>
          </a:p>
        </p:txBody>
      </p:sp>
      <p:sp>
        <p:nvSpPr>
          <p:cNvPr id="21" name="TextBox 20"/>
          <p:cNvSpPr txBox="1"/>
          <p:nvPr/>
        </p:nvSpPr>
        <p:spPr>
          <a:xfrm>
            <a:off x="54864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980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間隙に水が満たされている</a:t>
            </a:r>
          </a:p>
        </p:txBody>
      </p:sp>
      <p:sp>
        <p:nvSpPr>
          <p:cNvPr id="23" name="TextBox 22"/>
          <p:cNvSpPr txBox="1"/>
          <p:nvPr/>
        </p:nvSpPr>
        <p:spPr>
          <a:xfrm>
            <a:off x="54864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980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粒子間結合なし</a:t>
            </a:r>
          </a:p>
        </p:txBody>
      </p:sp>
      <p:sp>
        <p:nvSpPr>
          <p:cNvPr id="25" name="Rounded Rectangle 24"/>
          <p:cNvSpPr/>
          <p:nvPr/>
        </p:nvSpPr>
        <p:spPr>
          <a:xfrm>
            <a:off x="422849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2849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1137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2</a:t>
            </a:r>
          </a:p>
        </p:txBody>
      </p:sp>
      <p:sp>
        <p:nvSpPr>
          <p:cNvPr id="28" name="TextBox 27"/>
          <p:cNvSpPr txBox="1"/>
          <p:nvPr/>
        </p:nvSpPr>
        <p:spPr>
          <a:xfrm>
            <a:off x="441137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Grain boundary</a:t>
            </a:r>
          </a:p>
        </p:txBody>
      </p:sp>
      <p:sp>
        <p:nvSpPr>
          <p:cNvPr id="29" name="TextBox 28"/>
          <p:cNvSpPr txBox="1"/>
          <p:nvPr/>
        </p:nvSpPr>
        <p:spPr>
          <a:xfrm>
            <a:off x="441137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0" name="TextBox 29"/>
          <p:cNvSpPr txBox="1"/>
          <p:nvPr/>
        </p:nvSpPr>
        <p:spPr>
          <a:xfrm>
            <a:off x="461253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脱水・加熱で粒子が近接</a:t>
            </a:r>
          </a:p>
        </p:txBody>
      </p:sp>
      <p:sp>
        <p:nvSpPr>
          <p:cNvPr id="31" name="TextBox 30"/>
          <p:cNvSpPr txBox="1"/>
          <p:nvPr/>
        </p:nvSpPr>
        <p:spPr>
          <a:xfrm>
            <a:off x="441137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2" name="TextBox 31"/>
          <p:cNvSpPr txBox="1"/>
          <p:nvPr/>
        </p:nvSpPr>
        <p:spPr>
          <a:xfrm>
            <a:off x="461253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粒界（grain boundary）形成</a:t>
            </a:r>
          </a:p>
        </p:txBody>
      </p:sp>
      <p:sp>
        <p:nvSpPr>
          <p:cNvPr id="33" name="TextBox 32"/>
          <p:cNvSpPr txBox="1"/>
          <p:nvPr/>
        </p:nvSpPr>
        <p:spPr>
          <a:xfrm>
            <a:off x="441137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461253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初期ネック形成開始</a:t>
            </a:r>
          </a:p>
        </p:txBody>
      </p:sp>
      <p:sp>
        <p:nvSpPr>
          <p:cNvPr id="35" name="Rounded Rectangle 34"/>
          <p:cNvSpPr/>
          <p:nvPr/>
        </p:nvSpPr>
        <p:spPr>
          <a:xfrm>
            <a:off x="809122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9122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7410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3</a:t>
            </a:r>
          </a:p>
        </p:txBody>
      </p:sp>
      <p:sp>
        <p:nvSpPr>
          <p:cNvPr id="38" name="TextBox 37"/>
          <p:cNvSpPr txBox="1"/>
          <p:nvPr/>
        </p:nvSpPr>
        <p:spPr>
          <a:xfrm>
            <a:off x="827410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Necking &amp; porosity</a:t>
            </a:r>
          </a:p>
        </p:txBody>
      </p:sp>
      <p:sp>
        <p:nvSpPr>
          <p:cNvPr id="39" name="TextBox 38"/>
          <p:cNvSpPr txBox="1"/>
          <p:nvPr/>
        </p:nvSpPr>
        <p:spPr>
          <a:xfrm>
            <a:off x="827410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0" name="TextBox 39"/>
          <p:cNvSpPr txBox="1"/>
          <p:nvPr/>
        </p:nvSpPr>
        <p:spPr>
          <a:xfrm>
            <a:off x="847526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ネックが拡大・強化</a:t>
            </a:r>
          </a:p>
        </p:txBody>
      </p:sp>
      <p:sp>
        <p:nvSpPr>
          <p:cNvPr id="41" name="TextBox 40"/>
          <p:cNvSpPr txBox="1"/>
          <p:nvPr/>
        </p:nvSpPr>
        <p:spPr>
          <a:xfrm>
            <a:off x="827410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2" name="TextBox 41"/>
          <p:cNvSpPr txBox="1"/>
          <p:nvPr/>
        </p:nvSpPr>
        <p:spPr>
          <a:xfrm>
            <a:off x="847526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空隙率低下し骨格が完成</a:t>
            </a:r>
          </a:p>
        </p:txBody>
      </p:sp>
      <p:sp>
        <p:nvSpPr>
          <p:cNvPr id="43" name="TextBox 42"/>
          <p:cNvSpPr txBox="1"/>
          <p:nvPr/>
        </p:nvSpPr>
        <p:spPr>
          <a:xfrm>
            <a:off x="827410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4" name="TextBox 43"/>
          <p:cNvSpPr txBox="1"/>
          <p:nvPr/>
        </p:nvSpPr>
        <p:spPr>
          <a:xfrm>
            <a:off x="847526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SiO₂エアロゲル層が確立</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2/3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燃焼時間に伴う焼結進行（SEM）</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33 / 39</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5b</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HEC+MC/CSP 1-5 を 0, 1, 2, 4分加熱後のクロスセクションSEM像</a:t>
            </a:r>
          </a:p>
        </p:txBody>
      </p:sp>
      <p:sp>
        <p:nvSpPr>
          <p:cNvPr id="15" name="Rounded Rectangle 14"/>
          <p:cNvSpPr/>
          <p:nvPr/>
        </p:nvSpPr>
        <p:spPr>
          <a:xfrm>
            <a:off x="365760"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0 min</a:t>
            </a:r>
          </a:p>
        </p:txBody>
      </p:sp>
      <p:sp>
        <p:nvSpPr>
          <p:cNvPr id="17" name="TextBox 16"/>
          <p:cNvSpPr txBox="1"/>
          <p:nvPr/>
        </p:nvSpPr>
        <p:spPr>
          <a:xfrm>
            <a:off x="512064"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未加熱</a:t>
            </a:r>
          </a:p>
        </p:txBody>
      </p:sp>
      <p:sp>
        <p:nvSpPr>
          <p:cNvPr id="18" name="TextBox 17"/>
          <p:cNvSpPr txBox="1"/>
          <p:nvPr/>
        </p:nvSpPr>
        <p:spPr>
          <a:xfrm>
            <a:off x="548640"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19" name="TextBox 18"/>
          <p:cNvSpPr txBox="1"/>
          <p:nvPr/>
        </p:nvSpPr>
        <p:spPr>
          <a:xfrm>
            <a:off x="731520"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球状粒子が独立分散</a:t>
            </a:r>
          </a:p>
        </p:txBody>
      </p:sp>
      <p:sp>
        <p:nvSpPr>
          <p:cNvPr id="20" name="TextBox 19"/>
          <p:cNvSpPr txBox="1"/>
          <p:nvPr/>
        </p:nvSpPr>
        <p:spPr>
          <a:xfrm>
            <a:off x="548640"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1" name="TextBox 20"/>
          <p:cNvSpPr txBox="1"/>
          <p:nvPr/>
        </p:nvSpPr>
        <p:spPr>
          <a:xfrm>
            <a:off x="731520"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粒子間結合なし</a:t>
            </a:r>
          </a:p>
        </p:txBody>
      </p:sp>
      <p:sp>
        <p:nvSpPr>
          <p:cNvPr id="22" name="TextBox 21"/>
          <p:cNvSpPr txBox="1"/>
          <p:nvPr/>
        </p:nvSpPr>
        <p:spPr>
          <a:xfrm>
            <a:off x="548640"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3" name="TextBox 22"/>
          <p:cNvSpPr txBox="1"/>
          <p:nvPr/>
        </p:nvSpPr>
        <p:spPr>
          <a:xfrm>
            <a:off x="731520"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水がマトリクスを充填</a:t>
            </a:r>
          </a:p>
        </p:txBody>
      </p:sp>
      <p:sp>
        <p:nvSpPr>
          <p:cNvPr id="24" name="Rounded Rectangle 23"/>
          <p:cNvSpPr/>
          <p:nvPr/>
        </p:nvSpPr>
        <p:spPr>
          <a:xfrm>
            <a:off x="3262807"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09111"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1 min</a:t>
            </a:r>
          </a:p>
        </p:txBody>
      </p:sp>
      <p:sp>
        <p:nvSpPr>
          <p:cNvPr id="26" name="TextBox 25"/>
          <p:cNvSpPr txBox="1"/>
          <p:nvPr/>
        </p:nvSpPr>
        <p:spPr>
          <a:xfrm>
            <a:off x="3409111"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焼結初期</a:t>
            </a:r>
          </a:p>
        </p:txBody>
      </p:sp>
      <p:sp>
        <p:nvSpPr>
          <p:cNvPr id="27" name="TextBox 26"/>
          <p:cNvSpPr txBox="1"/>
          <p:nvPr/>
        </p:nvSpPr>
        <p:spPr>
          <a:xfrm>
            <a:off x="3445687"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8" name="TextBox 27"/>
          <p:cNvSpPr txBox="1"/>
          <p:nvPr/>
        </p:nvSpPr>
        <p:spPr>
          <a:xfrm>
            <a:off x="3628567"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粒子間で粒界が出現</a:t>
            </a:r>
          </a:p>
        </p:txBody>
      </p:sp>
      <p:sp>
        <p:nvSpPr>
          <p:cNvPr id="29" name="TextBox 28"/>
          <p:cNvSpPr txBox="1"/>
          <p:nvPr/>
        </p:nvSpPr>
        <p:spPr>
          <a:xfrm>
            <a:off x="3445687"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0" name="TextBox 29"/>
          <p:cNvSpPr txBox="1"/>
          <p:nvPr/>
        </p:nvSpPr>
        <p:spPr>
          <a:xfrm>
            <a:off x="3628567"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初期ネックが形成</a:t>
            </a:r>
          </a:p>
        </p:txBody>
      </p:sp>
      <p:sp>
        <p:nvSpPr>
          <p:cNvPr id="31" name="TextBox 30"/>
          <p:cNvSpPr txBox="1"/>
          <p:nvPr/>
        </p:nvSpPr>
        <p:spPr>
          <a:xfrm>
            <a:off x="3445687"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2" name="TextBox 31"/>
          <p:cNvSpPr txBox="1"/>
          <p:nvPr/>
        </p:nvSpPr>
        <p:spPr>
          <a:xfrm>
            <a:off x="3628567"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水分の大半が蒸発済み</a:t>
            </a:r>
          </a:p>
        </p:txBody>
      </p:sp>
      <p:sp>
        <p:nvSpPr>
          <p:cNvPr id="33" name="Rounded Rectangle 32"/>
          <p:cNvSpPr/>
          <p:nvPr/>
        </p:nvSpPr>
        <p:spPr>
          <a:xfrm>
            <a:off x="6159855"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6159"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2 min</a:t>
            </a:r>
          </a:p>
        </p:txBody>
      </p:sp>
      <p:sp>
        <p:nvSpPr>
          <p:cNvPr id="35" name="TextBox 34"/>
          <p:cNvSpPr txBox="1"/>
          <p:nvPr/>
        </p:nvSpPr>
        <p:spPr>
          <a:xfrm>
            <a:off x="6306159"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焼結進行</a:t>
            </a:r>
          </a:p>
        </p:txBody>
      </p:sp>
      <p:sp>
        <p:nvSpPr>
          <p:cNvPr id="36" name="TextBox 35"/>
          <p:cNvSpPr txBox="1"/>
          <p:nvPr/>
        </p:nvSpPr>
        <p:spPr>
          <a:xfrm>
            <a:off x="6342735"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7" name="TextBox 36"/>
          <p:cNvSpPr txBox="1"/>
          <p:nvPr/>
        </p:nvSpPr>
        <p:spPr>
          <a:xfrm>
            <a:off x="6525615"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ネック領域が拡大</a:t>
            </a:r>
          </a:p>
        </p:txBody>
      </p:sp>
      <p:sp>
        <p:nvSpPr>
          <p:cNvPr id="38" name="TextBox 37"/>
          <p:cNvSpPr txBox="1"/>
          <p:nvPr/>
        </p:nvSpPr>
        <p:spPr>
          <a:xfrm>
            <a:off x="6342735"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9" name="TextBox 38"/>
          <p:cNvSpPr txBox="1"/>
          <p:nvPr/>
        </p:nvSpPr>
        <p:spPr>
          <a:xfrm>
            <a:off x="6525615"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連続ネットワーク形成</a:t>
            </a:r>
          </a:p>
        </p:txBody>
      </p:sp>
      <p:sp>
        <p:nvSpPr>
          <p:cNvPr id="40" name="TextBox 39"/>
          <p:cNvSpPr txBox="1"/>
          <p:nvPr/>
        </p:nvSpPr>
        <p:spPr>
          <a:xfrm>
            <a:off x="6342735"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41" name="TextBox 40"/>
          <p:cNvSpPr txBox="1"/>
          <p:nvPr/>
        </p:nvSpPr>
        <p:spPr>
          <a:xfrm>
            <a:off x="6525615"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空隙率が低下</a:t>
            </a:r>
          </a:p>
        </p:txBody>
      </p:sp>
      <p:sp>
        <p:nvSpPr>
          <p:cNvPr id="42" name="Rounded Rectangle 41"/>
          <p:cNvSpPr/>
          <p:nvPr/>
        </p:nvSpPr>
        <p:spPr>
          <a:xfrm>
            <a:off x="9056903" y="3374136"/>
            <a:ext cx="2769031"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03207"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4 min</a:t>
            </a:r>
          </a:p>
        </p:txBody>
      </p:sp>
      <p:sp>
        <p:nvSpPr>
          <p:cNvPr id="44" name="TextBox 43"/>
          <p:cNvSpPr txBox="1"/>
          <p:nvPr/>
        </p:nvSpPr>
        <p:spPr>
          <a:xfrm>
            <a:off x="9203207" y="3813048"/>
            <a:ext cx="2476423" cy="384048"/>
          </a:xfrm>
          <a:prstGeom prst="rect">
            <a:avLst/>
          </a:prstGeom>
          <a:noFill/>
        </p:spPr>
        <p:txBody>
          <a:bodyPr wrap="square" anchor="t" lIns="36000" rIns="36000" tIns="18000" bIns="18000">
            <a:spAutoFit/>
          </a:bodyPr>
          <a:lstStyle/>
          <a:p>
            <a:pPr algn="l"/>
            <a:r>
              <a:rPr sz="1500" b="1" i="0">
                <a:solidFill>
                  <a:srgbClr val="3B5174"/>
                </a:solidFill>
                <a:latin typeface="Noto Sans JP"/>
              </a:rPr>
              <a:t>エアロゲル完成</a:t>
            </a:r>
          </a:p>
        </p:txBody>
      </p:sp>
      <p:sp>
        <p:nvSpPr>
          <p:cNvPr id="45" name="TextBox 44"/>
          <p:cNvSpPr txBox="1"/>
          <p:nvPr/>
        </p:nvSpPr>
        <p:spPr>
          <a:xfrm>
            <a:off x="9239783" y="433425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6" name="TextBox 45"/>
          <p:cNvSpPr txBox="1"/>
          <p:nvPr/>
        </p:nvSpPr>
        <p:spPr>
          <a:xfrm>
            <a:off x="9422663"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緻密なSiO₂骨格完成</a:t>
            </a:r>
          </a:p>
        </p:txBody>
      </p:sp>
      <p:sp>
        <p:nvSpPr>
          <p:cNvPr id="47" name="TextBox 46"/>
          <p:cNvSpPr txBox="1"/>
          <p:nvPr/>
        </p:nvSpPr>
        <p:spPr>
          <a:xfrm>
            <a:off x="9239783" y="470001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8" name="TextBox 47"/>
          <p:cNvSpPr txBox="1"/>
          <p:nvPr/>
        </p:nvSpPr>
        <p:spPr>
          <a:xfrm>
            <a:off x="9422663"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高い機械的強度</a:t>
            </a:r>
          </a:p>
        </p:txBody>
      </p:sp>
      <p:sp>
        <p:nvSpPr>
          <p:cNvPr id="49" name="TextBox 48"/>
          <p:cNvSpPr txBox="1"/>
          <p:nvPr/>
        </p:nvSpPr>
        <p:spPr>
          <a:xfrm>
            <a:off x="9239783" y="506577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50" name="TextBox 49"/>
          <p:cNvSpPr txBox="1"/>
          <p:nvPr/>
        </p:nvSpPr>
        <p:spPr>
          <a:xfrm>
            <a:off x="9422663"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断熱層として機能</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3/3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経時変化と長期安定性：1年以上経過しても性能を維持</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34 / 39</a:t>
            </a:r>
          </a:p>
        </p:txBody>
      </p:sp>
      <p:sp>
        <p:nvSpPr>
          <p:cNvPr id="10" name="Rectangle 9"/>
          <p:cNvSpPr/>
          <p:nvPr/>
        </p:nvSpPr>
        <p:spPr>
          <a:xfrm>
            <a:off x="365760" y="859536"/>
            <a:ext cx="45720" cy="9326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3851343" cy="310896"/>
          </a:xfrm>
          <a:prstGeom prst="rect">
            <a:avLst/>
          </a:prstGeom>
          <a:noFill/>
        </p:spPr>
        <p:txBody>
          <a:bodyPr wrap="square" anchor="t" lIns="36000" rIns="36000" tIns="18000" bIns="18000">
            <a:spAutoFit/>
          </a:bodyPr>
          <a:lstStyle/>
          <a:p>
            <a:pPr algn="l"/>
            <a:r>
              <a:rPr sz="1500" b="1" i="0">
                <a:solidFill>
                  <a:srgbClr val="1E293B"/>
                </a:solidFill>
                <a:latin typeface="Noto Sans JP"/>
              </a:rPr>
              <a:t>熟成メカニズム</a:t>
            </a:r>
          </a:p>
        </p:txBody>
      </p:sp>
      <p:sp>
        <p:nvSpPr>
          <p:cNvPr id="12" name="TextBox 11"/>
          <p:cNvSpPr txBox="1"/>
          <p:nvPr/>
        </p:nvSpPr>
        <p:spPr>
          <a:xfrm>
            <a:off x="530352" y="1225296"/>
            <a:ext cx="3851343" cy="603504"/>
          </a:xfrm>
          <a:prstGeom prst="rect">
            <a:avLst/>
          </a:prstGeom>
          <a:noFill/>
        </p:spPr>
        <p:txBody>
          <a:bodyPr wrap="square" anchor="t" lIns="36000" rIns="36000" tIns="18000" bIns="18000">
            <a:spAutoFit/>
          </a:bodyPr>
          <a:lstStyle/>
          <a:p>
            <a:pPr algn="l"/>
            <a:r>
              <a:rPr sz="1200" b="0" i="0">
                <a:solidFill>
                  <a:srgbClr val="334155"/>
                </a:solidFill>
                <a:latin typeface="Noto Sans JP"/>
              </a:rPr>
              <a:t>可逆的な結合（水素結合）から、</a:t>
            </a:r>
          </a:p>
          <a:p>
            <a:pPr algn="l"/>
            <a:r>
              <a:rPr sz="1200" b="0" i="0">
                <a:solidFill>
                  <a:srgbClr val="334155"/>
                </a:solidFill>
                <a:latin typeface="Noto Sans JP"/>
              </a:rPr>
              <a:t>不可逆な共有結合（Si–O縮合）へ転移</a:t>
            </a:r>
          </a:p>
        </p:txBody>
      </p:sp>
      <p:sp>
        <p:nvSpPr>
          <p:cNvPr id="13" name="Rectangle 12"/>
          <p:cNvSpPr/>
          <p:nvPr/>
        </p:nvSpPr>
        <p:spPr>
          <a:xfrm>
            <a:off x="530352" y="1993392"/>
            <a:ext cx="3413544"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 y="2194560"/>
            <a:ext cx="3851343" cy="274320"/>
          </a:xfrm>
          <a:prstGeom prst="rect">
            <a:avLst/>
          </a:prstGeom>
          <a:noFill/>
        </p:spPr>
        <p:txBody>
          <a:bodyPr wrap="square" anchor="t" lIns="36000" rIns="36000" tIns="18000" bIns="18000">
            <a:spAutoFit/>
          </a:bodyPr>
          <a:lstStyle/>
          <a:p>
            <a:pPr algn="l"/>
            <a:r>
              <a:rPr sz="1300" b="1" i="0">
                <a:solidFill>
                  <a:srgbClr val="3B5174"/>
                </a:solidFill>
                <a:latin typeface="Noto Sans JP"/>
              </a:rPr>
              <a:t>HEC+MC / CSP</a:t>
            </a:r>
          </a:p>
        </p:txBody>
      </p:sp>
      <p:sp>
        <p:nvSpPr>
          <p:cNvPr id="15" name="TextBox 14"/>
          <p:cNvSpPr txBox="1"/>
          <p:nvPr/>
        </p:nvSpPr>
        <p:spPr>
          <a:xfrm>
            <a:off x="530352" y="2468880"/>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共有結合化が進行 → 剛性が上昇</a:t>
            </a:r>
          </a:p>
        </p:txBody>
      </p:sp>
      <p:sp>
        <p:nvSpPr>
          <p:cNvPr id="16" name="TextBox 15"/>
          <p:cNvSpPr txBox="1"/>
          <p:nvPr/>
        </p:nvSpPr>
        <p:spPr>
          <a:xfrm>
            <a:off x="530352" y="3035808"/>
            <a:ext cx="3851343" cy="274320"/>
          </a:xfrm>
          <a:prstGeom prst="rect">
            <a:avLst/>
          </a:prstGeom>
          <a:noFill/>
        </p:spPr>
        <p:txBody>
          <a:bodyPr wrap="square" anchor="t" lIns="36000" rIns="36000" tIns="18000" bIns="18000">
            <a:spAutoFit/>
          </a:bodyPr>
          <a:lstStyle/>
          <a:p>
            <a:pPr algn="l"/>
            <a:r>
              <a:rPr sz="1300" b="1" i="0">
                <a:solidFill>
                  <a:srgbClr val="4A7C8C"/>
                </a:solidFill>
                <a:latin typeface="Noto Sans JP"/>
              </a:rPr>
              <a:t>MHEC / CSP</a:t>
            </a:r>
          </a:p>
        </p:txBody>
      </p:sp>
      <p:sp>
        <p:nvSpPr>
          <p:cNvPr id="17" name="TextBox 16"/>
          <p:cNvSpPr txBox="1"/>
          <p:nvPr/>
        </p:nvSpPr>
        <p:spPr>
          <a:xfrm>
            <a:off x="530352" y="3310128"/>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ほぼ可逆結合のまま → 穏やかな変化</a:t>
            </a:r>
          </a:p>
        </p:txBody>
      </p:sp>
      <p:sp>
        <p:nvSpPr>
          <p:cNvPr id="18" name="TextBox 17"/>
          <p:cNvSpPr txBox="1"/>
          <p:nvPr/>
        </p:nvSpPr>
        <p:spPr>
          <a:xfrm>
            <a:off x="530352" y="3877056"/>
            <a:ext cx="3851343" cy="274320"/>
          </a:xfrm>
          <a:prstGeom prst="rect">
            <a:avLst/>
          </a:prstGeom>
          <a:noFill/>
        </p:spPr>
        <p:txBody>
          <a:bodyPr wrap="square" anchor="t" lIns="36000" rIns="36000" tIns="18000" bIns="18000">
            <a:spAutoFit/>
          </a:bodyPr>
          <a:lstStyle/>
          <a:p>
            <a:pPr algn="l"/>
            <a:r>
              <a:rPr sz="1000" b="0" i="1">
                <a:solidFill>
                  <a:srgbClr val="64748B"/>
                </a:solidFill>
                <a:latin typeface="Noto Sans JP"/>
              </a:rPr>
              <a:t>Fig. S4 / S6（界面化学スキーム）</a:t>
            </a:r>
          </a:p>
        </p:txBody>
      </p:sp>
      <p:sp>
        <p:nvSpPr>
          <p:cNvPr id="19" name="Rounded Rectangle 18"/>
          <p:cNvSpPr/>
          <p:nvPr/>
        </p:nvSpPr>
        <p:spPr>
          <a:xfrm>
            <a:off x="4564575"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92591"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弾性率（熟成20日）</a:t>
            </a:r>
          </a:p>
        </p:txBody>
      </p:sp>
      <p:sp>
        <p:nvSpPr>
          <p:cNvPr id="21" name="TextBox 20"/>
          <p:cNvSpPr txBox="1"/>
          <p:nvPr/>
        </p:nvSpPr>
        <p:spPr>
          <a:xfrm>
            <a:off x="4692591" y="1225296"/>
            <a:ext cx="3301496"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~1000 Pa</a:t>
            </a:r>
          </a:p>
        </p:txBody>
      </p:sp>
      <p:sp>
        <p:nvSpPr>
          <p:cNvPr id="22" name="TextBox 21"/>
          <p:cNvSpPr txBox="1"/>
          <p:nvPr/>
        </p:nvSpPr>
        <p:spPr>
          <a:xfrm>
            <a:off x="4692591"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S5</a:t>
            </a:r>
          </a:p>
        </p:txBody>
      </p:sp>
      <p:sp>
        <p:nvSpPr>
          <p:cNvPr id="23" name="Rounded Rectangle 22"/>
          <p:cNvSpPr/>
          <p:nvPr/>
        </p:nvSpPr>
        <p:spPr>
          <a:xfrm>
            <a:off x="8268407"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6423"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降伏応力 Day1→Day455</a:t>
            </a:r>
          </a:p>
        </p:txBody>
      </p:sp>
      <p:sp>
        <p:nvSpPr>
          <p:cNvPr id="25" name="TextBox 24"/>
          <p:cNvSpPr txBox="1"/>
          <p:nvPr/>
        </p:nvSpPr>
        <p:spPr>
          <a:xfrm>
            <a:off x="8396423" y="1225296"/>
            <a:ext cx="3301496" cy="411480"/>
          </a:xfrm>
          <a:prstGeom prst="rect">
            <a:avLst/>
          </a:prstGeom>
          <a:noFill/>
        </p:spPr>
        <p:txBody>
          <a:bodyPr wrap="square" anchor="t" lIns="36000" rIns="36000" tIns="18000" bIns="18000">
            <a:spAutoFit/>
          </a:bodyPr>
          <a:lstStyle/>
          <a:p>
            <a:pPr algn="l"/>
            <a:r>
              <a:rPr sz="2000" b="1" i="0">
                <a:solidFill>
                  <a:srgbClr val="B08442"/>
                </a:solidFill>
                <a:latin typeface="Noto Sans JP"/>
              </a:rPr>
              <a:t>33 → 69 Pa</a:t>
            </a:r>
          </a:p>
        </p:txBody>
      </p:sp>
      <p:sp>
        <p:nvSpPr>
          <p:cNvPr id="26" name="TextBox 25"/>
          <p:cNvSpPr txBox="1"/>
          <p:nvPr/>
        </p:nvSpPr>
        <p:spPr>
          <a:xfrm>
            <a:off x="8396423"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S7</a:t>
            </a:r>
          </a:p>
        </p:txBody>
      </p:sp>
      <p:sp>
        <p:nvSpPr>
          <p:cNvPr id="27" name="Rounded Rectangle 26"/>
          <p:cNvSpPr/>
          <p:nvPr/>
        </p:nvSpPr>
        <p:spPr>
          <a:xfrm>
            <a:off x="4564575" y="2487168"/>
            <a:ext cx="7261360"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74303" y="25968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74303" y="25968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S5/S7</a:t>
            </a:r>
          </a:p>
        </p:txBody>
      </p:sp>
      <p:sp>
        <p:nvSpPr>
          <p:cNvPr id="30" name="TextBox 29"/>
          <p:cNvSpPr txBox="1"/>
          <p:nvPr/>
        </p:nvSpPr>
        <p:spPr>
          <a:xfrm>
            <a:off x="4564575" y="2487168"/>
            <a:ext cx="7261360"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564575" y="4626864"/>
            <a:ext cx="726136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熟成に伴う弾性率・粘度の変化（Day 1 vs Day 455）</a:t>
            </a:r>
          </a:p>
        </p:txBody>
      </p:sp>
      <p:sp>
        <p:nvSpPr>
          <p:cNvPr id="32" name="Rounded Rectangle 31"/>
          <p:cNvSpPr/>
          <p:nvPr/>
        </p:nvSpPr>
        <p:spPr>
          <a:xfrm>
            <a:off x="365760" y="5907024"/>
            <a:ext cx="11460175" cy="74980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5760" y="5907024"/>
            <a:ext cx="54864" cy="74980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5907024"/>
            <a:ext cx="365760" cy="749808"/>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35" name="TextBox 34"/>
          <p:cNvSpPr txBox="1"/>
          <p:nvPr/>
        </p:nvSpPr>
        <p:spPr>
          <a:xfrm>
            <a:off x="960120" y="5907024"/>
            <a:ext cx="10774375" cy="749808"/>
          </a:xfrm>
          <a:prstGeom prst="rect">
            <a:avLst/>
          </a:prstGeom>
          <a:noFill/>
        </p:spPr>
        <p:txBody>
          <a:bodyPr wrap="square" anchor="ctr" lIns="36000" rIns="36000" tIns="18000" bIns="18000">
            <a:spAutoFit/>
          </a:bodyPr>
          <a:lstStyle/>
          <a:p>
            <a:pPr algn="l"/>
            <a:r>
              <a:rPr sz="1300" b="1" i="0">
                <a:solidFill>
                  <a:srgbClr val="FFFFFF"/>
                </a:solidFill>
                <a:latin typeface="Noto Sans JP"/>
              </a:rPr>
              <a:t>Day 455（約15か月）経過後も燃焼挙動とエアロゲル化は不変 — 実用的な保存安定性を実証（Video S5）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04</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4</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考察・まとめ</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実装シナリオ、既存品との総合比較、研究の意義と今後の展望</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実装シナリオ</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性能比較</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まとめ</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35 / 39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考察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実装シナリオ：WEGの展開戦略</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36 / 39</a:t>
            </a:r>
          </a:p>
        </p:txBody>
      </p:sp>
      <p:sp>
        <p:nvSpPr>
          <p:cNvPr id="10" name="Rounded Rectangle 9"/>
          <p:cNvSpPr/>
          <p:nvPr/>
        </p:nvSpPr>
        <p:spPr>
          <a:xfrm>
            <a:off x="36576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1</a:t>
            </a:r>
          </a:p>
        </p:txBody>
      </p:sp>
      <p:sp>
        <p:nvSpPr>
          <p:cNvPr id="13" name="TextBox 12"/>
          <p:cNvSpPr txBox="1"/>
          <p:nvPr/>
        </p:nvSpPr>
        <p:spPr>
          <a:xfrm>
            <a:off x="54864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WUI住宅の事前保護</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山火事シーズン前に建物外壁・屋根に散布</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ヘリコプター・地上ホース双方で対応可能</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乾燥しても保護機能が残る</a:t>
            </a:r>
          </a:p>
        </p:txBody>
      </p:sp>
      <p:sp>
        <p:nvSpPr>
          <p:cNvPr id="20" name="Rounded Rectangle 19"/>
          <p:cNvSpPr/>
          <p:nvPr/>
        </p:nvSpPr>
        <p:spPr>
          <a:xfrm>
            <a:off x="422849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2849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137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2</a:t>
            </a:r>
          </a:p>
        </p:txBody>
      </p:sp>
      <p:sp>
        <p:nvSpPr>
          <p:cNvPr id="23" name="TextBox 22"/>
          <p:cNvSpPr txBox="1"/>
          <p:nvPr/>
        </p:nvSpPr>
        <p:spPr>
          <a:xfrm>
            <a:off x="441137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重要インフラの保護</a:t>
            </a:r>
          </a:p>
        </p:txBody>
      </p:sp>
      <p:sp>
        <p:nvSpPr>
          <p:cNvPr id="24" name="TextBox 23"/>
          <p:cNvSpPr txBox="1"/>
          <p:nvPr/>
        </p:nvSpPr>
        <p:spPr>
          <a:xfrm>
            <a:off x="441137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5" name="TextBox 24"/>
          <p:cNvSpPr txBox="1"/>
          <p:nvPr/>
        </p:nvSpPr>
        <p:spPr>
          <a:xfrm>
            <a:off x="461253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送電塔・変電所・通信基地局</a:t>
            </a:r>
          </a:p>
        </p:txBody>
      </p:sp>
      <p:sp>
        <p:nvSpPr>
          <p:cNvPr id="26" name="TextBox 25"/>
          <p:cNvSpPr txBox="1"/>
          <p:nvPr/>
        </p:nvSpPr>
        <p:spPr>
          <a:xfrm>
            <a:off x="441137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7" name="TextBox 26"/>
          <p:cNvSpPr txBox="1"/>
          <p:nvPr/>
        </p:nvSpPr>
        <p:spPr>
          <a:xfrm>
            <a:off x="461253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金属構造物にも強固に付着</a:t>
            </a:r>
          </a:p>
        </p:txBody>
      </p:sp>
      <p:sp>
        <p:nvSpPr>
          <p:cNvPr id="28" name="TextBox 27"/>
          <p:cNvSpPr txBox="1"/>
          <p:nvPr/>
        </p:nvSpPr>
        <p:spPr>
          <a:xfrm>
            <a:off x="441137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9" name="TextBox 28"/>
          <p:cNvSpPr txBox="1"/>
          <p:nvPr/>
        </p:nvSpPr>
        <p:spPr>
          <a:xfrm>
            <a:off x="461253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断電・通信遮断を予防</a:t>
            </a:r>
          </a:p>
        </p:txBody>
      </p:sp>
      <p:sp>
        <p:nvSpPr>
          <p:cNvPr id="30" name="Rounded Rectangle 29"/>
          <p:cNvSpPr/>
          <p:nvPr/>
        </p:nvSpPr>
        <p:spPr>
          <a:xfrm>
            <a:off x="809122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410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3</a:t>
            </a:r>
          </a:p>
        </p:txBody>
      </p:sp>
      <p:sp>
        <p:nvSpPr>
          <p:cNvPr id="33" name="TextBox 32"/>
          <p:cNvSpPr txBox="1"/>
          <p:nvPr/>
        </p:nvSpPr>
        <p:spPr>
          <a:xfrm>
            <a:off x="827410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防火線（Fire Break）形成</a:t>
            </a:r>
          </a:p>
        </p:txBody>
      </p:sp>
      <p:sp>
        <p:nvSpPr>
          <p:cNvPr id="34" name="TextBox 33"/>
          <p:cNvSpPr txBox="1"/>
          <p:nvPr/>
        </p:nvSpPr>
        <p:spPr>
          <a:xfrm>
            <a:off x="827410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847526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延焼経路となる植生帯に事前散布</a:t>
            </a:r>
          </a:p>
        </p:txBody>
      </p:sp>
      <p:sp>
        <p:nvSpPr>
          <p:cNvPr id="36" name="TextBox 35"/>
          <p:cNvSpPr txBox="1"/>
          <p:nvPr/>
        </p:nvSpPr>
        <p:spPr>
          <a:xfrm>
            <a:off x="827410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847526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Phos-Chek の環境負荷なし</a:t>
            </a:r>
          </a:p>
        </p:txBody>
      </p:sp>
      <p:sp>
        <p:nvSpPr>
          <p:cNvPr id="38" name="TextBox 37"/>
          <p:cNvSpPr txBox="1"/>
          <p:nvPr/>
        </p:nvSpPr>
        <p:spPr>
          <a:xfrm>
            <a:off x="827410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9" name="TextBox 38"/>
          <p:cNvSpPr txBox="1"/>
          <p:nvPr/>
        </p:nvSpPr>
        <p:spPr>
          <a:xfrm>
            <a:off x="847526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セルロース・シリカは残留性が低い</a:t>
            </a:r>
          </a:p>
        </p:txBody>
      </p:sp>
      <p:sp>
        <p:nvSpPr>
          <p:cNvPr id="40" name="Rounded Rectangle 39"/>
          <p:cNvSpPr/>
          <p:nvPr/>
        </p:nvSpPr>
        <p:spPr>
          <a:xfrm>
            <a:off x="365760" y="4425696"/>
            <a:ext cx="5638647" cy="15544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553712"/>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既存手法との優位点</a:t>
            </a:r>
          </a:p>
        </p:txBody>
      </p:sp>
      <p:sp>
        <p:nvSpPr>
          <p:cNvPr id="42" name="TextBox 41"/>
          <p:cNvSpPr txBox="1"/>
          <p:nvPr/>
        </p:nvSpPr>
        <p:spPr>
          <a:xfrm>
            <a:off x="594360" y="4837176"/>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水</a:t>
            </a:r>
          </a:p>
        </p:txBody>
      </p:sp>
      <p:sp>
        <p:nvSpPr>
          <p:cNvPr id="43" name="TextBox 42"/>
          <p:cNvSpPr txBox="1"/>
          <p:nvPr/>
        </p:nvSpPr>
        <p:spPr>
          <a:xfrm>
            <a:off x="2148840" y="4837176"/>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保護時間大幅向上（水は~0.3分で炭化）</a:t>
            </a:r>
          </a:p>
        </p:txBody>
      </p:sp>
      <p:sp>
        <p:nvSpPr>
          <p:cNvPr id="44" name="TextBox 43"/>
          <p:cNvSpPr txBox="1"/>
          <p:nvPr/>
        </p:nvSpPr>
        <p:spPr>
          <a:xfrm>
            <a:off x="594360" y="5093208"/>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AquaGel-K</a:t>
            </a:r>
          </a:p>
        </p:txBody>
      </p:sp>
      <p:sp>
        <p:nvSpPr>
          <p:cNvPr id="45" name="TextBox 44"/>
          <p:cNvSpPr txBox="1"/>
          <p:nvPr/>
        </p:nvSpPr>
        <p:spPr>
          <a:xfrm>
            <a:off x="2148840" y="5093208"/>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3〜6倍の保護時間＋水蒸発後も継続</a:t>
            </a:r>
          </a:p>
        </p:txBody>
      </p:sp>
      <p:sp>
        <p:nvSpPr>
          <p:cNvPr id="46" name="TextBox 45"/>
          <p:cNvSpPr txBox="1"/>
          <p:nvPr/>
        </p:nvSpPr>
        <p:spPr>
          <a:xfrm>
            <a:off x="594360" y="5349240"/>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Phos-Chek</a:t>
            </a:r>
          </a:p>
        </p:txBody>
      </p:sp>
      <p:sp>
        <p:nvSpPr>
          <p:cNvPr id="47" name="TextBox 46"/>
          <p:cNvSpPr txBox="1"/>
          <p:nvPr/>
        </p:nvSpPr>
        <p:spPr>
          <a:xfrm>
            <a:off x="2148840" y="5349240"/>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土壌・水系への残留なし</a:t>
            </a:r>
          </a:p>
        </p:txBody>
      </p:sp>
      <p:sp>
        <p:nvSpPr>
          <p:cNvPr id="48" name="TextBox 47"/>
          <p:cNvSpPr txBox="1"/>
          <p:nvPr/>
        </p:nvSpPr>
        <p:spPr>
          <a:xfrm>
            <a:off x="594360" y="5605272"/>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散布互換性</a:t>
            </a:r>
          </a:p>
        </p:txBody>
      </p:sp>
      <p:sp>
        <p:nvSpPr>
          <p:cNvPr id="49" name="TextBox 48"/>
          <p:cNvSpPr txBox="1"/>
          <p:nvPr/>
        </p:nvSpPr>
        <p:spPr>
          <a:xfrm>
            <a:off x="2148840" y="5605272"/>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既存機材そのまま使用可</a:t>
            </a:r>
          </a:p>
        </p:txBody>
      </p:sp>
      <p:sp>
        <p:nvSpPr>
          <p:cNvPr id="50" name="Rounded Rectangle 49"/>
          <p:cNvSpPr/>
          <p:nvPr/>
        </p:nvSpPr>
        <p:spPr>
          <a:xfrm>
            <a:off x="6187287" y="4700016"/>
            <a:ext cx="5638647" cy="9144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87287" y="4700016"/>
            <a:ext cx="54864" cy="9144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70167" y="4700016"/>
            <a:ext cx="365760" cy="9144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3" name="TextBox 52"/>
          <p:cNvSpPr txBox="1"/>
          <p:nvPr/>
        </p:nvSpPr>
        <p:spPr>
          <a:xfrm>
            <a:off x="6781647" y="4700016"/>
            <a:ext cx="4952847" cy="914400"/>
          </a:xfrm>
          <a:prstGeom prst="rect">
            <a:avLst/>
          </a:prstGeom>
          <a:noFill/>
        </p:spPr>
        <p:txBody>
          <a:bodyPr wrap="square" anchor="ctr" lIns="36000" rIns="36000" tIns="18000" bIns="18000">
            <a:spAutoFit/>
          </a:bodyPr>
          <a:lstStyle/>
          <a:p>
            <a:pPr algn="l"/>
            <a:r>
              <a:rPr sz="1300" b="1" i="0">
                <a:solidFill>
                  <a:srgbClr val="1E293B"/>
                </a:solidFill>
                <a:latin typeface="Noto Sans JP"/>
              </a:rPr>
              <a:t>航空散布・地上散布ともに対応可能な流動特性（剪断希薄化）が実用化の鍵</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実証された主要結果</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37 / 39</a:t>
            </a:r>
          </a:p>
        </p:txBody>
      </p:sp>
      <p:sp>
        <p:nvSpPr>
          <p:cNvPr id="10" name="Rounded Rectangle 9"/>
          <p:cNvSpPr/>
          <p:nvPr/>
        </p:nvSpPr>
        <p:spPr>
          <a:xfrm>
            <a:off x="365760"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3" name="TextBox 12"/>
          <p:cNvSpPr txBox="1"/>
          <p:nvPr/>
        </p:nvSpPr>
        <p:spPr>
          <a:xfrm>
            <a:off x="548640"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レオロジー特性</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5" name="TextBox 14"/>
          <p:cNvSpPr txBox="1"/>
          <p:nvPr/>
        </p:nvSpPr>
        <p:spPr>
          <a:xfrm>
            <a:off x="749808"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全系で G' &gt; G''、crossoverなし</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7" name="TextBox 16"/>
          <p:cNvSpPr txBox="1"/>
          <p:nvPr/>
        </p:nvSpPr>
        <p:spPr>
          <a:xfrm>
            <a:off x="749808"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G': HEC+MC≈46, MHEC≈26 Pa</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9" name="TextBox 18"/>
          <p:cNvSpPr txBox="1"/>
          <p:nvPr/>
        </p:nvSpPr>
        <p:spPr>
          <a:xfrm>
            <a:off x="749808"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剪断希薄化（HB適合）→ 噴霧可</a:t>
            </a:r>
          </a:p>
        </p:txBody>
      </p:sp>
      <p:sp>
        <p:nvSpPr>
          <p:cNvPr id="20" name="TextBox 19"/>
          <p:cNvSpPr txBox="1"/>
          <p:nvPr/>
        </p:nvSpPr>
        <p:spPr>
          <a:xfrm>
            <a:off x="548640"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1" name="TextBox 20"/>
          <p:cNvSpPr txBox="1"/>
          <p:nvPr/>
        </p:nvSpPr>
        <p:spPr>
          <a:xfrm>
            <a:off x="749808"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tan δ &lt; 1 の固体的ゲル</a:t>
            </a:r>
          </a:p>
        </p:txBody>
      </p:sp>
      <p:sp>
        <p:nvSpPr>
          <p:cNvPr id="22" name="Rounded Rectangle 21"/>
          <p:cNvSpPr/>
          <p:nvPr/>
        </p:nvSpPr>
        <p:spPr>
          <a:xfrm>
            <a:off x="3262807"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45687"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FIRE PROTECTION</a:t>
            </a:r>
          </a:p>
        </p:txBody>
      </p:sp>
      <p:sp>
        <p:nvSpPr>
          <p:cNvPr id="25" name="TextBox 24"/>
          <p:cNvSpPr txBox="1"/>
          <p:nvPr/>
        </p:nvSpPr>
        <p:spPr>
          <a:xfrm>
            <a:off x="3445687"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火炎保護性能</a:t>
            </a:r>
          </a:p>
        </p:txBody>
      </p:sp>
      <p:sp>
        <p:nvSpPr>
          <p:cNvPr id="26" name="TextBox 25"/>
          <p:cNvSpPr txBox="1"/>
          <p:nvPr/>
        </p:nvSpPr>
        <p:spPr>
          <a:xfrm>
            <a:off x="3445687"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7" name="TextBox 26"/>
          <p:cNvSpPr txBox="1"/>
          <p:nvPr/>
        </p:nvSpPr>
        <p:spPr>
          <a:xfrm>
            <a:off x="3646855"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HEC+MC/CSP：7分超 char遅延</a:t>
            </a:r>
          </a:p>
        </p:txBody>
      </p:sp>
      <p:sp>
        <p:nvSpPr>
          <p:cNvPr id="28" name="TextBox 27"/>
          <p:cNvSpPr txBox="1"/>
          <p:nvPr/>
        </p:nvSpPr>
        <p:spPr>
          <a:xfrm>
            <a:off x="3445687"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9" name="TextBox 28"/>
          <p:cNvSpPr txBox="1"/>
          <p:nvPr/>
        </p:nvSpPr>
        <p:spPr>
          <a:xfrm>
            <a:off x="3646855"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MHEC/CSP：5分超</a:t>
            </a:r>
          </a:p>
        </p:txBody>
      </p:sp>
      <p:sp>
        <p:nvSpPr>
          <p:cNvPr id="30" name="TextBox 29"/>
          <p:cNvSpPr txBox="1"/>
          <p:nvPr/>
        </p:nvSpPr>
        <p:spPr>
          <a:xfrm>
            <a:off x="3445687"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1" name="TextBox 30"/>
          <p:cNvSpPr txBox="1"/>
          <p:nvPr/>
        </p:nvSpPr>
        <p:spPr>
          <a:xfrm>
            <a:off x="3646855"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市販品の3〜6倍の効果</a:t>
            </a:r>
          </a:p>
        </p:txBody>
      </p:sp>
      <p:sp>
        <p:nvSpPr>
          <p:cNvPr id="32" name="TextBox 31"/>
          <p:cNvSpPr txBox="1"/>
          <p:nvPr/>
        </p:nvSpPr>
        <p:spPr>
          <a:xfrm>
            <a:off x="3445687"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3" name="TextBox 32"/>
          <p:cNvSpPr txBox="1"/>
          <p:nvPr/>
        </p:nvSpPr>
        <p:spPr>
          <a:xfrm>
            <a:off x="3646855"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水~0.3分, AquaGel-K~1.5分</a:t>
            </a:r>
          </a:p>
        </p:txBody>
      </p:sp>
      <p:sp>
        <p:nvSpPr>
          <p:cNvPr id="34" name="Rounded Rectangle 33"/>
          <p:cNvSpPr/>
          <p:nvPr/>
        </p:nvSpPr>
        <p:spPr>
          <a:xfrm>
            <a:off x="6159855"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42735"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 / SEM</a:t>
            </a:r>
          </a:p>
        </p:txBody>
      </p:sp>
      <p:sp>
        <p:nvSpPr>
          <p:cNvPr id="37" name="TextBox 36"/>
          <p:cNvSpPr txBox="1"/>
          <p:nvPr/>
        </p:nvSpPr>
        <p:spPr>
          <a:xfrm>
            <a:off x="6342735"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発泡・微細構造</a:t>
            </a:r>
          </a:p>
        </p:txBody>
      </p:sp>
      <p:sp>
        <p:nvSpPr>
          <p:cNvPr id="38" name="TextBox 37"/>
          <p:cNvSpPr txBox="1"/>
          <p:nvPr/>
        </p:nvSpPr>
        <p:spPr>
          <a:xfrm>
            <a:off x="6342735"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9" name="TextBox 38"/>
          <p:cNvSpPr txBox="1"/>
          <p:nvPr/>
        </p:nvSpPr>
        <p:spPr>
          <a:xfrm>
            <a:off x="6543903"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Foaming Index 最大≈2.6</a:t>
            </a:r>
          </a:p>
        </p:txBody>
      </p:sp>
      <p:sp>
        <p:nvSpPr>
          <p:cNvPr id="40" name="TextBox 39"/>
          <p:cNvSpPr txBox="1"/>
          <p:nvPr/>
        </p:nvSpPr>
        <p:spPr>
          <a:xfrm>
            <a:off x="6342735"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1" name="TextBox 40"/>
          <p:cNvSpPr txBox="1"/>
          <p:nvPr/>
        </p:nvSpPr>
        <p:spPr>
          <a:xfrm>
            <a:off x="6543903"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AquaGel-Kは発泡せず≈0</a:t>
            </a:r>
          </a:p>
        </p:txBody>
      </p:sp>
      <p:sp>
        <p:nvSpPr>
          <p:cNvPr id="42" name="TextBox 41"/>
          <p:cNvSpPr txBox="1"/>
          <p:nvPr/>
        </p:nvSpPr>
        <p:spPr>
          <a:xfrm>
            <a:off x="6342735"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3" name="TextBox 42"/>
          <p:cNvSpPr txBox="1"/>
          <p:nvPr/>
        </p:nvSpPr>
        <p:spPr>
          <a:xfrm>
            <a:off x="6543903"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燃焼で多孔質シリカ層を形成</a:t>
            </a:r>
          </a:p>
        </p:txBody>
      </p:sp>
      <p:sp>
        <p:nvSpPr>
          <p:cNvPr id="44" name="TextBox 43"/>
          <p:cNvSpPr txBox="1"/>
          <p:nvPr/>
        </p:nvSpPr>
        <p:spPr>
          <a:xfrm>
            <a:off x="6342735"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5" name="TextBox 44"/>
          <p:cNvSpPr txBox="1"/>
          <p:nvPr/>
        </p:nvSpPr>
        <p:spPr>
          <a:xfrm>
            <a:off x="6543903"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2分以降に粒子が焼結（SEM）</a:t>
            </a:r>
          </a:p>
        </p:txBody>
      </p:sp>
      <p:sp>
        <p:nvSpPr>
          <p:cNvPr id="46" name="Rounded Rectangle 45"/>
          <p:cNvSpPr/>
          <p:nvPr/>
        </p:nvSpPr>
        <p:spPr>
          <a:xfrm>
            <a:off x="9056903"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39783"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CHEMISTRY</a:t>
            </a:r>
          </a:p>
        </p:txBody>
      </p:sp>
      <p:sp>
        <p:nvSpPr>
          <p:cNvPr id="49" name="TextBox 48"/>
          <p:cNvSpPr txBox="1"/>
          <p:nvPr/>
        </p:nvSpPr>
        <p:spPr>
          <a:xfrm>
            <a:off x="9239783"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化学的変態</a:t>
            </a:r>
          </a:p>
        </p:txBody>
      </p:sp>
      <p:sp>
        <p:nvSpPr>
          <p:cNvPr id="50" name="TextBox 49"/>
          <p:cNvSpPr txBox="1"/>
          <p:nvPr/>
        </p:nvSpPr>
        <p:spPr>
          <a:xfrm>
            <a:off x="9239783"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1" name="TextBox 50"/>
          <p:cNvSpPr txBox="1"/>
          <p:nvPr/>
        </p:nvSpPr>
        <p:spPr>
          <a:xfrm>
            <a:off x="9440951"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FT-IR：CH/SiO比が低下</a:t>
            </a:r>
          </a:p>
        </p:txBody>
      </p:sp>
      <p:sp>
        <p:nvSpPr>
          <p:cNvPr id="52" name="TextBox 51"/>
          <p:cNvSpPr txBox="1"/>
          <p:nvPr/>
        </p:nvSpPr>
        <p:spPr>
          <a:xfrm>
            <a:off x="9239783"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3" name="TextBox 52"/>
          <p:cNvSpPr txBox="1"/>
          <p:nvPr/>
        </p:nvSpPr>
        <p:spPr>
          <a:xfrm>
            <a:off x="9440951"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XPS：燃焼で炭素が大幅減</a:t>
            </a:r>
          </a:p>
        </p:txBody>
      </p:sp>
      <p:sp>
        <p:nvSpPr>
          <p:cNvPr id="54" name="TextBox 53"/>
          <p:cNvSpPr txBox="1"/>
          <p:nvPr/>
        </p:nvSpPr>
        <p:spPr>
          <a:xfrm>
            <a:off x="9239783"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5" name="TextBox 54"/>
          <p:cNvSpPr txBox="1"/>
          <p:nvPr/>
        </p:nvSpPr>
        <p:spPr>
          <a:xfrm>
            <a:off x="9440951"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 C 38.3%→4.8%</a:t>
            </a:r>
          </a:p>
        </p:txBody>
      </p:sp>
      <p:sp>
        <p:nvSpPr>
          <p:cNvPr id="56" name="TextBox 55"/>
          <p:cNvSpPr txBox="1"/>
          <p:nvPr/>
        </p:nvSpPr>
        <p:spPr>
          <a:xfrm>
            <a:off x="9239783"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7" name="TextBox 56"/>
          <p:cNvSpPr txBox="1"/>
          <p:nvPr/>
        </p:nvSpPr>
        <p:spPr>
          <a:xfrm>
            <a:off x="9440951"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残存はシリカ（SiO₂）</a:t>
            </a:r>
          </a:p>
        </p:txBody>
      </p:sp>
      <p:sp>
        <p:nvSpPr>
          <p:cNvPr id="58" name="Rounded Rectangle 57"/>
          <p:cNvSpPr/>
          <p:nvPr/>
        </p:nvSpPr>
        <p:spPr>
          <a:xfrm>
            <a:off x="365760" y="5294376"/>
            <a:ext cx="11460175"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365760" y="52943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52943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61" name="TextBox 60"/>
          <p:cNvSpPr txBox="1"/>
          <p:nvPr/>
        </p:nvSpPr>
        <p:spPr>
          <a:xfrm>
            <a:off x="960120" y="5294376"/>
            <a:ext cx="10774375"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火炎で水が蒸発しつつゲルが多孔質シリカエアロゲルへ転換 → 乾燥後も基材を断熱保護（市販WEGにない機構）</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研究の結論</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38 / 39</a:t>
            </a:r>
          </a:p>
        </p:txBody>
      </p:sp>
      <p:sp>
        <p:nvSpPr>
          <p:cNvPr id="10" name="Rounded Rectangle 9"/>
          <p:cNvSpPr/>
          <p:nvPr/>
        </p:nvSpPr>
        <p:spPr>
          <a:xfrm>
            <a:off x="365760"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01</a:t>
            </a:r>
          </a:p>
        </p:txBody>
      </p:sp>
      <p:sp>
        <p:nvSpPr>
          <p:cNvPr id="12" name="TextBox 11"/>
          <p:cNvSpPr txBox="1"/>
          <p:nvPr/>
        </p:nvSpPr>
        <p:spPr>
          <a:xfrm>
            <a:off x="530352"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30352"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市販品の3〜6倍の保護</a:t>
            </a:r>
          </a:p>
        </p:txBody>
      </p:sp>
      <p:sp>
        <p:nvSpPr>
          <p:cNvPr id="14" name="TextBox 13"/>
          <p:cNvSpPr txBox="1"/>
          <p:nvPr/>
        </p:nvSpPr>
        <p:spPr>
          <a:xfrm>
            <a:off x="530352"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HEC+MC/CSPは7分超、MHEC/CSPは5分超 char遅延。火炎下で基材を長く保護</a:t>
            </a:r>
          </a:p>
        </p:txBody>
      </p:sp>
      <p:sp>
        <p:nvSpPr>
          <p:cNvPr id="15" name="Rounded Rectangle 14"/>
          <p:cNvSpPr/>
          <p:nvPr/>
        </p:nvSpPr>
        <p:spPr>
          <a:xfrm>
            <a:off x="3262807"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27399"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02</a:t>
            </a:r>
          </a:p>
        </p:txBody>
      </p:sp>
      <p:sp>
        <p:nvSpPr>
          <p:cNvPr id="17" name="TextBox 16"/>
          <p:cNvSpPr txBox="1"/>
          <p:nvPr/>
        </p:nvSpPr>
        <p:spPr>
          <a:xfrm>
            <a:off x="3427399"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8" name="TextBox 17"/>
          <p:cNvSpPr txBox="1"/>
          <p:nvPr/>
        </p:nvSpPr>
        <p:spPr>
          <a:xfrm>
            <a:off x="3427399"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エアロゲルの自己形成</a:t>
            </a:r>
          </a:p>
        </p:txBody>
      </p:sp>
      <p:sp>
        <p:nvSpPr>
          <p:cNvPr id="19" name="TextBox 18"/>
          <p:cNvSpPr txBox="1"/>
          <p:nvPr/>
        </p:nvSpPr>
        <p:spPr>
          <a:xfrm>
            <a:off x="3427399"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加熱で脱水・CSPが焼結 → in situで多孔質シリカエアロゲル断熱層を形成（乾燥後も保護継続）</a:t>
            </a:r>
          </a:p>
        </p:txBody>
      </p:sp>
      <p:sp>
        <p:nvSpPr>
          <p:cNvPr id="20" name="Rounded Rectangle 19"/>
          <p:cNvSpPr/>
          <p:nvPr/>
        </p:nvSpPr>
        <p:spPr>
          <a:xfrm>
            <a:off x="6159855"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4447"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03</a:t>
            </a:r>
          </a:p>
        </p:txBody>
      </p:sp>
      <p:sp>
        <p:nvSpPr>
          <p:cNvPr id="22" name="TextBox 21"/>
          <p:cNvSpPr txBox="1"/>
          <p:nvPr/>
        </p:nvSpPr>
        <p:spPr>
          <a:xfrm>
            <a:off x="6324447"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3" name="TextBox 22"/>
          <p:cNvSpPr txBox="1"/>
          <p:nvPr/>
        </p:nvSpPr>
        <p:spPr>
          <a:xfrm>
            <a:off x="6324447"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既存散布インフラ互換</a:t>
            </a:r>
          </a:p>
        </p:txBody>
      </p:sp>
      <p:sp>
        <p:nvSpPr>
          <p:cNvPr id="24" name="TextBox 23"/>
          <p:cNvSpPr txBox="1"/>
          <p:nvPr/>
        </p:nvSpPr>
        <p:spPr>
          <a:xfrm>
            <a:off x="6324447"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剪断希薄化を示す噴霧可能な流体。基材への高い付着性・濡れ性を両立</a:t>
            </a:r>
          </a:p>
        </p:txBody>
      </p:sp>
      <p:sp>
        <p:nvSpPr>
          <p:cNvPr id="25" name="Rounded Rectangle 24"/>
          <p:cNvSpPr/>
          <p:nvPr/>
        </p:nvSpPr>
        <p:spPr>
          <a:xfrm>
            <a:off x="9056903"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21495"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04</a:t>
            </a:r>
          </a:p>
        </p:txBody>
      </p:sp>
      <p:sp>
        <p:nvSpPr>
          <p:cNvPr id="27" name="TextBox 26"/>
          <p:cNvSpPr txBox="1"/>
          <p:nvPr/>
        </p:nvSpPr>
        <p:spPr>
          <a:xfrm>
            <a:off x="9221495"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8" name="TextBox 27"/>
          <p:cNvSpPr txBox="1"/>
          <p:nvPr/>
        </p:nvSpPr>
        <p:spPr>
          <a:xfrm>
            <a:off x="9221495"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持続可能・安全な原料</a:t>
            </a:r>
          </a:p>
        </p:txBody>
      </p:sp>
      <p:sp>
        <p:nvSpPr>
          <p:cNvPr id="29" name="TextBox 28"/>
          <p:cNvSpPr txBox="1"/>
          <p:nvPr/>
        </p:nvSpPr>
        <p:spPr>
          <a:xfrm>
            <a:off x="9221495"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地球上最も豊富なセルロース誘導体。前研究で生分解性を確認、シリカは無害</a:t>
            </a:r>
          </a:p>
        </p:txBody>
      </p:sp>
      <p:sp>
        <p:nvSpPr>
          <p:cNvPr id="30" name="Rounded Rectangle 29"/>
          <p:cNvSpPr/>
          <p:nvPr/>
        </p:nvSpPr>
        <p:spPr>
          <a:xfrm>
            <a:off x="365760"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核心メカニズム</a:t>
            </a:r>
          </a:p>
        </p:txBody>
      </p:sp>
      <p:sp>
        <p:nvSpPr>
          <p:cNvPr id="33" name="TextBox 32"/>
          <p:cNvSpPr txBox="1"/>
          <p:nvPr/>
        </p:nvSpPr>
        <p:spPr>
          <a:xfrm>
            <a:off x="548640"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749808"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火炎接触で水が急速に蒸発・脱水</a:t>
            </a:r>
          </a:p>
        </p:txBody>
      </p:sp>
      <p:sp>
        <p:nvSpPr>
          <p:cNvPr id="35" name="TextBox 34"/>
          <p:cNvSpPr txBox="1"/>
          <p:nvPr/>
        </p:nvSpPr>
        <p:spPr>
          <a:xfrm>
            <a:off x="548640"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6" name="TextBox 35"/>
          <p:cNvSpPr txBox="1"/>
          <p:nvPr/>
        </p:nvSpPr>
        <p:spPr>
          <a:xfrm>
            <a:off x="749808"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CSPが焼結し粒子間ネックを形成</a:t>
            </a:r>
          </a:p>
        </p:txBody>
      </p:sp>
      <p:sp>
        <p:nvSpPr>
          <p:cNvPr id="37" name="TextBox 36"/>
          <p:cNvSpPr txBox="1"/>
          <p:nvPr/>
        </p:nvSpPr>
        <p:spPr>
          <a:xfrm>
            <a:off x="548640"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8" name="TextBox 37"/>
          <p:cNvSpPr txBox="1"/>
          <p:nvPr/>
        </p:nvSpPr>
        <p:spPr>
          <a:xfrm>
            <a:off x="749808"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多孔質シリカエアロゲル断熱層が完成</a:t>
            </a:r>
          </a:p>
        </p:txBody>
      </p:sp>
      <p:sp>
        <p:nvSpPr>
          <p:cNvPr id="39" name="Rounded Rectangle 38"/>
          <p:cNvSpPr/>
          <p:nvPr/>
        </p:nvSpPr>
        <p:spPr>
          <a:xfrm>
            <a:off x="6187287"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87287"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70167"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論文が示す意義</a:t>
            </a:r>
          </a:p>
        </p:txBody>
      </p:sp>
      <p:sp>
        <p:nvSpPr>
          <p:cNvPr id="42" name="TextBox 41"/>
          <p:cNvSpPr txBox="1"/>
          <p:nvPr/>
        </p:nvSpPr>
        <p:spPr>
          <a:xfrm>
            <a:off x="6370167"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3" name="TextBox 42"/>
          <p:cNvSpPr txBox="1"/>
          <p:nvPr/>
        </p:nvSpPr>
        <p:spPr>
          <a:xfrm>
            <a:off x="6571335"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PPプラットフォームは多様な難燃材料の基盤</a:t>
            </a:r>
          </a:p>
        </p:txBody>
      </p:sp>
      <p:sp>
        <p:nvSpPr>
          <p:cNvPr id="44" name="TextBox 43"/>
          <p:cNvSpPr txBox="1"/>
          <p:nvPr/>
        </p:nvSpPr>
        <p:spPr>
          <a:xfrm>
            <a:off x="6370167"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5" name="TextBox 44"/>
          <p:cNvSpPr txBox="1"/>
          <p:nvPr/>
        </p:nvSpPr>
        <p:spPr>
          <a:xfrm>
            <a:off x="6571335"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modular製造・大規模適用に展開可能</a:t>
            </a:r>
          </a:p>
        </p:txBody>
      </p:sp>
      <p:sp>
        <p:nvSpPr>
          <p:cNvPr id="46" name="TextBox 45"/>
          <p:cNvSpPr txBox="1"/>
          <p:nvPr/>
        </p:nvSpPr>
        <p:spPr>
          <a:xfrm>
            <a:off x="6370167"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7" name="TextBox 46"/>
          <p:cNvSpPr txBox="1"/>
          <p:nvPr/>
        </p:nvSpPr>
        <p:spPr>
          <a:xfrm>
            <a:off x="6571335"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455日経時後も難燃性を維持（MHEC/CSP）</a:t>
            </a:r>
          </a:p>
        </p:txBody>
      </p:sp>
      <p:sp>
        <p:nvSpPr>
          <p:cNvPr id="48" name="Rounded Rectangle 47"/>
          <p:cNvSpPr/>
          <p:nvPr/>
        </p:nvSpPr>
        <p:spPr>
          <a:xfrm>
            <a:off x="365760" y="5385816"/>
            <a:ext cx="11460175" cy="5029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65760" y="5385816"/>
            <a:ext cx="54864" cy="5029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8640" y="5385816"/>
            <a:ext cx="365760" cy="5029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1" name="TextBox 50"/>
          <p:cNvSpPr txBox="1"/>
          <p:nvPr/>
        </p:nvSpPr>
        <p:spPr>
          <a:xfrm>
            <a:off x="960120" y="5385816"/>
            <a:ext cx="10774375" cy="502920"/>
          </a:xfrm>
          <a:prstGeom prst="rect">
            <a:avLst/>
          </a:prstGeom>
          <a:noFill/>
        </p:spPr>
        <p:txBody>
          <a:bodyPr wrap="square" anchor="ctr" lIns="36000" rIns="36000" tIns="18000" bIns="18000">
            <a:spAutoFit/>
          </a:bodyPr>
          <a:lstStyle/>
          <a:p>
            <a:pPr algn="l"/>
            <a:r>
              <a:rPr sz="1300" b="1" i="0">
                <a:solidFill>
                  <a:srgbClr val="FFFFFF"/>
                </a:solidFill>
                <a:latin typeface="Noto Sans JP"/>
              </a:rPr>
              <a:t>「水のキャリア」から「加熱で自己変態する難燃材料」へ ― 乾燥後も効力を保つ次世代WEG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82296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RESEARCH IMPACT</a:t>
            </a:r>
          </a:p>
        </p:txBody>
      </p:sp>
      <p:sp>
        <p:nvSpPr>
          <p:cNvPr id="4" name="TextBox 3"/>
          <p:cNvSpPr txBox="1"/>
          <p:nvPr/>
        </p:nvSpPr>
        <p:spPr>
          <a:xfrm>
            <a:off x="457200" y="1371600"/>
            <a:ext cx="11247120" cy="1828800"/>
          </a:xfrm>
          <a:prstGeom prst="rect">
            <a:avLst/>
          </a:prstGeom>
          <a:noFill/>
        </p:spPr>
        <p:txBody>
          <a:bodyPr wrap="square" anchor="ctr" lIns="36000" rIns="36000" tIns="18000" bIns="18000">
            <a:spAutoFit/>
          </a:bodyPr>
          <a:lstStyle/>
          <a:p>
            <a:pPr algn="ctr"/>
            <a:r>
              <a:rPr sz="10000" b="1" i="0">
                <a:solidFill>
                  <a:srgbClr val="D4A574"/>
                </a:solidFill>
                <a:latin typeface="Noto Sans JP"/>
              </a:rPr>
              <a:t>3–6</a:t>
            </a:r>
            <a:r>
              <a:rPr sz="6500" b="1" i="0">
                <a:solidFill>
                  <a:srgbClr val="C89A68"/>
                </a:solidFill>
                <a:latin typeface="Noto Sans JP"/>
              </a:rPr>
              <a:t>×</a:t>
            </a:r>
          </a:p>
        </p:txBody>
      </p:sp>
      <p:sp>
        <p:nvSpPr>
          <p:cNvPr id="5" name="TextBox 4"/>
          <p:cNvSpPr txBox="1"/>
          <p:nvPr/>
        </p:nvSpPr>
        <p:spPr>
          <a:xfrm>
            <a:off x="457200" y="3291840"/>
            <a:ext cx="11247120" cy="457200"/>
          </a:xfrm>
          <a:prstGeom prst="rect">
            <a:avLst/>
          </a:prstGeom>
          <a:noFill/>
        </p:spPr>
        <p:txBody>
          <a:bodyPr wrap="square" anchor="t" lIns="36000" rIns="36000" tIns="18000" bIns="18000">
            <a:spAutoFit/>
          </a:bodyPr>
          <a:lstStyle/>
          <a:p>
            <a:pPr algn="ctr"/>
            <a:r>
              <a:rPr sz="2200" b="1" i="0">
                <a:solidFill>
                  <a:srgbClr val="FFFFFF"/>
                </a:solidFill>
                <a:latin typeface="Noto Sans JP"/>
              </a:rPr>
              <a:t>市販WEG（AquaGel-K）比 Time to char 向上率</a:t>
            </a:r>
          </a:p>
        </p:txBody>
      </p:sp>
      <p:sp>
        <p:nvSpPr>
          <p:cNvPr id="6" name="TextBox 5"/>
          <p:cNvSpPr txBox="1"/>
          <p:nvPr/>
        </p:nvSpPr>
        <p:spPr>
          <a:xfrm>
            <a:off x="1371600" y="3886200"/>
            <a:ext cx="9418320" cy="1280160"/>
          </a:xfrm>
          <a:prstGeom prst="rect">
            <a:avLst/>
          </a:prstGeom>
          <a:noFill/>
        </p:spPr>
        <p:txBody>
          <a:bodyPr wrap="square" anchor="t" lIns="36000" rIns="36000" tIns="18000" bIns="18000">
            <a:spAutoFit/>
          </a:bodyPr>
          <a:lstStyle/>
          <a:p>
            <a:pPr algn="ctr"/>
            <a:r>
              <a:rPr sz="1500" b="0" i="0">
                <a:solidFill>
                  <a:srgbClr val="A8BCD4"/>
                </a:solidFill>
                <a:latin typeface="Noto Sans JP"/>
              </a:rPr>
              <a:t>「水のキャリア」から「自己変態する難燃材料」へ</a:t>
            </a:r>
          </a:p>
          <a:p>
            <a:pPr algn="ctr"/>
            <a:r>
              <a:rPr sz="1500" b="0" i="0">
                <a:solidFill>
                  <a:srgbClr val="A8BCD4"/>
                </a:solidFill>
                <a:latin typeface="Noto Sans JP"/>
              </a:rPr>
              <a:t>WEGの新しい設計パラダイムは山火事から重要インフラを守る実用技術への道を開く</a:t>
            </a:r>
          </a:p>
        </p:txBody>
      </p:sp>
      <p:sp>
        <p:nvSpPr>
          <p:cNvPr id="7" name="TextBox 6"/>
          <p:cNvSpPr txBox="1"/>
          <p:nvPr/>
        </p:nvSpPr>
        <p:spPr>
          <a:xfrm>
            <a:off x="2743200" y="5486400"/>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Time to char</a:t>
            </a:r>
          </a:p>
        </p:txBody>
      </p:sp>
      <p:sp>
        <p:nvSpPr>
          <p:cNvPr id="8" name="Rounded Rectangle 7"/>
          <p:cNvSpPr/>
          <p:nvPr/>
        </p:nvSpPr>
        <p:spPr>
          <a:xfrm>
            <a:off x="4663440" y="5522976"/>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663440" y="5522976"/>
            <a:ext cx="4517136" cy="146304"/>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55480" y="5486400"/>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1" name="TextBox 10"/>
          <p:cNvSpPr txBox="1"/>
          <p:nvPr/>
        </p:nvSpPr>
        <p:spPr>
          <a:xfrm>
            <a:off x="2743200" y="5779008"/>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Foaming Index</a:t>
            </a:r>
          </a:p>
        </p:txBody>
      </p:sp>
      <p:sp>
        <p:nvSpPr>
          <p:cNvPr id="12" name="Rounded Rectangle 11"/>
          <p:cNvSpPr/>
          <p:nvPr/>
        </p:nvSpPr>
        <p:spPr>
          <a:xfrm>
            <a:off x="4663440" y="5815584"/>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63440" y="5815584"/>
            <a:ext cx="3233318" cy="146304"/>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55480" y="5779008"/>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≈2.6×</a:t>
            </a:r>
          </a:p>
        </p:txBody>
      </p:sp>
      <p:sp>
        <p:nvSpPr>
          <p:cNvPr id="15" name="TextBox 14"/>
          <p:cNvSpPr txBox="1"/>
          <p:nvPr/>
        </p:nvSpPr>
        <p:spPr>
          <a:xfrm>
            <a:off x="2743200" y="6071616"/>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Shear-thinning</a:t>
            </a:r>
          </a:p>
        </p:txBody>
      </p:sp>
      <p:sp>
        <p:nvSpPr>
          <p:cNvPr id="16" name="Rounded Rectangle 15"/>
          <p:cNvSpPr/>
          <p:nvPr/>
        </p:nvSpPr>
        <p:spPr>
          <a:xfrm>
            <a:off x="4663440" y="6108192"/>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663440" y="6108192"/>
            <a:ext cx="285292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55480" y="6071616"/>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n &lt; 1</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39 / 39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