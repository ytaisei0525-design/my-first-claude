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39</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39</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39</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39</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 y="1097280"/>
            <a:ext cx="640080" cy="23774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1097280"/>
            <a:ext cx="640080" cy="237744"/>
          </a:xfrm>
          <a:prstGeom prst="rect">
            <a:avLst/>
          </a:prstGeom>
          <a:noFill/>
        </p:spPr>
        <p:txBody>
          <a:bodyPr wrap="square" anchor="ctr" lIns="36000" rIns="36000" tIns="18000" bIns="18000">
            <a:spAutoFit/>
          </a:bodyPr>
          <a:lstStyle/>
          <a:p>
            <a:pPr algn="ctr"/>
            <a:r>
              <a:rPr sz="900" b="1" i="0">
                <a:solidFill>
                  <a:srgbClr val="FFFFFF"/>
                </a:solidFill>
                <a:latin typeface="Noto Sans JP"/>
              </a:rPr>
              <a:t>写真</a:t>
            </a:r>
          </a:p>
        </p:txBody>
      </p:sp>
      <p:sp>
        <p:nvSpPr>
          <p:cNvPr id="15" name="TextBox 14"/>
          <p:cNvSpPr txBox="1"/>
          <p:nvPr/>
        </p:nvSpPr>
        <p:spPr>
          <a:xfrm>
            <a:off x="548640" y="1298448"/>
            <a:ext cx="3320186" cy="512064"/>
          </a:xfrm>
          <a:prstGeom prst="rect">
            <a:avLst/>
          </a:prstGeom>
          <a:noFill/>
        </p:spPr>
        <p:txBody>
          <a:bodyPr wrap="square" anchor="ctr" lIns="36000" rIns="36000" tIns="18000" bIns="18000">
            <a:spAutoFit/>
          </a:bodyPr>
          <a:lstStyle/>
          <a:p>
            <a:pPr algn="ctr"/>
            <a:r>
              <a:rPr sz="1000" b="0" i="0">
                <a:solidFill>
                  <a:srgbClr val="AAB4C0"/>
                </a:solidFill>
                <a:latin typeface="Noto Sans JP"/>
              </a:rPr>
              <a:t>航空機からの赤色スラリー散布</a:t>
            </a:r>
          </a:p>
        </p:txBody>
      </p:sp>
      <p:sp>
        <p:nvSpPr>
          <p:cNvPr id="16" name="TextBox 15"/>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17" name="TextBox 16"/>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18" name="Rectangle 17"/>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0" name="TextBox 19"/>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21" name="TextBox 20"/>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22" name="TextBox 21"/>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23" name="TextBox 22"/>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24" name="TextBox 23"/>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25" name="TextBox 24"/>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26" name="TextBox 25"/>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27" name="Rounded Rectangle 26"/>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435754" y="1024128"/>
            <a:ext cx="3320186" cy="1078992"/>
          </a:xfrm>
          <a:prstGeom prst="roundRect">
            <a:avLst>
              <a:gd name="adj" fmla="val 3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08906" y="1097280"/>
            <a:ext cx="640080" cy="23774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8906" y="1097280"/>
            <a:ext cx="640080" cy="237744"/>
          </a:xfrm>
          <a:prstGeom prst="rect">
            <a:avLst/>
          </a:prstGeom>
          <a:noFill/>
        </p:spPr>
        <p:txBody>
          <a:bodyPr wrap="square" anchor="ctr" lIns="36000" rIns="36000" tIns="18000" bIns="18000">
            <a:spAutoFit/>
          </a:bodyPr>
          <a:lstStyle/>
          <a:p>
            <a:pPr algn="ctr"/>
            <a:r>
              <a:rPr sz="900" b="1" i="0">
                <a:solidFill>
                  <a:srgbClr val="FFFFFF"/>
                </a:solidFill>
                <a:latin typeface="Noto Sans JP"/>
              </a:rPr>
              <a:t>写真</a:t>
            </a:r>
          </a:p>
        </p:txBody>
      </p:sp>
      <p:sp>
        <p:nvSpPr>
          <p:cNvPr id="32" name="TextBox 31"/>
          <p:cNvSpPr txBox="1"/>
          <p:nvPr/>
        </p:nvSpPr>
        <p:spPr>
          <a:xfrm>
            <a:off x="4435754" y="1298448"/>
            <a:ext cx="3320186" cy="512064"/>
          </a:xfrm>
          <a:prstGeom prst="rect">
            <a:avLst/>
          </a:prstGeom>
          <a:noFill/>
        </p:spPr>
        <p:txBody>
          <a:bodyPr wrap="square" anchor="ctr" lIns="36000" rIns="36000" tIns="18000" bIns="18000">
            <a:spAutoFit/>
          </a:bodyPr>
          <a:lstStyle/>
          <a:p>
            <a:pPr algn="ctr"/>
            <a:r>
              <a:rPr sz="1000" b="0" i="0">
                <a:solidFill>
                  <a:srgbClr val="AAB4C0"/>
                </a:solidFill>
                <a:latin typeface="Noto Sans JP"/>
              </a:rPr>
              <a:t>消防ホースからの泡放水</a:t>
            </a:r>
          </a:p>
        </p:txBody>
      </p:sp>
      <p:sp>
        <p:nvSpPr>
          <p:cNvPr id="33" name="TextBox 32"/>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34" name="TextBox 33"/>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35" name="Rectangle 34"/>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37" name="TextBox 36"/>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38" name="TextBox 37"/>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9" name="TextBox 38"/>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40" name="TextBox 39"/>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41" name="TextBox 40"/>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42" name="TextBox 41"/>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43" name="TextBox 42"/>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44" name="Rounded Rectangle 43"/>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8322868" y="1024128"/>
            <a:ext cx="3320186" cy="1078992"/>
          </a:xfrm>
          <a:prstGeom prst="roundRect">
            <a:avLst>
              <a:gd name="adj" fmla="val 3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396020" y="1097280"/>
            <a:ext cx="640080" cy="237744"/>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396020" y="1097280"/>
            <a:ext cx="640080" cy="237744"/>
          </a:xfrm>
          <a:prstGeom prst="rect">
            <a:avLst/>
          </a:prstGeom>
          <a:noFill/>
        </p:spPr>
        <p:txBody>
          <a:bodyPr wrap="square" anchor="ctr" lIns="36000" rIns="36000" tIns="18000" bIns="18000">
            <a:spAutoFit/>
          </a:bodyPr>
          <a:lstStyle/>
          <a:p>
            <a:pPr algn="ctr"/>
            <a:r>
              <a:rPr sz="900" b="1" i="0">
                <a:solidFill>
                  <a:srgbClr val="FFFFFF"/>
                </a:solidFill>
                <a:latin typeface="Noto Sans JP"/>
              </a:rPr>
              <a:t>写真</a:t>
            </a:r>
          </a:p>
        </p:txBody>
      </p:sp>
      <p:sp>
        <p:nvSpPr>
          <p:cNvPr id="49" name="TextBox 48"/>
          <p:cNvSpPr txBox="1"/>
          <p:nvPr/>
        </p:nvSpPr>
        <p:spPr>
          <a:xfrm>
            <a:off x="8322868" y="1298448"/>
            <a:ext cx="3320186" cy="512064"/>
          </a:xfrm>
          <a:prstGeom prst="rect">
            <a:avLst/>
          </a:prstGeom>
          <a:noFill/>
        </p:spPr>
        <p:txBody>
          <a:bodyPr wrap="square" anchor="ctr" lIns="36000" rIns="36000" tIns="18000" bIns="18000">
            <a:spAutoFit/>
          </a:bodyPr>
          <a:lstStyle/>
          <a:p>
            <a:pPr algn="ctr"/>
            <a:r>
              <a:rPr sz="1000" b="0" i="0">
                <a:solidFill>
                  <a:srgbClr val="AAB4C0"/>
                </a:solidFill>
                <a:latin typeface="Noto Sans JP"/>
              </a:rPr>
              <a:t>住宅・植生へのゲル事前塗布</a:t>
            </a:r>
          </a:p>
        </p:txBody>
      </p:sp>
      <p:sp>
        <p:nvSpPr>
          <p:cNvPr id="50" name="TextBox 49"/>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51" name="TextBox 50"/>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52" name="Rectangle 51"/>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54" name="TextBox 53"/>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55" name="TextBox 54"/>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56" name="TextBox 55"/>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57" name="TextBox 56"/>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58" name="TextBox 57"/>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59" name="TextBox 58"/>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60" name="TextBox 59"/>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61" name="Rounded Rectangle 60"/>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64" name="TextBox 63"/>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39</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39</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39</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 n &lt; 1</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39</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39</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流動指数 n &lt; 1（噴霧時に低粘度化）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&lt; 1</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強いせん断希薄化</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静的降伏応力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39</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39</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39</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39</a:t>
            </a:r>
          </a:p>
        </p:txBody>
      </p:sp>
      <p:sp>
        <p:nvSpPr>
          <p:cNvPr id="10" name="Rounded Rectangle 9"/>
          <p:cNvSpPr/>
          <p:nvPr/>
        </p:nvSpPr>
        <p:spPr>
          <a:xfrm>
            <a:off x="36576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木材上での接触角</a:t>
            </a:r>
          </a:p>
        </p:txBody>
      </p:sp>
      <p:sp>
        <p:nvSpPr>
          <p:cNvPr id="15" name="TextBox 14"/>
          <p:cNvSpPr txBox="1"/>
          <p:nvPr/>
        </p:nvSpPr>
        <p:spPr>
          <a:xfrm>
            <a:off x="36576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6" name="TextBox 15"/>
          <p:cNvSpPr txBox="1"/>
          <p:nvPr/>
        </p:nvSpPr>
        <p:spPr>
          <a:xfrm>
            <a:off x="36576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接触角測定</a:t>
            </a:r>
          </a:p>
        </p:txBody>
      </p:sp>
      <p:sp>
        <p:nvSpPr>
          <p:cNvPr id="17" name="TextBox 16"/>
          <p:cNvSpPr txBox="1"/>
          <p:nvPr/>
        </p:nvSpPr>
        <p:spPr>
          <a:xfrm>
            <a:off x="36576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8" name="TextBox 17"/>
          <p:cNvSpPr txBox="1"/>
          <p:nvPr/>
        </p:nvSpPr>
        <p:spPr>
          <a:xfrm>
            <a:off x="56692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木材・コンクリート・金属で評価</a:t>
            </a:r>
          </a:p>
        </p:txBody>
      </p:sp>
      <p:sp>
        <p:nvSpPr>
          <p:cNvPr id="19" name="TextBox 18"/>
          <p:cNvSpPr txBox="1"/>
          <p:nvPr/>
        </p:nvSpPr>
        <p:spPr>
          <a:xfrm>
            <a:off x="36576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0" name="TextBox 19"/>
          <p:cNvSpPr txBox="1"/>
          <p:nvPr/>
        </p:nvSpPr>
        <p:spPr>
          <a:xfrm>
            <a:off x="56692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WEGは低接触角 → 高い濡れ性</a:t>
            </a:r>
          </a:p>
        </p:txBody>
      </p:sp>
      <p:sp>
        <p:nvSpPr>
          <p:cNvPr id="21" name="TextBox 20"/>
          <p:cNvSpPr txBox="1"/>
          <p:nvPr/>
        </p:nvSpPr>
        <p:spPr>
          <a:xfrm>
            <a:off x="36576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2" name="TextBox 21"/>
          <p:cNvSpPr txBox="1"/>
          <p:nvPr/>
        </p:nvSpPr>
        <p:spPr>
          <a:xfrm>
            <a:off x="56692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HEC+MCは木材との親和性が高い</a:t>
            </a:r>
          </a:p>
        </p:txBody>
      </p:sp>
      <p:sp>
        <p:nvSpPr>
          <p:cNvPr id="23" name="Rounded Rectangle 22"/>
          <p:cNvSpPr/>
          <p:nvPr/>
        </p:nvSpPr>
        <p:spPr>
          <a:xfrm>
            <a:off x="422849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821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821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26" name="TextBox 25"/>
          <p:cNvSpPr txBox="1"/>
          <p:nvPr/>
        </p:nvSpPr>
        <p:spPr>
          <a:xfrm>
            <a:off x="422849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422849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垂直基板でのゲル保持</a:t>
            </a:r>
          </a:p>
        </p:txBody>
      </p:sp>
      <p:sp>
        <p:nvSpPr>
          <p:cNvPr id="28" name="TextBox 27"/>
          <p:cNvSpPr txBox="1"/>
          <p:nvPr/>
        </p:nvSpPr>
        <p:spPr>
          <a:xfrm>
            <a:off x="422849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9" name="TextBox 28"/>
          <p:cNvSpPr txBox="1"/>
          <p:nvPr/>
        </p:nvSpPr>
        <p:spPr>
          <a:xfrm>
            <a:off x="422849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垂直面付着試験</a:t>
            </a:r>
          </a:p>
        </p:txBody>
      </p:sp>
      <p:sp>
        <p:nvSpPr>
          <p:cNvPr id="30" name="TextBox 29"/>
          <p:cNvSpPr txBox="1"/>
          <p:nvPr/>
        </p:nvSpPr>
        <p:spPr>
          <a:xfrm>
            <a:off x="422849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442965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垂直基板に塗布し保持性を評価</a:t>
            </a:r>
          </a:p>
        </p:txBody>
      </p:sp>
      <p:sp>
        <p:nvSpPr>
          <p:cNvPr id="32" name="TextBox 31"/>
          <p:cNvSpPr txBox="1"/>
          <p:nvPr/>
        </p:nvSpPr>
        <p:spPr>
          <a:xfrm>
            <a:off x="422849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442965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G' ≫ G'' → 流れ落ちない</a:t>
            </a:r>
          </a:p>
        </p:txBody>
      </p:sp>
      <p:sp>
        <p:nvSpPr>
          <p:cNvPr id="34" name="TextBox 33"/>
          <p:cNvSpPr txBox="1"/>
          <p:nvPr/>
        </p:nvSpPr>
        <p:spPr>
          <a:xfrm>
            <a:off x="422849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442965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AquaGel-K同等以上の保持性</a:t>
            </a:r>
          </a:p>
        </p:txBody>
      </p:sp>
      <p:sp>
        <p:nvSpPr>
          <p:cNvPr id="36" name="Rounded Rectangle 35"/>
          <p:cNvSpPr/>
          <p:nvPr/>
        </p:nvSpPr>
        <p:spPr>
          <a:xfrm>
            <a:off x="809122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0094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094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39" name="TextBox 38"/>
          <p:cNvSpPr txBox="1"/>
          <p:nvPr/>
        </p:nvSpPr>
        <p:spPr>
          <a:xfrm>
            <a:off x="809122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0" name="TextBox 39"/>
          <p:cNvSpPr txBox="1"/>
          <p:nvPr/>
        </p:nvSpPr>
        <p:spPr>
          <a:xfrm>
            <a:off x="809122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ノズル噴霧の様子</a:t>
            </a:r>
          </a:p>
        </p:txBody>
      </p:sp>
      <p:sp>
        <p:nvSpPr>
          <p:cNvPr id="41" name="TextBox 40"/>
          <p:cNvSpPr txBox="1"/>
          <p:nvPr/>
        </p:nvSpPr>
        <p:spPr>
          <a:xfrm>
            <a:off x="809122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42" name="TextBox 41"/>
          <p:cNvSpPr txBox="1"/>
          <p:nvPr/>
        </p:nvSpPr>
        <p:spPr>
          <a:xfrm>
            <a:off x="809122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スプレー散布適性</a:t>
            </a:r>
          </a:p>
        </p:txBody>
      </p:sp>
      <p:sp>
        <p:nvSpPr>
          <p:cNvPr id="43" name="TextBox 42"/>
          <p:cNvSpPr txBox="1"/>
          <p:nvPr/>
        </p:nvSpPr>
        <p:spPr>
          <a:xfrm>
            <a:off x="809122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4" name="TextBox 43"/>
          <p:cNvSpPr txBox="1"/>
          <p:nvPr/>
        </p:nvSpPr>
        <p:spPr>
          <a:xfrm>
            <a:off x="829238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高せん断で粘度が急低下</a:t>
            </a:r>
          </a:p>
        </p:txBody>
      </p:sp>
      <p:sp>
        <p:nvSpPr>
          <p:cNvPr id="45" name="TextBox 44"/>
          <p:cNvSpPr txBox="1"/>
          <p:nvPr/>
        </p:nvSpPr>
        <p:spPr>
          <a:xfrm>
            <a:off x="809122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6" name="TextBox 45"/>
          <p:cNvSpPr txBox="1"/>
          <p:nvPr/>
        </p:nvSpPr>
        <p:spPr>
          <a:xfrm>
            <a:off x="829238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到達後すぐ高粘度を回復</a:t>
            </a:r>
          </a:p>
        </p:txBody>
      </p:sp>
      <p:sp>
        <p:nvSpPr>
          <p:cNvPr id="47" name="TextBox 46"/>
          <p:cNvSpPr txBox="1"/>
          <p:nvPr/>
        </p:nvSpPr>
        <p:spPr>
          <a:xfrm>
            <a:off x="809122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8" name="TextBox 47"/>
          <p:cNvSpPr txBox="1"/>
          <p:nvPr/>
        </p:nvSpPr>
        <p:spPr>
          <a:xfrm>
            <a:off x="829238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既存ホース・ノズルと互換</a:t>
            </a:r>
          </a:p>
        </p:txBody>
      </p:sp>
      <p:sp>
        <p:nvSpPr>
          <p:cNvPr id="49" name="Rounded Rectangle 48"/>
          <p:cNvSpPr/>
          <p:nvPr/>
        </p:nvSpPr>
        <p:spPr>
          <a:xfrm>
            <a:off x="365760" y="5980176"/>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5760" y="5980176"/>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980176"/>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2" name="TextBox 51"/>
          <p:cNvSpPr txBox="1"/>
          <p:nvPr/>
        </p:nvSpPr>
        <p:spPr>
          <a:xfrm>
            <a:off x="960120" y="5980176"/>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17 / 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39</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39</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39</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39</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39</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39</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39</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39</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39</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27 / 39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39</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39</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39</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39</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39</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39</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39</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7261360"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S5/S7</a:t>
            </a:r>
          </a:p>
        </p:txBody>
      </p:sp>
      <p:sp>
        <p:nvSpPr>
          <p:cNvPr id="30" name="TextBox 29"/>
          <p:cNvSpPr txBox="1"/>
          <p:nvPr/>
        </p:nvSpPr>
        <p:spPr>
          <a:xfrm>
            <a:off x="4564575" y="2487168"/>
            <a:ext cx="7261360"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726136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熟成に伴う弾性率・粘度の変化（Day 1 vs Day 455）</a:t>
            </a:r>
          </a:p>
        </p:txBody>
      </p:sp>
      <p:sp>
        <p:nvSpPr>
          <p:cNvPr id="32" name="Rounded Rectangle 31"/>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5" name="TextBox 34"/>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35 / 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39</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39</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39</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39 / 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