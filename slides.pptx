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91695" cy="64008"/>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7315200" cy="365760"/>
          </a:xfrm>
          <a:prstGeom prst="rect">
            <a:avLst/>
          </a:prstGeom>
          <a:noFill/>
        </p:spPr>
        <p:txBody>
          <a:bodyPr wrap="square" anchor="t" lIns="36000" rIns="36000" tIns="18000" bIns="18000">
            <a:spAutoFit/>
          </a:bodyPr>
          <a:lstStyle/>
          <a:p>
            <a:pPr algn="l"/>
            <a:r>
              <a:rPr sz="1100" b="1" i="0">
                <a:solidFill>
                  <a:srgbClr val="889AB0"/>
                </a:solidFill>
                <a:latin typeface="Noto Sans JP"/>
              </a:rPr>
              <a:t>RESEARCH PRESENTATION  ·  2024</a:t>
            </a:r>
          </a:p>
        </p:txBody>
      </p:sp>
      <p:sp>
        <p:nvSpPr>
          <p:cNvPr id="6" name="TextBox 5"/>
          <p:cNvSpPr txBox="1"/>
          <p:nvPr/>
        </p:nvSpPr>
        <p:spPr>
          <a:xfrm>
            <a:off x="7162495" y="457200"/>
            <a:ext cx="4572000" cy="365760"/>
          </a:xfrm>
          <a:prstGeom prst="rect">
            <a:avLst/>
          </a:prstGeom>
          <a:noFill/>
        </p:spPr>
        <p:txBody>
          <a:bodyPr wrap="square" anchor="t" lIns="36000" rIns="36000" tIns="18000" bIns="18000">
            <a:spAutoFit/>
          </a:bodyPr>
          <a:lstStyle/>
          <a:p>
            <a:pPr algn="r"/>
            <a:r>
              <a:rPr sz="1100" b="0" i="0">
                <a:solidFill>
                  <a:srgbClr val="889AB0"/>
                </a:solidFill>
                <a:latin typeface="Noto Sans JP"/>
              </a:rPr>
              <a:t>Adv. Mater.  ·  Dong et al., 2024</a:t>
            </a:r>
          </a:p>
        </p:txBody>
      </p:sp>
      <p:sp>
        <p:nvSpPr>
          <p:cNvPr id="7" name="TextBox 6"/>
          <p:cNvSpPr txBox="1"/>
          <p:nvPr/>
        </p:nvSpPr>
        <p:spPr>
          <a:xfrm>
            <a:off x="731520" y="1554480"/>
            <a:ext cx="10698480" cy="411480"/>
          </a:xfrm>
          <a:prstGeom prst="rect">
            <a:avLst/>
          </a:prstGeom>
          <a:noFill/>
        </p:spPr>
        <p:txBody>
          <a:bodyPr wrap="square" anchor="t" lIns="36000" rIns="36000" tIns="18000" bIns="18000">
            <a:spAutoFit/>
          </a:bodyPr>
          <a:lstStyle/>
          <a:p>
            <a:pPr algn="ctr"/>
            <a:r>
              <a:rPr sz="1200" b="1" i="0">
                <a:solidFill>
                  <a:srgbClr val="889AB0"/>
                </a:solidFill>
                <a:latin typeface="Noto Sans JP"/>
              </a:rPr>
              <a:t>WATER-ENHANCING GELS  ·  ADVANCED MATERIALS 2024</a:t>
            </a:r>
          </a:p>
        </p:txBody>
      </p:sp>
      <p:sp>
        <p:nvSpPr>
          <p:cNvPr id="8" name="TextBox 7"/>
          <p:cNvSpPr txBox="1"/>
          <p:nvPr/>
        </p:nvSpPr>
        <p:spPr>
          <a:xfrm>
            <a:off x="457200" y="2103120"/>
            <a:ext cx="11247120" cy="1097280"/>
          </a:xfrm>
          <a:prstGeom prst="rect">
            <a:avLst/>
          </a:prstGeom>
          <a:noFill/>
        </p:spPr>
        <p:txBody>
          <a:bodyPr wrap="square" anchor="t" lIns="36000" rIns="36000" tIns="18000" bIns="18000">
            <a:spAutoFit/>
          </a:bodyPr>
          <a:lstStyle/>
          <a:p>
            <a:pPr algn="ctr"/>
            <a:r>
              <a:rPr sz="4400" b="1" i="0">
                <a:solidFill>
                  <a:srgbClr val="FFFFFF"/>
                </a:solidFill>
                <a:latin typeface="Noto Sans JP"/>
              </a:rPr>
              <a:t>山火事から守る</a:t>
            </a:r>
          </a:p>
        </p:txBody>
      </p:sp>
      <p:sp>
        <p:nvSpPr>
          <p:cNvPr id="9" name="TextBox 8"/>
          <p:cNvSpPr txBox="1"/>
          <p:nvPr/>
        </p:nvSpPr>
        <p:spPr>
          <a:xfrm>
            <a:off x="457200" y="2926080"/>
            <a:ext cx="11247120" cy="914400"/>
          </a:xfrm>
          <a:prstGeom prst="rect">
            <a:avLst/>
          </a:prstGeom>
          <a:noFill/>
        </p:spPr>
        <p:txBody>
          <a:bodyPr wrap="square" anchor="t" lIns="36000" rIns="36000" tIns="18000" bIns="18000">
            <a:spAutoFit/>
          </a:bodyPr>
          <a:lstStyle/>
          <a:p>
            <a:pPr algn="ctr"/>
            <a:r>
              <a:rPr sz="4400" b="1" i="0">
                <a:solidFill>
                  <a:srgbClr val="D4A574"/>
                </a:solidFill>
                <a:latin typeface="Noto Sans JP"/>
              </a:rPr>
              <a:t>熱活性化シリカエアロゲル</a:t>
            </a:r>
          </a:p>
        </p:txBody>
      </p:sp>
      <p:sp>
        <p:nvSpPr>
          <p:cNvPr id="10" name="TextBox 9"/>
          <p:cNvSpPr txBox="1"/>
          <p:nvPr/>
        </p:nvSpPr>
        <p:spPr>
          <a:xfrm>
            <a:off x="914400" y="4114800"/>
            <a:ext cx="10332720" cy="914400"/>
          </a:xfrm>
          <a:prstGeom prst="rect">
            <a:avLst/>
          </a:prstGeom>
          <a:noFill/>
        </p:spPr>
        <p:txBody>
          <a:bodyPr wrap="square" anchor="t" lIns="36000" rIns="36000" tIns="18000" bIns="18000">
            <a:spAutoFit/>
          </a:bodyPr>
          <a:lstStyle/>
          <a:p>
            <a:pPr algn="ctr"/>
            <a:r>
              <a:rPr sz="1500" b="0" i="0">
                <a:solidFill>
                  <a:srgbClr val="B8CCE2"/>
                </a:solidFill>
                <a:latin typeface="Noto Sans JP"/>
              </a:rPr>
              <a:t>セルロース系ポリマー × コロイダルシリカ粒子で実現した、</a:t>
            </a:r>
          </a:p>
          <a:p>
            <a:pPr algn="ctr"/>
            <a:r>
              <a:rPr sz="1500" b="0" i="0">
                <a:solidFill>
                  <a:srgbClr val="B8CCE2"/>
                </a:solidFill>
                <a:latin typeface="Noto Sans JP"/>
              </a:rPr>
              <a:t>加熱時に自己発泡してエアロゲル層を形成する次世代難燃ゲル</a:t>
            </a:r>
          </a:p>
        </p:txBody>
      </p:sp>
      <p:sp>
        <p:nvSpPr>
          <p:cNvPr id="11" name="TextBox 10"/>
          <p:cNvSpPr txBox="1"/>
          <p:nvPr/>
        </p:nvSpPr>
        <p:spPr>
          <a:xfrm>
            <a:off x="457200" y="5486400"/>
            <a:ext cx="11247120" cy="365760"/>
          </a:xfrm>
          <a:prstGeom prst="rect">
            <a:avLst/>
          </a:prstGeom>
          <a:noFill/>
        </p:spPr>
        <p:txBody>
          <a:bodyPr wrap="square" anchor="t" lIns="36000" rIns="36000" tIns="18000" bIns="18000">
            <a:spAutoFit/>
          </a:bodyPr>
          <a:lstStyle/>
          <a:p>
            <a:pPr algn="ctr"/>
            <a:r>
              <a:rPr sz="1200" b="0" i="0">
                <a:solidFill>
                  <a:srgbClr val="889CB4"/>
                </a:solidFill>
                <a:latin typeface="Noto Sans JP"/>
              </a:rPr>
              <a:t>材料化学 / 防火工学    ·    Stanford University, Appel Lab    ·    Adv. Mater. 36, 2407375</a:t>
            </a:r>
          </a:p>
        </p:txBody>
      </p:sp>
      <p:sp>
        <p:nvSpPr>
          <p:cNvPr id="12" name="TextBox 11"/>
          <p:cNvSpPr txBox="1"/>
          <p:nvPr/>
        </p:nvSpPr>
        <p:spPr>
          <a:xfrm>
            <a:off x="457200" y="6035040"/>
            <a:ext cx="7315200" cy="274320"/>
          </a:xfrm>
          <a:prstGeom prst="rect">
            <a:avLst/>
          </a:prstGeom>
          <a:noFill/>
        </p:spPr>
        <p:txBody>
          <a:bodyPr wrap="square" anchor="t" lIns="36000" rIns="36000" tIns="18000" bIns="18000">
            <a:spAutoFit/>
          </a:bodyPr>
          <a:lstStyle/>
          <a:p>
            <a:pPr algn="l"/>
            <a:r>
              <a:rPr sz="1000" b="0" i="0">
                <a:solidFill>
                  <a:srgbClr val="667788"/>
                </a:solidFill>
                <a:latin typeface="Noto Sans JP"/>
              </a:rPr>
              <a:t>DOI: 10.1002/adma.202407375</a:t>
            </a:r>
          </a:p>
        </p:txBody>
      </p:sp>
      <p:sp>
        <p:nvSpPr>
          <p:cNvPr id="13" name="TextBox 12"/>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667788"/>
                </a:solidFill>
                <a:latin typeface="Noto Sans JP"/>
              </a:rPr>
              <a:t>1 / 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Contents</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発表の構成</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 / 36</a:t>
            </a:r>
          </a:p>
        </p:txBody>
      </p:sp>
      <p:sp>
        <p:nvSpPr>
          <p:cNvPr id="10" name="Rounded Rectangle 9"/>
          <p:cNvSpPr/>
          <p:nvPr/>
        </p:nvSpPr>
        <p:spPr>
          <a:xfrm>
            <a:off x="365760" y="859536"/>
            <a:ext cx="2769031" cy="384048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88136"/>
            <a:ext cx="2403271"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13" name="TextBox 12"/>
          <p:cNvSpPr txBox="1"/>
          <p:nvPr/>
        </p:nvSpPr>
        <p:spPr>
          <a:xfrm>
            <a:off x="548640" y="1636776"/>
            <a:ext cx="2403271"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PART 1</a:t>
            </a:r>
          </a:p>
        </p:txBody>
      </p:sp>
      <p:sp>
        <p:nvSpPr>
          <p:cNvPr id="14" name="TextBox 13"/>
          <p:cNvSpPr txBox="1"/>
          <p:nvPr/>
        </p:nvSpPr>
        <p:spPr>
          <a:xfrm>
            <a:off x="548640" y="1956816"/>
            <a:ext cx="2403271" cy="411480"/>
          </a:xfrm>
          <a:prstGeom prst="rect">
            <a:avLst/>
          </a:prstGeom>
          <a:noFill/>
        </p:spPr>
        <p:txBody>
          <a:bodyPr wrap="square" anchor="t" lIns="36000" rIns="36000" tIns="18000" bIns="18000">
            <a:spAutoFit/>
          </a:bodyPr>
          <a:lstStyle/>
          <a:p>
            <a:pPr algn="l"/>
            <a:r>
              <a:rPr sz="1800" b="1" i="0">
                <a:solidFill>
                  <a:srgbClr val="1E293B"/>
                </a:solidFill>
                <a:latin typeface="Noto Sans JP"/>
              </a:rPr>
              <a:t>研究背景</a:t>
            </a:r>
          </a:p>
        </p:txBody>
      </p:sp>
      <p:sp>
        <p:nvSpPr>
          <p:cNvPr id="15" name="TextBox 14"/>
          <p:cNvSpPr txBox="1"/>
          <p:nvPr/>
        </p:nvSpPr>
        <p:spPr>
          <a:xfrm>
            <a:off x="548640" y="2459736"/>
            <a:ext cx="2403271" cy="1645920"/>
          </a:xfrm>
          <a:prstGeom prst="rect">
            <a:avLst/>
          </a:prstGeom>
          <a:noFill/>
        </p:spPr>
        <p:txBody>
          <a:bodyPr wrap="square" anchor="t" lIns="36000" rIns="36000" tIns="18000" bIns="18000">
            <a:spAutoFit/>
          </a:bodyPr>
          <a:lstStyle/>
          <a:p>
            <a:pPr algn="l"/>
            <a:r>
              <a:rPr sz="1200" b="0" i="0">
                <a:solidFill>
                  <a:srgbClr val="475569"/>
                </a:solidFill>
                <a:latin typeface="Noto Sans JP"/>
              </a:rPr>
              <a:t>山火事の現状、既存技術（Phos-Chek, AquaGel-K）の限界、本研究の革新点</a:t>
            </a:r>
          </a:p>
        </p:txBody>
      </p:sp>
      <p:sp>
        <p:nvSpPr>
          <p:cNvPr id="16" name="TextBox 15"/>
          <p:cNvSpPr txBox="1"/>
          <p:nvPr/>
        </p:nvSpPr>
        <p:spPr>
          <a:xfrm>
            <a:off x="548640" y="4288536"/>
            <a:ext cx="2403271" cy="274320"/>
          </a:xfrm>
          <a:prstGeom prst="rect">
            <a:avLst/>
          </a:prstGeom>
          <a:noFill/>
        </p:spPr>
        <p:txBody>
          <a:bodyPr wrap="square" anchor="t" lIns="36000" rIns="36000" tIns="18000" bIns="18000">
            <a:spAutoFit/>
          </a:bodyPr>
          <a:lstStyle/>
          <a:p>
            <a:pPr algn="l"/>
            <a:r>
              <a:rPr sz="1000" b="0" i="0">
                <a:solidFill>
                  <a:srgbClr val="64748B"/>
                </a:solidFill>
                <a:latin typeface="Noto Sans JP"/>
              </a:rPr>
              <a:t>Slides 4–7</a:t>
            </a:r>
          </a:p>
        </p:txBody>
      </p:sp>
      <p:sp>
        <p:nvSpPr>
          <p:cNvPr id="17" name="Rounded Rectangle 16"/>
          <p:cNvSpPr/>
          <p:nvPr/>
        </p:nvSpPr>
        <p:spPr>
          <a:xfrm>
            <a:off x="3262807" y="859536"/>
            <a:ext cx="2769031" cy="384048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62807"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5687" y="1088136"/>
            <a:ext cx="2403271"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20" name="TextBox 19"/>
          <p:cNvSpPr txBox="1"/>
          <p:nvPr/>
        </p:nvSpPr>
        <p:spPr>
          <a:xfrm>
            <a:off x="3445687" y="1636776"/>
            <a:ext cx="2403271"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PART 2</a:t>
            </a:r>
          </a:p>
        </p:txBody>
      </p:sp>
      <p:sp>
        <p:nvSpPr>
          <p:cNvPr id="21" name="TextBox 20"/>
          <p:cNvSpPr txBox="1"/>
          <p:nvPr/>
        </p:nvSpPr>
        <p:spPr>
          <a:xfrm>
            <a:off x="3445687" y="1956816"/>
            <a:ext cx="2403271" cy="411480"/>
          </a:xfrm>
          <a:prstGeom prst="rect">
            <a:avLst/>
          </a:prstGeom>
          <a:noFill/>
        </p:spPr>
        <p:txBody>
          <a:bodyPr wrap="square" anchor="t" lIns="36000" rIns="36000" tIns="18000" bIns="18000">
            <a:spAutoFit/>
          </a:bodyPr>
          <a:lstStyle/>
          <a:p>
            <a:pPr algn="l"/>
            <a:r>
              <a:rPr sz="1800" b="1" i="0">
                <a:solidFill>
                  <a:srgbClr val="1E293B"/>
                </a:solidFill>
                <a:latin typeface="Noto Sans JP"/>
              </a:rPr>
              <a:t>材料・方法</a:t>
            </a:r>
          </a:p>
        </p:txBody>
      </p:sp>
      <p:sp>
        <p:nvSpPr>
          <p:cNvPr id="22" name="TextBox 21"/>
          <p:cNvSpPr txBox="1"/>
          <p:nvPr/>
        </p:nvSpPr>
        <p:spPr>
          <a:xfrm>
            <a:off x="3445687" y="2459736"/>
            <a:ext cx="2403271" cy="1645920"/>
          </a:xfrm>
          <a:prstGeom prst="rect">
            <a:avLst/>
          </a:prstGeom>
          <a:noFill/>
        </p:spPr>
        <p:txBody>
          <a:bodyPr wrap="square" anchor="t" lIns="36000" rIns="36000" tIns="18000" bIns="18000">
            <a:spAutoFit/>
          </a:bodyPr>
          <a:lstStyle/>
          <a:p>
            <a:pPr algn="l"/>
            <a:r>
              <a:rPr sz="1200" b="0" i="0">
                <a:solidFill>
                  <a:srgbClr val="475569"/>
                </a:solidFill>
                <a:latin typeface="Noto Sans JP"/>
              </a:rPr>
              <a:t>セルロース系ポリマー、CSP、配合系（5種）、評価手法</a:t>
            </a:r>
          </a:p>
        </p:txBody>
      </p:sp>
      <p:sp>
        <p:nvSpPr>
          <p:cNvPr id="23" name="TextBox 22"/>
          <p:cNvSpPr txBox="1"/>
          <p:nvPr/>
        </p:nvSpPr>
        <p:spPr>
          <a:xfrm>
            <a:off x="3445687" y="4288536"/>
            <a:ext cx="2403271" cy="274320"/>
          </a:xfrm>
          <a:prstGeom prst="rect">
            <a:avLst/>
          </a:prstGeom>
          <a:noFill/>
        </p:spPr>
        <p:txBody>
          <a:bodyPr wrap="square" anchor="t" lIns="36000" rIns="36000" tIns="18000" bIns="18000">
            <a:spAutoFit/>
          </a:bodyPr>
          <a:lstStyle/>
          <a:p>
            <a:pPr algn="l"/>
            <a:r>
              <a:rPr sz="1000" b="0" i="0">
                <a:solidFill>
                  <a:srgbClr val="64748B"/>
                </a:solidFill>
                <a:latin typeface="Noto Sans JP"/>
              </a:rPr>
              <a:t>Slides 9–14</a:t>
            </a:r>
          </a:p>
        </p:txBody>
      </p:sp>
      <p:sp>
        <p:nvSpPr>
          <p:cNvPr id="24" name="Rounded Rectangle 23"/>
          <p:cNvSpPr/>
          <p:nvPr/>
        </p:nvSpPr>
        <p:spPr>
          <a:xfrm>
            <a:off x="6159855" y="859536"/>
            <a:ext cx="2769031" cy="384048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9855"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2735" y="1088136"/>
            <a:ext cx="2403271"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27" name="TextBox 26"/>
          <p:cNvSpPr txBox="1"/>
          <p:nvPr/>
        </p:nvSpPr>
        <p:spPr>
          <a:xfrm>
            <a:off x="6342735" y="1636776"/>
            <a:ext cx="2403271"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PART 3</a:t>
            </a:r>
          </a:p>
        </p:txBody>
      </p:sp>
      <p:sp>
        <p:nvSpPr>
          <p:cNvPr id="28" name="TextBox 27"/>
          <p:cNvSpPr txBox="1"/>
          <p:nvPr/>
        </p:nvSpPr>
        <p:spPr>
          <a:xfrm>
            <a:off x="6342735" y="1956816"/>
            <a:ext cx="2403271" cy="411480"/>
          </a:xfrm>
          <a:prstGeom prst="rect">
            <a:avLst/>
          </a:prstGeom>
          <a:noFill/>
        </p:spPr>
        <p:txBody>
          <a:bodyPr wrap="square" anchor="t" lIns="36000" rIns="36000" tIns="18000" bIns="18000">
            <a:spAutoFit/>
          </a:bodyPr>
          <a:lstStyle/>
          <a:p>
            <a:pPr algn="l"/>
            <a:r>
              <a:rPr sz="1800" b="1" i="0">
                <a:solidFill>
                  <a:srgbClr val="1E293B"/>
                </a:solidFill>
                <a:latin typeface="Noto Sans JP"/>
              </a:rPr>
              <a:t>実験結果</a:t>
            </a:r>
          </a:p>
        </p:txBody>
      </p:sp>
      <p:sp>
        <p:nvSpPr>
          <p:cNvPr id="29" name="TextBox 28"/>
          <p:cNvSpPr txBox="1"/>
          <p:nvPr/>
        </p:nvSpPr>
        <p:spPr>
          <a:xfrm>
            <a:off x="6342735" y="2459736"/>
            <a:ext cx="2403271" cy="1645920"/>
          </a:xfrm>
          <a:prstGeom prst="rect">
            <a:avLst/>
          </a:prstGeom>
          <a:noFill/>
        </p:spPr>
        <p:txBody>
          <a:bodyPr wrap="square" anchor="t" lIns="36000" rIns="36000" tIns="18000" bIns="18000">
            <a:spAutoFit/>
          </a:bodyPr>
          <a:lstStyle/>
          <a:p>
            <a:pPr algn="l"/>
            <a:r>
              <a:rPr sz="1200" b="0" i="0">
                <a:solidFill>
                  <a:srgbClr val="475569"/>
                </a:solidFill>
                <a:latin typeface="Noto Sans JP"/>
              </a:rPr>
              <a:t>レオロジー、燃焼試験、発泡指数、SEM観察、メカニズム</a:t>
            </a:r>
          </a:p>
        </p:txBody>
      </p:sp>
      <p:sp>
        <p:nvSpPr>
          <p:cNvPr id="30" name="TextBox 29"/>
          <p:cNvSpPr txBox="1"/>
          <p:nvPr/>
        </p:nvSpPr>
        <p:spPr>
          <a:xfrm>
            <a:off x="6342735" y="4288536"/>
            <a:ext cx="2403271" cy="274320"/>
          </a:xfrm>
          <a:prstGeom prst="rect">
            <a:avLst/>
          </a:prstGeom>
          <a:noFill/>
        </p:spPr>
        <p:txBody>
          <a:bodyPr wrap="square" anchor="t" lIns="36000" rIns="36000" tIns="18000" bIns="18000">
            <a:spAutoFit/>
          </a:bodyPr>
          <a:lstStyle/>
          <a:p>
            <a:pPr algn="l"/>
            <a:r>
              <a:rPr sz="1000" b="0" i="0">
                <a:solidFill>
                  <a:srgbClr val="64748B"/>
                </a:solidFill>
                <a:latin typeface="Noto Sans JP"/>
              </a:rPr>
              <a:t>Slides 16–33</a:t>
            </a:r>
          </a:p>
        </p:txBody>
      </p:sp>
      <p:sp>
        <p:nvSpPr>
          <p:cNvPr id="31" name="Rounded Rectangle 30"/>
          <p:cNvSpPr/>
          <p:nvPr/>
        </p:nvSpPr>
        <p:spPr>
          <a:xfrm>
            <a:off x="9056903" y="859536"/>
            <a:ext cx="2769031" cy="384048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56903"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9783" y="1088136"/>
            <a:ext cx="2403271"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34" name="TextBox 33"/>
          <p:cNvSpPr txBox="1"/>
          <p:nvPr/>
        </p:nvSpPr>
        <p:spPr>
          <a:xfrm>
            <a:off x="9239783" y="1636776"/>
            <a:ext cx="2403271"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PART 4</a:t>
            </a:r>
          </a:p>
        </p:txBody>
      </p:sp>
      <p:sp>
        <p:nvSpPr>
          <p:cNvPr id="35" name="TextBox 34"/>
          <p:cNvSpPr txBox="1"/>
          <p:nvPr/>
        </p:nvSpPr>
        <p:spPr>
          <a:xfrm>
            <a:off x="9239783" y="1956816"/>
            <a:ext cx="2403271" cy="411480"/>
          </a:xfrm>
          <a:prstGeom prst="rect">
            <a:avLst/>
          </a:prstGeom>
          <a:noFill/>
        </p:spPr>
        <p:txBody>
          <a:bodyPr wrap="square" anchor="t" lIns="36000" rIns="36000" tIns="18000" bIns="18000">
            <a:spAutoFit/>
          </a:bodyPr>
          <a:lstStyle/>
          <a:p>
            <a:pPr algn="l"/>
            <a:r>
              <a:rPr sz="1800" b="1" i="0">
                <a:solidFill>
                  <a:srgbClr val="1E293B"/>
                </a:solidFill>
                <a:latin typeface="Noto Sans JP"/>
              </a:rPr>
              <a:t>考察・まとめ</a:t>
            </a:r>
          </a:p>
        </p:txBody>
      </p:sp>
      <p:sp>
        <p:nvSpPr>
          <p:cNvPr id="36" name="TextBox 35"/>
          <p:cNvSpPr txBox="1"/>
          <p:nvPr/>
        </p:nvSpPr>
        <p:spPr>
          <a:xfrm>
            <a:off x="9239783" y="2459736"/>
            <a:ext cx="2403271" cy="1645920"/>
          </a:xfrm>
          <a:prstGeom prst="rect">
            <a:avLst/>
          </a:prstGeom>
          <a:noFill/>
        </p:spPr>
        <p:txBody>
          <a:bodyPr wrap="square" anchor="t" lIns="36000" rIns="36000" tIns="18000" bIns="18000">
            <a:spAutoFit/>
          </a:bodyPr>
          <a:lstStyle/>
          <a:p>
            <a:pPr algn="l"/>
            <a:r>
              <a:rPr sz="1200" b="0" i="0">
                <a:solidFill>
                  <a:srgbClr val="475569"/>
                </a:solidFill>
                <a:latin typeface="Noto Sans JP"/>
              </a:rPr>
              <a:t>実装シナリオ、既存品との比較、結論と今後の展望</a:t>
            </a:r>
          </a:p>
        </p:txBody>
      </p:sp>
      <p:sp>
        <p:nvSpPr>
          <p:cNvPr id="37" name="TextBox 36"/>
          <p:cNvSpPr txBox="1"/>
          <p:nvPr/>
        </p:nvSpPr>
        <p:spPr>
          <a:xfrm>
            <a:off x="9239783" y="4288536"/>
            <a:ext cx="2403271" cy="274320"/>
          </a:xfrm>
          <a:prstGeom prst="rect">
            <a:avLst/>
          </a:prstGeom>
          <a:noFill/>
        </p:spPr>
        <p:txBody>
          <a:bodyPr wrap="square" anchor="t" lIns="36000" rIns="36000" tIns="18000" bIns="18000">
            <a:spAutoFit/>
          </a:bodyPr>
          <a:lstStyle/>
          <a:p>
            <a:pPr algn="l"/>
            <a:r>
              <a:rPr sz="1000" b="0" i="0">
                <a:solidFill>
                  <a:srgbClr val="64748B"/>
                </a:solidFill>
                <a:latin typeface="Noto Sans JP"/>
              </a:rPr>
              <a:t>Slides 35–36</a:t>
            </a:r>
          </a:p>
        </p:txBody>
      </p:sp>
      <p:sp>
        <p:nvSpPr>
          <p:cNvPr id="38" name="Rounded Rectangle 37"/>
          <p:cNvSpPr/>
          <p:nvPr/>
        </p:nvSpPr>
        <p:spPr>
          <a:xfrm>
            <a:off x="365760" y="4864608"/>
            <a:ext cx="11460175" cy="50292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864608"/>
            <a:ext cx="54864" cy="5029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4864608"/>
            <a:ext cx="365760" cy="50292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41" name="TextBox 40"/>
          <p:cNvSpPr txBox="1"/>
          <p:nvPr/>
        </p:nvSpPr>
        <p:spPr>
          <a:xfrm>
            <a:off x="960120" y="4864608"/>
            <a:ext cx="10774375" cy="502920"/>
          </a:xfrm>
          <a:prstGeom prst="rect">
            <a:avLst/>
          </a:prstGeom>
          <a:noFill/>
        </p:spPr>
        <p:txBody>
          <a:bodyPr wrap="square" anchor="ctr" lIns="36000" rIns="36000" tIns="18000" bIns="18000">
            <a:spAutoFit/>
          </a:bodyPr>
          <a:lstStyle/>
          <a:p>
            <a:pPr algn="l"/>
            <a:r>
              <a:rPr sz="1300" b="1" i="0">
                <a:solidFill>
                  <a:srgbClr val="1E293B"/>
                </a:solidFill>
                <a:latin typeface="Noto Sans JP"/>
              </a:rPr>
              <a:t>キーメッセージ：加熱時の発泡＋シリカ粒子の焼結によりエアロゲル層が自己形成され、市販品を超える長時間保護を実現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08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62495" y="457200"/>
            <a:ext cx="4572000" cy="6400800"/>
          </a:xfrm>
          <a:prstGeom prst="rect">
            <a:avLst/>
          </a:prstGeom>
          <a:noFill/>
        </p:spPr>
        <p:txBody>
          <a:bodyPr wrap="square" anchor="b" lIns="36000" rIns="36000" tIns="18000" bIns="18000">
            <a:spAutoFit/>
          </a:bodyPr>
          <a:lstStyle/>
          <a:p>
            <a:pPr algn="r"/>
            <a:r>
              <a:rPr sz="24000" b="1" i="0">
                <a:solidFill>
                  <a:srgbClr val="243044"/>
                </a:solidFill>
                <a:latin typeface="Noto Sans JP"/>
              </a:rPr>
              <a:t>01</a:t>
            </a:r>
          </a:p>
        </p:txBody>
      </p:sp>
      <p:sp>
        <p:nvSpPr>
          <p:cNvPr id="5" name="TextBox 4"/>
          <p:cNvSpPr txBox="1"/>
          <p:nvPr/>
        </p:nvSpPr>
        <p:spPr>
          <a:xfrm>
            <a:off x="914400" y="1554480"/>
            <a:ext cx="9144000" cy="365760"/>
          </a:xfrm>
          <a:prstGeom prst="rect">
            <a:avLst/>
          </a:prstGeom>
          <a:noFill/>
        </p:spPr>
        <p:txBody>
          <a:bodyPr wrap="square" anchor="t" lIns="36000" rIns="36000" tIns="18000" bIns="18000">
            <a:spAutoFit/>
          </a:bodyPr>
          <a:lstStyle/>
          <a:p>
            <a:pPr algn="l"/>
            <a:r>
              <a:rPr sz="1300" b="1" i="0">
                <a:solidFill>
                  <a:srgbClr val="88A4C0"/>
                </a:solidFill>
                <a:latin typeface="Noto Sans JP"/>
              </a:rPr>
              <a:t>Part 1</a:t>
            </a:r>
          </a:p>
        </p:txBody>
      </p:sp>
      <p:sp>
        <p:nvSpPr>
          <p:cNvPr id="6" name="TextBox 5"/>
          <p:cNvSpPr txBox="1"/>
          <p:nvPr/>
        </p:nvSpPr>
        <p:spPr>
          <a:xfrm>
            <a:off x="914400" y="2011680"/>
            <a:ext cx="9144000" cy="1280160"/>
          </a:xfrm>
          <a:prstGeom prst="rect">
            <a:avLst/>
          </a:prstGeom>
          <a:noFill/>
        </p:spPr>
        <p:txBody>
          <a:bodyPr wrap="square" anchor="t" lIns="36000" rIns="36000" tIns="18000" bIns="18000">
            <a:spAutoFit/>
          </a:bodyPr>
          <a:lstStyle/>
          <a:p>
            <a:pPr algn="l"/>
            <a:r>
              <a:rPr sz="5200" b="1" i="0">
                <a:solidFill>
                  <a:srgbClr val="FFFFFF"/>
                </a:solidFill>
                <a:latin typeface="Noto Sans JP"/>
              </a:rPr>
              <a:t>研究背景</a:t>
            </a:r>
          </a:p>
        </p:txBody>
      </p:sp>
      <p:sp>
        <p:nvSpPr>
          <p:cNvPr id="7" name="TextBox 6"/>
          <p:cNvSpPr txBox="1"/>
          <p:nvPr/>
        </p:nvSpPr>
        <p:spPr>
          <a:xfrm>
            <a:off x="914400" y="3383280"/>
            <a:ext cx="9144000" cy="914400"/>
          </a:xfrm>
          <a:prstGeom prst="rect">
            <a:avLst/>
          </a:prstGeom>
          <a:noFill/>
        </p:spPr>
        <p:txBody>
          <a:bodyPr wrap="square" anchor="t" lIns="36000" rIns="36000" tIns="18000" bIns="18000">
            <a:spAutoFit/>
          </a:bodyPr>
          <a:lstStyle/>
          <a:p>
            <a:pPr algn="l"/>
            <a:r>
              <a:rPr sz="1700" b="0" i="0">
                <a:solidFill>
                  <a:srgbClr val="9CB4CC"/>
                </a:solidFill>
                <a:latin typeface="Noto Sans JP"/>
              </a:rPr>
              <a:t>気候変動下の山火事被害と、既存難燃技術が抱える本質的な限界</a:t>
            </a:r>
          </a:p>
        </p:txBody>
      </p:sp>
      <p:sp>
        <p:nvSpPr>
          <p:cNvPr id="8" name="Rounded Rectangle 7"/>
          <p:cNvSpPr/>
          <p:nvPr/>
        </p:nvSpPr>
        <p:spPr>
          <a:xfrm>
            <a:off x="914400"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山火事の現状</a:t>
            </a:r>
          </a:p>
        </p:txBody>
      </p:sp>
      <p:sp>
        <p:nvSpPr>
          <p:cNvPr id="10" name="Rounded Rectangle 9"/>
          <p:cNvSpPr/>
          <p:nvPr/>
        </p:nvSpPr>
        <p:spPr>
          <a:xfrm>
            <a:off x="2523744" y="4572000"/>
            <a:ext cx="2066543"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23744" y="4572000"/>
            <a:ext cx="2066543"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既存WEG / 難燃剤</a:t>
            </a:r>
          </a:p>
        </p:txBody>
      </p:sp>
      <p:sp>
        <p:nvSpPr>
          <p:cNvPr id="12" name="Rounded Rectangle 11"/>
          <p:cNvSpPr/>
          <p:nvPr/>
        </p:nvSpPr>
        <p:spPr>
          <a:xfrm>
            <a:off x="4736591"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1"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本研究の革新</a:t>
            </a:r>
          </a:p>
        </p:txBody>
      </p:sp>
      <p:sp>
        <p:nvSpPr>
          <p:cNvPr id="14" name="TextBox 13"/>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667788"/>
                </a:solidFill>
                <a:latin typeface="Noto Sans JP"/>
              </a:rPr>
              <a:t>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背景 1/4</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山火事被害の深刻化とWUIリスク</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4 / 36</a:t>
            </a:r>
          </a:p>
        </p:txBody>
      </p:sp>
      <p:sp>
        <p:nvSpPr>
          <p:cNvPr id="10" name="Rectangle 9"/>
          <p:cNvSpPr/>
          <p:nvPr/>
        </p:nvSpPr>
        <p:spPr>
          <a:xfrm>
            <a:off x="365760" y="859536"/>
            <a:ext cx="45720" cy="16459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859536"/>
            <a:ext cx="4538953" cy="1005840"/>
          </a:xfrm>
          <a:prstGeom prst="rect">
            <a:avLst/>
          </a:prstGeom>
          <a:noFill/>
        </p:spPr>
        <p:txBody>
          <a:bodyPr wrap="square" anchor="t" lIns="36000" rIns="36000" tIns="18000" bIns="18000">
            <a:spAutoFit/>
          </a:bodyPr>
          <a:lstStyle/>
          <a:p>
            <a:pPr algn="l"/>
            <a:r>
              <a:rPr sz="6800" b="1" i="0">
                <a:solidFill>
                  <a:srgbClr val="1E293B"/>
                </a:solidFill>
                <a:latin typeface="Noto Sans JP"/>
              </a:rPr>
              <a:t>5×</a:t>
            </a:r>
          </a:p>
        </p:txBody>
      </p:sp>
      <p:sp>
        <p:nvSpPr>
          <p:cNvPr id="12" name="TextBox 11"/>
          <p:cNvSpPr txBox="1"/>
          <p:nvPr/>
        </p:nvSpPr>
        <p:spPr>
          <a:xfrm>
            <a:off x="530352" y="1847088"/>
            <a:ext cx="4538953" cy="292608"/>
          </a:xfrm>
          <a:prstGeom prst="rect">
            <a:avLst/>
          </a:prstGeom>
          <a:noFill/>
        </p:spPr>
        <p:txBody>
          <a:bodyPr wrap="square" anchor="t" lIns="36000" rIns="36000" tIns="18000" bIns="18000">
            <a:spAutoFit/>
          </a:bodyPr>
          <a:lstStyle/>
          <a:p>
            <a:pPr algn="l"/>
            <a:r>
              <a:rPr sz="1300" b="1" i="0">
                <a:solidFill>
                  <a:srgbClr val="334155"/>
                </a:solidFill>
                <a:latin typeface="Noto Sans JP"/>
              </a:rPr>
              <a:t>大規模山火事の増加（過去30年）</a:t>
            </a:r>
          </a:p>
        </p:txBody>
      </p:sp>
      <p:sp>
        <p:nvSpPr>
          <p:cNvPr id="13" name="TextBox 12"/>
          <p:cNvSpPr txBox="1"/>
          <p:nvPr/>
        </p:nvSpPr>
        <p:spPr>
          <a:xfrm>
            <a:off x="530352" y="2139696"/>
            <a:ext cx="4538953"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気候変動・干ばつが主要因</a:t>
            </a:r>
          </a:p>
        </p:txBody>
      </p:sp>
      <p:sp>
        <p:nvSpPr>
          <p:cNvPr id="14" name="Rectangle 13"/>
          <p:cNvSpPr/>
          <p:nvPr/>
        </p:nvSpPr>
        <p:spPr>
          <a:xfrm>
            <a:off x="530352" y="2560320"/>
            <a:ext cx="3527659"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61488"/>
            <a:ext cx="45720" cy="1463040"/>
          </a:xfrm>
          <a:prstGeom prst="rect">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61488"/>
            <a:ext cx="4538953" cy="822960"/>
          </a:xfrm>
          <a:prstGeom prst="rect">
            <a:avLst/>
          </a:prstGeom>
          <a:noFill/>
        </p:spPr>
        <p:txBody>
          <a:bodyPr wrap="square" anchor="t" lIns="36000" rIns="36000" tIns="18000" bIns="18000">
            <a:spAutoFit/>
          </a:bodyPr>
          <a:lstStyle/>
          <a:p>
            <a:pPr algn="l"/>
            <a:r>
              <a:rPr sz="4000" b="1" i="0">
                <a:solidFill>
                  <a:srgbClr val="1E293B"/>
                </a:solidFill>
                <a:latin typeface="Noto Sans JP"/>
              </a:rPr>
              <a:t>4500万人</a:t>
            </a:r>
          </a:p>
        </p:txBody>
      </p:sp>
      <p:sp>
        <p:nvSpPr>
          <p:cNvPr id="17" name="TextBox 16"/>
          <p:cNvSpPr txBox="1"/>
          <p:nvPr/>
        </p:nvSpPr>
        <p:spPr>
          <a:xfrm>
            <a:off x="530352" y="3584448"/>
            <a:ext cx="4538953" cy="292608"/>
          </a:xfrm>
          <a:prstGeom prst="rect">
            <a:avLst/>
          </a:prstGeom>
          <a:noFill/>
        </p:spPr>
        <p:txBody>
          <a:bodyPr wrap="square" anchor="t" lIns="36000" rIns="36000" tIns="18000" bIns="18000">
            <a:spAutoFit/>
          </a:bodyPr>
          <a:lstStyle/>
          <a:p>
            <a:pPr algn="l"/>
            <a:r>
              <a:rPr sz="1300" b="1" i="0">
                <a:solidFill>
                  <a:srgbClr val="334155"/>
                </a:solidFill>
                <a:latin typeface="Noto Sans JP"/>
              </a:rPr>
              <a:t>米国WUI居住者</a:t>
            </a:r>
          </a:p>
        </p:txBody>
      </p:sp>
      <p:sp>
        <p:nvSpPr>
          <p:cNvPr id="18" name="TextBox 17"/>
          <p:cNvSpPr txBox="1"/>
          <p:nvPr/>
        </p:nvSpPr>
        <p:spPr>
          <a:xfrm>
            <a:off x="530352" y="3877056"/>
            <a:ext cx="4538953"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野生地と都市の境界帯（WUI）の高リスク層</a:t>
            </a:r>
          </a:p>
        </p:txBody>
      </p:sp>
      <p:sp>
        <p:nvSpPr>
          <p:cNvPr id="19" name="Rectangle 18"/>
          <p:cNvSpPr/>
          <p:nvPr/>
        </p:nvSpPr>
        <p:spPr>
          <a:xfrm>
            <a:off x="530352" y="4315968"/>
            <a:ext cx="423319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480560"/>
            <a:ext cx="4538953" cy="640080"/>
          </a:xfrm>
          <a:prstGeom prst="rect">
            <a:avLst/>
          </a:prstGeom>
          <a:noFill/>
        </p:spPr>
        <p:txBody>
          <a:bodyPr wrap="square" anchor="t" lIns="36000" rIns="36000" tIns="18000" bIns="18000">
            <a:spAutoFit/>
          </a:bodyPr>
          <a:lstStyle/>
          <a:p>
            <a:pPr algn="l"/>
            <a:r>
              <a:rPr sz="1200" b="0" i="1">
                <a:solidFill>
                  <a:srgbClr val="475569"/>
                </a:solidFill>
                <a:latin typeface="Noto Sans JP"/>
              </a:rPr>
              <a:t>乾燥・強風期間の長期化により、</a:t>
            </a:r>
          </a:p>
          <a:p>
            <a:pPr algn="l"/>
            <a:r>
              <a:rPr sz="1200" b="0" i="1">
                <a:solidFill>
                  <a:srgbClr val="475569"/>
                </a:solidFill>
                <a:latin typeface="Noto Sans JP"/>
              </a:rPr>
              <a:t>従来の消火・防火戦略だけでは対応が困難</a:t>
            </a:r>
          </a:p>
        </p:txBody>
      </p:sp>
      <p:sp>
        <p:nvSpPr>
          <p:cNvPr id="21" name="Rounded Rectangle 20"/>
          <p:cNvSpPr/>
          <p:nvPr/>
        </p:nvSpPr>
        <p:spPr>
          <a:xfrm>
            <a:off x="5252185" y="859536"/>
            <a:ext cx="6573749" cy="57607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61913"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61913"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Image</a:t>
            </a:r>
          </a:p>
        </p:txBody>
      </p:sp>
      <p:sp>
        <p:nvSpPr>
          <p:cNvPr id="24" name="TextBox 23"/>
          <p:cNvSpPr txBox="1"/>
          <p:nvPr/>
        </p:nvSpPr>
        <p:spPr>
          <a:xfrm>
            <a:off x="5252185" y="859536"/>
            <a:ext cx="6573749" cy="57607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25" name="TextBox 24"/>
          <p:cNvSpPr txBox="1"/>
          <p:nvPr/>
        </p:nvSpPr>
        <p:spPr>
          <a:xfrm>
            <a:off x="5252185" y="6656832"/>
            <a:ext cx="6573749"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山火事・WUI境界帯（写真）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背景 2/4</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本研究のアプローチ：4段階の保護プロセス</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5 / 36</a:t>
            </a:r>
          </a:p>
        </p:txBody>
      </p:sp>
      <p:sp>
        <p:nvSpPr>
          <p:cNvPr id="10" name="Rounded Rectangle 9"/>
          <p:cNvSpPr/>
          <p:nvPr/>
        </p:nvSpPr>
        <p:spPr>
          <a:xfrm>
            <a:off x="365760" y="859536"/>
            <a:ext cx="11460175" cy="320040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1a</a:t>
            </a:r>
          </a:p>
        </p:txBody>
      </p:sp>
      <p:sp>
        <p:nvSpPr>
          <p:cNvPr id="13" name="TextBox 12"/>
          <p:cNvSpPr txBox="1"/>
          <p:nvPr/>
        </p:nvSpPr>
        <p:spPr>
          <a:xfrm>
            <a:off x="365760" y="859536"/>
            <a:ext cx="11460175" cy="320040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4096512"/>
            <a:ext cx="11460175"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難燃ゲル散布 → 火炎接触 → 熱活性化エアロゲル形成 → 構造物の保護</a:t>
            </a:r>
          </a:p>
        </p:txBody>
      </p:sp>
      <p:sp>
        <p:nvSpPr>
          <p:cNvPr id="15" name="Rounded Rectangle 14"/>
          <p:cNvSpPr/>
          <p:nvPr/>
        </p:nvSpPr>
        <p:spPr>
          <a:xfrm>
            <a:off x="1549107" y="4315968"/>
            <a:ext cx="402336" cy="402336"/>
          </a:xfrm>
          <a:prstGeom prst="roundRect">
            <a:avLst>
              <a:gd name="adj" fmla="val 50000"/>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49107" y="4315968"/>
            <a:ext cx="402336" cy="402336"/>
          </a:xfrm>
          <a:prstGeom prst="rect">
            <a:avLst/>
          </a:prstGeom>
          <a:noFill/>
        </p:spPr>
        <p:txBody>
          <a:bodyPr wrap="square" anchor="ctr" lIns="36000" rIns="36000" tIns="18000" bIns="18000">
            <a:spAutoFit/>
          </a:bodyPr>
          <a:lstStyle/>
          <a:p>
            <a:pPr algn="ctr"/>
            <a:r>
              <a:rPr sz="1600" b="1" i="0">
                <a:solidFill>
                  <a:srgbClr val="FFFFFF"/>
                </a:solidFill>
                <a:latin typeface="Noto Sans JP"/>
              </a:rPr>
              <a:t>1</a:t>
            </a:r>
          </a:p>
        </p:txBody>
      </p:sp>
      <p:sp>
        <p:nvSpPr>
          <p:cNvPr id="17" name="Rectangle 16"/>
          <p:cNvSpPr/>
          <p:nvPr/>
        </p:nvSpPr>
        <p:spPr>
          <a:xfrm>
            <a:off x="3171367" y="4507992"/>
            <a:ext cx="54864" cy="18288"/>
          </a:xfrm>
          <a:prstGeom prst="rect">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4846320"/>
            <a:ext cx="2769031" cy="274320"/>
          </a:xfrm>
          <a:prstGeom prst="rect">
            <a:avLst/>
          </a:prstGeom>
          <a:noFill/>
        </p:spPr>
        <p:txBody>
          <a:bodyPr wrap="square" anchor="t" lIns="36000" rIns="36000" tIns="18000" bIns="18000">
            <a:spAutoFit/>
          </a:bodyPr>
          <a:lstStyle/>
          <a:p>
            <a:pPr algn="ctr"/>
            <a:r>
              <a:rPr sz="1300" b="1" i="0">
                <a:solidFill>
                  <a:srgbClr val="1E293B"/>
                </a:solidFill>
                <a:latin typeface="Noto Sans JP"/>
              </a:rPr>
              <a:t>ゲル散布</a:t>
            </a:r>
          </a:p>
        </p:txBody>
      </p:sp>
      <p:sp>
        <p:nvSpPr>
          <p:cNvPr id="19" name="TextBox 18"/>
          <p:cNvSpPr txBox="1"/>
          <p:nvPr/>
        </p:nvSpPr>
        <p:spPr>
          <a:xfrm>
            <a:off x="365760" y="5138928"/>
            <a:ext cx="2769031" cy="548640"/>
          </a:xfrm>
          <a:prstGeom prst="rect">
            <a:avLst/>
          </a:prstGeom>
          <a:noFill/>
        </p:spPr>
        <p:txBody>
          <a:bodyPr wrap="square" anchor="t" lIns="36000" rIns="36000" tIns="18000" bIns="18000">
            <a:spAutoFit/>
          </a:bodyPr>
          <a:lstStyle/>
          <a:p>
            <a:pPr algn="ctr"/>
            <a:r>
              <a:rPr sz="1100" b="0" i="0">
                <a:solidFill>
                  <a:srgbClr val="475569"/>
                </a:solidFill>
                <a:latin typeface="Noto Sans JP"/>
              </a:rPr>
              <a:t>セルロース系ゲルを</a:t>
            </a:r>
          </a:p>
          <a:p>
            <a:pPr algn="ctr"/>
            <a:r>
              <a:rPr sz="1100" b="0" i="0">
                <a:solidFill>
                  <a:srgbClr val="475569"/>
                </a:solidFill>
                <a:latin typeface="Noto Sans JP"/>
              </a:rPr>
              <a:t>建物・植生にスプレー塗布</a:t>
            </a:r>
          </a:p>
        </p:txBody>
      </p:sp>
      <p:sp>
        <p:nvSpPr>
          <p:cNvPr id="20" name="Rounded Rectangle 19"/>
          <p:cNvSpPr/>
          <p:nvPr/>
        </p:nvSpPr>
        <p:spPr>
          <a:xfrm>
            <a:off x="4446155" y="4315968"/>
            <a:ext cx="402336" cy="402336"/>
          </a:xfrm>
          <a:prstGeom prst="roundRect">
            <a:avLst>
              <a:gd name="adj" fmla="val 50000"/>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6155" y="4315968"/>
            <a:ext cx="402336" cy="402336"/>
          </a:xfrm>
          <a:prstGeom prst="rect">
            <a:avLst/>
          </a:prstGeom>
          <a:noFill/>
        </p:spPr>
        <p:txBody>
          <a:bodyPr wrap="square" anchor="ctr" lIns="36000" rIns="36000" tIns="18000" bIns="18000">
            <a:spAutoFit/>
          </a:bodyPr>
          <a:lstStyle/>
          <a:p>
            <a:pPr algn="ctr"/>
            <a:r>
              <a:rPr sz="1600" b="1" i="0">
                <a:solidFill>
                  <a:srgbClr val="FFFFFF"/>
                </a:solidFill>
                <a:latin typeface="Noto Sans JP"/>
              </a:rPr>
              <a:t>2</a:t>
            </a:r>
          </a:p>
        </p:txBody>
      </p:sp>
      <p:sp>
        <p:nvSpPr>
          <p:cNvPr id="22" name="Rectangle 21"/>
          <p:cNvSpPr/>
          <p:nvPr/>
        </p:nvSpPr>
        <p:spPr>
          <a:xfrm>
            <a:off x="6068415" y="4507992"/>
            <a:ext cx="54864" cy="18288"/>
          </a:xfrm>
          <a:prstGeom prst="rect">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62807" y="4846320"/>
            <a:ext cx="2769031" cy="274320"/>
          </a:xfrm>
          <a:prstGeom prst="rect">
            <a:avLst/>
          </a:prstGeom>
          <a:noFill/>
        </p:spPr>
        <p:txBody>
          <a:bodyPr wrap="square" anchor="t" lIns="36000" rIns="36000" tIns="18000" bIns="18000">
            <a:spAutoFit/>
          </a:bodyPr>
          <a:lstStyle/>
          <a:p>
            <a:pPr algn="ctr"/>
            <a:r>
              <a:rPr sz="1300" b="1" i="0">
                <a:solidFill>
                  <a:srgbClr val="1E293B"/>
                </a:solidFill>
                <a:latin typeface="Noto Sans JP"/>
              </a:rPr>
              <a:t>火炎接触</a:t>
            </a:r>
          </a:p>
        </p:txBody>
      </p:sp>
      <p:sp>
        <p:nvSpPr>
          <p:cNvPr id="24" name="TextBox 23"/>
          <p:cNvSpPr txBox="1"/>
          <p:nvPr/>
        </p:nvSpPr>
        <p:spPr>
          <a:xfrm>
            <a:off x="3262807" y="5138928"/>
            <a:ext cx="2769031" cy="548640"/>
          </a:xfrm>
          <a:prstGeom prst="rect">
            <a:avLst/>
          </a:prstGeom>
          <a:noFill/>
        </p:spPr>
        <p:txBody>
          <a:bodyPr wrap="square" anchor="t" lIns="36000" rIns="36000" tIns="18000" bIns="18000">
            <a:spAutoFit/>
          </a:bodyPr>
          <a:lstStyle/>
          <a:p>
            <a:pPr algn="ctr"/>
            <a:r>
              <a:rPr sz="1100" b="0" i="0">
                <a:solidFill>
                  <a:srgbClr val="475569"/>
                </a:solidFill>
                <a:latin typeface="Noto Sans JP"/>
              </a:rPr>
              <a:t>水分蒸発、ゲルが発泡</a:t>
            </a:r>
          </a:p>
          <a:p>
            <a:pPr algn="ctr"/>
            <a:r>
              <a:rPr sz="1100" b="0" i="0">
                <a:solidFill>
                  <a:srgbClr val="475569"/>
                </a:solidFill>
                <a:latin typeface="Noto Sans JP"/>
              </a:rPr>
              <a:t>しながら粒子が凝集</a:t>
            </a:r>
          </a:p>
        </p:txBody>
      </p:sp>
      <p:sp>
        <p:nvSpPr>
          <p:cNvPr id="25" name="Rounded Rectangle 24"/>
          <p:cNvSpPr/>
          <p:nvPr/>
        </p:nvSpPr>
        <p:spPr>
          <a:xfrm>
            <a:off x="7343203" y="4315968"/>
            <a:ext cx="402336" cy="402336"/>
          </a:xfrm>
          <a:prstGeom prst="roundRect">
            <a:avLst>
              <a:gd name="adj" fmla="val 50000"/>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3203" y="4315968"/>
            <a:ext cx="402336" cy="402336"/>
          </a:xfrm>
          <a:prstGeom prst="rect">
            <a:avLst/>
          </a:prstGeom>
          <a:noFill/>
        </p:spPr>
        <p:txBody>
          <a:bodyPr wrap="square" anchor="ctr" lIns="36000" rIns="36000" tIns="18000" bIns="18000">
            <a:spAutoFit/>
          </a:bodyPr>
          <a:lstStyle/>
          <a:p>
            <a:pPr algn="ctr"/>
            <a:r>
              <a:rPr sz="1600" b="1" i="0">
                <a:solidFill>
                  <a:srgbClr val="FFFFFF"/>
                </a:solidFill>
                <a:latin typeface="Noto Sans JP"/>
              </a:rPr>
              <a:t>3</a:t>
            </a:r>
          </a:p>
        </p:txBody>
      </p:sp>
      <p:sp>
        <p:nvSpPr>
          <p:cNvPr id="27" name="Rectangle 26"/>
          <p:cNvSpPr/>
          <p:nvPr/>
        </p:nvSpPr>
        <p:spPr>
          <a:xfrm>
            <a:off x="8965463" y="4507992"/>
            <a:ext cx="54864" cy="18288"/>
          </a:xfrm>
          <a:prstGeom prst="rect">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59855" y="4846320"/>
            <a:ext cx="2769031" cy="274320"/>
          </a:xfrm>
          <a:prstGeom prst="rect">
            <a:avLst/>
          </a:prstGeom>
          <a:noFill/>
        </p:spPr>
        <p:txBody>
          <a:bodyPr wrap="square" anchor="t" lIns="36000" rIns="36000" tIns="18000" bIns="18000">
            <a:spAutoFit/>
          </a:bodyPr>
          <a:lstStyle/>
          <a:p>
            <a:pPr algn="ctr"/>
            <a:r>
              <a:rPr sz="1300" b="1" i="0">
                <a:solidFill>
                  <a:srgbClr val="1E293B"/>
                </a:solidFill>
                <a:latin typeface="Noto Sans JP"/>
              </a:rPr>
              <a:t>エアロゲル形成</a:t>
            </a:r>
          </a:p>
        </p:txBody>
      </p:sp>
      <p:sp>
        <p:nvSpPr>
          <p:cNvPr id="29" name="TextBox 28"/>
          <p:cNvSpPr txBox="1"/>
          <p:nvPr/>
        </p:nvSpPr>
        <p:spPr>
          <a:xfrm>
            <a:off x="6159855" y="5138928"/>
            <a:ext cx="2769031" cy="548640"/>
          </a:xfrm>
          <a:prstGeom prst="rect">
            <a:avLst/>
          </a:prstGeom>
          <a:noFill/>
        </p:spPr>
        <p:txBody>
          <a:bodyPr wrap="square" anchor="t" lIns="36000" rIns="36000" tIns="18000" bIns="18000">
            <a:spAutoFit/>
          </a:bodyPr>
          <a:lstStyle/>
          <a:p>
            <a:pPr algn="ctr"/>
            <a:r>
              <a:rPr sz="1100" b="0" i="0">
                <a:solidFill>
                  <a:srgbClr val="475569"/>
                </a:solidFill>
                <a:latin typeface="Noto Sans JP"/>
              </a:rPr>
              <a:t>シリカ粒子が焼結し</a:t>
            </a:r>
          </a:p>
          <a:p>
            <a:pPr algn="ctr"/>
            <a:r>
              <a:rPr sz="1100" b="0" i="0">
                <a:solidFill>
                  <a:srgbClr val="475569"/>
                </a:solidFill>
                <a:latin typeface="Noto Sans JP"/>
              </a:rPr>
              <a:t>多孔質断熱層を形成</a:t>
            </a:r>
          </a:p>
        </p:txBody>
      </p:sp>
      <p:sp>
        <p:nvSpPr>
          <p:cNvPr id="30" name="Rounded Rectangle 29"/>
          <p:cNvSpPr/>
          <p:nvPr/>
        </p:nvSpPr>
        <p:spPr>
          <a:xfrm>
            <a:off x="10240251" y="4315968"/>
            <a:ext cx="402336" cy="402336"/>
          </a:xfrm>
          <a:prstGeom prst="roundRect">
            <a:avLst>
              <a:gd name="adj" fmla="val 50000"/>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0251" y="4315968"/>
            <a:ext cx="402336" cy="402336"/>
          </a:xfrm>
          <a:prstGeom prst="rect">
            <a:avLst/>
          </a:prstGeom>
          <a:noFill/>
        </p:spPr>
        <p:txBody>
          <a:bodyPr wrap="square" anchor="ctr" lIns="36000" rIns="36000" tIns="18000" bIns="18000">
            <a:spAutoFit/>
          </a:bodyPr>
          <a:lstStyle/>
          <a:p>
            <a:pPr algn="ctr"/>
            <a:r>
              <a:rPr sz="1600" b="1" i="0">
                <a:solidFill>
                  <a:srgbClr val="FFFFFF"/>
                </a:solidFill>
                <a:latin typeface="Noto Sans JP"/>
              </a:rPr>
              <a:t>4</a:t>
            </a:r>
          </a:p>
        </p:txBody>
      </p:sp>
      <p:sp>
        <p:nvSpPr>
          <p:cNvPr id="32" name="TextBox 31"/>
          <p:cNvSpPr txBox="1"/>
          <p:nvPr/>
        </p:nvSpPr>
        <p:spPr>
          <a:xfrm>
            <a:off x="9056903" y="4846320"/>
            <a:ext cx="2769031" cy="274320"/>
          </a:xfrm>
          <a:prstGeom prst="rect">
            <a:avLst/>
          </a:prstGeom>
          <a:noFill/>
        </p:spPr>
        <p:txBody>
          <a:bodyPr wrap="square" anchor="t" lIns="36000" rIns="36000" tIns="18000" bIns="18000">
            <a:spAutoFit/>
          </a:bodyPr>
          <a:lstStyle/>
          <a:p>
            <a:pPr algn="ctr"/>
            <a:r>
              <a:rPr sz="1300" b="1" i="0">
                <a:solidFill>
                  <a:srgbClr val="1E293B"/>
                </a:solidFill>
                <a:latin typeface="Noto Sans JP"/>
              </a:rPr>
              <a:t>継続保護</a:t>
            </a:r>
          </a:p>
        </p:txBody>
      </p:sp>
      <p:sp>
        <p:nvSpPr>
          <p:cNvPr id="33" name="TextBox 32"/>
          <p:cNvSpPr txBox="1"/>
          <p:nvPr/>
        </p:nvSpPr>
        <p:spPr>
          <a:xfrm>
            <a:off x="9056903" y="5138928"/>
            <a:ext cx="2769031" cy="548640"/>
          </a:xfrm>
          <a:prstGeom prst="rect">
            <a:avLst/>
          </a:prstGeom>
          <a:noFill/>
        </p:spPr>
        <p:txBody>
          <a:bodyPr wrap="square" anchor="t" lIns="36000" rIns="36000" tIns="18000" bIns="18000">
            <a:spAutoFit/>
          </a:bodyPr>
          <a:lstStyle/>
          <a:p>
            <a:pPr algn="ctr"/>
            <a:r>
              <a:rPr sz="1100" b="0" i="0">
                <a:solidFill>
                  <a:srgbClr val="475569"/>
                </a:solidFill>
                <a:latin typeface="Noto Sans JP"/>
              </a:rPr>
              <a:t>超低熱伝導の断熱層が</a:t>
            </a:r>
          </a:p>
          <a:p>
            <a:pPr algn="ctr"/>
            <a:r>
              <a:rPr sz="1100" b="0" i="0">
                <a:solidFill>
                  <a:srgbClr val="475569"/>
                </a:solidFill>
                <a:latin typeface="Noto Sans JP"/>
              </a:rPr>
              <a:t>基材を継続的に守る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背景 3/4</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既存の山火事対策と、その本質的な限界</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6 / 36</a:t>
            </a:r>
          </a:p>
        </p:txBody>
      </p:sp>
      <p:sp>
        <p:nvSpPr>
          <p:cNvPr id="10" name="Rounded Rectangle 9"/>
          <p:cNvSpPr/>
          <p:nvPr/>
        </p:nvSpPr>
        <p:spPr>
          <a:xfrm>
            <a:off x="365760" y="859536"/>
            <a:ext cx="2741599" cy="5248656"/>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2741599" cy="3657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8" y="969264"/>
            <a:ext cx="2522143" cy="2514600"/>
          </a:xfrm>
          <a:prstGeom prst="roundRect">
            <a:avLst>
              <a:gd name="adj" fmla="val 3000"/>
            </a:avLst>
          </a:prstGeom>
          <a:solidFill>
            <a:srgbClr val="F5F8FC"/>
          </a:solidFill>
          <a:ln w="889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969264"/>
            <a:ext cx="2522143" cy="2514600"/>
          </a:xfrm>
          <a:prstGeom prst="rect">
            <a:avLst/>
          </a:prstGeom>
          <a:noFill/>
        </p:spPr>
        <p:txBody>
          <a:bodyPr wrap="square" anchor="ctr" lIns="36000" rIns="36000" tIns="18000" bIns="18000">
            <a:spAutoFit/>
          </a:bodyPr>
          <a:lstStyle/>
          <a:p>
            <a:pPr algn="ctr"/>
            <a:r>
              <a:rPr sz="1100" b="0" i="0">
                <a:solidFill>
                  <a:srgbClr val="AAB4C0"/>
                </a:solidFill>
                <a:latin typeface="Noto Sans JP"/>
              </a:rPr>
              <a:t>（写真）</a:t>
            </a:r>
          </a:p>
        </p:txBody>
      </p:sp>
      <p:sp>
        <p:nvSpPr>
          <p:cNvPr id="14" name="TextBox 13"/>
          <p:cNvSpPr txBox="1"/>
          <p:nvPr/>
        </p:nvSpPr>
        <p:spPr>
          <a:xfrm>
            <a:off x="457200" y="3611880"/>
            <a:ext cx="2558719" cy="310896"/>
          </a:xfrm>
          <a:prstGeom prst="rect">
            <a:avLst/>
          </a:prstGeom>
          <a:noFill/>
        </p:spPr>
        <p:txBody>
          <a:bodyPr wrap="square" anchor="t" lIns="36000" rIns="36000" tIns="18000" bIns="18000">
            <a:spAutoFit/>
          </a:bodyPr>
          <a:lstStyle/>
          <a:p>
            <a:pPr algn="ctr"/>
            <a:r>
              <a:rPr sz="1400" b="1" i="0">
                <a:solidFill>
                  <a:srgbClr val="1E293B"/>
                </a:solidFill>
                <a:latin typeface="Noto Sans JP"/>
              </a:rPr>
              <a:t>水のみ</a:t>
            </a:r>
          </a:p>
        </p:txBody>
      </p:sp>
      <p:sp>
        <p:nvSpPr>
          <p:cNvPr id="15" name="TextBox 14"/>
          <p:cNvSpPr txBox="1"/>
          <p:nvPr/>
        </p:nvSpPr>
        <p:spPr>
          <a:xfrm>
            <a:off x="457200" y="3922776"/>
            <a:ext cx="2558719" cy="237744"/>
          </a:xfrm>
          <a:prstGeom prst="rect">
            <a:avLst/>
          </a:prstGeom>
          <a:noFill/>
        </p:spPr>
        <p:txBody>
          <a:bodyPr wrap="square" anchor="t" lIns="36000" rIns="36000" tIns="18000" bIns="18000">
            <a:spAutoFit/>
          </a:bodyPr>
          <a:lstStyle/>
          <a:p>
            <a:pPr algn="ctr"/>
            <a:r>
              <a:rPr sz="1000" b="0" i="0">
                <a:solidFill>
                  <a:srgbClr val="64748B"/>
                </a:solidFill>
                <a:latin typeface="Noto Sans JP"/>
              </a:rPr>
              <a:t>H₂O</a:t>
            </a:r>
          </a:p>
        </p:txBody>
      </p:sp>
      <p:sp>
        <p:nvSpPr>
          <p:cNvPr id="16" name="TextBox 15"/>
          <p:cNvSpPr txBox="1"/>
          <p:nvPr/>
        </p:nvSpPr>
        <p:spPr>
          <a:xfrm>
            <a:off x="457200" y="4197096"/>
            <a:ext cx="2558719" cy="1837944"/>
          </a:xfrm>
          <a:prstGeom prst="rect">
            <a:avLst/>
          </a:prstGeom>
          <a:noFill/>
        </p:spPr>
        <p:txBody>
          <a:bodyPr wrap="square" anchor="t" lIns="36000" rIns="36000" tIns="18000" bIns="18000">
            <a:spAutoFit/>
          </a:bodyPr>
          <a:lstStyle/>
          <a:p>
            <a:pPr algn="ctr"/>
            <a:r>
              <a:rPr sz="1200" b="0" i="0">
                <a:solidFill>
                  <a:srgbClr val="A05656"/>
                </a:solidFill>
                <a:latin typeface="Noto Sans JP"/>
              </a:rPr>
              <a:t>蒸発・流失で</a:t>
            </a:r>
          </a:p>
          <a:p>
            <a:pPr algn="ctr"/>
            <a:r>
              <a:rPr sz="1200" b="0" i="0">
                <a:solidFill>
                  <a:srgbClr val="A05656"/>
                </a:solidFill>
                <a:latin typeface="Noto Sans JP"/>
              </a:rPr>
              <a:t>即座に効果消失</a:t>
            </a:r>
          </a:p>
        </p:txBody>
      </p:sp>
      <p:sp>
        <p:nvSpPr>
          <p:cNvPr id="17" name="Rounded Rectangle 16"/>
          <p:cNvSpPr/>
          <p:nvPr/>
        </p:nvSpPr>
        <p:spPr>
          <a:xfrm>
            <a:off x="3271951" y="859536"/>
            <a:ext cx="2741599" cy="5248656"/>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71951" y="859536"/>
            <a:ext cx="2741599" cy="3657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381679" y="969264"/>
            <a:ext cx="2522143" cy="2514600"/>
          </a:xfrm>
          <a:prstGeom prst="roundRect">
            <a:avLst>
              <a:gd name="adj" fmla="val 3000"/>
            </a:avLst>
          </a:prstGeom>
          <a:solidFill>
            <a:srgbClr val="F5F8FC"/>
          </a:solidFill>
          <a:ln w="889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1679" y="969264"/>
            <a:ext cx="2522143" cy="2514600"/>
          </a:xfrm>
          <a:prstGeom prst="rect">
            <a:avLst/>
          </a:prstGeom>
          <a:noFill/>
        </p:spPr>
        <p:txBody>
          <a:bodyPr wrap="square" anchor="ctr" lIns="36000" rIns="36000" tIns="18000" bIns="18000">
            <a:spAutoFit/>
          </a:bodyPr>
          <a:lstStyle/>
          <a:p>
            <a:pPr algn="ctr"/>
            <a:r>
              <a:rPr sz="1100" b="0" i="0">
                <a:solidFill>
                  <a:srgbClr val="AAB4C0"/>
                </a:solidFill>
                <a:latin typeface="Noto Sans JP"/>
              </a:rPr>
              <a:t>（写真）</a:t>
            </a:r>
          </a:p>
        </p:txBody>
      </p:sp>
      <p:sp>
        <p:nvSpPr>
          <p:cNvPr id="21" name="TextBox 20"/>
          <p:cNvSpPr txBox="1"/>
          <p:nvPr/>
        </p:nvSpPr>
        <p:spPr>
          <a:xfrm>
            <a:off x="3363391" y="3611880"/>
            <a:ext cx="2558719" cy="310896"/>
          </a:xfrm>
          <a:prstGeom prst="rect">
            <a:avLst/>
          </a:prstGeom>
          <a:noFill/>
        </p:spPr>
        <p:txBody>
          <a:bodyPr wrap="square" anchor="t" lIns="36000" rIns="36000" tIns="18000" bIns="18000">
            <a:spAutoFit/>
          </a:bodyPr>
          <a:lstStyle/>
          <a:p>
            <a:pPr algn="ctr"/>
            <a:r>
              <a:rPr sz="1400" b="1" i="0">
                <a:solidFill>
                  <a:srgbClr val="1E293B"/>
                </a:solidFill>
                <a:latin typeface="Noto Sans JP"/>
              </a:rPr>
              <a:t>Phos-Chek</a:t>
            </a:r>
          </a:p>
        </p:txBody>
      </p:sp>
      <p:sp>
        <p:nvSpPr>
          <p:cNvPr id="22" name="TextBox 21"/>
          <p:cNvSpPr txBox="1"/>
          <p:nvPr/>
        </p:nvSpPr>
        <p:spPr>
          <a:xfrm>
            <a:off x="3363391" y="3922776"/>
            <a:ext cx="2558719" cy="237744"/>
          </a:xfrm>
          <a:prstGeom prst="rect">
            <a:avLst/>
          </a:prstGeom>
          <a:noFill/>
        </p:spPr>
        <p:txBody>
          <a:bodyPr wrap="square" anchor="t" lIns="36000" rIns="36000" tIns="18000" bIns="18000">
            <a:spAutoFit/>
          </a:bodyPr>
          <a:lstStyle/>
          <a:p>
            <a:pPr algn="ctr"/>
            <a:r>
              <a:rPr sz="1000" b="0" i="0">
                <a:solidFill>
                  <a:srgbClr val="64748B"/>
                </a:solidFill>
                <a:latin typeface="Noto Sans JP"/>
              </a:rPr>
              <a:t>リン酸アンモニウム</a:t>
            </a:r>
          </a:p>
        </p:txBody>
      </p:sp>
      <p:sp>
        <p:nvSpPr>
          <p:cNvPr id="23" name="TextBox 22"/>
          <p:cNvSpPr txBox="1"/>
          <p:nvPr/>
        </p:nvSpPr>
        <p:spPr>
          <a:xfrm>
            <a:off x="3363391" y="4197096"/>
            <a:ext cx="2558719" cy="1837944"/>
          </a:xfrm>
          <a:prstGeom prst="rect">
            <a:avLst/>
          </a:prstGeom>
          <a:noFill/>
        </p:spPr>
        <p:txBody>
          <a:bodyPr wrap="square" anchor="t" lIns="36000" rIns="36000" tIns="18000" bIns="18000">
            <a:spAutoFit/>
          </a:bodyPr>
          <a:lstStyle/>
          <a:p>
            <a:pPr algn="ctr"/>
            <a:r>
              <a:rPr sz="1200" b="0" i="0">
                <a:solidFill>
                  <a:srgbClr val="A05656"/>
                </a:solidFill>
                <a:latin typeface="Noto Sans JP"/>
              </a:rPr>
              <a:t>土壌・水系への</a:t>
            </a:r>
          </a:p>
          <a:p>
            <a:pPr algn="ctr"/>
            <a:r>
              <a:rPr sz="1200" b="0" i="0">
                <a:solidFill>
                  <a:srgbClr val="A05656"/>
                </a:solidFill>
                <a:latin typeface="Noto Sans JP"/>
              </a:rPr>
              <a:t>化学汚染が残留</a:t>
            </a:r>
          </a:p>
        </p:txBody>
      </p:sp>
      <p:sp>
        <p:nvSpPr>
          <p:cNvPr id="24" name="Rounded Rectangle 23"/>
          <p:cNvSpPr/>
          <p:nvPr/>
        </p:nvSpPr>
        <p:spPr>
          <a:xfrm>
            <a:off x="6178143" y="859536"/>
            <a:ext cx="2741599" cy="5248656"/>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8143" y="859536"/>
            <a:ext cx="2741599" cy="3657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87871" y="969264"/>
            <a:ext cx="2522143" cy="2514600"/>
          </a:xfrm>
          <a:prstGeom prst="roundRect">
            <a:avLst>
              <a:gd name="adj" fmla="val 3000"/>
            </a:avLst>
          </a:prstGeom>
          <a:solidFill>
            <a:srgbClr val="F5F8FC"/>
          </a:solidFill>
          <a:ln w="889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7871" y="969264"/>
            <a:ext cx="2522143" cy="2514600"/>
          </a:xfrm>
          <a:prstGeom prst="rect">
            <a:avLst/>
          </a:prstGeom>
          <a:noFill/>
        </p:spPr>
        <p:txBody>
          <a:bodyPr wrap="square" anchor="ctr" lIns="36000" rIns="36000" tIns="18000" bIns="18000">
            <a:spAutoFit/>
          </a:bodyPr>
          <a:lstStyle/>
          <a:p>
            <a:pPr algn="ctr"/>
            <a:r>
              <a:rPr sz="1100" b="0" i="0">
                <a:solidFill>
                  <a:srgbClr val="AAB4C0"/>
                </a:solidFill>
                <a:latin typeface="Noto Sans JP"/>
              </a:rPr>
              <a:t>（写真）</a:t>
            </a:r>
          </a:p>
        </p:txBody>
      </p:sp>
      <p:sp>
        <p:nvSpPr>
          <p:cNvPr id="28" name="TextBox 27"/>
          <p:cNvSpPr txBox="1"/>
          <p:nvPr/>
        </p:nvSpPr>
        <p:spPr>
          <a:xfrm>
            <a:off x="6269583" y="3611880"/>
            <a:ext cx="2558719" cy="310896"/>
          </a:xfrm>
          <a:prstGeom prst="rect">
            <a:avLst/>
          </a:prstGeom>
          <a:noFill/>
        </p:spPr>
        <p:txBody>
          <a:bodyPr wrap="square" anchor="t" lIns="36000" rIns="36000" tIns="18000" bIns="18000">
            <a:spAutoFit/>
          </a:bodyPr>
          <a:lstStyle/>
          <a:p>
            <a:pPr algn="ctr"/>
            <a:r>
              <a:rPr sz="1400" b="1" i="0">
                <a:solidFill>
                  <a:srgbClr val="1E293B"/>
                </a:solidFill>
                <a:latin typeface="Noto Sans JP"/>
              </a:rPr>
              <a:t>AquaGel-K</a:t>
            </a:r>
          </a:p>
        </p:txBody>
      </p:sp>
      <p:sp>
        <p:nvSpPr>
          <p:cNvPr id="29" name="TextBox 28"/>
          <p:cNvSpPr txBox="1"/>
          <p:nvPr/>
        </p:nvSpPr>
        <p:spPr>
          <a:xfrm>
            <a:off x="6269583" y="3922776"/>
            <a:ext cx="2558719" cy="237744"/>
          </a:xfrm>
          <a:prstGeom prst="rect">
            <a:avLst/>
          </a:prstGeom>
          <a:noFill/>
        </p:spPr>
        <p:txBody>
          <a:bodyPr wrap="square" anchor="t" lIns="36000" rIns="36000" tIns="18000" bIns="18000">
            <a:spAutoFit/>
          </a:bodyPr>
          <a:lstStyle/>
          <a:p>
            <a:pPr algn="ctr"/>
            <a:r>
              <a:rPr sz="1000" b="0" i="0">
                <a:solidFill>
                  <a:srgbClr val="64748B"/>
                </a:solidFill>
                <a:latin typeface="Noto Sans JP"/>
              </a:rPr>
              <a:t>架橋ポリアクリレート</a:t>
            </a:r>
          </a:p>
        </p:txBody>
      </p:sp>
      <p:sp>
        <p:nvSpPr>
          <p:cNvPr id="30" name="TextBox 29"/>
          <p:cNvSpPr txBox="1"/>
          <p:nvPr/>
        </p:nvSpPr>
        <p:spPr>
          <a:xfrm>
            <a:off x="6269583" y="4197096"/>
            <a:ext cx="2558719" cy="1837944"/>
          </a:xfrm>
          <a:prstGeom prst="rect">
            <a:avLst/>
          </a:prstGeom>
          <a:noFill/>
        </p:spPr>
        <p:txBody>
          <a:bodyPr wrap="square" anchor="t" lIns="36000" rIns="36000" tIns="18000" bIns="18000">
            <a:spAutoFit/>
          </a:bodyPr>
          <a:lstStyle/>
          <a:p>
            <a:pPr algn="ctr"/>
            <a:r>
              <a:rPr sz="1200" b="0" i="0">
                <a:solidFill>
                  <a:srgbClr val="A05656"/>
                </a:solidFill>
                <a:latin typeface="Noto Sans JP"/>
              </a:rPr>
              <a:t>水蒸発と同時に</a:t>
            </a:r>
          </a:p>
          <a:p>
            <a:pPr algn="ctr"/>
            <a:r>
              <a:rPr sz="1200" b="0" i="0">
                <a:solidFill>
                  <a:srgbClr val="A05656"/>
                </a:solidFill>
                <a:latin typeface="Noto Sans JP"/>
              </a:rPr>
              <a:t>保護機能が消失</a:t>
            </a:r>
          </a:p>
        </p:txBody>
      </p:sp>
      <p:sp>
        <p:nvSpPr>
          <p:cNvPr id="31" name="Rounded Rectangle 30"/>
          <p:cNvSpPr/>
          <p:nvPr/>
        </p:nvSpPr>
        <p:spPr>
          <a:xfrm>
            <a:off x="9084335" y="859536"/>
            <a:ext cx="2741599" cy="5248656"/>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84335" y="859536"/>
            <a:ext cx="2741599" cy="36576"/>
          </a:xfrm>
          <a:prstGeom prst="rect">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94063" y="969264"/>
            <a:ext cx="2522143" cy="2514600"/>
          </a:xfrm>
          <a:prstGeom prst="roundRect">
            <a:avLst>
              <a:gd name="adj" fmla="val 3000"/>
            </a:avLst>
          </a:prstGeom>
          <a:solidFill>
            <a:srgbClr val="2A3C54"/>
          </a:solidFill>
          <a:ln w="8890">
            <a:solidFill>
              <a:srgbClr val="445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94063" y="969264"/>
            <a:ext cx="2522143" cy="2514600"/>
          </a:xfrm>
          <a:prstGeom prst="rect">
            <a:avLst/>
          </a:prstGeom>
          <a:noFill/>
        </p:spPr>
        <p:txBody>
          <a:bodyPr wrap="square" anchor="ctr" lIns="36000" rIns="36000" tIns="18000" bIns="18000">
            <a:spAutoFit/>
          </a:bodyPr>
          <a:lstStyle/>
          <a:p>
            <a:pPr algn="ctr"/>
            <a:r>
              <a:rPr sz="1100" b="0" i="0">
                <a:solidFill>
                  <a:srgbClr val="88A0B8"/>
                </a:solidFill>
                <a:latin typeface="Noto Sans JP"/>
              </a:rPr>
              <a:t>（写真）</a:t>
            </a:r>
          </a:p>
        </p:txBody>
      </p:sp>
      <p:sp>
        <p:nvSpPr>
          <p:cNvPr id="35" name="TextBox 34"/>
          <p:cNvSpPr txBox="1"/>
          <p:nvPr/>
        </p:nvSpPr>
        <p:spPr>
          <a:xfrm>
            <a:off x="9175775" y="3611880"/>
            <a:ext cx="2558719" cy="310896"/>
          </a:xfrm>
          <a:prstGeom prst="rect">
            <a:avLst/>
          </a:prstGeom>
          <a:noFill/>
        </p:spPr>
        <p:txBody>
          <a:bodyPr wrap="square" anchor="t" lIns="36000" rIns="36000" tIns="18000" bIns="18000">
            <a:spAutoFit/>
          </a:bodyPr>
          <a:lstStyle/>
          <a:p>
            <a:pPr algn="ctr"/>
            <a:r>
              <a:rPr sz="1400" b="1" i="0">
                <a:solidFill>
                  <a:srgbClr val="FFFFFF"/>
                </a:solidFill>
                <a:latin typeface="Noto Sans JP"/>
              </a:rPr>
              <a:t>WEG（本研究）</a:t>
            </a:r>
          </a:p>
        </p:txBody>
      </p:sp>
      <p:sp>
        <p:nvSpPr>
          <p:cNvPr id="36" name="TextBox 35"/>
          <p:cNvSpPr txBox="1"/>
          <p:nvPr/>
        </p:nvSpPr>
        <p:spPr>
          <a:xfrm>
            <a:off x="9175775" y="3922776"/>
            <a:ext cx="2558719" cy="237744"/>
          </a:xfrm>
          <a:prstGeom prst="rect">
            <a:avLst/>
          </a:prstGeom>
          <a:noFill/>
        </p:spPr>
        <p:txBody>
          <a:bodyPr wrap="square" anchor="t" lIns="36000" rIns="36000" tIns="18000" bIns="18000">
            <a:spAutoFit/>
          </a:bodyPr>
          <a:lstStyle/>
          <a:p>
            <a:pPr algn="ctr"/>
            <a:r>
              <a:rPr sz="1000" b="0" i="0">
                <a:solidFill>
                  <a:srgbClr val="A0B8D0"/>
                </a:solidFill>
                <a:latin typeface="Noto Sans JP"/>
              </a:rPr>
              <a:t>セルロース＋シリカ</a:t>
            </a:r>
          </a:p>
        </p:txBody>
      </p:sp>
      <p:sp>
        <p:nvSpPr>
          <p:cNvPr id="37" name="TextBox 36"/>
          <p:cNvSpPr txBox="1"/>
          <p:nvPr/>
        </p:nvSpPr>
        <p:spPr>
          <a:xfrm>
            <a:off x="9175775" y="4197096"/>
            <a:ext cx="2558719" cy="1837944"/>
          </a:xfrm>
          <a:prstGeom prst="rect">
            <a:avLst/>
          </a:prstGeom>
          <a:noFill/>
        </p:spPr>
        <p:txBody>
          <a:bodyPr wrap="square" anchor="t" lIns="36000" rIns="36000" tIns="18000" bIns="18000">
            <a:spAutoFit/>
          </a:bodyPr>
          <a:lstStyle/>
          <a:p>
            <a:pPr algn="ctr"/>
            <a:r>
              <a:rPr sz="1200" b="1" i="0">
                <a:solidFill>
                  <a:srgbClr val="5B8C5A"/>
                </a:solidFill>
                <a:latin typeface="Noto Sans JP"/>
              </a:rPr>
              <a:t>水蒸発後も</a:t>
            </a:r>
          </a:p>
          <a:p>
            <a:pPr algn="ctr"/>
            <a:r>
              <a:rPr sz="1200" b="1" i="0">
                <a:solidFill>
                  <a:srgbClr val="5B8C5A"/>
                </a:solidFill>
                <a:latin typeface="Noto Sans JP"/>
              </a:rPr>
              <a:t>エアロゲル層が継続保護</a:t>
            </a:r>
          </a:p>
        </p:txBody>
      </p:sp>
      <p:sp>
        <p:nvSpPr>
          <p:cNvPr id="38" name="Rectangle 37"/>
          <p:cNvSpPr/>
          <p:nvPr/>
        </p:nvSpPr>
        <p:spPr>
          <a:xfrm>
            <a:off x="365760" y="6236208"/>
            <a:ext cx="1146017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345936"/>
            <a:ext cx="11460175" cy="329184"/>
          </a:xfrm>
          <a:prstGeom prst="rect">
            <a:avLst/>
          </a:prstGeom>
          <a:noFill/>
        </p:spPr>
        <p:txBody>
          <a:bodyPr wrap="square" anchor="t" lIns="36000" rIns="36000" tIns="18000" bIns="18000">
            <a:spAutoFit/>
          </a:bodyPr>
          <a:lstStyle/>
          <a:p>
            <a:pPr algn="ctr"/>
            <a:r>
              <a:rPr sz="1300" b="1" i="0">
                <a:solidFill>
                  <a:srgbClr val="1E293B"/>
                </a:solidFill>
                <a:latin typeface="Noto Sans JP"/>
              </a:rPr>
              <a:t>課題：既存WEGは「水のキャリア」止まり ─ 水分喪失と同時に保護機能が失われる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背景 4/4</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本研究の核心：熱活性化エアロゲル形成</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7 / 36</a:t>
            </a:r>
          </a:p>
        </p:txBody>
      </p:sp>
      <p:sp>
        <p:nvSpPr>
          <p:cNvPr id="10" name="Rectangle 9"/>
          <p:cNvSpPr/>
          <p:nvPr/>
        </p:nvSpPr>
        <p:spPr>
          <a:xfrm>
            <a:off x="365760" y="859536"/>
            <a:ext cx="45720" cy="1389888"/>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859536"/>
            <a:ext cx="4080546" cy="475488"/>
          </a:xfrm>
          <a:prstGeom prst="rect">
            <a:avLst/>
          </a:prstGeom>
          <a:noFill/>
        </p:spPr>
        <p:txBody>
          <a:bodyPr wrap="square" anchor="t" lIns="36000" rIns="36000" tIns="18000" bIns="18000">
            <a:spAutoFit/>
          </a:bodyPr>
          <a:lstStyle/>
          <a:p>
            <a:pPr algn="l"/>
            <a:r>
              <a:rPr sz="2200" b="1" i="1">
                <a:solidFill>
                  <a:srgbClr val="1E293B"/>
                </a:solidFill>
                <a:latin typeface="Noto Sans JP"/>
              </a:rPr>
              <a:t>Heat-Activated</a:t>
            </a:r>
          </a:p>
        </p:txBody>
      </p:sp>
      <p:sp>
        <p:nvSpPr>
          <p:cNvPr id="12" name="TextBox 11"/>
          <p:cNvSpPr txBox="1"/>
          <p:nvPr/>
        </p:nvSpPr>
        <p:spPr>
          <a:xfrm>
            <a:off x="530352" y="1316736"/>
            <a:ext cx="4080546" cy="475488"/>
          </a:xfrm>
          <a:prstGeom prst="rect">
            <a:avLst/>
          </a:prstGeom>
          <a:noFill/>
        </p:spPr>
        <p:txBody>
          <a:bodyPr wrap="square" anchor="t" lIns="36000" rIns="36000" tIns="18000" bIns="18000">
            <a:spAutoFit/>
          </a:bodyPr>
          <a:lstStyle/>
          <a:p>
            <a:pPr algn="l"/>
            <a:r>
              <a:rPr sz="2200" b="1" i="1">
                <a:solidFill>
                  <a:srgbClr val="3B5174"/>
                </a:solidFill>
                <a:latin typeface="Noto Sans JP"/>
              </a:rPr>
              <a:t>Aerogel Formation</a:t>
            </a:r>
          </a:p>
        </p:txBody>
      </p:sp>
      <p:sp>
        <p:nvSpPr>
          <p:cNvPr id="13" name="TextBox 12"/>
          <p:cNvSpPr txBox="1"/>
          <p:nvPr/>
        </p:nvSpPr>
        <p:spPr>
          <a:xfrm>
            <a:off x="530352" y="1810512"/>
            <a:ext cx="4080546" cy="310896"/>
          </a:xfrm>
          <a:prstGeom prst="rect">
            <a:avLst/>
          </a:prstGeom>
          <a:noFill/>
        </p:spPr>
        <p:txBody>
          <a:bodyPr wrap="square" anchor="t" lIns="36000" rIns="36000" tIns="18000" bIns="18000">
            <a:spAutoFit/>
          </a:bodyPr>
          <a:lstStyle/>
          <a:p>
            <a:pPr algn="l"/>
            <a:r>
              <a:rPr sz="1100" b="0" i="0">
                <a:solidFill>
                  <a:srgbClr val="475569"/>
                </a:solidFill>
                <a:latin typeface="Noto Sans JP"/>
              </a:rPr>
              <a:t>火炎接触をトリガーに、ゲル自体が断熱材へ変態</a:t>
            </a:r>
          </a:p>
        </p:txBody>
      </p:sp>
      <p:sp>
        <p:nvSpPr>
          <p:cNvPr id="14" name="Rectangle 13"/>
          <p:cNvSpPr/>
          <p:nvPr/>
        </p:nvSpPr>
        <p:spPr>
          <a:xfrm>
            <a:off x="530352" y="2267712"/>
            <a:ext cx="3608367"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450592"/>
            <a:ext cx="402336" cy="274320"/>
          </a:xfrm>
          <a:prstGeom prst="rect">
            <a:avLst/>
          </a:prstGeom>
          <a:noFill/>
        </p:spPr>
        <p:txBody>
          <a:bodyPr wrap="square" anchor="t" lIns="36000" rIns="36000" tIns="18000" bIns="18000">
            <a:spAutoFit/>
          </a:bodyPr>
          <a:lstStyle/>
          <a:p>
            <a:pPr algn="l"/>
            <a:r>
              <a:rPr sz="1100" b="1" i="0">
                <a:solidFill>
                  <a:srgbClr val="3B5174"/>
                </a:solidFill>
                <a:latin typeface="Noto Sans JP"/>
              </a:rPr>
              <a:t>01</a:t>
            </a:r>
          </a:p>
        </p:txBody>
      </p:sp>
      <p:sp>
        <p:nvSpPr>
          <p:cNvPr id="16" name="TextBox 15"/>
          <p:cNvSpPr txBox="1"/>
          <p:nvPr/>
        </p:nvSpPr>
        <p:spPr>
          <a:xfrm>
            <a:off x="786384" y="2450592"/>
            <a:ext cx="3824514" cy="256032"/>
          </a:xfrm>
          <a:prstGeom prst="rect">
            <a:avLst/>
          </a:prstGeom>
          <a:noFill/>
        </p:spPr>
        <p:txBody>
          <a:bodyPr wrap="square" anchor="t" lIns="36000" rIns="36000" tIns="18000" bIns="18000">
            <a:spAutoFit/>
          </a:bodyPr>
          <a:lstStyle/>
          <a:p>
            <a:pPr algn="l"/>
            <a:r>
              <a:rPr sz="1300" b="1" i="0">
                <a:solidFill>
                  <a:srgbClr val="1E293B"/>
                </a:solidFill>
                <a:latin typeface="Noto Sans JP"/>
              </a:rPr>
              <a:t>水分依存からの脱却</a:t>
            </a:r>
          </a:p>
        </p:txBody>
      </p:sp>
      <p:sp>
        <p:nvSpPr>
          <p:cNvPr id="17" name="TextBox 16"/>
          <p:cNvSpPr txBox="1"/>
          <p:nvPr/>
        </p:nvSpPr>
        <p:spPr>
          <a:xfrm>
            <a:off x="786384" y="2706624"/>
            <a:ext cx="3824514"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熱で活性化する固体保護層を形成</a:t>
            </a:r>
          </a:p>
        </p:txBody>
      </p:sp>
      <p:sp>
        <p:nvSpPr>
          <p:cNvPr id="18" name="TextBox 17"/>
          <p:cNvSpPr txBox="1"/>
          <p:nvPr/>
        </p:nvSpPr>
        <p:spPr>
          <a:xfrm>
            <a:off x="365760" y="3136392"/>
            <a:ext cx="402336" cy="274320"/>
          </a:xfrm>
          <a:prstGeom prst="rect">
            <a:avLst/>
          </a:prstGeom>
          <a:noFill/>
        </p:spPr>
        <p:txBody>
          <a:bodyPr wrap="square" anchor="t" lIns="36000" rIns="36000" tIns="18000" bIns="18000">
            <a:spAutoFit/>
          </a:bodyPr>
          <a:lstStyle/>
          <a:p>
            <a:pPr algn="l"/>
            <a:r>
              <a:rPr sz="1100" b="1" i="0">
                <a:solidFill>
                  <a:srgbClr val="3B5174"/>
                </a:solidFill>
                <a:latin typeface="Noto Sans JP"/>
              </a:rPr>
              <a:t>02</a:t>
            </a:r>
          </a:p>
        </p:txBody>
      </p:sp>
      <p:sp>
        <p:nvSpPr>
          <p:cNvPr id="19" name="TextBox 18"/>
          <p:cNvSpPr txBox="1"/>
          <p:nvPr/>
        </p:nvSpPr>
        <p:spPr>
          <a:xfrm>
            <a:off x="786384" y="3136392"/>
            <a:ext cx="3824514" cy="256032"/>
          </a:xfrm>
          <a:prstGeom prst="rect">
            <a:avLst/>
          </a:prstGeom>
          <a:noFill/>
        </p:spPr>
        <p:txBody>
          <a:bodyPr wrap="square" anchor="t" lIns="36000" rIns="36000" tIns="18000" bIns="18000">
            <a:spAutoFit/>
          </a:bodyPr>
          <a:lstStyle/>
          <a:p>
            <a:pPr algn="l"/>
            <a:r>
              <a:rPr sz="1300" b="1" i="0">
                <a:solidFill>
                  <a:srgbClr val="1E293B"/>
                </a:solidFill>
                <a:latin typeface="Noto Sans JP"/>
              </a:rPr>
              <a:t>持続可能な素材</a:t>
            </a:r>
          </a:p>
        </p:txBody>
      </p:sp>
      <p:sp>
        <p:nvSpPr>
          <p:cNvPr id="20" name="TextBox 19"/>
          <p:cNvSpPr txBox="1"/>
          <p:nvPr/>
        </p:nvSpPr>
        <p:spPr>
          <a:xfrm>
            <a:off x="786384" y="3392424"/>
            <a:ext cx="3824514"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天然由来・食品添加物グレード素材</a:t>
            </a:r>
          </a:p>
        </p:txBody>
      </p:sp>
      <p:sp>
        <p:nvSpPr>
          <p:cNvPr id="21" name="TextBox 20"/>
          <p:cNvSpPr txBox="1"/>
          <p:nvPr/>
        </p:nvSpPr>
        <p:spPr>
          <a:xfrm>
            <a:off x="365760" y="3822192"/>
            <a:ext cx="402336" cy="274320"/>
          </a:xfrm>
          <a:prstGeom prst="rect">
            <a:avLst/>
          </a:prstGeom>
          <a:noFill/>
        </p:spPr>
        <p:txBody>
          <a:bodyPr wrap="square" anchor="t" lIns="36000" rIns="36000" tIns="18000" bIns="18000">
            <a:spAutoFit/>
          </a:bodyPr>
          <a:lstStyle/>
          <a:p>
            <a:pPr algn="l"/>
            <a:r>
              <a:rPr sz="1100" b="1" i="0">
                <a:solidFill>
                  <a:srgbClr val="3B5174"/>
                </a:solidFill>
                <a:latin typeface="Noto Sans JP"/>
              </a:rPr>
              <a:t>03</a:t>
            </a:r>
          </a:p>
        </p:txBody>
      </p:sp>
      <p:sp>
        <p:nvSpPr>
          <p:cNvPr id="22" name="TextBox 21"/>
          <p:cNvSpPr txBox="1"/>
          <p:nvPr/>
        </p:nvSpPr>
        <p:spPr>
          <a:xfrm>
            <a:off x="786384" y="3822192"/>
            <a:ext cx="3824514" cy="256032"/>
          </a:xfrm>
          <a:prstGeom prst="rect">
            <a:avLst/>
          </a:prstGeom>
          <a:noFill/>
        </p:spPr>
        <p:txBody>
          <a:bodyPr wrap="square" anchor="t" lIns="36000" rIns="36000" tIns="18000" bIns="18000">
            <a:spAutoFit/>
          </a:bodyPr>
          <a:lstStyle/>
          <a:p>
            <a:pPr algn="l"/>
            <a:r>
              <a:rPr sz="1300" b="1" i="0">
                <a:solidFill>
                  <a:srgbClr val="1E293B"/>
                </a:solidFill>
                <a:latin typeface="Noto Sans JP"/>
              </a:rPr>
              <a:t>既存インフラと互換</a:t>
            </a:r>
          </a:p>
        </p:txBody>
      </p:sp>
      <p:sp>
        <p:nvSpPr>
          <p:cNvPr id="23" name="TextBox 22"/>
          <p:cNvSpPr txBox="1"/>
          <p:nvPr/>
        </p:nvSpPr>
        <p:spPr>
          <a:xfrm>
            <a:off x="786384" y="4078224"/>
            <a:ext cx="3824514"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噴霧可能な流体として散布可能</a:t>
            </a:r>
          </a:p>
        </p:txBody>
      </p:sp>
      <p:sp>
        <p:nvSpPr>
          <p:cNvPr id="24" name="Rounded Rectangle 23"/>
          <p:cNvSpPr/>
          <p:nvPr/>
        </p:nvSpPr>
        <p:spPr>
          <a:xfrm>
            <a:off x="4793778" y="859536"/>
            <a:ext cx="7032156" cy="57607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03506"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03506"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概念図</a:t>
            </a:r>
          </a:p>
        </p:txBody>
      </p:sp>
      <p:sp>
        <p:nvSpPr>
          <p:cNvPr id="27" name="TextBox 26"/>
          <p:cNvSpPr txBox="1"/>
          <p:nvPr/>
        </p:nvSpPr>
        <p:spPr>
          <a:xfrm>
            <a:off x="4793778" y="859536"/>
            <a:ext cx="7032156" cy="57607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28" name="TextBox 27"/>
          <p:cNvSpPr txBox="1"/>
          <p:nvPr/>
        </p:nvSpPr>
        <p:spPr>
          <a:xfrm>
            <a:off x="4793778" y="6656832"/>
            <a:ext cx="7032156"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加熱トリガーでゲルが多孔質エアロゲル断熱層へ変態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08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62495" y="457200"/>
            <a:ext cx="4572000" cy="6400800"/>
          </a:xfrm>
          <a:prstGeom prst="rect">
            <a:avLst/>
          </a:prstGeom>
          <a:noFill/>
        </p:spPr>
        <p:txBody>
          <a:bodyPr wrap="square" anchor="b" lIns="36000" rIns="36000" tIns="18000" bIns="18000">
            <a:spAutoFit/>
          </a:bodyPr>
          <a:lstStyle/>
          <a:p>
            <a:pPr algn="r"/>
            <a:r>
              <a:rPr sz="24000" b="1" i="0">
                <a:solidFill>
                  <a:srgbClr val="243044"/>
                </a:solidFill>
                <a:latin typeface="Noto Sans JP"/>
              </a:rPr>
              <a:t>02</a:t>
            </a:r>
          </a:p>
        </p:txBody>
      </p:sp>
      <p:sp>
        <p:nvSpPr>
          <p:cNvPr id="5" name="TextBox 4"/>
          <p:cNvSpPr txBox="1"/>
          <p:nvPr/>
        </p:nvSpPr>
        <p:spPr>
          <a:xfrm>
            <a:off x="914400" y="1554480"/>
            <a:ext cx="9144000" cy="365760"/>
          </a:xfrm>
          <a:prstGeom prst="rect">
            <a:avLst/>
          </a:prstGeom>
          <a:noFill/>
        </p:spPr>
        <p:txBody>
          <a:bodyPr wrap="square" anchor="t" lIns="36000" rIns="36000" tIns="18000" bIns="18000">
            <a:spAutoFit/>
          </a:bodyPr>
          <a:lstStyle/>
          <a:p>
            <a:pPr algn="l"/>
            <a:r>
              <a:rPr sz="1300" b="1" i="0">
                <a:solidFill>
                  <a:srgbClr val="88A4C0"/>
                </a:solidFill>
                <a:latin typeface="Noto Sans JP"/>
              </a:rPr>
              <a:t>Part 2</a:t>
            </a:r>
          </a:p>
        </p:txBody>
      </p:sp>
      <p:sp>
        <p:nvSpPr>
          <p:cNvPr id="6" name="TextBox 5"/>
          <p:cNvSpPr txBox="1"/>
          <p:nvPr/>
        </p:nvSpPr>
        <p:spPr>
          <a:xfrm>
            <a:off x="914400" y="2011680"/>
            <a:ext cx="9144000" cy="1280160"/>
          </a:xfrm>
          <a:prstGeom prst="rect">
            <a:avLst/>
          </a:prstGeom>
          <a:noFill/>
        </p:spPr>
        <p:txBody>
          <a:bodyPr wrap="square" anchor="t" lIns="36000" rIns="36000" tIns="18000" bIns="18000">
            <a:spAutoFit/>
          </a:bodyPr>
          <a:lstStyle/>
          <a:p>
            <a:pPr algn="l"/>
            <a:r>
              <a:rPr sz="5200" b="1" i="0">
                <a:solidFill>
                  <a:srgbClr val="FFFFFF"/>
                </a:solidFill>
                <a:latin typeface="Noto Sans JP"/>
              </a:rPr>
              <a:t>材料・実験方法</a:t>
            </a:r>
          </a:p>
        </p:txBody>
      </p:sp>
      <p:sp>
        <p:nvSpPr>
          <p:cNvPr id="7" name="TextBox 6"/>
          <p:cNvSpPr txBox="1"/>
          <p:nvPr/>
        </p:nvSpPr>
        <p:spPr>
          <a:xfrm>
            <a:off x="914400" y="3383280"/>
            <a:ext cx="9144000" cy="914400"/>
          </a:xfrm>
          <a:prstGeom prst="rect">
            <a:avLst/>
          </a:prstGeom>
          <a:noFill/>
        </p:spPr>
        <p:txBody>
          <a:bodyPr wrap="square" anchor="t" lIns="36000" rIns="36000" tIns="18000" bIns="18000">
            <a:spAutoFit/>
          </a:bodyPr>
          <a:lstStyle/>
          <a:p>
            <a:pPr algn="l"/>
            <a:r>
              <a:rPr sz="1700" b="0" i="0">
                <a:solidFill>
                  <a:srgbClr val="9CB4CC"/>
                </a:solidFill>
                <a:latin typeface="Noto Sans JP"/>
              </a:rPr>
              <a:t>セルロース系ポリマーとコロイダルシリカの組み合わせによる新規ゲル設計</a:t>
            </a:r>
          </a:p>
        </p:txBody>
      </p:sp>
      <p:sp>
        <p:nvSpPr>
          <p:cNvPr id="8" name="Rounded Rectangle 7"/>
          <p:cNvSpPr/>
          <p:nvPr/>
        </p:nvSpPr>
        <p:spPr>
          <a:xfrm>
            <a:off x="914400"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ポリマー成分</a:t>
            </a:r>
          </a:p>
        </p:txBody>
      </p:sp>
      <p:sp>
        <p:nvSpPr>
          <p:cNvPr id="10" name="Rounded Rectangle 9"/>
          <p:cNvSpPr/>
          <p:nvPr/>
        </p:nvSpPr>
        <p:spPr>
          <a:xfrm>
            <a:off x="2523744" y="4572000"/>
            <a:ext cx="2066543"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23744" y="4572000"/>
            <a:ext cx="2066543"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シリカ粒子・界面活性剤</a:t>
            </a:r>
          </a:p>
        </p:txBody>
      </p:sp>
      <p:sp>
        <p:nvSpPr>
          <p:cNvPr id="12" name="Rounded Rectangle 11"/>
          <p:cNvSpPr/>
          <p:nvPr/>
        </p:nvSpPr>
        <p:spPr>
          <a:xfrm>
            <a:off x="4736591" y="4572000"/>
            <a:ext cx="1481328"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1" y="4572000"/>
            <a:ext cx="1481328"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配合系（5種）</a:t>
            </a:r>
          </a:p>
        </p:txBody>
      </p:sp>
      <p:sp>
        <p:nvSpPr>
          <p:cNvPr id="14" name="Rounded Rectangle 13"/>
          <p:cNvSpPr/>
          <p:nvPr/>
        </p:nvSpPr>
        <p:spPr>
          <a:xfrm>
            <a:off x="6364223"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3"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評価手法</a:t>
            </a:r>
          </a:p>
        </p:txBody>
      </p:sp>
      <p:sp>
        <p:nvSpPr>
          <p:cNvPr id="16" name="TextBox 15"/>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667788"/>
                </a:solidFill>
                <a:latin typeface="Noto Sans JP"/>
              </a:rPr>
              <a:t>8 /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材料 1/6</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使用したセルロース系ポリマー</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9 / 36</a:t>
            </a:r>
          </a:p>
        </p:txBody>
      </p:sp>
      <p:sp>
        <p:nvSpPr>
          <p:cNvPr id="10" name="TextBox 9"/>
          <p:cNvSpPr txBox="1"/>
          <p:nvPr/>
        </p:nvSpPr>
        <p:spPr>
          <a:xfrm>
            <a:off x="365760" y="859536"/>
            <a:ext cx="822960" cy="1920240"/>
          </a:xfrm>
          <a:prstGeom prst="rect">
            <a:avLst/>
          </a:prstGeom>
          <a:noFill/>
        </p:spPr>
        <p:txBody>
          <a:bodyPr wrap="square" anchor="ctr" lIns="36000" rIns="36000" tIns="18000" bIns="18000">
            <a:spAutoFit/>
          </a:bodyPr>
          <a:lstStyle/>
          <a:p>
            <a:pPr algn="l"/>
            <a:r>
              <a:rPr sz="5400" b="1" i="0">
                <a:solidFill>
                  <a:srgbClr val="E2E8F0"/>
                </a:solidFill>
                <a:latin typeface="Noto Sans JP"/>
              </a:rPr>
              <a:t>A</a:t>
            </a:r>
          </a:p>
        </p:txBody>
      </p:sp>
      <p:sp>
        <p:nvSpPr>
          <p:cNvPr id="11" name="TextBox 10"/>
          <p:cNvSpPr txBox="1"/>
          <p:nvPr/>
        </p:nvSpPr>
        <p:spPr>
          <a:xfrm>
            <a:off x="1234440" y="1060704"/>
            <a:ext cx="5324688" cy="411480"/>
          </a:xfrm>
          <a:prstGeom prst="rect">
            <a:avLst/>
          </a:prstGeom>
          <a:noFill/>
        </p:spPr>
        <p:txBody>
          <a:bodyPr wrap="square" anchor="t" lIns="36000" rIns="36000" tIns="18000" bIns="18000">
            <a:spAutoFit/>
          </a:bodyPr>
          <a:lstStyle/>
          <a:p>
            <a:pPr algn="l"/>
            <a:r>
              <a:rPr sz="2400" b="1" i="0">
                <a:solidFill>
                  <a:srgbClr val="1E293B"/>
                </a:solidFill>
                <a:latin typeface="Noto Sans JP"/>
              </a:rPr>
              <a:t>HEC</a:t>
            </a:r>
          </a:p>
        </p:txBody>
      </p:sp>
      <p:sp>
        <p:nvSpPr>
          <p:cNvPr id="12" name="TextBox 11"/>
          <p:cNvSpPr txBox="1"/>
          <p:nvPr/>
        </p:nvSpPr>
        <p:spPr>
          <a:xfrm>
            <a:off x="1234440" y="1499616"/>
            <a:ext cx="5324688"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Hydroxyethyl cellulose</a:t>
            </a:r>
          </a:p>
        </p:txBody>
      </p:sp>
      <p:sp>
        <p:nvSpPr>
          <p:cNvPr id="13" name="TextBox 12"/>
          <p:cNvSpPr txBox="1"/>
          <p:nvPr/>
        </p:nvSpPr>
        <p:spPr>
          <a:xfrm>
            <a:off x="1234440" y="1773936"/>
            <a:ext cx="5324688" cy="310896"/>
          </a:xfrm>
          <a:prstGeom prst="rect">
            <a:avLst/>
          </a:prstGeom>
          <a:noFill/>
        </p:spPr>
        <p:txBody>
          <a:bodyPr wrap="square" anchor="t" lIns="36000" rIns="36000" tIns="18000" bIns="18000">
            <a:spAutoFit/>
          </a:bodyPr>
          <a:lstStyle/>
          <a:p>
            <a:pPr algn="l"/>
            <a:r>
              <a:rPr sz="1200" b="1" i="0">
                <a:solidFill>
                  <a:srgbClr val="3B5174"/>
                </a:solidFill>
                <a:latin typeface="Noto Sans JP"/>
              </a:rPr>
              <a:t>ベース粘性を付与する骨格成分</a:t>
            </a:r>
          </a:p>
        </p:txBody>
      </p:sp>
      <p:sp>
        <p:nvSpPr>
          <p:cNvPr id="14" name="Rectangle 13"/>
          <p:cNvSpPr/>
          <p:nvPr/>
        </p:nvSpPr>
        <p:spPr>
          <a:xfrm>
            <a:off x="365760" y="2761488"/>
            <a:ext cx="6193368"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779776"/>
            <a:ext cx="822960" cy="1920240"/>
          </a:xfrm>
          <a:prstGeom prst="rect">
            <a:avLst/>
          </a:prstGeom>
          <a:noFill/>
        </p:spPr>
        <p:txBody>
          <a:bodyPr wrap="square" anchor="ctr" lIns="36000" rIns="36000" tIns="18000" bIns="18000">
            <a:spAutoFit/>
          </a:bodyPr>
          <a:lstStyle/>
          <a:p>
            <a:pPr algn="l"/>
            <a:r>
              <a:rPr sz="5400" b="1" i="0">
                <a:solidFill>
                  <a:srgbClr val="E2E8F0"/>
                </a:solidFill>
                <a:latin typeface="Noto Sans JP"/>
              </a:rPr>
              <a:t>B</a:t>
            </a:r>
          </a:p>
        </p:txBody>
      </p:sp>
      <p:sp>
        <p:nvSpPr>
          <p:cNvPr id="16" name="TextBox 15"/>
          <p:cNvSpPr txBox="1"/>
          <p:nvPr/>
        </p:nvSpPr>
        <p:spPr>
          <a:xfrm>
            <a:off x="1234440" y="2980944"/>
            <a:ext cx="5324688" cy="411480"/>
          </a:xfrm>
          <a:prstGeom prst="rect">
            <a:avLst/>
          </a:prstGeom>
          <a:noFill/>
        </p:spPr>
        <p:txBody>
          <a:bodyPr wrap="square" anchor="t" lIns="36000" rIns="36000" tIns="18000" bIns="18000">
            <a:spAutoFit/>
          </a:bodyPr>
          <a:lstStyle/>
          <a:p>
            <a:pPr algn="l"/>
            <a:r>
              <a:rPr sz="2400" b="1" i="0">
                <a:solidFill>
                  <a:srgbClr val="1E293B"/>
                </a:solidFill>
                <a:latin typeface="Noto Sans JP"/>
              </a:rPr>
              <a:t>MC</a:t>
            </a:r>
          </a:p>
        </p:txBody>
      </p:sp>
      <p:sp>
        <p:nvSpPr>
          <p:cNvPr id="17" name="TextBox 16"/>
          <p:cNvSpPr txBox="1"/>
          <p:nvPr/>
        </p:nvSpPr>
        <p:spPr>
          <a:xfrm>
            <a:off x="1234440" y="3419856"/>
            <a:ext cx="5324688"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Methyl cellulose</a:t>
            </a:r>
          </a:p>
        </p:txBody>
      </p:sp>
      <p:sp>
        <p:nvSpPr>
          <p:cNvPr id="18" name="TextBox 17"/>
          <p:cNvSpPr txBox="1"/>
          <p:nvPr/>
        </p:nvSpPr>
        <p:spPr>
          <a:xfrm>
            <a:off x="1234440" y="3694176"/>
            <a:ext cx="5324688" cy="310896"/>
          </a:xfrm>
          <a:prstGeom prst="rect">
            <a:avLst/>
          </a:prstGeom>
          <a:noFill/>
        </p:spPr>
        <p:txBody>
          <a:bodyPr wrap="square" anchor="t" lIns="36000" rIns="36000" tIns="18000" bIns="18000">
            <a:spAutoFit/>
          </a:bodyPr>
          <a:lstStyle/>
          <a:p>
            <a:pPr algn="l"/>
            <a:r>
              <a:rPr sz="1200" b="1" i="0">
                <a:solidFill>
                  <a:srgbClr val="3B5174"/>
                </a:solidFill>
                <a:latin typeface="Noto Sans JP"/>
              </a:rPr>
              <a:t>加熱でゲル化（熱可逆性）── 火炎保護の鍵</a:t>
            </a:r>
          </a:p>
        </p:txBody>
      </p:sp>
      <p:sp>
        <p:nvSpPr>
          <p:cNvPr id="19" name="Rectangle 18"/>
          <p:cNvSpPr/>
          <p:nvPr/>
        </p:nvSpPr>
        <p:spPr>
          <a:xfrm>
            <a:off x="365760" y="4681728"/>
            <a:ext cx="6193368"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700016"/>
            <a:ext cx="822960" cy="1920240"/>
          </a:xfrm>
          <a:prstGeom prst="rect">
            <a:avLst/>
          </a:prstGeom>
          <a:noFill/>
        </p:spPr>
        <p:txBody>
          <a:bodyPr wrap="square" anchor="ctr" lIns="36000" rIns="36000" tIns="18000" bIns="18000">
            <a:spAutoFit/>
          </a:bodyPr>
          <a:lstStyle/>
          <a:p>
            <a:pPr algn="l"/>
            <a:r>
              <a:rPr sz="5400" b="1" i="0">
                <a:solidFill>
                  <a:srgbClr val="E2E8F0"/>
                </a:solidFill>
                <a:latin typeface="Noto Sans JP"/>
              </a:rPr>
              <a:t>C</a:t>
            </a:r>
          </a:p>
        </p:txBody>
      </p:sp>
      <p:sp>
        <p:nvSpPr>
          <p:cNvPr id="21" name="TextBox 20"/>
          <p:cNvSpPr txBox="1"/>
          <p:nvPr/>
        </p:nvSpPr>
        <p:spPr>
          <a:xfrm>
            <a:off x="1234440" y="4901184"/>
            <a:ext cx="5324688" cy="411480"/>
          </a:xfrm>
          <a:prstGeom prst="rect">
            <a:avLst/>
          </a:prstGeom>
          <a:noFill/>
        </p:spPr>
        <p:txBody>
          <a:bodyPr wrap="square" anchor="t" lIns="36000" rIns="36000" tIns="18000" bIns="18000">
            <a:spAutoFit/>
          </a:bodyPr>
          <a:lstStyle/>
          <a:p>
            <a:pPr algn="l"/>
            <a:r>
              <a:rPr sz="2400" b="1" i="0">
                <a:solidFill>
                  <a:srgbClr val="1E293B"/>
                </a:solidFill>
                <a:latin typeface="Noto Sans JP"/>
              </a:rPr>
              <a:t>MHEC</a:t>
            </a:r>
          </a:p>
        </p:txBody>
      </p:sp>
      <p:sp>
        <p:nvSpPr>
          <p:cNvPr id="22" name="TextBox 21"/>
          <p:cNvSpPr txBox="1"/>
          <p:nvPr/>
        </p:nvSpPr>
        <p:spPr>
          <a:xfrm>
            <a:off x="1234440" y="5340096"/>
            <a:ext cx="5324688" cy="256032"/>
          </a:xfrm>
          <a:prstGeom prst="rect">
            <a:avLst/>
          </a:prstGeom>
          <a:noFill/>
        </p:spPr>
        <p:txBody>
          <a:bodyPr wrap="square" anchor="t" lIns="36000" rIns="36000" tIns="18000" bIns="18000">
            <a:spAutoFit/>
          </a:bodyPr>
          <a:lstStyle/>
          <a:p>
            <a:pPr algn="l"/>
            <a:r>
              <a:rPr sz="1100" b="0" i="0">
                <a:solidFill>
                  <a:srgbClr val="64748B"/>
                </a:solidFill>
                <a:latin typeface="Noto Sans JP"/>
              </a:rPr>
              <a:t>Methyl 2-hydroxyethyl cellulose</a:t>
            </a:r>
          </a:p>
        </p:txBody>
      </p:sp>
      <p:sp>
        <p:nvSpPr>
          <p:cNvPr id="23" name="TextBox 22"/>
          <p:cNvSpPr txBox="1"/>
          <p:nvPr/>
        </p:nvSpPr>
        <p:spPr>
          <a:xfrm>
            <a:off x="1234440" y="5614416"/>
            <a:ext cx="5324688" cy="310896"/>
          </a:xfrm>
          <a:prstGeom prst="rect">
            <a:avLst/>
          </a:prstGeom>
          <a:noFill/>
        </p:spPr>
        <p:txBody>
          <a:bodyPr wrap="square" anchor="t" lIns="36000" rIns="36000" tIns="18000" bIns="18000">
            <a:spAutoFit/>
          </a:bodyPr>
          <a:lstStyle/>
          <a:p>
            <a:pPr algn="l"/>
            <a:r>
              <a:rPr sz="1200" b="1" i="0">
                <a:solidFill>
                  <a:srgbClr val="3B5174"/>
                </a:solidFill>
                <a:latin typeface="Noto Sans JP"/>
              </a:rPr>
              <a:t>AとBの特性を併せ持つ複合型</a:t>
            </a:r>
          </a:p>
        </p:txBody>
      </p:sp>
      <p:sp>
        <p:nvSpPr>
          <p:cNvPr id="24" name="Rounded Rectangle 23"/>
          <p:cNvSpPr/>
          <p:nvPr/>
        </p:nvSpPr>
        <p:spPr>
          <a:xfrm>
            <a:off x="6742008" y="859536"/>
            <a:ext cx="5083926" cy="57607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1736"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1736"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1b/c</a:t>
            </a:r>
          </a:p>
        </p:txBody>
      </p:sp>
      <p:sp>
        <p:nvSpPr>
          <p:cNvPr id="27" name="TextBox 26"/>
          <p:cNvSpPr txBox="1"/>
          <p:nvPr/>
        </p:nvSpPr>
        <p:spPr>
          <a:xfrm>
            <a:off x="6742008" y="859536"/>
            <a:ext cx="5083926" cy="57607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28" name="TextBox 27"/>
          <p:cNvSpPr txBox="1"/>
          <p:nvPr/>
        </p:nvSpPr>
        <p:spPr>
          <a:xfrm>
            <a:off x="6742008" y="6656832"/>
            <a:ext cx="5083926"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各ポリマーの化学構造とCSP混合スキーム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材料 2/6</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メチルセルロース(MC)の熱ゲル化：火炎保護の鍵となる特性</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10 / 36</a:t>
            </a:r>
          </a:p>
        </p:txBody>
      </p:sp>
      <p:sp>
        <p:nvSpPr>
          <p:cNvPr id="10" name="Rounded Rectangle 9"/>
          <p:cNvSpPr/>
          <p:nvPr/>
        </p:nvSpPr>
        <p:spPr>
          <a:xfrm>
            <a:off x="365760" y="859536"/>
            <a:ext cx="5409444" cy="320040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540944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24128"/>
            <a:ext cx="504368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THERMAL RESPONSE</a:t>
            </a:r>
          </a:p>
        </p:txBody>
      </p:sp>
      <p:sp>
        <p:nvSpPr>
          <p:cNvPr id="13" name="TextBox 12"/>
          <p:cNvSpPr txBox="1"/>
          <p:nvPr/>
        </p:nvSpPr>
        <p:spPr>
          <a:xfrm>
            <a:off x="548640" y="1261872"/>
            <a:ext cx="504368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逆熱応答（LCST挙動）</a:t>
            </a:r>
          </a:p>
        </p:txBody>
      </p:sp>
      <p:sp>
        <p:nvSpPr>
          <p:cNvPr id="14" name="TextBox 13"/>
          <p:cNvSpPr txBox="1"/>
          <p:nvPr/>
        </p:nvSpPr>
        <p:spPr>
          <a:xfrm>
            <a:off x="54864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5" name="TextBox 14"/>
          <p:cNvSpPr txBox="1"/>
          <p:nvPr/>
        </p:nvSpPr>
        <p:spPr>
          <a:xfrm>
            <a:off x="749808" y="1627632"/>
            <a:ext cx="484251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MCは冷水（&lt;20°C）に溶解し低粘度溶液を形成</a:t>
            </a:r>
          </a:p>
        </p:txBody>
      </p:sp>
      <p:sp>
        <p:nvSpPr>
          <p:cNvPr id="16" name="TextBox 15"/>
          <p:cNvSpPr txBox="1"/>
          <p:nvPr/>
        </p:nvSpPr>
        <p:spPr>
          <a:xfrm>
            <a:off x="54864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7" name="TextBox 16"/>
          <p:cNvSpPr txBox="1"/>
          <p:nvPr/>
        </p:nvSpPr>
        <p:spPr>
          <a:xfrm>
            <a:off x="749808" y="1901952"/>
            <a:ext cx="484251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加熱でLCSTを超えてゲル化</a:t>
            </a:r>
          </a:p>
        </p:txBody>
      </p:sp>
      <p:sp>
        <p:nvSpPr>
          <p:cNvPr id="18" name="TextBox 17"/>
          <p:cNvSpPr txBox="1"/>
          <p:nvPr/>
        </p:nvSpPr>
        <p:spPr>
          <a:xfrm>
            <a:off x="54864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9" name="TextBox 18"/>
          <p:cNvSpPr txBox="1"/>
          <p:nvPr/>
        </p:nvSpPr>
        <p:spPr>
          <a:xfrm>
            <a:off x="749808" y="2176272"/>
            <a:ext cx="484251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MCのゲル化開始温度：約 50–60°C（濃度依存）</a:t>
            </a:r>
          </a:p>
        </p:txBody>
      </p:sp>
      <p:sp>
        <p:nvSpPr>
          <p:cNvPr id="20" name="TextBox 19"/>
          <p:cNvSpPr txBox="1"/>
          <p:nvPr/>
        </p:nvSpPr>
        <p:spPr>
          <a:xfrm>
            <a:off x="548640" y="245059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1" name="TextBox 20"/>
          <p:cNvSpPr txBox="1"/>
          <p:nvPr/>
        </p:nvSpPr>
        <p:spPr>
          <a:xfrm>
            <a:off x="749808" y="2450592"/>
            <a:ext cx="484251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常温では液体 → 火炎接触で即座にゲル</a:t>
            </a:r>
          </a:p>
        </p:txBody>
      </p:sp>
      <p:sp>
        <p:nvSpPr>
          <p:cNvPr id="22" name="Rounded Rectangle 21"/>
          <p:cNvSpPr/>
          <p:nvPr/>
        </p:nvSpPr>
        <p:spPr>
          <a:xfrm>
            <a:off x="365760" y="4242816"/>
            <a:ext cx="5409444" cy="77724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242816"/>
            <a:ext cx="54864" cy="77724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242816"/>
            <a:ext cx="365760" cy="77724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25" name="TextBox 24"/>
          <p:cNvSpPr txBox="1"/>
          <p:nvPr/>
        </p:nvSpPr>
        <p:spPr>
          <a:xfrm>
            <a:off x="960120" y="4242816"/>
            <a:ext cx="4723644" cy="777240"/>
          </a:xfrm>
          <a:prstGeom prst="rect">
            <a:avLst/>
          </a:prstGeom>
          <a:noFill/>
        </p:spPr>
        <p:txBody>
          <a:bodyPr wrap="square" anchor="ctr" lIns="36000" rIns="36000" tIns="18000" bIns="18000">
            <a:spAutoFit/>
          </a:bodyPr>
          <a:lstStyle/>
          <a:p>
            <a:pPr algn="l"/>
            <a:r>
              <a:rPr sz="1300" b="1" i="0">
                <a:solidFill>
                  <a:srgbClr val="1E293B"/>
                </a:solidFill>
                <a:latin typeface="Noto Sans JP"/>
              </a:rPr>
              <a:t>火炎接触初期にMCがゲル化 → CSPを固定したまま発泡構造を維持</a:t>
            </a:r>
          </a:p>
        </p:txBody>
      </p:sp>
      <p:sp>
        <p:nvSpPr>
          <p:cNvPr id="26" name="Rounded Rectangle 25"/>
          <p:cNvSpPr/>
          <p:nvPr/>
        </p:nvSpPr>
        <p:spPr>
          <a:xfrm>
            <a:off x="5958084" y="859536"/>
            <a:ext cx="1894990" cy="128016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6100" y="969264"/>
            <a:ext cx="1638958"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LCST（ゲル化開始）</a:t>
            </a:r>
          </a:p>
        </p:txBody>
      </p:sp>
      <p:sp>
        <p:nvSpPr>
          <p:cNvPr id="28" name="TextBox 27"/>
          <p:cNvSpPr txBox="1"/>
          <p:nvPr/>
        </p:nvSpPr>
        <p:spPr>
          <a:xfrm>
            <a:off x="6086100" y="1225296"/>
            <a:ext cx="1638958" cy="411480"/>
          </a:xfrm>
          <a:prstGeom prst="rect">
            <a:avLst/>
          </a:prstGeom>
          <a:noFill/>
        </p:spPr>
        <p:txBody>
          <a:bodyPr wrap="square" anchor="t" lIns="36000" rIns="36000" tIns="18000" bIns="18000">
            <a:spAutoFit/>
          </a:bodyPr>
          <a:lstStyle/>
          <a:p>
            <a:pPr algn="l"/>
            <a:r>
              <a:rPr sz="2000" b="1" i="0">
                <a:solidFill>
                  <a:srgbClr val="3B5174"/>
                </a:solidFill>
                <a:latin typeface="Noto Sans JP"/>
              </a:rPr>
              <a:t>~55°C</a:t>
            </a:r>
          </a:p>
        </p:txBody>
      </p:sp>
      <p:sp>
        <p:nvSpPr>
          <p:cNvPr id="29" name="TextBox 28"/>
          <p:cNvSpPr txBox="1"/>
          <p:nvPr/>
        </p:nvSpPr>
        <p:spPr>
          <a:xfrm>
            <a:off x="6086100" y="1645920"/>
            <a:ext cx="1638958"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1 wt% MC水溶液</a:t>
            </a:r>
          </a:p>
        </p:txBody>
      </p:sp>
      <p:sp>
        <p:nvSpPr>
          <p:cNvPr id="30" name="Rounded Rectangle 29"/>
          <p:cNvSpPr/>
          <p:nvPr/>
        </p:nvSpPr>
        <p:spPr>
          <a:xfrm>
            <a:off x="7944514" y="859536"/>
            <a:ext cx="1894990" cy="128016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72530" y="969264"/>
            <a:ext cx="1638958"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熱分解温度</a:t>
            </a:r>
          </a:p>
        </p:txBody>
      </p:sp>
      <p:sp>
        <p:nvSpPr>
          <p:cNvPr id="32" name="TextBox 31"/>
          <p:cNvSpPr txBox="1"/>
          <p:nvPr/>
        </p:nvSpPr>
        <p:spPr>
          <a:xfrm>
            <a:off x="8072530" y="1225296"/>
            <a:ext cx="1638958" cy="411480"/>
          </a:xfrm>
          <a:prstGeom prst="rect">
            <a:avLst/>
          </a:prstGeom>
          <a:noFill/>
        </p:spPr>
        <p:txBody>
          <a:bodyPr wrap="square" anchor="t" lIns="36000" rIns="36000" tIns="18000" bIns="18000">
            <a:spAutoFit/>
          </a:bodyPr>
          <a:lstStyle/>
          <a:p>
            <a:pPr algn="l"/>
            <a:r>
              <a:rPr sz="2000" b="1" i="0">
                <a:solidFill>
                  <a:srgbClr val="A05656"/>
                </a:solidFill>
                <a:latin typeface="Noto Sans JP"/>
              </a:rPr>
              <a:t>~300°C</a:t>
            </a:r>
          </a:p>
        </p:txBody>
      </p:sp>
      <p:sp>
        <p:nvSpPr>
          <p:cNvPr id="33" name="TextBox 32"/>
          <p:cNvSpPr txBox="1"/>
          <p:nvPr/>
        </p:nvSpPr>
        <p:spPr>
          <a:xfrm>
            <a:off x="8072530" y="1645920"/>
            <a:ext cx="1638958"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TGA測定</a:t>
            </a:r>
          </a:p>
        </p:txBody>
      </p:sp>
      <p:sp>
        <p:nvSpPr>
          <p:cNvPr id="34" name="Rounded Rectangle 33"/>
          <p:cNvSpPr/>
          <p:nvPr/>
        </p:nvSpPr>
        <p:spPr>
          <a:xfrm>
            <a:off x="9930944" y="859536"/>
            <a:ext cx="1894990" cy="128016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960" y="969264"/>
            <a:ext cx="1638958"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CSP焼結開始</a:t>
            </a:r>
          </a:p>
        </p:txBody>
      </p:sp>
      <p:sp>
        <p:nvSpPr>
          <p:cNvPr id="36" name="TextBox 35"/>
          <p:cNvSpPr txBox="1"/>
          <p:nvPr/>
        </p:nvSpPr>
        <p:spPr>
          <a:xfrm>
            <a:off x="10058960" y="1225296"/>
            <a:ext cx="1638958" cy="411480"/>
          </a:xfrm>
          <a:prstGeom prst="rect">
            <a:avLst/>
          </a:prstGeom>
          <a:noFill/>
        </p:spPr>
        <p:txBody>
          <a:bodyPr wrap="square" anchor="t" lIns="36000" rIns="36000" tIns="18000" bIns="18000">
            <a:spAutoFit/>
          </a:bodyPr>
          <a:lstStyle/>
          <a:p>
            <a:pPr algn="l"/>
            <a:r>
              <a:rPr sz="2000" b="1" i="0">
                <a:solidFill>
                  <a:srgbClr val="4A7C8C"/>
                </a:solidFill>
                <a:latin typeface="Noto Sans JP"/>
              </a:rPr>
              <a:t>~200°C</a:t>
            </a:r>
          </a:p>
        </p:txBody>
      </p:sp>
      <p:sp>
        <p:nvSpPr>
          <p:cNvPr id="37" name="TextBox 36"/>
          <p:cNvSpPr txBox="1"/>
          <p:nvPr/>
        </p:nvSpPr>
        <p:spPr>
          <a:xfrm>
            <a:off x="10058960" y="1645920"/>
            <a:ext cx="1638958"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粒子間ネック形成</a:t>
            </a:r>
          </a:p>
        </p:txBody>
      </p:sp>
      <p:sp>
        <p:nvSpPr>
          <p:cNvPr id="38" name="Rounded Rectangle 37"/>
          <p:cNvSpPr/>
          <p:nvPr/>
        </p:nvSpPr>
        <p:spPr>
          <a:xfrm>
            <a:off x="5958084" y="2414016"/>
            <a:ext cx="5867851" cy="24688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40964" y="2578608"/>
            <a:ext cx="5502091" cy="274320"/>
          </a:xfrm>
          <a:prstGeom prst="rect">
            <a:avLst/>
          </a:prstGeom>
          <a:noFill/>
        </p:spPr>
        <p:txBody>
          <a:bodyPr wrap="square" anchor="t" lIns="36000" rIns="36000" tIns="18000" bIns="18000">
            <a:spAutoFit/>
          </a:bodyPr>
          <a:lstStyle/>
          <a:p>
            <a:pPr algn="l"/>
            <a:r>
              <a:rPr sz="1100" b="1" i="0">
                <a:solidFill>
                  <a:srgbClr val="A0B8D0"/>
                </a:solidFill>
                <a:latin typeface="Noto Sans JP"/>
              </a:rPr>
              <a:t>温度別プロセス</a:t>
            </a:r>
          </a:p>
        </p:txBody>
      </p:sp>
      <p:sp>
        <p:nvSpPr>
          <p:cNvPr id="40" name="Rounded Rectangle 39"/>
          <p:cNvSpPr/>
          <p:nvPr/>
        </p:nvSpPr>
        <p:spPr>
          <a:xfrm>
            <a:off x="6140964" y="3008376"/>
            <a:ext cx="1169782" cy="1783080"/>
          </a:xfrm>
          <a:prstGeom prst="roundRect">
            <a:avLst>
              <a:gd name="adj" fmla="val 4000"/>
            </a:avLst>
          </a:prstGeom>
          <a:solidFill>
            <a:srgbClr val="2C3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32404" y="3136392"/>
            <a:ext cx="986902" cy="274320"/>
          </a:xfrm>
          <a:prstGeom prst="rect">
            <a:avLst/>
          </a:prstGeom>
          <a:noFill/>
        </p:spPr>
        <p:txBody>
          <a:bodyPr wrap="square" anchor="t" lIns="36000" rIns="36000" tIns="18000" bIns="18000">
            <a:spAutoFit/>
          </a:bodyPr>
          <a:lstStyle/>
          <a:p>
            <a:pPr algn="l"/>
            <a:r>
              <a:rPr sz="1100" b="1" i="0">
                <a:solidFill>
                  <a:srgbClr val="D4A574"/>
                </a:solidFill>
                <a:latin typeface="Noto Sans JP"/>
              </a:rPr>
              <a:t>~55°C</a:t>
            </a:r>
          </a:p>
        </p:txBody>
      </p:sp>
      <p:sp>
        <p:nvSpPr>
          <p:cNvPr id="42" name="TextBox 41"/>
          <p:cNvSpPr txBox="1"/>
          <p:nvPr/>
        </p:nvSpPr>
        <p:spPr>
          <a:xfrm>
            <a:off x="6232404" y="3465576"/>
            <a:ext cx="986902" cy="365760"/>
          </a:xfrm>
          <a:prstGeom prst="rect">
            <a:avLst/>
          </a:prstGeom>
          <a:noFill/>
        </p:spPr>
        <p:txBody>
          <a:bodyPr wrap="square" anchor="t" lIns="36000" rIns="36000" tIns="18000" bIns="18000">
            <a:spAutoFit/>
          </a:bodyPr>
          <a:lstStyle/>
          <a:p>
            <a:pPr algn="l"/>
            <a:r>
              <a:rPr sz="1300" b="1" i="0">
                <a:solidFill>
                  <a:srgbClr val="FFFFFF"/>
                </a:solidFill>
                <a:latin typeface="Noto Sans JP"/>
              </a:rPr>
              <a:t>MCゲル化</a:t>
            </a:r>
          </a:p>
        </p:txBody>
      </p:sp>
      <p:sp>
        <p:nvSpPr>
          <p:cNvPr id="43" name="TextBox 42"/>
          <p:cNvSpPr txBox="1"/>
          <p:nvPr/>
        </p:nvSpPr>
        <p:spPr>
          <a:xfrm>
            <a:off x="6232404" y="3922776"/>
            <a:ext cx="986902" cy="457200"/>
          </a:xfrm>
          <a:prstGeom prst="rect">
            <a:avLst/>
          </a:prstGeom>
          <a:noFill/>
        </p:spPr>
        <p:txBody>
          <a:bodyPr wrap="square" anchor="t" lIns="36000" rIns="36000" tIns="18000" bIns="18000">
            <a:spAutoFit/>
          </a:bodyPr>
          <a:lstStyle/>
          <a:p>
            <a:pPr algn="l"/>
            <a:r>
              <a:rPr sz="1100" b="0" i="0">
                <a:solidFill>
                  <a:srgbClr val="B0C0D0"/>
                </a:solidFill>
                <a:latin typeface="Noto Sans JP"/>
              </a:rPr>
              <a:t>構造を固定</a:t>
            </a:r>
          </a:p>
        </p:txBody>
      </p:sp>
      <p:sp>
        <p:nvSpPr>
          <p:cNvPr id="44" name="TextBox 43"/>
          <p:cNvSpPr txBox="1"/>
          <p:nvPr/>
        </p:nvSpPr>
        <p:spPr>
          <a:xfrm>
            <a:off x="7310746" y="3008376"/>
            <a:ext cx="91440" cy="1783080"/>
          </a:xfrm>
          <a:prstGeom prst="rect">
            <a:avLst/>
          </a:prstGeom>
          <a:noFill/>
        </p:spPr>
        <p:txBody>
          <a:bodyPr wrap="square" anchor="ctr" lIns="36000" rIns="36000" tIns="18000" bIns="18000">
            <a:spAutoFit/>
          </a:bodyPr>
          <a:lstStyle/>
          <a:p>
            <a:pPr algn="ctr"/>
            <a:r>
              <a:rPr sz="1200" b="0" i="0">
                <a:solidFill>
                  <a:srgbClr val="667890"/>
                </a:solidFill>
                <a:latin typeface="Noto Sans JP"/>
              </a:rPr>
              <a:t>▶</a:t>
            </a:r>
          </a:p>
        </p:txBody>
      </p:sp>
      <p:sp>
        <p:nvSpPr>
          <p:cNvPr id="45" name="Rounded Rectangle 44"/>
          <p:cNvSpPr/>
          <p:nvPr/>
        </p:nvSpPr>
        <p:spPr>
          <a:xfrm>
            <a:off x="7402186" y="3008376"/>
            <a:ext cx="1169782" cy="1783080"/>
          </a:xfrm>
          <a:prstGeom prst="roundRect">
            <a:avLst>
              <a:gd name="adj" fmla="val 4000"/>
            </a:avLst>
          </a:prstGeom>
          <a:solidFill>
            <a:srgbClr val="2C3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3626" y="3136392"/>
            <a:ext cx="986902" cy="274320"/>
          </a:xfrm>
          <a:prstGeom prst="rect">
            <a:avLst/>
          </a:prstGeom>
          <a:noFill/>
        </p:spPr>
        <p:txBody>
          <a:bodyPr wrap="square" anchor="t" lIns="36000" rIns="36000" tIns="18000" bIns="18000">
            <a:spAutoFit/>
          </a:bodyPr>
          <a:lstStyle/>
          <a:p>
            <a:pPr algn="l"/>
            <a:r>
              <a:rPr sz="1100" b="1" i="0">
                <a:solidFill>
                  <a:srgbClr val="D4A574"/>
                </a:solidFill>
                <a:latin typeface="Noto Sans JP"/>
              </a:rPr>
              <a:t>~100°C</a:t>
            </a:r>
          </a:p>
        </p:txBody>
      </p:sp>
      <p:sp>
        <p:nvSpPr>
          <p:cNvPr id="47" name="TextBox 46"/>
          <p:cNvSpPr txBox="1"/>
          <p:nvPr/>
        </p:nvSpPr>
        <p:spPr>
          <a:xfrm>
            <a:off x="7493626" y="3465576"/>
            <a:ext cx="986902" cy="365760"/>
          </a:xfrm>
          <a:prstGeom prst="rect">
            <a:avLst/>
          </a:prstGeom>
          <a:noFill/>
        </p:spPr>
        <p:txBody>
          <a:bodyPr wrap="square" anchor="t" lIns="36000" rIns="36000" tIns="18000" bIns="18000">
            <a:spAutoFit/>
          </a:bodyPr>
          <a:lstStyle/>
          <a:p>
            <a:pPr algn="l"/>
            <a:r>
              <a:rPr sz="1300" b="1" i="0">
                <a:solidFill>
                  <a:srgbClr val="FFFFFF"/>
                </a:solidFill>
                <a:latin typeface="Noto Sans JP"/>
              </a:rPr>
              <a:t>水分蒸発</a:t>
            </a:r>
          </a:p>
        </p:txBody>
      </p:sp>
      <p:sp>
        <p:nvSpPr>
          <p:cNvPr id="48" name="TextBox 47"/>
          <p:cNvSpPr txBox="1"/>
          <p:nvPr/>
        </p:nvSpPr>
        <p:spPr>
          <a:xfrm>
            <a:off x="7493626" y="3922776"/>
            <a:ext cx="986902" cy="457200"/>
          </a:xfrm>
          <a:prstGeom prst="rect">
            <a:avLst/>
          </a:prstGeom>
          <a:noFill/>
        </p:spPr>
        <p:txBody>
          <a:bodyPr wrap="square" anchor="t" lIns="36000" rIns="36000" tIns="18000" bIns="18000">
            <a:spAutoFit/>
          </a:bodyPr>
          <a:lstStyle/>
          <a:p>
            <a:pPr algn="l"/>
            <a:r>
              <a:rPr sz="1100" b="0" i="0">
                <a:solidFill>
                  <a:srgbClr val="B0C0D0"/>
                </a:solidFill>
                <a:latin typeface="Noto Sans JP"/>
              </a:rPr>
              <a:t>発泡・膨張</a:t>
            </a:r>
          </a:p>
        </p:txBody>
      </p:sp>
      <p:sp>
        <p:nvSpPr>
          <p:cNvPr id="49" name="TextBox 48"/>
          <p:cNvSpPr txBox="1"/>
          <p:nvPr/>
        </p:nvSpPr>
        <p:spPr>
          <a:xfrm>
            <a:off x="8571969" y="3008376"/>
            <a:ext cx="91440" cy="1783080"/>
          </a:xfrm>
          <a:prstGeom prst="rect">
            <a:avLst/>
          </a:prstGeom>
          <a:noFill/>
        </p:spPr>
        <p:txBody>
          <a:bodyPr wrap="square" anchor="ctr" lIns="36000" rIns="36000" tIns="18000" bIns="18000">
            <a:spAutoFit/>
          </a:bodyPr>
          <a:lstStyle/>
          <a:p>
            <a:pPr algn="ctr"/>
            <a:r>
              <a:rPr sz="1200" b="0" i="0">
                <a:solidFill>
                  <a:srgbClr val="667890"/>
                </a:solidFill>
                <a:latin typeface="Noto Sans JP"/>
              </a:rPr>
              <a:t>▶</a:t>
            </a:r>
          </a:p>
        </p:txBody>
      </p:sp>
      <p:sp>
        <p:nvSpPr>
          <p:cNvPr id="50" name="Rounded Rectangle 49"/>
          <p:cNvSpPr/>
          <p:nvPr/>
        </p:nvSpPr>
        <p:spPr>
          <a:xfrm>
            <a:off x="8663409" y="3008376"/>
            <a:ext cx="1169782" cy="1783080"/>
          </a:xfrm>
          <a:prstGeom prst="roundRect">
            <a:avLst>
              <a:gd name="adj" fmla="val 4000"/>
            </a:avLst>
          </a:prstGeom>
          <a:solidFill>
            <a:srgbClr val="2C3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54849" y="3136392"/>
            <a:ext cx="986902" cy="274320"/>
          </a:xfrm>
          <a:prstGeom prst="rect">
            <a:avLst/>
          </a:prstGeom>
          <a:noFill/>
        </p:spPr>
        <p:txBody>
          <a:bodyPr wrap="square" anchor="t" lIns="36000" rIns="36000" tIns="18000" bIns="18000">
            <a:spAutoFit/>
          </a:bodyPr>
          <a:lstStyle/>
          <a:p>
            <a:pPr algn="l"/>
            <a:r>
              <a:rPr sz="1100" b="1" i="0">
                <a:solidFill>
                  <a:srgbClr val="D4A574"/>
                </a:solidFill>
                <a:latin typeface="Noto Sans JP"/>
              </a:rPr>
              <a:t>~200°C</a:t>
            </a:r>
          </a:p>
        </p:txBody>
      </p:sp>
      <p:sp>
        <p:nvSpPr>
          <p:cNvPr id="52" name="TextBox 51"/>
          <p:cNvSpPr txBox="1"/>
          <p:nvPr/>
        </p:nvSpPr>
        <p:spPr>
          <a:xfrm>
            <a:off x="8754849" y="3465576"/>
            <a:ext cx="986902" cy="365760"/>
          </a:xfrm>
          <a:prstGeom prst="rect">
            <a:avLst/>
          </a:prstGeom>
          <a:noFill/>
        </p:spPr>
        <p:txBody>
          <a:bodyPr wrap="square" anchor="t" lIns="36000" rIns="36000" tIns="18000" bIns="18000">
            <a:spAutoFit/>
          </a:bodyPr>
          <a:lstStyle/>
          <a:p>
            <a:pPr algn="l"/>
            <a:r>
              <a:rPr sz="1300" b="1" i="0">
                <a:solidFill>
                  <a:srgbClr val="FFFFFF"/>
                </a:solidFill>
                <a:latin typeface="Noto Sans JP"/>
              </a:rPr>
              <a:t>CSP焼結</a:t>
            </a:r>
          </a:p>
        </p:txBody>
      </p:sp>
      <p:sp>
        <p:nvSpPr>
          <p:cNvPr id="53" name="TextBox 52"/>
          <p:cNvSpPr txBox="1"/>
          <p:nvPr/>
        </p:nvSpPr>
        <p:spPr>
          <a:xfrm>
            <a:off x="8754849" y="3922776"/>
            <a:ext cx="986902" cy="457200"/>
          </a:xfrm>
          <a:prstGeom prst="rect">
            <a:avLst/>
          </a:prstGeom>
          <a:noFill/>
        </p:spPr>
        <p:txBody>
          <a:bodyPr wrap="square" anchor="t" lIns="36000" rIns="36000" tIns="18000" bIns="18000">
            <a:spAutoFit/>
          </a:bodyPr>
          <a:lstStyle/>
          <a:p>
            <a:pPr algn="l"/>
            <a:r>
              <a:rPr sz="1100" b="0" i="0">
                <a:solidFill>
                  <a:srgbClr val="B0C0D0"/>
                </a:solidFill>
                <a:latin typeface="Noto Sans JP"/>
              </a:rPr>
              <a:t>粒界形成</a:t>
            </a:r>
          </a:p>
        </p:txBody>
      </p:sp>
      <p:sp>
        <p:nvSpPr>
          <p:cNvPr id="54" name="TextBox 53"/>
          <p:cNvSpPr txBox="1"/>
          <p:nvPr/>
        </p:nvSpPr>
        <p:spPr>
          <a:xfrm>
            <a:off x="9833192" y="3008376"/>
            <a:ext cx="91440" cy="1783080"/>
          </a:xfrm>
          <a:prstGeom prst="rect">
            <a:avLst/>
          </a:prstGeom>
          <a:noFill/>
        </p:spPr>
        <p:txBody>
          <a:bodyPr wrap="square" anchor="ctr" lIns="36000" rIns="36000" tIns="18000" bIns="18000">
            <a:spAutoFit/>
          </a:bodyPr>
          <a:lstStyle/>
          <a:p>
            <a:pPr algn="ctr"/>
            <a:r>
              <a:rPr sz="1200" b="0" i="0">
                <a:solidFill>
                  <a:srgbClr val="667890"/>
                </a:solidFill>
                <a:latin typeface="Noto Sans JP"/>
              </a:rPr>
              <a:t>▶</a:t>
            </a:r>
          </a:p>
        </p:txBody>
      </p:sp>
      <p:sp>
        <p:nvSpPr>
          <p:cNvPr id="55" name="Rounded Rectangle 54"/>
          <p:cNvSpPr/>
          <p:nvPr/>
        </p:nvSpPr>
        <p:spPr>
          <a:xfrm>
            <a:off x="9924632" y="3008376"/>
            <a:ext cx="1169782" cy="1783080"/>
          </a:xfrm>
          <a:prstGeom prst="roundRect">
            <a:avLst>
              <a:gd name="adj" fmla="val 4000"/>
            </a:avLst>
          </a:prstGeom>
          <a:solidFill>
            <a:srgbClr val="2C3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016072" y="3136392"/>
            <a:ext cx="986902" cy="274320"/>
          </a:xfrm>
          <a:prstGeom prst="rect">
            <a:avLst/>
          </a:prstGeom>
          <a:noFill/>
        </p:spPr>
        <p:txBody>
          <a:bodyPr wrap="square" anchor="t" lIns="36000" rIns="36000" tIns="18000" bIns="18000">
            <a:spAutoFit/>
          </a:bodyPr>
          <a:lstStyle/>
          <a:p>
            <a:pPr algn="l"/>
            <a:r>
              <a:rPr sz="1100" b="1" i="0">
                <a:solidFill>
                  <a:srgbClr val="D4A574"/>
                </a:solidFill>
                <a:latin typeface="Noto Sans JP"/>
              </a:rPr>
              <a:t>&gt;300°C</a:t>
            </a:r>
          </a:p>
        </p:txBody>
      </p:sp>
      <p:sp>
        <p:nvSpPr>
          <p:cNvPr id="57" name="TextBox 56"/>
          <p:cNvSpPr txBox="1"/>
          <p:nvPr/>
        </p:nvSpPr>
        <p:spPr>
          <a:xfrm>
            <a:off x="10016072" y="3465576"/>
            <a:ext cx="986902" cy="365760"/>
          </a:xfrm>
          <a:prstGeom prst="rect">
            <a:avLst/>
          </a:prstGeom>
          <a:noFill/>
        </p:spPr>
        <p:txBody>
          <a:bodyPr wrap="square" anchor="t" lIns="36000" rIns="36000" tIns="18000" bIns="18000">
            <a:spAutoFit/>
          </a:bodyPr>
          <a:lstStyle/>
          <a:p>
            <a:pPr algn="l"/>
            <a:r>
              <a:rPr sz="1300" b="1" i="0">
                <a:solidFill>
                  <a:srgbClr val="FFFFFF"/>
                </a:solidFill>
                <a:latin typeface="Noto Sans JP"/>
              </a:rPr>
              <a:t>有機分解</a:t>
            </a:r>
          </a:p>
        </p:txBody>
      </p:sp>
      <p:sp>
        <p:nvSpPr>
          <p:cNvPr id="58" name="TextBox 57"/>
          <p:cNvSpPr txBox="1"/>
          <p:nvPr/>
        </p:nvSpPr>
        <p:spPr>
          <a:xfrm>
            <a:off x="10016072" y="3922776"/>
            <a:ext cx="986902" cy="457200"/>
          </a:xfrm>
          <a:prstGeom prst="rect">
            <a:avLst/>
          </a:prstGeom>
          <a:noFill/>
        </p:spPr>
        <p:txBody>
          <a:bodyPr wrap="square" anchor="t" lIns="36000" rIns="36000" tIns="18000" bIns="18000">
            <a:spAutoFit/>
          </a:bodyPr>
          <a:lstStyle/>
          <a:p>
            <a:pPr algn="l"/>
            <a:r>
              <a:rPr sz="1100" b="0" i="0">
                <a:solidFill>
                  <a:srgbClr val="B0C0D0"/>
                </a:solidFill>
                <a:latin typeface="Noto Sans JP"/>
              </a:rPr>
              <a:t>純シリカ層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材料 3/6</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コロイダルシリカ粒子(CSP)と界面活性剤(SDS)</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11 / 36</a:t>
            </a:r>
          </a:p>
        </p:txBody>
      </p:sp>
      <p:sp>
        <p:nvSpPr>
          <p:cNvPr id="10" name="Rounded Rectangle 9"/>
          <p:cNvSpPr/>
          <p:nvPr/>
        </p:nvSpPr>
        <p:spPr>
          <a:xfrm>
            <a:off x="365760" y="859536"/>
            <a:ext cx="5647791" cy="384048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564779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42416"/>
            <a:ext cx="548640" cy="457200"/>
          </a:xfrm>
          <a:prstGeom prst="rect">
            <a:avLst/>
          </a:prstGeom>
          <a:noFill/>
        </p:spPr>
        <p:txBody>
          <a:bodyPr wrap="square" anchor="t" lIns="36000" rIns="36000" tIns="18000" bIns="18000">
            <a:spAutoFit/>
          </a:bodyPr>
          <a:lstStyle/>
          <a:p>
            <a:pPr algn="l"/>
            <a:r>
              <a:rPr sz="2800" b="0" i="0">
                <a:solidFill>
                  <a:srgbClr val="3B5174"/>
                </a:solidFill>
                <a:latin typeface="Noto Sans JP"/>
              </a:rPr>
              <a:t>●</a:t>
            </a:r>
          </a:p>
        </p:txBody>
      </p:sp>
      <p:sp>
        <p:nvSpPr>
          <p:cNvPr id="13" name="TextBox 12"/>
          <p:cNvSpPr txBox="1"/>
          <p:nvPr/>
        </p:nvSpPr>
        <p:spPr>
          <a:xfrm>
            <a:off x="1234440" y="1060704"/>
            <a:ext cx="4641951"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CSP</a:t>
            </a:r>
          </a:p>
        </p:txBody>
      </p:sp>
      <p:sp>
        <p:nvSpPr>
          <p:cNvPr id="14" name="TextBox 13"/>
          <p:cNvSpPr txBox="1"/>
          <p:nvPr/>
        </p:nvSpPr>
        <p:spPr>
          <a:xfrm>
            <a:off x="1234440" y="1316736"/>
            <a:ext cx="4641951" cy="457200"/>
          </a:xfrm>
          <a:prstGeom prst="rect">
            <a:avLst/>
          </a:prstGeom>
          <a:noFill/>
        </p:spPr>
        <p:txBody>
          <a:bodyPr wrap="square" anchor="t" lIns="36000" rIns="36000" tIns="18000" bIns="18000">
            <a:spAutoFit/>
          </a:bodyPr>
          <a:lstStyle/>
          <a:p>
            <a:pPr algn="l"/>
            <a:r>
              <a:rPr sz="1800" b="1" i="0">
                <a:solidFill>
                  <a:srgbClr val="1E293B"/>
                </a:solidFill>
                <a:latin typeface="Noto Sans JP"/>
              </a:rPr>
              <a:t>Colloidal Silica Particles</a:t>
            </a:r>
          </a:p>
        </p:txBody>
      </p:sp>
      <p:sp>
        <p:nvSpPr>
          <p:cNvPr id="15" name="TextBox 14"/>
          <p:cNvSpPr txBox="1"/>
          <p:nvPr/>
        </p:nvSpPr>
        <p:spPr>
          <a:xfrm>
            <a:off x="640080" y="204825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16" name="TextBox 15"/>
          <p:cNvSpPr txBox="1"/>
          <p:nvPr/>
        </p:nvSpPr>
        <p:spPr>
          <a:xfrm>
            <a:off x="868680" y="2048256"/>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LUDOX TM-50（原液 50 wt%）→ 15 wt%に希釈（pH 9）</a:t>
            </a:r>
          </a:p>
        </p:txBody>
      </p:sp>
      <p:sp>
        <p:nvSpPr>
          <p:cNvPr id="17" name="TextBox 16"/>
          <p:cNvSpPr txBox="1"/>
          <p:nvPr/>
        </p:nvSpPr>
        <p:spPr>
          <a:xfrm>
            <a:off x="640080" y="2432304"/>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18" name="TextBox 17"/>
          <p:cNvSpPr txBox="1"/>
          <p:nvPr/>
        </p:nvSpPr>
        <p:spPr>
          <a:xfrm>
            <a:off x="868680" y="2432304"/>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粒子サイズ：22 nm（単分散）</a:t>
            </a:r>
          </a:p>
        </p:txBody>
      </p:sp>
      <p:sp>
        <p:nvSpPr>
          <p:cNvPr id="19" name="TextBox 18"/>
          <p:cNvSpPr txBox="1"/>
          <p:nvPr/>
        </p:nvSpPr>
        <p:spPr>
          <a:xfrm>
            <a:off x="640080" y="2816352"/>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20" name="TextBox 19"/>
          <p:cNvSpPr txBox="1"/>
          <p:nvPr/>
        </p:nvSpPr>
        <p:spPr>
          <a:xfrm>
            <a:off x="868680" y="2816352"/>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配合濃度：ゲル中 5 wt%</a:t>
            </a:r>
          </a:p>
        </p:txBody>
      </p:sp>
      <p:sp>
        <p:nvSpPr>
          <p:cNvPr id="21" name="TextBox 20"/>
          <p:cNvSpPr txBox="1"/>
          <p:nvPr/>
        </p:nvSpPr>
        <p:spPr>
          <a:xfrm>
            <a:off x="640080" y="3200400"/>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22" name="TextBox 21"/>
          <p:cNvSpPr txBox="1"/>
          <p:nvPr/>
        </p:nvSpPr>
        <p:spPr>
          <a:xfrm>
            <a:off x="868680" y="3200400"/>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加熱時に焼結 → silica aerogel に変態</a:t>
            </a:r>
          </a:p>
        </p:txBody>
      </p:sp>
      <p:sp>
        <p:nvSpPr>
          <p:cNvPr id="23" name="Rounded Rectangle 22"/>
          <p:cNvSpPr/>
          <p:nvPr/>
        </p:nvSpPr>
        <p:spPr>
          <a:xfrm>
            <a:off x="6178143" y="859536"/>
            <a:ext cx="5647791" cy="384048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8143" y="859536"/>
            <a:ext cx="564779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1023" y="1042416"/>
            <a:ext cx="548640" cy="457200"/>
          </a:xfrm>
          <a:prstGeom prst="rect">
            <a:avLst/>
          </a:prstGeom>
          <a:noFill/>
        </p:spPr>
        <p:txBody>
          <a:bodyPr wrap="square" anchor="t" lIns="36000" rIns="36000" tIns="18000" bIns="18000">
            <a:spAutoFit/>
          </a:bodyPr>
          <a:lstStyle/>
          <a:p>
            <a:pPr algn="l"/>
            <a:r>
              <a:rPr sz="2800" b="0" i="0">
                <a:solidFill>
                  <a:srgbClr val="3B5174"/>
                </a:solidFill>
                <a:latin typeface="Noto Sans JP"/>
              </a:rPr>
              <a:t>◆</a:t>
            </a:r>
          </a:p>
        </p:txBody>
      </p:sp>
      <p:sp>
        <p:nvSpPr>
          <p:cNvPr id="26" name="TextBox 25"/>
          <p:cNvSpPr txBox="1"/>
          <p:nvPr/>
        </p:nvSpPr>
        <p:spPr>
          <a:xfrm>
            <a:off x="7046823" y="1060704"/>
            <a:ext cx="4641951"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SDS（添加剤）</a:t>
            </a:r>
          </a:p>
        </p:txBody>
      </p:sp>
      <p:sp>
        <p:nvSpPr>
          <p:cNvPr id="27" name="TextBox 26"/>
          <p:cNvSpPr txBox="1"/>
          <p:nvPr/>
        </p:nvSpPr>
        <p:spPr>
          <a:xfrm>
            <a:off x="7046823" y="1316736"/>
            <a:ext cx="4641951" cy="457200"/>
          </a:xfrm>
          <a:prstGeom prst="rect">
            <a:avLst/>
          </a:prstGeom>
          <a:noFill/>
        </p:spPr>
        <p:txBody>
          <a:bodyPr wrap="square" anchor="t" lIns="36000" rIns="36000" tIns="18000" bIns="18000">
            <a:spAutoFit/>
          </a:bodyPr>
          <a:lstStyle/>
          <a:p>
            <a:pPr algn="l"/>
            <a:r>
              <a:rPr sz="1800" b="1" i="0">
                <a:solidFill>
                  <a:srgbClr val="1E293B"/>
                </a:solidFill>
                <a:latin typeface="Noto Sans JP"/>
              </a:rPr>
              <a:t>Sodium Dodecyl Sulfate</a:t>
            </a:r>
          </a:p>
        </p:txBody>
      </p:sp>
      <p:sp>
        <p:nvSpPr>
          <p:cNvPr id="28" name="TextBox 27"/>
          <p:cNvSpPr txBox="1"/>
          <p:nvPr/>
        </p:nvSpPr>
        <p:spPr>
          <a:xfrm>
            <a:off x="6452463" y="204825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29" name="TextBox 28"/>
          <p:cNvSpPr txBox="1"/>
          <p:nvPr/>
        </p:nvSpPr>
        <p:spPr>
          <a:xfrm>
            <a:off x="6681063" y="2048256"/>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陰イオン性界面活性剤</a:t>
            </a:r>
          </a:p>
        </p:txBody>
      </p:sp>
      <p:sp>
        <p:nvSpPr>
          <p:cNvPr id="30" name="TextBox 29"/>
          <p:cNvSpPr txBox="1"/>
          <p:nvPr/>
        </p:nvSpPr>
        <p:spPr>
          <a:xfrm>
            <a:off x="6452463" y="2432304"/>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1" name="TextBox 30"/>
          <p:cNvSpPr txBox="1"/>
          <p:nvPr/>
        </p:nvSpPr>
        <p:spPr>
          <a:xfrm>
            <a:off x="6681063" y="2432304"/>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SDS添加でも Foaming Index は改善しなかった</a:t>
            </a:r>
          </a:p>
        </p:txBody>
      </p:sp>
      <p:sp>
        <p:nvSpPr>
          <p:cNvPr id="32" name="TextBox 31"/>
          <p:cNvSpPr txBox="1"/>
          <p:nvPr/>
        </p:nvSpPr>
        <p:spPr>
          <a:xfrm>
            <a:off x="6452463" y="2816352"/>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3" name="TextBox 32"/>
          <p:cNvSpPr txBox="1"/>
          <p:nvPr/>
        </p:nvSpPr>
        <p:spPr>
          <a:xfrm>
            <a:off x="6681063" y="2816352"/>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添加濃度：0.1 wt% ・ 0.5 wt% の2水準</a:t>
            </a:r>
          </a:p>
        </p:txBody>
      </p:sp>
      <p:sp>
        <p:nvSpPr>
          <p:cNvPr id="34" name="TextBox 33"/>
          <p:cNvSpPr txBox="1"/>
          <p:nvPr/>
        </p:nvSpPr>
        <p:spPr>
          <a:xfrm>
            <a:off x="6452463" y="3200400"/>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5" name="TextBox 34"/>
          <p:cNvSpPr txBox="1"/>
          <p:nvPr/>
        </p:nvSpPr>
        <p:spPr>
          <a:xfrm>
            <a:off x="6681063" y="3200400"/>
            <a:ext cx="4961991" cy="274320"/>
          </a:xfrm>
          <a:prstGeom prst="rect">
            <a:avLst/>
          </a:prstGeom>
          <a:noFill/>
        </p:spPr>
        <p:txBody>
          <a:bodyPr wrap="square" anchor="t" lIns="36000" rIns="36000" tIns="18000" bIns="18000">
            <a:spAutoFit/>
          </a:bodyPr>
          <a:lstStyle/>
          <a:p>
            <a:pPr algn="l"/>
            <a:r>
              <a:rPr sz="1300" b="0" i="0">
                <a:solidFill>
                  <a:srgbClr val="334155"/>
                </a:solidFill>
                <a:latin typeface="Noto Sans JP"/>
              </a:rPr>
              <a:t>SDS量増加で気泡が粗大化（SEM確認）</a:t>
            </a:r>
          </a:p>
        </p:txBody>
      </p:sp>
      <p:sp>
        <p:nvSpPr>
          <p:cNvPr id="36" name="Rounded Rectangle 35"/>
          <p:cNvSpPr/>
          <p:nvPr/>
        </p:nvSpPr>
        <p:spPr>
          <a:xfrm>
            <a:off x="365760" y="4974336"/>
            <a:ext cx="11460175" cy="73152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5760" y="4974336"/>
            <a:ext cx="54864" cy="7315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974336"/>
            <a:ext cx="365760" cy="73152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39" name="TextBox 38"/>
          <p:cNvSpPr txBox="1"/>
          <p:nvPr/>
        </p:nvSpPr>
        <p:spPr>
          <a:xfrm>
            <a:off x="960120" y="4974336"/>
            <a:ext cx="10774375" cy="731520"/>
          </a:xfrm>
          <a:prstGeom prst="rect">
            <a:avLst/>
          </a:prstGeom>
          <a:noFill/>
        </p:spPr>
        <p:txBody>
          <a:bodyPr wrap="square" anchor="ctr" lIns="36000" rIns="36000" tIns="18000" bIns="18000">
            <a:spAutoFit/>
          </a:bodyPr>
          <a:lstStyle/>
          <a:p>
            <a:pPr algn="l"/>
            <a:r>
              <a:rPr sz="1300" b="1" i="0">
                <a:solidFill>
                  <a:srgbClr val="1E293B"/>
                </a:solidFill>
                <a:latin typeface="Noto Sans JP"/>
              </a:rPr>
              <a:t>CSPの焼結温度域とセルロースの熱分解温度が重なるため、熱応答が同期して断熱層を形成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材料 4/6</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評価した5種類の配合系</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12 / 36</a:t>
            </a:r>
          </a:p>
        </p:txBody>
      </p:sp>
      <p:sp>
        <p:nvSpPr>
          <p:cNvPr id="10" name="Rounded Rectangle 9"/>
          <p:cNvSpPr/>
          <p:nvPr/>
        </p:nvSpPr>
        <p:spPr>
          <a:xfrm>
            <a:off x="365760" y="859536"/>
            <a:ext cx="1999427" cy="173736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005840"/>
            <a:ext cx="1816547" cy="256032"/>
          </a:xfrm>
          <a:prstGeom prst="rect">
            <a:avLst/>
          </a:prstGeom>
          <a:noFill/>
        </p:spPr>
        <p:txBody>
          <a:bodyPr wrap="square" anchor="t" lIns="36000" rIns="36000" tIns="18000" bIns="18000">
            <a:spAutoFit/>
          </a:bodyPr>
          <a:lstStyle/>
          <a:p>
            <a:pPr algn="ctr"/>
            <a:r>
              <a:rPr sz="1000" b="1" i="0">
                <a:solidFill>
                  <a:srgbClr val="3B5174"/>
                </a:solidFill>
                <a:latin typeface="Noto Sans JP"/>
              </a:rPr>
              <a:t>対照</a:t>
            </a:r>
          </a:p>
        </p:txBody>
      </p:sp>
      <p:sp>
        <p:nvSpPr>
          <p:cNvPr id="12" name="TextBox 11"/>
          <p:cNvSpPr txBox="1"/>
          <p:nvPr/>
        </p:nvSpPr>
        <p:spPr>
          <a:xfrm>
            <a:off x="457200" y="1362456"/>
            <a:ext cx="1816547" cy="548640"/>
          </a:xfrm>
          <a:prstGeom prst="rect">
            <a:avLst/>
          </a:prstGeom>
          <a:noFill/>
        </p:spPr>
        <p:txBody>
          <a:bodyPr wrap="square" anchor="t" lIns="36000" rIns="36000" tIns="18000" bIns="18000">
            <a:spAutoFit/>
          </a:bodyPr>
          <a:lstStyle/>
          <a:p>
            <a:pPr algn="ctr"/>
            <a:r>
              <a:rPr sz="1300" b="1" i="0">
                <a:solidFill>
                  <a:srgbClr val="1E293B"/>
                </a:solidFill>
                <a:latin typeface="Noto Sans JP"/>
              </a:rPr>
              <a:t>AquaGel-K</a:t>
            </a:r>
          </a:p>
        </p:txBody>
      </p:sp>
      <p:sp>
        <p:nvSpPr>
          <p:cNvPr id="13" name="TextBox 12"/>
          <p:cNvSpPr txBox="1"/>
          <p:nvPr/>
        </p:nvSpPr>
        <p:spPr>
          <a:xfrm>
            <a:off x="457200" y="1956816"/>
            <a:ext cx="1816547" cy="548640"/>
          </a:xfrm>
          <a:prstGeom prst="rect">
            <a:avLst/>
          </a:prstGeom>
          <a:noFill/>
        </p:spPr>
        <p:txBody>
          <a:bodyPr wrap="square" anchor="t" lIns="36000" rIns="36000" tIns="18000" bIns="18000">
            <a:spAutoFit/>
          </a:bodyPr>
          <a:lstStyle/>
          <a:p>
            <a:pPr algn="ctr"/>
            <a:r>
              <a:rPr sz="1000" b="0" i="0">
                <a:solidFill>
                  <a:srgbClr val="64748B"/>
                </a:solidFill>
                <a:latin typeface="Noto Sans JP"/>
              </a:rPr>
              <a:t>0.5 wt%</a:t>
            </a:r>
          </a:p>
          <a:p>
            <a:pPr algn="ctr"/>
            <a:r>
              <a:rPr sz="1000" b="0" i="0">
                <a:solidFill>
                  <a:srgbClr val="64748B"/>
                </a:solidFill>
                <a:latin typeface="Noto Sans JP"/>
              </a:rPr>
              <a:t>市販WEG基準</a:t>
            </a:r>
          </a:p>
        </p:txBody>
      </p:sp>
      <p:sp>
        <p:nvSpPr>
          <p:cNvPr id="14" name="Rounded Rectangle 13"/>
          <p:cNvSpPr/>
          <p:nvPr/>
        </p:nvSpPr>
        <p:spPr>
          <a:xfrm>
            <a:off x="2456627" y="859536"/>
            <a:ext cx="1999427" cy="1737360"/>
          </a:xfrm>
          <a:prstGeom prst="roundRect">
            <a:avLst>
              <a:gd name="adj" fmla="val 4000"/>
            </a:avLst>
          </a:prstGeom>
          <a:solidFill>
            <a:srgbClr val="F8FAFC"/>
          </a:solidFill>
          <a:ln w="889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48067" y="1005840"/>
            <a:ext cx="1816547" cy="256032"/>
          </a:xfrm>
          <a:prstGeom prst="rect">
            <a:avLst/>
          </a:prstGeom>
          <a:noFill/>
        </p:spPr>
        <p:txBody>
          <a:bodyPr wrap="square" anchor="t" lIns="36000" rIns="36000" tIns="18000" bIns="18000">
            <a:spAutoFit/>
          </a:bodyPr>
          <a:lstStyle/>
          <a:p>
            <a:pPr algn="ctr"/>
            <a:r>
              <a:rPr sz="1000" b="1" i="0">
                <a:solidFill>
                  <a:srgbClr val="3B5174"/>
                </a:solidFill>
                <a:latin typeface="Noto Sans JP"/>
              </a:rPr>
              <a:t>配合 1</a:t>
            </a:r>
          </a:p>
        </p:txBody>
      </p:sp>
      <p:sp>
        <p:nvSpPr>
          <p:cNvPr id="16" name="TextBox 15"/>
          <p:cNvSpPr txBox="1"/>
          <p:nvPr/>
        </p:nvSpPr>
        <p:spPr>
          <a:xfrm>
            <a:off x="2548067" y="1362456"/>
            <a:ext cx="1816547" cy="548640"/>
          </a:xfrm>
          <a:prstGeom prst="rect">
            <a:avLst/>
          </a:prstGeom>
          <a:noFill/>
        </p:spPr>
        <p:txBody>
          <a:bodyPr wrap="square" anchor="t" lIns="36000" rIns="36000" tIns="18000" bIns="18000">
            <a:spAutoFit/>
          </a:bodyPr>
          <a:lstStyle/>
          <a:p>
            <a:pPr algn="ctr"/>
            <a:r>
              <a:rPr sz="1300" b="1" i="0">
                <a:solidFill>
                  <a:srgbClr val="1E293B"/>
                </a:solidFill>
                <a:latin typeface="Noto Sans JP"/>
              </a:rPr>
              <a:t>HEC+MC / CSP</a:t>
            </a:r>
          </a:p>
        </p:txBody>
      </p:sp>
      <p:sp>
        <p:nvSpPr>
          <p:cNvPr id="17" name="TextBox 16"/>
          <p:cNvSpPr txBox="1"/>
          <p:nvPr/>
        </p:nvSpPr>
        <p:spPr>
          <a:xfrm>
            <a:off x="2548067" y="1956816"/>
            <a:ext cx="1816547" cy="548640"/>
          </a:xfrm>
          <a:prstGeom prst="rect">
            <a:avLst/>
          </a:prstGeom>
          <a:noFill/>
        </p:spPr>
        <p:txBody>
          <a:bodyPr wrap="square" anchor="t" lIns="36000" rIns="36000" tIns="18000" bIns="18000">
            <a:spAutoFit/>
          </a:bodyPr>
          <a:lstStyle/>
          <a:p>
            <a:pPr algn="ctr"/>
            <a:r>
              <a:rPr sz="1000" b="0" i="0">
                <a:solidFill>
                  <a:srgbClr val="64748B"/>
                </a:solidFill>
                <a:latin typeface="Noto Sans JP"/>
              </a:rPr>
              <a:t>HEC+MC 1 wt%</a:t>
            </a:r>
          </a:p>
          <a:p>
            <a:pPr algn="ctr"/>
            <a:r>
              <a:rPr sz="1000" b="0" i="0">
                <a:solidFill>
                  <a:srgbClr val="64748B"/>
                </a:solidFill>
                <a:latin typeface="Noto Sans JP"/>
              </a:rPr>
              <a:t>CSP 5 wt%</a:t>
            </a:r>
          </a:p>
        </p:txBody>
      </p:sp>
      <p:sp>
        <p:nvSpPr>
          <p:cNvPr id="18" name="Rounded Rectangle 17"/>
          <p:cNvSpPr/>
          <p:nvPr/>
        </p:nvSpPr>
        <p:spPr>
          <a:xfrm>
            <a:off x="4547494" y="859536"/>
            <a:ext cx="1999427" cy="1737360"/>
          </a:xfrm>
          <a:prstGeom prst="roundRect">
            <a:avLst>
              <a:gd name="adj" fmla="val 4000"/>
            </a:avLst>
          </a:prstGeom>
          <a:solidFill>
            <a:srgbClr val="F8FAFC"/>
          </a:solidFill>
          <a:ln w="889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8934" y="1005840"/>
            <a:ext cx="1816547" cy="256032"/>
          </a:xfrm>
          <a:prstGeom prst="rect">
            <a:avLst/>
          </a:prstGeom>
          <a:noFill/>
        </p:spPr>
        <p:txBody>
          <a:bodyPr wrap="square" anchor="t" lIns="36000" rIns="36000" tIns="18000" bIns="18000">
            <a:spAutoFit/>
          </a:bodyPr>
          <a:lstStyle/>
          <a:p>
            <a:pPr algn="ctr"/>
            <a:r>
              <a:rPr sz="1000" b="1" i="0">
                <a:solidFill>
                  <a:srgbClr val="3B5174"/>
                </a:solidFill>
                <a:latin typeface="Noto Sans JP"/>
              </a:rPr>
              <a:t>配合 2</a:t>
            </a:r>
          </a:p>
        </p:txBody>
      </p:sp>
      <p:sp>
        <p:nvSpPr>
          <p:cNvPr id="20" name="TextBox 19"/>
          <p:cNvSpPr txBox="1"/>
          <p:nvPr/>
        </p:nvSpPr>
        <p:spPr>
          <a:xfrm>
            <a:off x="4638934" y="1362456"/>
            <a:ext cx="1816547" cy="548640"/>
          </a:xfrm>
          <a:prstGeom prst="rect">
            <a:avLst/>
          </a:prstGeom>
          <a:noFill/>
        </p:spPr>
        <p:txBody>
          <a:bodyPr wrap="square" anchor="t" lIns="36000" rIns="36000" tIns="18000" bIns="18000">
            <a:spAutoFit/>
          </a:bodyPr>
          <a:lstStyle/>
          <a:p>
            <a:pPr algn="ctr"/>
            <a:r>
              <a:rPr sz="1300" b="1" i="0">
                <a:solidFill>
                  <a:srgbClr val="1E293B"/>
                </a:solidFill>
                <a:latin typeface="Noto Sans JP"/>
              </a:rPr>
              <a:t>MHEC / CSP</a:t>
            </a:r>
          </a:p>
        </p:txBody>
      </p:sp>
      <p:sp>
        <p:nvSpPr>
          <p:cNvPr id="21" name="TextBox 20"/>
          <p:cNvSpPr txBox="1"/>
          <p:nvPr/>
        </p:nvSpPr>
        <p:spPr>
          <a:xfrm>
            <a:off x="4638934" y="1956816"/>
            <a:ext cx="1816547" cy="548640"/>
          </a:xfrm>
          <a:prstGeom prst="rect">
            <a:avLst/>
          </a:prstGeom>
          <a:noFill/>
        </p:spPr>
        <p:txBody>
          <a:bodyPr wrap="square" anchor="t" lIns="36000" rIns="36000" tIns="18000" bIns="18000">
            <a:spAutoFit/>
          </a:bodyPr>
          <a:lstStyle/>
          <a:p>
            <a:pPr algn="ctr"/>
            <a:r>
              <a:rPr sz="1000" b="0" i="0">
                <a:solidFill>
                  <a:srgbClr val="64748B"/>
                </a:solidFill>
                <a:latin typeface="Noto Sans JP"/>
              </a:rPr>
              <a:t>MHEC 1 wt%</a:t>
            </a:r>
          </a:p>
          <a:p>
            <a:pPr algn="ctr"/>
            <a:r>
              <a:rPr sz="1000" b="0" i="0">
                <a:solidFill>
                  <a:srgbClr val="64748B"/>
                </a:solidFill>
                <a:latin typeface="Noto Sans JP"/>
              </a:rPr>
              <a:t>CSP 5 wt%</a:t>
            </a:r>
          </a:p>
        </p:txBody>
      </p:sp>
      <p:sp>
        <p:nvSpPr>
          <p:cNvPr id="22" name="Rounded Rectangle 21"/>
          <p:cNvSpPr/>
          <p:nvPr/>
        </p:nvSpPr>
        <p:spPr>
          <a:xfrm>
            <a:off x="6638361" y="859536"/>
            <a:ext cx="1999427" cy="1737360"/>
          </a:xfrm>
          <a:prstGeom prst="roundRect">
            <a:avLst>
              <a:gd name="adj" fmla="val 4000"/>
            </a:avLst>
          </a:prstGeom>
          <a:solidFill>
            <a:srgbClr val="F8FAFC"/>
          </a:solidFill>
          <a:ln w="889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9801" y="1005840"/>
            <a:ext cx="1816547" cy="256032"/>
          </a:xfrm>
          <a:prstGeom prst="rect">
            <a:avLst/>
          </a:prstGeom>
          <a:noFill/>
        </p:spPr>
        <p:txBody>
          <a:bodyPr wrap="square" anchor="t" lIns="36000" rIns="36000" tIns="18000" bIns="18000">
            <a:spAutoFit/>
          </a:bodyPr>
          <a:lstStyle/>
          <a:p>
            <a:pPr algn="ctr"/>
            <a:r>
              <a:rPr sz="1000" b="1" i="0">
                <a:solidFill>
                  <a:srgbClr val="3B5174"/>
                </a:solidFill>
                <a:latin typeface="Noto Sans JP"/>
              </a:rPr>
              <a:t>配合 3</a:t>
            </a:r>
          </a:p>
        </p:txBody>
      </p:sp>
      <p:sp>
        <p:nvSpPr>
          <p:cNvPr id="24" name="TextBox 23"/>
          <p:cNvSpPr txBox="1"/>
          <p:nvPr/>
        </p:nvSpPr>
        <p:spPr>
          <a:xfrm>
            <a:off x="6729801" y="1362456"/>
            <a:ext cx="1816547" cy="548640"/>
          </a:xfrm>
          <a:prstGeom prst="rect">
            <a:avLst/>
          </a:prstGeom>
          <a:noFill/>
        </p:spPr>
        <p:txBody>
          <a:bodyPr wrap="square" anchor="t" lIns="36000" rIns="36000" tIns="18000" bIns="18000">
            <a:spAutoFit/>
          </a:bodyPr>
          <a:lstStyle/>
          <a:p>
            <a:pPr algn="ctr"/>
            <a:r>
              <a:rPr sz="1300" b="1" i="0">
                <a:solidFill>
                  <a:srgbClr val="1E293B"/>
                </a:solidFill>
                <a:latin typeface="Noto Sans JP"/>
              </a:rPr>
              <a:t>HEC+MC / CSP / SDS</a:t>
            </a:r>
          </a:p>
        </p:txBody>
      </p:sp>
      <p:sp>
        <p:nvSpPr>
          <p:cNvPr id="25" name="TextBox 24"/>
          <p:cNvSpPr txBox="1"/>
          <p:nvPr/>
        </p:nvSpPr>
        <p:spPr>
          <a:xfrm>
            <a:off x="6729801" y="1956816"/>
            <a:ext cx="1816547" cy="548640"/>
          </a:xfrm>
          <a:prstGeom prst="rect">
            <a:avLst/>
          </a:prstGeom>
          <a:noFill/>
        </p:spPr>
        <p:txBody>
          <a:bodyPr wrap="square" anchor="t" lIns="36000" rIns="36000" tIns="18000" bIns="18000">
            <a:spAutoFit/>
          </a:bodyPr>
          <a:lstStyle/>
          <a:p>
            <a:pPr algn="ctr"/>
            <a:r>
              <a:rPr sz="1000" b="0" i="0">
                <a:solidFill>
                  <a:srgbClr val="64748B"/>
                </a:solidFill>
                <a:latin typeface="Noto Sans JP"/>
              </a:rPr>
              <a:t>+ SDS 0.1 wt%</a:t>
            </a:r>
          </a:p>
        </p:txBody>
      </p:sp>
      <p:sp>
        <p:nvSpPr>
          <p:cNvPr id="26" name="Rounded Rectangle 25"/>
          <p:cNvSpPr/>
          <p:nvPr/>
        </p:nvSpPr>
        <p:spPr>
          <a:xfrm>
            <a:off x="8729228" y="859536"/>
            <a:ext cx="1999427" cy="1737360"/>
          </a:xfrm>
          <a:prstGeom prst="roundRect">
            <a:avLst>
              <a:gd name="adj" fmla="val 4000"/>
            </a:avLst>
          </a:prstGeom>
          <a:solidFill>
            <a:srgbClr val="F8FAFC"/>
          </a:solidFill>
          <a:ln w="889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20668" y="1005840"/>
            <a:ext cx="1816547" cy="256032"/>
          </a:xfrm>
          <a:prstGeom prst="rect">
            <a:avLst/>
          </a:prstGeom>
          <a:noFill/>
        </p:spPr>
        <p:txBody>
          <a:bodyPr wrap="square" anchor="t" lIns="36000" rIns="36000" tIns="18000" bIns="18000">
            <a:spAutoFit/>
          </a:bodyPr>
          <a:lstStyle/>
          <a:p>
            <a:pPr algn="ctr"/>
            <a:r>
              <a:rPr sz="1000" b="1" i="0">
                <a:solidFill>
                  <a:srgbClr val="3B5174"/>
                </a:solidFill>
                <a:latin typeface="Noto Sans JP"/>
              </a:rPr>
              <a:t>配合 4</a:t>
            </a:r>
          </a:p>
        </p:txBody>
      </p:sp>
      <p:sp>
        <p:nvSpPr>
          <p:cNvPr id="28" name="TextBox 27"/>
          <p:cNvSpPr txBox="1"/>
          <p:nvPr/>
        </p:nvSpPr>
        <p:spPr>
          <a:xfrm>
            <a:off x="8820668" y="1362456"/>
            <a:ext cx="1816547" cy="548640"/>
          </a:xfrm>
          <a:prstGeom prst="rect">
            <a:avLst/>
          </a:prstGeom>
          <a:noFill/>
        </p:spPr>
        <p:txBody>
          <a:bodyPr wrap="square" anchor="t" lIns="36000" rIns="36000" tIns="18000" bIns="18000">
            <a:spAutoFit/>
          </a:bodyPr>
          <a:lstStyle/>
          <a:p>
            <a:pPr algn="ctr"/>
            <a:r>
              <a:rPr sz="1300" b="1" i="0">
                <a:solidFill>
                  <a:srgbClr val="1E293B"/>
                </a:solidFill>
                <a:latin typeface="Noto Sans JP"/>
              </a:rPr>
              <a:t>HEC+MC / CSP / SDS</a:t>
            </a:r>
          </a:p>
        </p:txBody>
      </p:sp>
      <p:sp>
        <p:nvSpPr>
          <p:cNvPr id="29" name="TextBox 28"/>
          <p:cNvSpPr txBox="1"/>
          <p:nvPr/>
        </p:nvSpPr>
        <p:spPr>
          <a:xfrm>
            <a:off x="8820668" y="1956816"/>
            <a:ext cx="1816547" cy="548640"/>
          </a:xfrm>
          <a:prstGeom prst="rect">
            <a:avLst/>
          </a:prstGeom>
          <a:noFill/>
        </p:spPr>
        <p:txBody>
          <a:bodyPr wrap="square" anchor="t" lIns="36000" rIns="36000" tIns="18000" bIns="18000">
            <a:spAutoFit/>
          </a:bodyPr>
          <a:lstStyle/>
          <a:p>
            <a:pPr algn="ctr"/>
            <a:r>
              <a:rPr sz="1000" b="0" i="0">
                <a:solidFill>
                  <a:srgbClr val="64748B"/>
                </a:solidFill>
                <a:latin typeface="Noto Sans JP"/>
              </a:rPr>
              <a:t>+ SDS 0.5 wt%</a:t>
            </a:r>
          </a:p>
        </p:txBody>
      </p:sp>
      <p:sp>
        <p:nvSpPr>
          <p:cNvPr id="30" name="Rounded Rectangle 29"/>
          <p:cNvSpPr/>
          <p:nvPr/>
        </p:nvSpPr>
        <p:spPr>
          <a:xfrm>
            <a:off x="365760" y="2962656"/>
            <a:ext cx="5638647" cy="228600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962656"/>
            <a:ext cx="5638647"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127248"/>
            <a:ext cx="5272887"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配合設計の意図</a:t>
            </a:r>
          </a:p>
        </p:txBody>
      </p:sp>
      <p:sp>
        <p:nvSpPr>
          <p:cNvPr id="33" name="TextBox 32"/>
          <p:cNvSpPr txBox="1"/>
          <p:nvPr/>
        </p:nvSpPr>
        <p:spPr>
          <a:xfrm>
            <a:off x="548640" y="349300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4" name="TextBox 33"/>
          <p:cNvSpPr txBox="1"/>
          <p:nvPr/>
        </p:nvSpPr>
        <p:spPr>
          <a:xfrm>
            <a:off x="749808" y="349300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ポリマー種を変えて(HEC+MC vs MHEC)機能差を比較</a:t>
            </a:r>
          </a:p>
        </p:txBody>
      </p:sp>
      <p:sp>
        <p:nvSpPr>
          <p:cNvPr id="35" name="TextBox 34"/>
          <p:cNvSpPr txBox="1"/>
          <p:nvPr/>
        </p:nvSpPr>
        <p:spPr>
          <a:xfrm>
            <a:off x="548640" y="376732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6" name="TextBox 35"/>
          <p:cNvSpPr txBox="1"/>
          <p:nvPr/>
        </p:nvSpPr>
        <p:spPr>
          <a:xfrm>
            <a:off x="749808" y="376732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SDS濃度を2水準で発泡構造への影響を検証</a:t>
            </a:r>
          </a:p>
        </p:txBody>
      </p:sp>
      <p:sp>
        <p:nvSpPr>
          <p:cNvPr id="37" name="TextBox 36"/>
          <p:cNvSpPr txBox="1"/>
          <p:nvPr/>
        </p:nvSpPr>
        <p:spPr>
          <a:xfrm>
            <a:off x="548640" y="404164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8" name="TextBox 37"/>
          <p:cNvSpPr txBox="1"/>
          <p:nvPr/>
        </p:nvSpPr>
        <p:spPr>
          <a:xfrm>
            <a:off x="749808" y="404164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市販品AquaGel-Kとの直接比較</a:t>
            </a:r>
          </a:p>
        </p:txBody>
      </p:sp>
      <p:sp>
        <p:nvSpPr>
          <p:cNvPr id="39" name="Rounded Rectangle 38"/>
          <p:cNvSpPr/>
          <p:nvPr/>
        </p:nvSpPr>
        <p:spPr>
          <a:xfrm>
            <a:off x="6187287" y="2962656"/>
            <a:ext cx="5638647" cy="228600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87287" y="2962656"/>
            <a:ext cx="5638647"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0167" y="3127248"/>
            <a:ext cx="5272887"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記法の読み方</a:t>
            </a:r>
          </a:p>
        </p:txBody>
      </p:sp>
      <p:sp>
        <p:nvSpPr>
          <p:cNvPr id="42" name="TextBox 41"/>
          <p:cNvSpPr txBox="1"/>
          <p:nvPr/>
        </p:nvSpPr>
        <p:spPr>
          <a:xfrm>
            <a:off x="6370167" y="3493008"/>
            <a:ext cx="5272887" cy="1645920"/>
          </a:xfrm>
          <a:prstGeom prst="rect">
            <a:avLst/>
          </a:prstGeom>
          <a:noFill/>
        </p:spPr>
        <p:txBody>
          <a:bodyPr wrap="square" anchor="t" lIns="36000" rIns="36000" tIns="18000" bIns="18000">
            <a:spAutoFit/>
          </a:bodyPr>
          <a:lstStyle/>
          <a:p>
            <a:pPr algn="l"/>
            <a:r>
              <a:rPr sz="1400" b="0" i="0">
                <a:solidFill>
                  <a:srgbClr val="475569"/>
                </a:solidFill>
                <a:latin typeface="Noto Sans JP"/>
              </a:rPr>
              <a:t>HEC+MC/CSP/SDS 1-5-0.1</a:t>
            </a:r>
          </a:p>
          <a:p>
            <a:pPr algn="l"/>
            <a:r>
              <a:rPr sz="1400" b="0" i="0">
                <a:solidFill>
                  <a:srgbClr val="475569"/>
                </a:solidFill>
                <a:latin typeface="Noto Sans JP"/>
              </a:rPr>
              <a:t>→ HEC+MC 1 wt% ／ CSP 5 wt% ／ SDS 0.1 wt%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材料 5/6</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評価手法の全体像</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13 / 36</a:t>
            </a:r>
          </a:p>
        </p:txBody>
      </p:sp>
      <p:sp>
        <p:nvSpPr>
          <p:cNvPr id="10" name="Rounded Rectangle 9"/>
          <p:cNvSpPr/>
          <p:nvPr/>
        </p:nvSpPr>
        <p:spPr>
          <a:xfrm>
            <a:off x="365760" y="859536"/>
            <a:ext cx="3728618" cy="27889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372861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24128"/>
            <a:ext cx="336285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RHEOLOGY</a:t>
            </a:r>
          </a:p>
        </p:txBody>
      </p:sp>
      <p:sp>
        <p:nvSpPr>
          <p:cNvPr id="13" name="TextBox 12"/>
          <p:cNvSpPr txBox="1"/>
          <p:nvPr/>
        </p:nvSpPr>
        <p:spPr>
          <a:xfrm>
            <a:off x="548640" y="1261872"/>
            <a:ext cx="3362858"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レオロジー測定</a:t>
            </a:r>
          </a:p>
        </p:txBody>
      </p:sp>
      <p:sp>
        <p:nvSpPr>
          <p:cNvPr id="14" name="TextBox 13"/>
          <p:cNvSpPr txBox="1"/>
          <p:nvPr/>
        </p:nvSpPr>
        <p:spPr>
          <a:xfrm>
            <a:off x="548640"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15" name="TextBox 14"/>
          <p:cNvSpPr txBox="1"/>
          <p:nvPr/>
        </p:nvSpPr>
        <p:spPr>
          <a:xfrm>
            <a:off x="749808" y="162763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振動周波数掃引（G', G''）</a:t>
            </a:r>
          </a:p>
        </p:txBody>
      </p:sp>
      <p:sp>
        <p:nvSpPr>
          <p:cNvPr id="16" name="TextBox 15"/>
          <p:cNvSpPr txBox="1"/>
          <p:nvPr/>
        </p:nvSpPr>
        <p:spPr>
          <a:xfrm>
            <a:off x="548640"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17" name="TextBox 16"/>
          <p:cNvSpPr txBox="1"/>
          <p:nvPr/>
        </p:nvSpPr>
        <p:spPr>
          <a:xfrm>
            <a:off x="749808" y="190195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定常流動掃引（粘度 vs 剪断速度）</a:t>
            </a:r>
          </a:p>
        </p:txBody>
      </p:sp>
      <p:sp>
        <p:nvSpPr>
          <p:cNvPr id="18" name="TextBox 17"/>
          <p:cNvSpPr txBox="1"/>
          <p:nvPr/>
        </p:nvSpPr>
        <p:spPr>
          <a:xfrm>
            <a:off x="548640" y="217627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19" name="TextBox 18"/>
          <p:cNvSpPr txBox="1"/>
          <p:nvPr/>
        </p:nvSpPr>
        <p:spPr>
          <a:xfrm>
            <a:off x="749808" y="217627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Herschel-Bulkleyモデル適合</a:t>
            </a:r>
          </a:p>
        </p:txBody>
      </p:sp>
      <p:sp>
        <p:nvSpPr>
          <p:cNvPr id="20" name="Rounded Rectangle 19"/>
          <p:cNvSpPr/>
          <p:nvPr/>
        </p:nvSpPr>
        <p:spPr>
          <a:xfrm>
            <a:off x="4231538" y="859536"/>
            <a:ext cx="3728618" cy="27889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31538" y="859536"/>
            <a:ext cx="372861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4418" y="1024128"/>
            <a:ext cx="336285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BURN TEST</a:t>
            </a:r>
          </a:p>
        </p:txBody>
      </p:sp>
      <p:sp>
        <p:nvSpPr>
          <p:cNvPr id="23" name="TextBox 22"/>
          <p:cNvSpPr txBox="1"/>
          <p:nvPr/>
        </p:nvSpPr>
        <p:spPr>
          <a:xfrm>
            <a:off x="4414418" y="1261872"/>
            <a:ext cx="3362858"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燃焼試験（Time-to-char）</a:t>
            </a:r>
          </a:p>
        </p:txBody>
      </p:sp>
      <p:sp>
        <p:nvSpPr>
          <p:cNvPr id="24" name="TextBox 23"/>
          <p:cNvSpPr txBox="1"/>
          <p:nvPr/>
        </p:nvSpPr>
        <p:spPr>
          <a:xfrm>
            <a:off x="4414418"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25" name="TextBox 24"/>
          <p:cNvSpPr txBox="1"/>
          <p:nvPr/>
        </p:nvSpPr>
        <p:spPr>
          <a:xfrm>
            <a:off x="4615586" y="162763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MAP-Proトーチ（~2054°C）で白木合板を加熱</a:t>
            </a:r>
          </a:p>
        </p:txBody>
      </p:sp>
      <p:sp>
        <p:nvSpPr>
          <p:cNvPr id="26" name="TextBox 25"/>
          <p:cNvSpPr txBox="1"/>
          <p:nvPr/>
        </p:nvSpPr>
        <p:spPr>
          <a:xfrm>
            <a:off x="4414418"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27" name="TextBox 26"/>
          <p:cNvSpPr txBox="1"/>
          <p:nvPr/>
        </p:nvSpPr>
        <p:spPr>
          <a:xfrm>
            <a:off x="4615586" y="190195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炭化開始までの時間を計測</a:t>
            </a:r>
          </a:p>
        </p:txBody>
      </p:sp>
      <p:sp>
        <p:nvSpPr>
          <p:cNvPr id="28" name="TextBox 27"/>
          <p:cNvSpPr txBox="1"/>
          <p:nvPr/>
        </p:nvSpPr>
        <p:spPr>
          <a:xfrm>
            <a:off x="4414418" y="217627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29" name="TextBox 28"/>
          <p:cNvSpPr txBox="1"/>
          <p:nvPr/>
        </p:nvSpPr>
        <p:spPr>
          <a:xfrm>
            <a:off x="4615586" y="217627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120 s / 300 s時点を写真比較</a:t>
            </a:r>
          </a:p>
        </p:txBody>
      </p:sp>
      <p:sp>
        <p:nvSpPr>
          <p:cNvPr id="30" name="Rounded Rectangle 29"/>
          <p:cNvSpPr/>
          <p:nvPr/>
        </p:nvSpPr>
        <p:spPr>
          <a:xfrm>
            <a:off x="8097316" y="859536"/>
            <a:ext cx="3728618" cy="27889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7316" y="859536"/>
            <a:ext cx="372861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0196" y="1024128"/>
            <a:ext cx="336285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FOAMING</a:t>
            </a:r>
          </a:p>
        </p:txBody>
      </p:sp>
      <p:sp>
        <p:nvSpPr>
          <p:cNvPr id="33" name="TextBox 32"/>
          <p:cNvSpPr txBox="1"/>
          <p:nvPr/>
        </p:nvSpPr>
        <p:spPr>
          <a:xfrm>
            <a:off x="8280196" y="1261872"/>
            <a:ext cx="3362858"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発泡指数測定</a:t>
            </a:r>
          </a:p>
        </p:txBody>
      </p:sp>
      <p:sp>
        <p:nvSpPr>
          <p:cNvPr id="34" name="TextBox 33"/>
          <p:cNvSpPr txBox="1"/>
          <p:nvPr/>
        </p:nvSpPr>
        <p:spPr>
          <a:xfrm>
            <a:off x="8280196"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35" name="TextBox 34"/>
          <p:cNvSpPr txBox="1"/>
          <p:nvPr/>
        </p:nvSpPr>
        <p:spPr>
          <a:xfrm>
            <a:off x="8481364" y="162763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燃焼後の発泡層厚さを計測</a:t>
            </a:r>
          </a:p>
        </p:txBody>
      </p:sp>
      <p:sp>
        <p:nvSpPr>
          <p:cNvPr id="36" name="TextBox 35"/>
          <p:cNvSpPr txBox="1"/>
          <p:nvPr/>
        </p:nvSpPr>
        <p:spPr>
          <a:xfrm>
            <a:off x="8280196"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37" name="TextBox 36"/>
          <p:cNvSpPr txBox="1"/>
          <p:nvPr/>
        </p:nvSpPr>
        <p:spPr>
          <a:xfrm>
            <a:off x="8481364" y="190195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初期厚さに対する比 = Foaming Index</a:t>
            </a:r>
          </a:p>
        </p:txBody>
      </p:sp>
      <p:sp>
        <p:nvSpPr>
          <p:cNvPr id="38" name="Rounded Rectangle 37"/>
          <p:cNvSpPr/>
          <p:nvPr/>
        </p:nvSpPr>
        <p:spPr>
          <a:xfrm>
            <a:off x="365760" y="3831336"/>
            <a:ext cx="3728618" cy="27889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831336"/>
            <a:ext cx="372861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3995928"/>
            <a:ext cx="336285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SEM</a:t>
            </a:r>
          </a:p>
        </p:txBody>
      </p:sp>
      <p:sp>
        <p:nvSpPr>
          <p:cNvPr id="41" name="TextBox 40"/>
          <p:cNvSpPr txBox="1"/>
          <p:nvPr/>
        </p:nvSpPr>
        <p:spPr>
          <a:xfrm>
            <a:off x="548640" y="4233672"/>
            <a:ext cx="3362858"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SEM形態観察</a:t>
            </a:r>
          </a:p>
        </p:txBody>
      </p:sp>
      <p:sp>
        <p:nvSpPr>
          <p:cNvPr id="42" name="TextBox 41"/>
          <p:cNvSpPr txBox="1"/>
          <p:nvPr/>
        </p:nvSpPr>
        <p:spPr>
          <a:xfrm>
            <a:off x="548640" y="45994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43" name="TextBox 42"/>
          <p:cNvSpPr txBox="1"/>
          <p:nvPr/>
        </p:nvSpPr>
        <p:spPr>
          <a:xfrm>
            <a:off x="749808" y="459943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SDS濃度別の発泡構造</a:t>
            </a:r>
          </a:p>
        </p:txBody>
      </p:sp>
      <p:sp>
        <p:nvSpPr>
          <p:cNvPr id="44" name="TextBox 43"/>
          <p:cNvSpPr txBox="1"/>
          <p:nvPr/>
        </p:nvSpPr>
        <p:spPr>
          <a:xfrm>
            <a:off x="548640" y="48737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45" name="TextBox 44"/>
          <p:cNvSpPr txBox="1"/>
          <p:nvPr/>
        </p:nvSpPr>
        <p:spPr>
          <a:xfrm>
            <a:off x="749808" y="487375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燃焼時間別(0/1/2/4分)の焼結進行</a:t>
            </a:r>
          </a:p>
        </p:txBody>
      </p:sp>
      <p:sp>
        <p:nvSpPr>
          <p:cNvPr id="46" name="Rounded Rectangle 45"/>
          <p:cNvSpPr/>
          <p:nvPr/>
        </p:nvSpPr>
        <p:spPr>
          <a:xfrm>
            <a:off x="4231538" y="3831336"/>
            <a:ext cx="3728618" cy="27889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231538" y="3831336"/>
            <a:ext cx="372861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14418" y="3995928"/>
            <a:ext cx="336285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SPECTROSCOPY</a:t>
            </a:r>
          </a:p>
        </p:txBody>
      </p:sp>
      <p:sp>
        <p:nvSpPr>
          <p:cNvPr id="49" name="TextBox 48"/>
          <p:cNvSpPr txBox="1"/>
          <p:nvPr/>
        </p:nvSpPr>
        <p:spPr>
          <a:xfrm>
            <a:off x="4414418" y="4233672"/>
            <a:ext cx="3362858"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分光分析</a:t>
            </a:r>
          </a:p>
        </p:txBody>
      </p:sp>
      <p:sp>
        <p:nvSpPr>
          <p:cNvPr id="50" name="TextBox 49"/>
          <p:cNvSpPr txBox="1"/>
          <p:nvPr/>
        </p:nvSpPr>
        <p:spPr>
          <a:xfrm>
            <a:off x="4414418" y="45994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1" name="TextBox 50"/>
          <p:cNvSpPr txBox="1"/>
          <p:nvPr/>
        </p:nvSpPr>
        <p:spPr>
          <a:xfrm>
            <a:off x="4615586" y="459943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FT-IR（化学結合）</a:t>
            </a:r>
          </a:p>
        </p:txBody>
      </p:sp>
      <p:sp>
        <p:nvSpPr>
          <p:cNvPr id="52" name="TextBox 51"/>
          <p:cNvSpPr txBox="1"/>
          <p:nvPr/>
        </p:nvSpPr>
        <p:spPr>
          <a:xfrm>
            <a:off x="4414418" y="48737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3" name="TextBox 52"/>
          <p:cNvSpPr txBox="1"/>
          <p:nvPr/>
        </p:nvSpPr>
        <p:spPr>
          <a:xfrm>
            <a:off x="4615586" y="487375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XPS（表面組成）</a:t>
            </a:r>
          </a:p>
        </p:txBody>
      </p:sp>
      <p:sp>
        <p:nvSpPr>
          <p:cNvPr id="54" name="Rounded Rectangle 53"/>
          <p:cNvSpPr/>
          <p:nvPr/>
        </p:nvSpPr>
        <p:spPr>
          <a:xfrm>
            <a:off x="8097316" y="3831336"/>
            <a:ext cx="3728618" cy="27889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97316" y="3831336"/>
            <a:ext cx="372861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80196" y="3995928"/>
            <a:ext cx="336285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THERMAL</a:t>
            </a:r>
          </a:p>
        </p:txBody>
      </p:sp>
      <p:sp>
        <p:nvSpPr>
          <p:cNvPr id="57" name="TextBox 56"/>
          <p:cNvSpPr txBox="1"/>
          <p:nvPr/>
        </p:nvSpPr>
        <p:spPr>
          <a:xfrm>
            <a:off x="8280196" y="4233672"/>
            <a:ext cx="3362858"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熱分析</a:t>
            </a:r>
          </a:p>
        </p:txBody>
      </p:sp>
      <p:sp>
        <p:nvSpPr>
          <p:cNvPr id="58" name="TextBox 57"/>
          <p:cNvSpPr txBox="1"/>
          <p:nvPr/>
        </p:nvSpPr>
        <p:spPr>
          <a:xfrm>
            <a:off x="8280196" y="45994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9" name="TextBox 58"/>
          <p:cNvSpPr txBox="1"/>
          <p:nvPr/>
        </p:nvSpPr>
        <p:spPr>
          <a:xfrm>
            <a:off x="8481364" y="459943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TGA（熱重量分析）</a:t>
            </a:r>
          </a:p>
        </p:txBody>
      </p:sp>
      <p:sp>
        <p:nvSpPr>
          <p:cNvPr id="60" name="TextBox 59"/>
          <p:cNvSpPr txBox="1"/>
          <p:nvPr/>
        </p:nvSpPr>
        <p:spPr>
          <a:xfrm>
            <a:off x="8280196" y="48737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61" name="TextBox 60"/>
          <p:cNvSpPr txBox="1"/>
          <p:nvPr/>
        </p:nvSpPr>
        <p:spPr>
          <a:xfrm>
            <a:off x="8481364" y="4873752"/>
            <a:ext cx="3161690"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DSC（示差走査熱量）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材料 6/6</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付着性・表面濡れ性：実装に不可欠な特性</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14 / 36</a:t>
            </a:r>
          </a:p>
        </p:txBody>
      </p:sp>
      <p:sp>
        <p:nvSpPr>
          <p:cNvPr id="10" name="Rounded Rectangle 9"/>
          <p:cNvSpPr/>
          <p:nvPr/>
        </p:nvSpPr>
        <p:spPr>
          <a:xfrm>
            <a:off x="365760" y="859536"/>
            <a:ext cx="3734714" cy="32918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2412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WETTING</a:t>
            </a:r>
          </a:p>
        </p:txBody>
      </p:sp>
      <p:sp>
        <p:nvSpPr>
          <p:cNvPr id="13" name="TextBox 12"/>
          <p:cNvSpPr txBox="1"/>
          <p:nvPr/>
        </p:nvSpPr>
        <p:spPr>
          <a:xfrm>
            <a:off x="548640" y="126187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接触角測定</a:t>
            </a:r>
          </a:p>
        </p:txBody>
      </p:sp>
      <p:sp>
        <p:nvSpPr>
          <p:cNvPr id="14" name="TextBox 13"/>
          <p:cNvSpPr txBox="1"/>
          <p:nvPr/>
        </p:nvSpPr>
        <p:spPr>
          <a:xfrm>
            <a:off x="54864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5" name="TextBox 14"/>
          <p:cNvSpPr txBox="1"/>
          <p:nvPr/>
        </p:nvSpPr>
        <p:spPr>
          <a:xfrm>
            <a:off x="749808" y="162763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木材・コンクリート・金属板で接触角評価</a:t>
            </a:r>
          </a:p>
        </p:txBody>
      </p:sp>
      <p:sp>
        <p:nvSpPr>
          <p:cNvPr id="16" name="TextBox 15"/>
          <p:cNvSpPr txBox="1"/>
          <p:nvPr/>
        </p:nvSpPr>
        <p:spPr>
          <a:xfrm>
            <a:off x="54864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7" name="TextBox 16"/>
          <p:cNvSpPr txBox="1"/>
          <p:nvPr/>
        </p:nvSpPr>
        <p:spPr>
          <a:xfrm>
            <a:off x="749808" y="190195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WEGは低接触角 → 高い濡れ性</a:t>
            </a:r>
          </a:p>
        </p:txBody>
      </p:sp>
      <p:sp>
        <p:nvSpPr>
          <p:cNvPr id="18" name="TextBox 17"/>
          <p:cNvSpPr txBox="1"/>
          <p:nvPr/>
        </p:nvSpPr>
        <p:spPr>
          <a:xfrm>
            <a:off x="54864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9" name="TextBox 18"/>
          <p:cNvSpPr txBox="1"/>
          <p:nvPr/>
        </p:nvSpPr>
        <p:spPr>
          <a:xfrm>
            <a:off x="749808" y="21762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HEC+MCはセルロース-木材間で特に親和性が高い</a:t>
            </a:r>
          </a:p>
        </p:txBody>
      </p:sp>
      <p:sp>
        <p:nvSpPr>
          <p:cNvPr id="20" name="Rounded Rectangle 19"/>
          <p:cNvSpPr/>
          <p:nvPr/>
        </p:nvSpPr>
        <p:spPr>
          <a:xfrm>
            <a:off x="4228490" y="859536"/>
            <a:ext cx="3734714" cy="32918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28490" y="85953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1370" y="102412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ADHESION</a:t>
            </a:r>
          </a:p>
        </p:txBody>
      </p:sp>
      <p:sp>
        <p:nvSpPr>
          <p:cNvPr id="23" name="TextBox 22"/>
          <p:cNvSpPr txBox="1"/>
          <p:nvPr/>
        </p:nvSpPr>
        <p:spPr>
          <a:xfrm>
            <a:off x="4411370" y="126187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垂直面付着試験</a:t>
            </a:r>
          </a:p>
        </p:txBody>
      </p:sp>
      <p:sp>
        <p:nvSpPr>
          <p:cNvPr id="24" name="TextBox 23"/>
          <p:cNvSpPr txBox="1"/>
          <p:nvPr/>
        </p:nvSpPr>
        <p:spPr>
          <a:xfrm>
            <a:off x="441137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5" name="TextBox 24"/>
          <p:cNvSpPr txBox="1"/>
          <p:nvPr/>
        </p:nvSpPr>
        <p:spPr>
          <a:xfrm>
            <a:off x="4612538" y="162763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垂直に立てた基板にゲルを塗布</a:t>
            </a:r>
          </a:p>
        </p:txBody>
      </p:sp>
      <p:sp>
        <p:nvSpPr>
          <p:cNvPr id="26" name="TextBox 25"/>
          <p:cNvSpPr txBox="1"/>
          <p:nvPr/>
        </p:nvSpPr>
        <p:spPr>
          <a:xfrm>
            <a:off x="441137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7" name="TextBox 26"/>
          <p:cNvSpPr txBox="1"/>
          <p:nvPr/>
        </p:nvSpPr>
        <p:spPr>
          <a:xfrm>
            <a:off x="4612538" y="190195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G' ≫ G'' → 重力に抵抗して流れ落ちない</a:t>
            </a:r>
          </a:p>
        </p:txBody>
      </p:sp>
      <p:sp>
        <p:nvSpPr>
          <p:cNvPr id="28" name="TextBox 27"/>
          <p:cNvSpPr txBox="1"/>
          <p:nvPr/>
        </p:nvSpPr>
        <p:spPr>
          <a:xfrm>
            <a:off x="441137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9" name="TextBox 28"/>
          <p:cNvSpPr txBox="1"/>
          <p:nvPr/>
        </p:nvSpPr>
        <p:spPr>
          <a:xfrm>
            <a:off x="4612538" y="21762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AquaGel-Kと同等以上の垂直面保持性</a:t>
            </a:r>
          </a:p>
        </p:txBody>
      </p:sp>
      <p:sp>
        <p:nvSpPr>
          <p:cNvPr id="30" name="Rounded Rectangle 29"/>
          <p:cNvSpPr/>
          <p:nvPr/>
        </p:nvSpPr>
        <p:spPr>
          <a:xfrm>
            <a:off x="8091220" y="859536"/>
            <a:ext cx="3734714" cy="32918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1220" y="85953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4100" y="102412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SPRAY</a:t>
            </a:r>
          </a:p>
        </p:txBody>
      </p:sp>
      <p:sp>
        <p:nvSpPr>
          <p:cNvPr id="33" name="TextBox 32"/>
          <p:cNvSpPr txBox="1"/>
          <p:nvPr/>
        </p:nvSpPr>
        <p:spPr>
          <a:xfrm>
            <a:off x="8274100" y="126187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スプレー散布適性</a:t>
            </a:r>
          </a:p>
        </p:txBody>
      </p:sp>
      <p:sp>
        <p:nvSpPr>
          <p:cNvPr id="34" name="TextBox 33"/>
          <p:cNvSpPr txBox="1"/>
          <p:nvPr/>
        </p:nvSpPr>
        <p:spPr>
          <a:xfrm>
            <a:off x="827410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5" name="TextBox 34"/>
          <p:cNvSpPr txBox="1"/>
          <p:nvPr/>
        </p:nvSpPr>
        <p:spPr>
          <a:xfrm>
            <a:off x="8475268" y="162763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高せん断（ノズル内）で粘度が急低下</a:t>
            </a:r>
          </a:p>
        </p:txBody>
      </p:sp>
      <p:sp>
        <p:nvSpPr>
          <p:cNvPr id="36" name="TextBox 35"/>
          <p:cNvSpPr txBox="1"/>
          <p:nvPr/>
        </p:nvSpPr>
        <p:spPr>
          <a:xfrm>
            <a:off x="827410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7" name="TextBox 36"/>
          <p:cNvSpPr txBox="1"/>
          <p:nvPr/>
        </p:nvSpPr>
        <p:spPr>
          <a:xfrm>
            <a:off x="8475268" y="190195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基材到達後すぐに高粘度を回復 → 付着維持</a:t>
            </a:r>
          </a:p>
        </p:txBody>
      </p:sp>
      <p:sp>
        <p:nvSpPr>
          <p:cNvPr id="38" name="TextBox 37"/>
          <p:cNvSpPr txBox="1"/>
          <p:nvPr/>
        </p:nvSpPr>
        <p:spPr>
          <a:xfrm>
            <a:off x="827410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9" name="TextBox 38"/>
          <p:cNvSpPr txBox="1"/>
          <p:nvPr/>
        </p:nvSpPr>
        <p:spPr>
          <a:xfrm>
            <a:off x="8475268" y="21762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既存消防ホース・ノズルと完全互換</a:t>
            </a:r>
          </a:p>
        </p:txBody>
      </p:sp>
      <p:sp>
        <p:nvSpPr>
          <p:cNvPr id="40" name="Rounded Rectangle 39"/>
          <p:cNvSpPr/>
          <p:nvPr/>
        </p:nvSpPr>
        <p:spPr>
          <a:xfrm>
            <a:off x="365760" y="4425696"/>
            <a:ext cx="11460175" cy="73152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425696"/>
            <a:ext cx="54864" cy="7315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425696"/>
            <a:ext cx="365760" cy="73152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43" name="TextBox 42"/>
          <p:cNvSpPr txBox="1"/>
          <p:nvPr/>
        </p:nvSpPr>
        <p:spPr>
          <a:xfrm>
            <a:off x="960120" y="4425696"/>
            <a:ext cx="10774375" cy="731520"/>
          </a:xfrm>
          <a:prstGeom prst="rect">
            <a:avLst/>
          </a:prstGeom>
          <a:noFill/>
        </p:spPr>
        <p:txBody>
          <a:bodyPr wrap="square" anchor="ctr" lIns="36000" rIns="36000" tIns="18000" bIns="18000">
            <a:spAutoFit/>
          </a:bodyPr>
          <a:lstStyle/>
          <a:p>
            <a:pPr algn="l"/>
            <a:r>
              <a:rPr sz="1300" b="1" i="0">
                <a:solidFill>
                  <a:srgbClr val="1E293B"/>
                </a:solidFill>
                <a:latin typeface="Noto Sans JP"/>
              </a:rPr>
              <a:t>流動学的設計（低 n、高 G'）により、散布適性と付着保持を同時に達成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08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62495" y="457200"/>
            <a:ext cx="4572000" cy="6400800"/>
          </a:xfrm>
          <a:prstGeom prst="rect">
            <a:avLst/>
          </a:prstGeom>
          <a:noFill/>
        </p:spPr>
        <p:txBody>
          <a:bodyPr wrap="square" anchor="b" lIns="36000" rIns="36000" tIns="18000" bIns="18000">
            <a:spAutoFit/>
          </a:bodyPr>
          <a:lstStyle/>
          <a:p>
            <a:pPr algn="r"/>
            <a:r>
              <a:rPr sz="24000" b="1" i="0">
                <a:solidFill>
                  <a:srgbClr val="243044"/>
                </a:solidFill>
                <a:latin typeface="Noto Sans JP"/>
              </a:rPr>
              <a:t>03</a:t>
            </a:r>
          </a:p>
        </p:txBody>
      </p:sp>
      <p:sp>
        <p:nvSpPr>
          <p:cNvPr id="5" name="TextBox 4"/>
          <p:cNvSpPr txBox="1"/>
          <p:nvPr/>
        </p:nvSpPr>
        <p:spPr>
          <a:xfrm>
            <a:off x="914400" y="1554480"/>
            <a:ext cx="9144000" cy="365760"/>
          </a:xfrm>
          <a:prstGeom prst="rect">
            <a:avLst/>
          </a:prstGeom>
          <a:noFill/>
        </p:spPr>
        <p:txBody>
          <a:bodyPr wrap="square" anchor="t" lIns="36000" rIns="36000" tIns="18000" bIns="18000">
            <a:spAutoFit/>
          </a:bodyPr>
          <a:lstStyle/>
          <a:p>
            <a:pPr algn="l"/>
            <a:r>
              <a:rPr sz="1300" b="1" i="0">
                <a:solidFill>
                  <a:srgbClr val="88A4C0"/>
                </a:solidFill>
                <a:latin typeface="Noto Sans JP"/>
              </a:rPr>
              <a:t>Part 3</a:t>
            </a:r>
          </a:p>
        </p:txBody>
      </p:sp>
      <p:sp>
        <p:nvSpPr>
          <p:cNvPr id="6" name="TextBox 5"/>
          <p:cNvSpPr txBox="1"/>
          <p:nvPr/>
        </p:nvSpPr>
        <p:spPr>
          <a:xfrm>
            <a:off x="914400" y="2011680"/>
            <a:ext cx="9144000" cy="1280160"/>
          </a:xfrm>
          <a:prstGeom prst="rect">
            <a:avLst/>
          </a:prstGeom>
          <a:noFill/>
        </p:spPr>
        <p:txBody>
          <a:bodyPr wrap="square" anchor="t" lIns="36000" rIns="36000" tIns="18000" bIns="18000">
            <a:spAutoFit/>
          </a:bodyPr>
          <a:lstStyle/>
          <a:p>
            <a:pPr algn="l"/>
            <a:r>
              <a:rPr sz="5200" b="1" i="0">
                <a:solidFill>
                  <a:srgbClr val="FFFFFF"/>
                </a:solidFill>
                <a:latin typeface="Noto Sans JP"/>
              </a:rPr>
              <a:t>実験結果</a:t>
            </a:r>
          </a:p>
        </p:txBody>
      </p:sp>
      <p:sp>
        <p:nvSpPr>
          <p:cNvPr id="7" name="TextBox 6"/>
          <p:cNvSpPr txBox="1"/>
          <p:nvPr/>
        </p:nvSpPr>
        <p:spPr>
          <a:xfrm>
            <a:off x="914400" y="3383280"/>
            <a:ext cx="9144000" cy="914400"/>
          </a:xfrm>
          <a:prstGeom prst="rect">
            <a:avLst/>
          </a:prstGeom>
          <a:noFill/>
        </p:spPr>
        <p:txBody>
          <a:bodyPr wrap="square" anchor="t" lIns="36000" rIns="36000" tIns="18000" bIns="18000">
            <a:spAutoFit/>
          </a:bodyPr>
          <a:lstStyle/>
          <a:p>
            <a:pPr algn="l"/>
            <a:r>
              <a:rPr sz="1700" b="0" i="0">
                <a:solidFill>
                  <a:srgbClr val="9CB4CC"/>
                </a:solidFill>
                <a:latin typeface="Noto Sans JP"/>
              </a:rPr>
              <a:t>レオロジー特性、燃焼性能、発泡構造、エアロゲル形成メカニズムまで</a:t>
            </a:r>
          </a:p>
        </p:txBody>
      </p:sp>
      <p:sp>
        <p:nvSpPr>
          <p:cNvPr id="8" name="Rounded Rectangle 7"/>
          <p:cNvSpPr/>
          <p:nvPr/>
        </p:nvSpPr>
        <p:spPr>
          <a:xfrm>
            <a:off x="914400"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レオロジー</a:t>
            </a:r>
          </a:p>
        </p:txBody>
      </p:sp>
      <p:sp>
        <p:nvSpPr>
          <p:cNvPr id="10" name="Rounded Rectangle 9"/>
          <p:cNvSpPr/>
          <p:nvPr/>
        </p:nvSpPr>
        <p:spPr>
          <a:xfrm>
            <a:off x="2523744"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23744"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燃焼試験</a:t>
            </a:r>
          </a:p>
        </p:txBody>
      </p:sp>
      <p:sp>
        <p:nvSpPr>
          <p:cNvPr id="12" name="Rounded Rectangle 11"/>
          <p:cNvSpPr/>
          <p:nvPr/>
        </p:nvSpPr>
        <p:spPr>
          <a:xfrm>
            <a:off x="4133088"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33088"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発泡指数</a:t>
            </a:r>
          </a:p>
        </p:txBody>
      </p:sp>
      <p:sp>
        <p:nvSpPr>
          <p:cNvPr id="14" name="Rounded Rectangle 13"/>
          <p:cNvSpPr/>
          <p:nvPr/>
        </p:nvSpPr>
        <p:spPr>
          <a:xfrm>
            <a:off x="5742432"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42432"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SEM観察</a:t>
            </a:r>
          </a:p>
        </p:txBody>
      </p:sp>
      <p:sp>
        <p:nvSpPr>
          <p:cNvPr id="16" name="TextBox 15"/>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667788"/>
                </a:solidFill>
                <a:latin typeface="Noto Sans JP"/>
              </a:rPr>
              <a:t>15 /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1/11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レオロジー①：振動弾性率 G' / G''</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16 / 36</a:t>
            </a:r>
          </a:p>
        </p:txBody>
      </p:sp>
      <p:sp>
        <p:nvSpPr>
          <p:cNvPr id="10" name="Rounded Rectangle 9"/>
          <p:cNvSpPr/>
          <p:nvPr/>
        </p:nvSpPr>
        <p:spPr>
          <a:xfrm>
            <a:off x="365760" y="859536"/>
            <a:ext cx="6555461" cy="43891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2a–b</a:t>
            </a:r>
          </a:p>
        </p:txBody>
      </p:sp>
      <p:sp>
        <p:nvSpPr>
          <p:cNvPr id="13" name="TextBox 12"/>
          <p:cNvSpPr txBox="1"/>
          <p:nvPr/>
        </p:nvSpPr>
        <p:spPr>
          <a:xfrm>
            <a:off x="365760" y="859536"/>
            <a:ext cx="6555461" cy="43891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5285232"/>
            <a:ext cx="6555461"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角周波数 vs Storage modulus G' ・ Loss modulus G''</a:t>
            </a:r>
          </a:p>
        </p:txBody>
      </p:sp>
      <p:sp>
        <p:nvSpPr>
          <p:cNvPr id="15" name="Rounded Rectangle 14"/>
          <p:cNvSpPr/>
          <p:nvPr/>
        </p:nvSpPr>
        <p:spPr>
          <a:xfrm>
            <a:off x="7104101" y="859536"/>
            <a:ext cx="4721833" cy="25603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04101" y="859536"/>
            <a:ext cx="4721833"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86981" y="1024128"/>
            <a:ext cx="4356073"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KEY OBSERVATION</a:t>
            </a:r>
          </a:p>
        </p:txBody>
      </p:sp>
      <p:sp>
        <p:nvSpPr>
          <p:cNvPr id="18" name="TextBox 17"/>
          <p:cNvSpPr txBox="1"/>
          <p:nvPr/>
        </p:nvSpPr>
        <p:spPr>
          <a:xfrm>
            <a:off x="7286981" y="1261872"/>
            <a:ext cx="4356073"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主な観察</a:t>
            </a:r>
          </a:p>
        </p:txBody>
      </p:sp>
      <p:sp>
        <p:nvSpPr>
          <p:cNvPr id="19" name="TextBox 18"/>
          <p:cNvSpPr txBox="1"/>
          <p:nvPr/>
        </p:nvSpPr>
        <p:spPr>
          <a:xfrm>
            <a:off x="7286981"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0" name="TextBox 19"/>
          <p:cNvSpPr txBox="1"/>
          <p:nvPr/>
        </p:nvSpPr>
        <p:spPr>
          <a:xfrm>
            <a:off x="7488149" y="1627632"/>
            <a:ext cx="4154905"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全配合系で G' &gt; G'' → 固体的（ゲル）挙動</a:t>
            </a:r>
          </a:p>
        </p:txBody>
      </p:sp>
      <p:sp>
        <p:nvSpPr>
          <p:cNvPr id="21" name="TextBox 20"/>
          <p:cNvSpPr txBox="1"/>
          <p:nvPr/>
        </p:nvSpPr>
        <p:spPr>
          <a:xfrm>
            <a:off x="7286981"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2" name="TextBox 21"/>
          <p:cNvSpPr txBox="1"/>
          <p:nvPr/>
        </p:nvSpPr>
        <p:spPr>
          <a:xfrm>
            <a:off x="7488149" y="1901952"/>
            <a:ext cx="4154905"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周波数依存性が小さい → 安定したネットワーク</a:t>
            </a:r>
          </a:p>
        </p:txBody>
      </p:sp>
      <p:sp>
        <p:nvSpPr>
          <p:cNvPr id="23" name="TextBox 22"/>
          <p:cNvSpPr txBox="1"/>
          <p:nvPr/>
        </p:nvSpPr>
        <p:spPr>
          <a:xfrm>
            <a:off x="7286981"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4" name="TextBox 23"/>
          <p:cNvSpPr txBox="1"/>
          <p:nvPr/>
        </p:nvSpPr>
        <p:spPr>
          <a:xfrm>
            <a:off x="7488149" y="2176272"/>
            <a:ext cx="4154905"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AquaGel-K（G'=457 Pa）より低い G'（46/26 Pa）だが全系でゲル挙動</a:t>
            </a:r>
          </a:p>
        </p:txBody>
      </p:sp>
      <p:sp>
        <p:nvSpPr>
          <p:cNvPr id="25" name="Rounded Rectangle 24"/>
          <p:cNvSpPr/>
          <p:nvPr/>
        </p:nvSpPr>
        <p:spPr>
          <a:xfrm>
            <a:off x="7104101" y="3648456"/>
            <a:ext cx="4721833" cy="73152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04101" y="3648456"/>
            <a:ext cx="54864" cy="7315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6981" y="3648456"/>
            <a:ext cx="365760" cy="73152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28" name="TextBox 27"/>
          <p:cNvSpPr txBox="1"/>
          <p:nvPr/>
        </p:nvSpPr>
        <p:spPr>
          <a:xfrm>
            <a:off x="7698461" y="3648456"/>
            <a:ext cx="4036033" cy="731520"/>
          </a:xfrm>
          <a:prstGeom prst="rect">
            <a:avLst/>
          </a:prstGeom>
          <a:noFill/>
        </p:spPr>
        <p:txBody>
          <a:bodyPr wrap="square" anchor="ctr" lIns="36000" rIns="36000" tIns="18000" bIns="18000">
            <a:spAutoFit/>
          </a:bodyPr>
          <a:lstStyle/>
          <a:p>
            <a:pPr algn="l"/>
            <a:r>
              <a:rPr sz="1300" b="1" i="0">
                <a:solidFill>
                  <a:srgbClr val="1E293B"/>
                </a:solidFill>
                <a:latin typeface="Noto Sans JP"/>
              </a:rPr>
              <a:t>ゲル骨格が明確に形成されており、塗布後に流れ落ちない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2/11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レオロジー②：剪断希薄化と Power-law 指数</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17 / 36</a:t>
            </a:r>
          </a:p>
        </p:txBody>
      </p:sp>
      <p:sp>
        <p:nvSpPr>
          <p:cNvPr id="10" name="Rounded Rectangle 9"/>
          <p:cNvSpPr/>
          <p:nvPr/>
        </p:nvSpPr>
        <p:spPr>
          <a:xfrm>
            <a:off x="365760" y="859536"/>
            <a:ext cx="6555461" cy="43891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2c–d</a:t>
            </a:r>
          </a:p>
        </p:txBody>
      </p:sp>
      <p:sp>
        <p:nvSpPr>
          <p:cNvPr id="13" name="TextBox 12"/>
          <p:cNvSpPr txBox="1"/>
          <p:nvPr/>
        </p:nvSpPr>
        <p:spPr>
          <a:xfrm>
            <a:off x="365760" y="859536"/>
            <a:ext cx="6555461" cy="43891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5285232"/>
            <a:ext cx="6555461"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粘度 vs 剪断速度（shear-thinning挙動）</a:t>
            </a:r>
          </a:p>
        </p:txBody>
      </p:sp>
      <p:sp>
        <p:nvSpPr>
          <p:cNvPr id="15" name="Rounded Rectangle 14"/>
          <p:cNvSpPr/>
          <p:nvPr/>
        </p:nvSpPr>
        <p:spPr>
          <a:xfrm>
            <a:off x="7104101" y="859536"/>
            <a:ext cx="4721833" cy="109728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117" y="969264"/>
            <a:ext cx="4465801"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流動指数 n</a:t>
            </a:r>
          </a:p>
        </p:txBody>
      </p:sp>
      <p:sp>
        <p:nvSpPr>
          <p:cNvPr id="17" name="TextBox 16"/>
          <p:cNvSpPr txBox="1"/>
          <p:nvPr/>
        </p:nvSpPr>
        <p:spPr>
          <a:xfrm>
            <a:off x="7232117" y="1225296"/>
            <a:ext cx="4465801" cy="411480"/>
          </a:xfrm>
          <a:prstGeom prst="rect">
            <a:avLst/>
          </a:prstGeom>
          <a:noFill/>
        </p:spPr>
        <p:txBody>
          <a:bodyPr wrap="square" anchor="t" lIns="36000" rIns="36000" tIns="18000" bIns="18000">
            <a:spAutoFit/>
          </a:bodyPr>
          <a:lstStyle/>
          <a:p>
            <a:pPr algn="l"/>
            <a:r>
              <a:rPr sz="2000" b="1" i="0">
                <a:solidFill>
                  <a:srgbClr val="3B5174"/>
                </a:solidFill>
                <a:latin typeface="Noto Sans JP"/>
              </a:rPr>
              <a:t>n &lt; 1</a:t>
            </a:r>
          </a:p>
        </p:txBody>
      </p:sp>
      <p:sp>
        <p:nvSpPr>
          <p:cNvPr id="18" name="TextBox 17"/>
          <p:cNvSpPr txBox="1"/>
          <p:nvPr/>
        </p:nvSpPr>
        <p:spPr>
          <a:xfrm>
            <a:off x="7232117" y="1645920"/>
            <a:ext cx="4465801"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HEC+MC/CSP — 強い剪断希薄化</a:t>
            </a:r>
          </a:p>
        </p:txBody>
      </p:sp>
      <p:sp>
        <p:nvSpPr>
          <p:cNvPr id="19" name="Rounded Rectangle 18"/>
          <p:cNvSpPr/>
          <p:nvPr/>
        </p:nvSpPr>
        <p:spPr>
          <a:xfrm>
            <a:off x="7104101" y="2093976"/>
            <a:ext cx="4721833" cy="109728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117" y="2203704"/>
            <a:ext cx="4465801"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流動指数 n</a:t>
            </a:r>
          </a:p>
        </p:txBody>
      </p:sp>
      <p:sp>
        <p:nvSpPr>
          <p:cNvPr id="21" name="TextBox 20"/>
          <p:cNvSpPr txBox="1"/>
          <p:nvPr/>
        </p:nvSpPr>
        <p:spPr>
          <a:xfrm>
            <a:off x="7232117" y="2459736"/>
            <a:ext cx="4465801" cy="411480"/>
          </a:xfrm>
          <a:prstGeom prst="rect">
            <a:avLst/>
          </a:prstGeom>
          <a:noFill/>
        </p:spPr>
        <p:txBody>
          <a:bodyPr wrap="square" anchor="t" lIns="36000" rIns="36000" tIns="18000" bIns="18000">
            <a:spAutoFit/>
          </a:bodyPr>
          <a:lstStyle/>
          <a:p>
            <a:pPr algn="l"/>
            <a:r>
              <a:rPr sz="2000" b="1" i="0">
                <a:solidFill>
                  <a:srgbClr val="3B5174"/>
                </a:solidFill>
                <a:latin typeface="Noto Sans JP"/>
              </a:rPr>
              <a:t>n &lt; 1</a:t>
            </a:r>
          </a:p>
        </p:txBody>
      </p:sp>
      <p:sp>
        <p:nvSpPr>
          <p:cNvPr id="22" name="TextBox 21"/>
          <p:cNvSpPr txBox="1"/>
          <p:nvPr/>
        </p:nvSpPr>
        <p:spPr>
          <a:xfrm>
            <a:off x="7232117" y="2880360"/>
            <a:ext cx="4465801"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MHEC/CSP — 同様に剪断希薄化</a:t>
            </a:r>
          </a:p>
        </p:txBody>
      </p:sp>
      <p:sp>
        <p:nvSpPr>
          <p:cNvPr id="23" name="Rounded Rectangle 22"/>
          <p:cNvSpPr/>
          <p:nvPr/>
        </p:nvSpPr>
        <p:spPr>
          <a:xfrm>
            <a:off x="7104101" y="3419856"/>
            <a:ext cx="4721833" cy="91440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41261" y="3557016"/>
            <a:ext cx="4447513" cy="640080"/>
          </a:xfrm>
          <a:prstGeom prst="rect">
            <a:avLst/>
          </a:prstGeom>
          <a:noFill/>
        </p:spPr>
        <p:txBody>
          <a:bodyPr wrap="square" anchor="t" lIns="36000" rIns="36000" tIns="18000" bIns="18000">
            <a:spAutoFit/>
          </a:bodyPr>
          <a:lstStyle/>
          <a:p>
            <a:pPr algn="l"/>
            <a:r>
              <a:rPr sz="1200" b="0" i="0">
                <a:solidFill>
                  <a:srgbClr val="475569"/>
                </a:solidFill>
                <a:latin typeface="Noto Sans JP"/>
              </a:rPr>
              <a:t>n &lt; 1 = 剪断希薄化（shear-thinning）</a:t>
            </a:r>
          </a:p>
          <a:p>
            <a:pPr algn="l"/>
            <a:r>
              <a:rPr sz="1200" b="0" i="0">
                <a:solidFill>
                  <a:srgbClr val="475569"/>
                </a:solidFill>
                <a:latin typeface="Noto Sans JP"/>
              </a:rPr>
              <a:t>低いほど高せん断でよく流れる → スプレー性◎</a:t>
            </a:r>
          </a:p>
        </p:txBody>
      </p:sp>
      <p:sp>
        <p:nvSpPr>
          <p:cNvPr id="25" name="Rounded Rectangle 24"/>
          <p:cNvSpPr/>
          <p:nvPr/>
        </p:nvSpPr>
        <p:spPr>
          <a:xfrm>
            <a:off x="365760" y="5431536"/>
            <a:ext cx="11460175" cy="59436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5431536"/>
            <a:ext cx="54864" cy="59436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431536"/>
            <a:ext cx="365760" cy="59436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28" name="TextBox 27"/>
          <p:cNvSpPr txBox="1"/>
          <p:nvPr/>
        </p:nvSpPr>
        <p:spPr>
          <a:xfrm>
            <a:off x="960120" y="5431536"/>
            <a:ext cx="10774375" cy="594360"/>
          </a:xfrm>
          <a:prstGeom prst="rect">
            <a:avLst/>
          </a:prstGeom>
          <a:noFill/>
        </p:spPr>
        <p:txBody>
          <a:bodyPr wrap="square" anchor="ctr" lIns="36000" rIns="36000" tIns="18000" bIns="18000">
            <a:spAutoFit/>
          </a:bodyPr>
          <a:lstStyle/>
          <a:p>
            <a:pPr algn="l"/>
            <a:r>
              <a:rPr sz="1300" b="1" i="0">
                <a:solidFill>
                  <a:srgbClr val="1E293B"/>
                </a:solidFill>
                <a:latin typeface="Noto Sans JP"/>
              </a:rPr>
              <a:t>静止時は高粘度で付着、噴霧時は低粘度で散布 — 既存の消火機材でそのまま使える流動特性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3/11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レオロジー③：静的降伏応力と長期安定性</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18 / 36</a:t>
            </a:r>
          </a:p>
        </p:txBody>
      </p:sp>
      <p:sp>
        <p:nvSpPr>
          <p:cNvPr id="10" name="Rounded Rectangle 9"/>
          <p:cNvSpPr/>
          <p:nvPr/>
        </p:nvSpPr>
        <p:spPr>
          <a:xfrm>
            <a:off x="365760" y="859536"/>
            <a:ext cx="11460175" cy="59436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54864" cy="59436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859536"/>
            <a:ext cx="365760" cy="594360"/>
          </a:xfrm>
          <a:prstGeom prst="rect">
            <a:avLst/>
          </a:prstGeom>
          <a:noFill/>
        </p:spPr>
        <p:txBody>
          <a:bodyPr wrap="square" anchor="ctr" lIns="36000" rIns="36000" tIns="18000" bIns="18000">
            <a:spAutoFit/>
          </a:bodyPr>
          <a:lstStyle/>
          <a:p>
            <a:pPr algn="l"/>
            <a:r>
              <a:rPr sz="1400" b="0" i="0">
                <a:solidFill>
                  <a:srgbClr val="3B5174"/>
                </a:solidFill>
                <a:latin typeface="Noto Sans JP"/>
              </a:rPr>
              <a:t>ƒ</a:t>
            </a:r>
          </a:p>
        </p:txBody>
      </p:sp>
      <p:sp>
        <p:nvSpPr>
          <p:cNvPr id="13" name="TextBox 12"/>
          <p:cNvSpPr txBox="1"/>
          <p:nvPr/>
        </p:nvSpPr>
        <p:spPr>
          <a:xfrm>
            <a:off x="960120" y="859536"/>
            <a:ext cx="10774375" cy="594360"/>
          </a:xfrm>
          <a:prstGeom prst="rect">
            <a:avLst/>
          </a:prstGeom>
          <a:noFill/>
        </p:spPr>
        <p:txBody>
          <a:bodyPr wrap="square" anchor="ctr" lIns="36000" rIns="36000" tIns="18000" bIns="18000">
            <a:spAutoFit/>
          </a:bodyPr>
          <a:lstStyle/>
          <a:p>
            <a:pPr algn="l"/>
            <a:r>
              <a:rPr sz="1300" b="1" i="0">
                <a:solidFill>
                  <a:srgbClr val="1E293B"/>
                </a:solidFill>
                <a:latin typeface="Noto Sans JP"/>
              </a:rPr>
              <a:t>静的降伏応力：振幅掃引のG'/G'' クロスオーバー点（σ_s）。流れ始めに必要な最小応力</a:t>
            </a:r>
          </a:p>
        </p:txBody>
      </p:sp>
      <p:sp>
        <p:nvSpPr>
          <p:cNvPr id="14" name="Rectangle 13"/>
          <p:cNvSpPr/>
          <p:nvPr/>
        </p:nvSpPr>
        <p:spPr>
          <a:xfrm>
            <a:off x="365760" y="1636776"/>
            <a:ext cx="11460175" cy="5029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3554979" cy="502920"/>
          </a:xfrm>
          <a:prstGeom prst="rect">
            <a:avLst/>
          </a:prstGeom>
          <a:noFill/>
        </p:spPr>
        <p:txBody>
          <a:bodyPr wrap="square" anchor="ctr" lIns="36000" rIns="36000" tIns="18000" bIns="18000">
            <a:spAutoFit/>
          </a:bodyPr>
          <a:lstStyle/>
          <a:p>
            <a:pPr algn="l"/>
            <a:r>
              <a:rPr sz="1100" b="1" i="0">
                <a:solidFill>
                  <a:srgbClr val="FFFFFF"/>
                </a:solidFill>
                <a:latin typeface="Noto Sans JP"/>
              </a:rPr>
              <a:t>配合系</a:t>
            </a:r>
          </a:p>
        </p:txBody>
      </p:sp>
      <p:sp>
        <p:nvSpPr>
          <p:cNvPr id="16" name="TextBox 15"/>
          <p:cNvSpPr txBox="1"/>
          <p:nvPr/>
        </p:nvSpPr>
        <p:spPr>
          <a:xfrm>
            <a:off x="4103619" y="1636776"/>
            <a:ext cx="2513145" cy="502920"/>
          </a:xfrm>
          <a:prstGeom prst="rect">
            <a:avLst/>
          </a:prstGeom>
          <a:noFill/>
        </p:spPr>
        <p:txBody>
          <a:bodyPr wrap="square" anchor="ctr" lIns="36000" rIns="36000" tIns="18000" bIns="18000">
            <a:spAutoFit/>
          </a:bodyPr>
          <a:lstStyle/>
          <a:p>
            <a:pPr algn="l"/>
            <a:r>
              <a:rPr sz="1100" b="1" i="0">
                <a:solidFill>
                  <a:srgbClr val="FFFFFF"/>
                </a:solidFill>
                <a:latin typeface="Noto Sans JP"/>
              </a:rPr>
              <a:t>静的降伏応力（新鮮）</a:t>
            </a:r>
          </a:p>
        </p:txBody>
      </p:sp>
      <p:sp>
        <p:nvSpPr>
          <p:cNvPr id="17" name="TextBox 16"/>
          <p:cNvSpPr txBox="1"/>
          <p:nvPr/>
        </p:nvSpPr>
        <p:spPr>
          <a:xfrm>
            <a:off x="6708204" y="1636776"/>
            <a:ext cx="2513145" cy="502920"/>
          </a:xfrm>
          <a:prstGeom prst="rect">
            <a:avLst/>
          </a:prstGeom>
          <a:noFill/>
        </p:spPr>
        <p:txBody>
          <a:bodyPr wrap="square" anchor="ctr" lIns="36000" rIns="36000" tIns="18000" bIns="18000">
            <a:spAutoFit/>
          </a:bodyPr>
          <a:lstStyle/>
          <a:p>
            <a:pPr algn="l"/>
            <a:r>
              <a:rPr sz="1100" b="1" i="0">
                <a:solidFill>
                  <a:srgbClr val="FFFFFF"/>
                </a:solidFill>
                <a:latin typeface="Noto Sans JP"/>
              </a:rPr>
              <a:t>静的降伏応力（455日後）</a:t>
            </a:r>
          </a:p>
        </p:txBody>
      </p:sp>
      <p:sp>
        <p:nvSpPr>
          <p:cNvPr id="18" name="TextBox 17"/>
          <p:cNvSpPr txBox="1"/>
          <p:nvPr/>
        </p:nvSpPr>
        <p:spPr>
          <a:xfrm>
            <a:off x="9312789" y="1636776"/>
            <a:ext cx="2513145" cy="502920"/>
          </a:xfrm>
          <a:prstGeom prst="rect">
            <a:avLst/>
          </a:prstGeom>
          <a:noFill/>
        </p:spPr>
        <p:txBody>
          <a:bodyPr wrap="square" anchor="ctr" lIns="36000" rIns="36000" tIns="18000" bIns="18000">
            <a:spAutoFit/>
          </a:bodyPr>
          <a:lstStyle/>
          <a:p>
            <a:pPr algn="l"/>
            <a:r>
              <a:rPr sz="1100" b="1" i="0">
                <a:solidFill>
                  <a:srgbClr val="FFFFFF"/>
                </a:solidFill>
                <a:latin typeface="Noto Sans JP"/>
              </a:rPr>
              <a:t>備考</a:t>
            </a:r>
          </a:p>
        </p:txBody>
      </p:sp>
      <p:sp>
        <p:nvSpPr>
          <p:cNvPr id="19" name="Rectangle 18"/>
          <p:cNvSpPr/>
          <p:nvPr/>
        </p:nvSpPr>
        <p:spPr>
          <a:xfrm>
            <a:off x="365760" y="2139696"/>
            <a:ext cx="11460175" cy="50292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139696"/>
            <a:ext cx="3554979" cy="502920"/>
          </a:xfrm>
          <a:prstGeom prst="rect">
            <a:avLst/>
          </a:prstGeom>
          <a:noFill/>
        </p:spPr>
        <p:txBody>
          <a:bodyPr wrap="square" anchor="ctr" lIns="36000" rIns="36000" tIns="18000" bIns="18000">
            <a:spAutoFit/>
          </a:bodyPr>
          <a:lstStyle/>
          <a:p>
            <a:pPr algn="l"/>
            <a:r>
              <a:rPr sz="1100" b="1" i="0">
                <a:solidFill>
                  <a:srgbClr val="334155"/>
                </a:solidFill>
                <a:latin typeface="Noto Sans JP"/>
              </a:rPr>
              <a:t>HEC+MC/CSP 1-5</a:t>
            </a:r>
          </a:p>
        </p:txBody>
      </p:sp>
      <p:sp>
        <p:nvSpPr>
          <p:cNvPr id="21" name="TextBox 20"/>
          <p:cNvSpPr txBox="1"/>
          <p:nvPr/>
        </p:nvSpPr>
        <p:spPr>
          <a:xfrm>
            <a:off x="4103619" y="2139696"/>
            <a:ext cx="2513145" cy="502920"/>
          </a:xfrm>
          <a:prstGeom prst="rect">
            <a:avLst/>
          </a:prstGeom>
          <a:noFill/>
        </p:spPr>
        <p:txBody>
          <a:bodyPr wrap="square" anchor="ctr" lIns="36000" rIns="36000" tIns="18000" bIns="18000">
            <a:spAutoFit/>
          </a:bodyPr>
          <a:lstStyle/>
          <a:p>
            <a:pPr algn="l"/>
            <a:r>
              <a:rPr sz="1100" b="1" i="0">
                <a:solidFill>
                  <a:srgbClr val="3B5174"/>
                </a:solidFill>
                <a:latin typeface="Noto Sans JP"/>
              </a:rPr>
              <a:t>33.34 Pa</a:t>
            </a:r>
          </a:p>
        </p:txBody>
      </p:sp>
      <p:sp>
        <p:nvSpPr>
          <p:cNvPr id="22" name="TextBox 21"/>
          <p:cNvSpPr txBox="1"/>
          <p:nvPr/>
        </p:nvSpPr>
        <p:spPr>
          <a:xfrm>
            <a:off x="6708204" y="2139696"/>
            <a:ext cx="2513145" cy="502920"/>
          </a:xfrm>
          <a:prstGeom prst="rect">
            <a:avLst/>
          </a:prstGeom>
          <a:noFill/>
        </p:spPr>
        <p:txBody>
          <a:bodyPr wrap="square" anchor="ctr" lIns="36000" rIns="36000" tIns="18000" bIns="18000">
            <a:spAutoFit/>
          </a:bodyPr>
          <a:lstStyle/>
          <a:p>
            <a:pPr algn="l"/>
            <a:r>
              <a:rPr sz="1100" b="0" i="0">
                <a:solidFill>
                  <a:srgbClr val="5B8C5A"/>
                </a:solidFill>
                <a:latin typeface="Noto Sans JP"/>
              </a:rPr>
              <a:t>68.9 Pa</a:t>
            </a:r>
          </a:p>
        </p:txBody>
      </p:sp>
      <p:sp>
        <p:nvSpPr>
          <p:cNvPr id="23" name="TextBox 22"/>
          <p:cNvSpPr txBox="1"/>
          <p:nvPr/>
        </p:nvSpPr>
        <p:spPr>
          <a:xfrm>
            <a:off x="9312789" y="2139696"/>
            <a:ext cx="2513145" cy="502920"/>
          </a:xfrm>
          <a:prstGeom prst="rect">
            <a:avLst/>
          </a:prstGeom>
          <a:noFill/>
        </p:spPr>
        <p:txBody>
          <a:bodyPr wrap="square" anchor="ctr" lIns="36000" rIns="36000" tIns="18000" bIns="18000">
            <a:spAutoFit/>
          </a:bodyPr>
          <a:lstStyle/>
          <a:p>
            <a:pPr algn="l"/>
            <a:r>
              <a:rPr sz="1100" b="0" i="0">
                <a:solidFill>
                  <a:srgbClr val="334155"/>
                </a:solidFill>
                <a:latin typeface="Noto Sans JP"/>
              </a:rPr>
              <a:t>ゲル強度が経時で増大</a:t>
            </a:r>
          </a:p>
        </p:txBody>
      </p:sp>
      <p:sp>
        <p:nvSpPr>
          <p:cNvPr id="24" name="Rectangle 23"/>
          <p:cNvSpPr/>
          <p:nvPr/>
        </p:nvSpPr>
        <p:spPr>
          <a:xfrm>
            <a:off x="365760" y="2642616"/>
            <a:ext cx="11460175" cy="502920"/>
          </a:xfrm>
          <a:prstGeom prst="rect">
            <a:avLst/>
          </a:prstGeom>
          <a:solidFill>
            <a:srgbClr val="FFFFFF"/>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642616"/>
            <a:ext cx="3554979" cy="502920"/>
          </a:xfrm>
          <a:prstGeom prst="rect">
            <a:avLst/>
          </a:prstGeom>
          <a:noFill/>
        </p:spPr>
        <p:txBody>
          <a:bodyPr wrap="square" anchor="ctr" lIns="36000" rIns="36000" tIns="18000" bIns="18000">
            <a:spAutoFit/>
          </a:bodyPr>
          <a:lstStyle/>
          <a:p>
            <a:pPr algn="l"/>
            <a:r>
              <a:rPr sz="1100" b="1" i="0">
                <a:solidFill>
                  <a:srgbClr val="334155"/>
                </a:solidFill>
                <a:latin typeface="Noto Sans JP"/>
              </a:rPr>
              <a:t>MHEC/CSP 1-5</a:t>
            </a:r>
          </a:p>
        </p:txBody>
      </p:sp>
      <p:sp>
        <p:nvSpPr>
          <p:cNvPr id="26" name="TextBox 25"/>
          <p:cNvSpPr txBox="1"/>
          <p:nvPr/>
        </p:nvSpPr>
        <p:spPr>
          <a:xfrm>
            <a:off x="4103619" y="2642616"/>
            <a:ext cx="2513145" cy="502920"/>
          </a:xfrm>
          <a:prstGeom prst="rect">
            <a:avLst/>
          </a:prstGeom>
          <a:noFill/>
        </p:spPr>
        <p:txBody>
          <a:bodyPr wrap="square" anchor="ctr" lIns="36000" rIns="36000" tIns="18000" bIns="18000">
            <a:spAutoFit/>
          </a:bodyPr>
          <a:lstStyle/>
          <a:p>
            <a:pPr algn="l"/>
            <a:r>
              <a:rPr sz="1100" b="1" i="0">
                <a:solidFill>
                  <a:srgbClr val="3B5174"/>
                </a:solidFill>
                <a:latin typeface="Noto Sans JP"/>
              </a:rPr>
              <a:t>3.31 Pa</a:t>
            </a:r>
          </a:p>
        </p:txBody>
      </p:sp>
      <p:sp>
        <p:nvSpPr>
          <p:cNvPr id="27" name="TextBox 26"/>
          <p:cNvSpPr txBox="1"/>
          <p:nvPr/>
        </p:nvSpPr>
        <p:spPr>
          <a:xfrm>
            <a:off x="6708204" y="2642616"/>
            <a:ext cx="2513145" cy="502920"/>
          </a:xfrm>
          <a:prstGeom prst="rect">
            <a:avLst/>
          </a:prstGeom>
          <a:noFill/>
        </p:spPr>
        <p:txBody>
          <a:bodyPr wrap="square" anchor="ctr" lIns="36000" rIns="36000" tIns="18000" bIns="18000">
            <a:spAutoFit/>
          </a:bodyPr>
          <a:lstStyle/>
          <a:p>
            <a:pPr algn="l"/>
            <a:r>
              <a:rPr sz="1100" b="0" i="0">
                <a:solidFill>
                  <a:srgbClr val="5B8C5A"/>
                </a:solidFill>
                <a:latin typeface="Noto Sans JP"/>
              </a:rPr>
              <a:t>4.56 Pa</a:t>
            </a:r>
          </a:p>
        </p:txBody>
      </p:sp>
      <p:sp>
        <p:nvSpPr>
          <p:cNvPr id="28" name="TextBox 27"/>
          <p:cNvSpPr txBox="1"/>
          <p:nvPr/>
        </p:nvSpPr>
        <p:spPr>
          <a:xfrm>
            <a:off x="9312789" y="2642616"/>
            <a:ext cx="2513145" cy="502920"/>
          </a:xfrm>
          <a:prstGeom prst="rect">
            <a:avLst/>
          </a:prstGeom>
          <a:noFill/>
        </p:spPr>
        <p:txBody>
          <a:bodyPr wrap="square" anchor="ctr" lIns="36000" rIns="36000" tIns="18000" bIns="18000">
            <a:spAutoFit/>
          </a:bodyPr>
          <a:lstStyle/>
          <a:p>
            <a:pPr algn="l"/>
            <a:r>
              <a:rPr sz="1100" b="0" i="0">
                <a:solidFill>
                  <a:srgbClr val="334155"/>
                </a:solidFill>
                <a:latin typeface="Noto Sans JP"/>
              </a:rPr>
              <a:t>長期安定性を確認（455日）</a:t>
            </a:r>
          </a:p>
        </p:txBody>
      </p:sp>
      <p:sp>
        <p:nvSpPr>
          <p:cNvPr id="29" name="Rectangle 28"/>
          <p:cNvSpPr/>
          <p:nvPr/>
        </p:nvSpPr>
        <p:spPr>
          <a:xfrm>
            <a:off x="365760" y="3145536"/>
            <a:ext cx="11460175" cy="50292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145536"/>
            <a:ext cx="3554979" cy="502920"/>
          </a:xfrm>
          <a:prstGeom prst="rect">
            <a:avLst/>
          </a:prstGeom>
          <a:noFill/>
        </p:spPr>
        <p:txBody>
          <a:bodyPr wrap="square" anchor="ctr" lIns="36000" rIns="36000" tIns="18000" bIns="18000">
            <a:spAutoFit/>
          </a:bodyPr>
          <a:lstStyle/>
          <a:p>
            <a:pPr algn="l"/>
            <a:r>
              <a:rPr sz="1100" b="0" i="0">
                <a:solidFill>
                  <a:srgbClr val="334155"/>
                </a:solidFill>
                <a:latin typeface="Noto Sans JP"/>
              </a:rPr>
              <a:t>AquaGel-K（市販対照）</a:t>
            </a:r>
          </a:p>
        </p:txBody>
      </p:sp>
      <p:sp>
        <p:nvSpPr>
          <p:cNvPr id="31" name="TextBox 30"/>
          <p:cNvSpPr txBox="1"/>
          <p:nvPr/>
        </p:nvSpPr>
        <p:spPr>
          <a:xfrm>
            <a:off x="4103619" y="3145536"/>
            <a:ext cx="2513145" cy="502920"/>
          </a:xfrm>
          <a:prstGeom prst="rect">
            <a:avLst/>
          </a:prstGeom>
          <a:noFill/>
        </p:spPr>
        <p:txBody>
          <a:bodyPr wrap="square" anchor="ctr" lIns="36000" rIns="36000" tIns="18000" bIns="18000">
            <a:spAutoFit/>
          </a:bodyPr>
          <a:lstStyle/>
          <a:p>
            <a:pPr algn="l"/>
            <a:r>
              <a:rPr sz="1100" b="0" i="0">
                <a:solidFill>
                  <a:srgbClr val="334155"/>
                </a:solidFill>
                <a:latin typeface="Noto Sans JP"/>
              </a:rPr>
              <a:t>—</a:t>
            </a:r>
          </a:p>
        </p:txBody>
      </p:sp>
      <p:sp>
        <p:nvSpPr>
          <p:cNvPr id="32" name="TextBox 31"/>
          <p:cNvSpPr txBox="1"/>
          <p:nvPr/>
        </p:nvSpPr>
        <p:spPr>
          <a:xfrm>
            <a:off x="6708204" y="3145536"/>
            <a:ext cx="2513145" cy="502920"/>
          </a:xfrm>
          <a:prstGeom prst="rect">
            <a:avLst/>
          </a:prstGeom>
          <a:noFill/>
        </p:spPr>
        <p:txBody>
          <a:bodyPr wrap="square" anchor="ctr" lIns="36000" rIns="36000" tIns="18000" bIns="18000">
            <a:spAutoFit/>
          </a:bodyPr>
          <a:lstStyle/>
          <a:p>
            <a:pPr algn="l"/>
            <a:r>
              <a:rPr sz="1100" b="0" i="0">
                <a:solidFill>
                  <a:srgbClr val="334155"/>
                </a:solidFill>
                <a:latin typeface="Noto Sans JP"/>
              </a:rPr>
              <a:t>—</a:t>
            </a:r>
          </a:p>
        </p:txBody>
      </p:sp>
      <p:sp>
        <p:nvSpPr>
          <p:cNvPr id="33" name="TextBox 32"/>
          <p:cNvSpPr txBox="1"/>
          <p:nvPr/>
        </p:nvSpPr>
        <p:spPr>
          <a:xfrm>
            <a:off x="9312789" y="3145536"/>
            <a:ext cx="2513145" cy="502920"/>
          </a:xfrm>
          <a:prstGeom prst="rect">
            <a:avLst/>
          </a:prstGeom>
          <a:noFill/>
        </p:spPr>
        <p:txBody>
          <a:bodyPr wrap="square" anchor="ctr" lIns="36000" rIns="36000" tIns="18000" bIns="18000">
            <a:spAutoFit/>
          </a:bodyPr>
          <a:lstStyle/>
          <a:p>
            <a:pPr algn="l"/>
            <a:r>
              <a:rPr sz="1100" b="0" i="0">
                <a:solidFill>
                  <a:srgbClr val="64748B"/>
                </a:solidFill>
                <a:latin typeface="Noto Sans JP"/>
              </a:rPr>
              <a:t>比較対照</a:t>
            </a:r>
          </a:p>
        </p:txBody>
      </p:sp>
      <p:sp>
        <p:nvSpPr>
          <p:cNvPr id="34" name="Rounded Rectangle 33"/>
          <p:cNvSpPr/>
          <p:nvPr/>
        </p:nvSpPr>
        <p:spPr>
          <a:xfrm>
            <a:off x="365760" y="3922776"/>
            <a:ext cx="3728618" cy="169164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4069080"/>
            <a:ext cx="3399434" cy="320040"/>
          </a:xfrm>
          <a:prstGeom prst="rect">
            <a:avLst/>
          </a:prstGeom>
          <a:noFill/>
        </p:spPr>
        <p:txBody>
          <a:bodyPr wrap="square" anchor="t" lIns="36000" rIns="36000" tIns="18000" bIns="18000">
            <a:spAutoFit/>
          </a:bodyPr>
          <a:lstStyle/>
          <a:p>
            <a:pPr algn="l"/>
            <a:r>
              <a:rPr sz="1200" b="1" i="0">
                <a:solidFill>
                  <a:srgbClr val="64748B"/>
                </a:solidFill>
                <a:latin typeface="Noto Sans JP"/>
              </a:rPr>
              <a:t>静的降伏応力</a:t>
            </a:r>
          </a:p>
        </p:txBody>
      </p:sp>
      <p:sp>
        <p:nvSpPr>
          <p:cNvPr id="36" name="TextBox 35"/>
          <p:cNvSpPr txBox="1"/>
          <p:nvPr/>
        </p:nvSpPr>
        <p:spPr>
          <a:xfrm>
            <a:off x="530352" y="4434840"/>
            <a:ext cx="3399434" cy="1051560"/>
          </a:xfrm>
          <a:prstGeom prst="rect">
            <a:avLst/>
          </a:prstGeom>
          <a:noFill/>
        </p:spPr>
        <p:txBody>
          <a:bodyPr wrap="square" anchor="t" lIns="36000" rIns="36000" tIns="18000" bIns="18000">
            <a:spAutoFit/>
          </a:bodyPr>
          <a:lstStyle/>
          <a:p>
            <a:pPr algn="l"/>
            <a:r>
              <a:rPr sz="1200" b="0" i="0">
                <a:solidFill>
                  <a:srgbClr val="475569"/>
                </a:solidFill>
                <a:latin typeface="Noto Sans JP"/>
              </a:rPr>
              <a:t>振幅掃引のG'/G''クロスオーバー点で測定。HEC+MC/CSPは33.34 Pa、MHEC/CSPは3.31 Pa（新鮮配合）</a:t>
            </a:r>
          </a:p>
        </p:txBody>
      </p:sp>
      <p:sp>
        <p:nvSpPr>
          <p:cNvPr id="37" name="Rounded Rectangle 36"/>
          <p:cNvSpPr/>
          <p:nvPr/>
        </p:nvSpPr>
        <p:spPr>
          <a:xfrm>
            <a:off x="4231538" y="3922776"/>
            <a:ext cx="3728618" cy="169164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96130" y="4069080"/>
            <a:ext cx="3399434" cy="320040"/>
          </a:xfrm>
          <a:prstGeom prst="rect">
            <a:avLst/>
          </a:prstGeom>
          <a:noFill/>
        </p:spPr>
        <p:txBody>
          <a:bodyPr wrap="square" anchor="t" lIns="36000" rIns="36000" tIns="18000" bIns="18000">
            <a:spAutoFit/>
          </a:bodyPr>
          <a:lstStyle/>
          <a:p>
            <a:pPr algn="l"/>
            <a:r>
              <a:rPr sz="1200" b="1" i="0">
                <a:solidFill>
                  <a:srgbClr val="64748B"/>
                </a:solidFill>
                <a:latin typeface="Noto Sans JP"/>
              </a:rPr>
              <a:t>長期安定性</a:t>
            </a:r>
          </a:p>
        </p:txBody>
      </p:sp>
      <p:sp>
        <p:nvSpPr>
          <p:cNvPr id="39" name="TextBox 38"/>
          <p:cNvSpPr txBox="1"/>
          <p:nvPr/>
        </p:nvSpPr>
        <p:spPr>
          <a:xfrm>
            <a:off x="4396130" y="4434840"/>
            <a:ext cx="3399434" cy="1051560"/>
          </a:xfrm>
          <a:prstGeom prst="rect">
            <a:avLst/>
          </a:prstGeom>
          <a:noFill/>
        </p:spPr>
        <p:txBody>
          <a:bodyPr wrap="square" anchor="t" lIns="36000" rIns="36000" tIns="18000" bIns="18000">
            <a:spAutoFit/>
          </a:bodyPr>
          <a:lstStyle/>
          <a:p>
            <a:pPr algn="l"/>
            <a:r>
              <a:rPr sz="1200" b="0" i="0">
                <a:solidFill>
                  <a:srgbClr val="475569"/>
                </a:solidFill>
                <a:latin typeface="Noto Sans JP"/>
              </a:rPr>
              <a:t>MHEC/CSPは455日経時後も3.31→4.56 Paとわずかな変化のみ。実用配合の長期安定性を実証</a:t>
            </a:r>
          </a:p>
        </p:txBody>
      </p:sp>
      <p:sp>
        <p:nvSpPr>
          <p:cNvPr id="40" name="Rounded Rectangle 39"/>
          <p:cNvSpPr/>
          <p:nvPr/>
        </p:nvSpPr>
        <p:spPr>
          <a:xfrm>
            <a:off x="8097316" y="3922776"/>
            <a:ext cx="3728618" cy="169164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61908" y="4069080"/>
            <a:ext cx="3399434" cy="320040"/>
          </a:xfrm>
          <a:prstGeom prst="rect">
            <a:avLst/>
          </a:prstGeom>
          <a:noFill/>
        </p:spPr>
        <p:txBody>
          <a:bodyPr wrap="square" anchor="t" lIns="36000" rIns="36000" tIns="18000" bIns="18000">
            <a:spAutoFit/>
          </a:bodyPr>
          <a:lstStyle/>
          <a:p>
            <a:pPr algn="l"/>
            <a:r>
              <a:rPr sz="1200" b="1" i="0">
                <a:solidFill>
                  <a:srgbClr val="64748B"/>
                </a:solidFill>
                <a:latin typeface="Noto Sans JP"/>
              </a:rPr>
              <a:t>HEC+MC vs MHEC</a:t>
            </a:r>
          </a:p>
        </p:txBody>
      </p:sp>
      <p:sp>
        <p:nvSpPr>
          <p:cNvPr id="42" name="TextBox 41"/>
          <p:cNvSpPr txBox="1"/>
          <p:nvPr/>
        </p:nvSpPr>
        <p:spPr>
          <a:xfrm>
            <a:off x="8261908" y="4434840"/>
            <a:ext cx="3399434" cy="1051560"/>
          </a:xfrm>
          <a:prstGeom prst="rect">
            <a:avLst/>
          </a:prstGeom>
          <a:noFill/>
        </p:spPr>
        <p:txBody>
          <a:bodyPr wrap="square" anchor="t" lIns="36000" rIns="36000" tIns="18000" bIns="18000">
            <a:spAutoFit/>
          </a:bodyPr>
          <a:lstStyle/>
          <a:p>
            <a:pPr algn="l"/>
            <a:r>
              <a:rPr sz="1200" b="0" i="0">
                <a:solidFill>
                  <a:srgbClr val="475569"/>
                </a:solidFill>
                <a:latin typeface="Noto Sans JP"/>
              </a:rPr>
              <a:t>HEC+MC系はより高い降伏応力で垂直面付着に有利。MHEC系は単一ポリマーで製造が簡便</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4/11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レオロジー④：貯蔵弾性率 G' と粘弾性（tan δ）</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19 / 36</a:t>
            </a:r>
          </a:p>
        </p:txBody>
      </p:sp>
      <p:sp>
        <p:nvSpPr>
          <p:cNvPr id="10" name="TextBox 9"/>
          <p:cNvSpPr txBox="1"/>
          <p:nvPr/>
        </p:nvSpPr>
        <p:spPr>
          <a:xfrm>
            <a:off x="365760" y="859536"/>
            <a:ext cx="559292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G' 貯蔵弾性率（1 rad/s）</a:t>
            </a:r>
          </a:p>
        </p:txBody>
      </p:sp>
      <p:sp>
        <p:nvSpPr>
          <p:cNvPr id="11" name="TextBox 10"/>
          <p:cNvSpPr txBox="1"/>
          <p:nvPr/>
        </p:nvSpPr>
        <p:spPr>
          <a:xfrm>
            <a:off x="365760" y="1271016"/>
            <a:ext cx="182880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MHEC/CSP 1-5</a:t>
            </a:r>
          </a:p>
        </p:txBody>
      </p:sp>
      <p:sp>
        <p:nvSpPr>
          <p:cNvPr id="12" name="Rounded Rectangle 11"/>
          <p:cNvSpPr/>
          <p:nvPr/>
        </p:nvSpPr>
        <p:spPr>
          <a:xfrm>
            <a:off x="2286000" y="1344168"/>
            <a:ext cx="26668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286000" y="1344168"/>
            <a:ext cx="346690" cy="146304"/>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44287" y="1271016"/>
            <a:ext cx="91440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25.6 Pa</a:t>
            </a:r>
          </a:p>
        </p:txBody>
      </p:sp>
      <p:sp>
        <p:nvSpPr>
          <p:cNvPr id="15" name="TextBox 14"/>
          <p:cNvSpPr txBox="1"/>
          <p:nvPr/>
        </p:nvSpPr>
        <p:spPr>
          <a:xfrm>
            <a:off x="365760" y="1728216"/>
            <a:ext cx="182880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HEC+MC/CSP 1-5</a:t>
            </a:r>
          </a:p>
        </p:txBody>
      </p:sp>
      <p:sp>
        <p:nvSpPr>
          <p:cNvPr id="16" name="Rounded Rectangle 15"/>
          <p:cNvSpPr/>
          <p:nvPr/>
        </p:nvSpPr>
        <p:spPr>
          <a:xfrm>
            <a:off x="2286000" y="1801368"/>
            <a:ext cx="26668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86000" y="1801368"/>
            <a:ext cx="666711" cy="146304"/>
          </a:xfrm>
          <a:prstGeom prst="roundRect">
            <a:avLst>
              <a:gd name="adj" fmla="val 50000"/>
            </a:avLst>
          </a:prstGeom>
          <a:solidFill>
            <a:srgbClr val="4A7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44287" y="1728216"/>
            <a:ext cx="91440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46.4 Pa</a:t>
            </a:r>
          </a:p>
        </p:txBody>
      </p:sp>
      <p:sp>
        <p:nvSpPr>
          <p:cNvPr id="19" name="TextBox 18"/>
          <p:cNvSpPr txBox="1"/>
          <p:nvPr/>
        </p:nvSpPr>
        <p:spPr>
          <a:xfrm>
            <a:off x="365760" y="2185416"/>
            <a:ext cx="182880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AquaGel-K</a:t>
            </a:r>
          </a:p>
        </p:txBody>
      </p:sp>
      <p:sp>
        <p:nvSpPr>
          <p:cNvPr id="20" name="Rounded Rectangle 19"/>
          <p:cNvSpPr/>
          <p:nvPr/>
        </p:nvSpPr>
        <p:spPr>
          <a:xfrm>
            <a:off x="2286000" y="2258568"/>
            <a:ext cx="26668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86000" y="2258568"/>
            <a:ext cx="2533505" cy="146304"/>
          </a:xfrm>
          <a:prstGeom prst="roundRect">
            <a:avLst>
              <a:gd name="adj" fmla="val 50000"/>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44287" y="2185416"/>
            <a:ext cx="91440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456.8 Pa</a:t>
            </a:r>
          </a:p>
        </p:txBody>
      </p:sp>
      <p:sp>
        <p:nvSpPr>
          <p:cNvPr id="23" name="Rounded Rectangle 22"/>
          <p:cNvSpPr/>
          <p:nvPr/>
        </p:nvSpPr>
        <p:spPr>
          <a:xfrm>
            <a:off x="365760" y="2779776"/>
            <a:ext cx="5592927" cy="73152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779776"/>
            <a:ext cx="54864" cy="7315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779776"/>
            <a:ext cx="365760" cy="73152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26" name="TextBox 25"/>
          <p:cNvSpPr txBox="1"/>
          <p:nvPr/>
        </p:nvSpPr>
        <p:spPr>
          <a:xfrm>
            <a:off x="960120" y="2779776"/>
            <a:ext cx="4907127" cy="731520"/>
          </a:xfrm>
          <a:prstGeom prst="rect">
            <a:avLst/>
          </a:prstGeom>
          <a:noFill/>
        </p:spPr>
        <p:txBody>
          <a:bodyPr wrap="square" anchor="ctr" lIns="36000" rIns="36000" tIns="18000" bIns="18000">
            <a:spAutoFit/>
          </a:bodyPr>
          <a:lstStyle/>
          <a:p>
            <a:pPr algn="l"/>
            <a:r>
              <a:rPr sz="1300" b="1" i="0">
                <a:solidFill>
                  <a:srgbClr val="1E293B"/>
                </a:solidFill>
                <a:latin typeface="Noto Sans JP"/>
              </a:rPr>
              <a:t>全系でG'&gt;G''（ゲル挙動）。AquaGel-KのG'が最高だがtan δ も大きく流動的</a:t>
            </a:r>
          </a:p>
        </p:txBody>
      </p:sp>
      <p:sp>
        <p:nvSpPr>
          <p:cNvPr id="27" name="TextBox 26"/>
          <p:cNvSpPr txBox="1"/>
          <p:nvPr/>
        </p:nvSpPr>
        <p:spPr>
          <a:xfrm>
            <a:off x="6233007" y="859536"/>
            <a:ext cx="559292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損失正接 tan δ = G'' / G'（弾性支配 = &lt;1）</a:t>
            </a:r>
          </a:p>
        </p:txBody>
      </p:sp>
      <p:sp>
        <p:nvSpPr>
          <p:cNvPr id="28" name="TextBox 27"/>
          <p:cNvSpPr txBox="1"/>
          <p:nvPr/>
        </p:nvSpPr>
        <p:spPr>
          <a:xfrm>
            <a:off x="6233007" y="1271016"/>
            <a:ext cx="182880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AquaGel-K</a:t>
            </a:r>
          </a:p>
        </p:txBody>
      </p:sp>
      <p:sp>
        <p:nvSpPr>
          <p:cNvPr id="29" name="Rounded Rectangle 28"/>
          <p:cNvSpPr/>
          <p:nvPr/>
        </p:nvSpPr>
        <p:spPr>
          <a:xfrm>
            <a:off x="8153247" y="1344168"/>
            <a:ext cx="26668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53247" y="1344168"/>
            <a:ext cx="1120075" cy="146304"/>
          </a:xfrm>
          <a:prstGeom prst="roundRect">
            <a:avLst>
              <a:gd name="adj" fmla="val 50000"/>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11535" y="1271016"/>
            <a:ext cx="91440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0.168</a:t>
            </a:r>
          </a:p>
        </p:txBody>
      </p:sp>
      <p:sp>
        <p:nvSpPr>
          <p:cNvPr id="32" name="TextBox 31"/>
          <p:cNvSpPr txBox="1"/>
          <p:nvPr/>
        </p:nvSpPr>
        <p:spPr>
          <a:xfrm>
            <a:off x="6233007" y="1728216"/>
            <a:ext cx="182880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HEC+MC/CSP 1-5</a:t>
            </a:r>
          </a:p>
        </p:txBody>
      </p:sp>
      <p:sp>
        <p:nvSpPr>
          <p:cNvPr id="33" name="Rounded Rectangle 32"/>
          <p:cNvSpPr/>
          <p:nvPr/>
        </p:nvSpPr>
        <p:spPr>
          <a:xfrm>
            <a:off x="8153247" y="1801368"/>
            <a:ext cx="26668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153247" y="1801368"/>
            <a:ext cx="1466766" cy="146304"/>
          </a:xfrm>
          <a:prstGeom prst="roundRect">
            <a:avLst>
              <a:gd name="adj" fmla="val 50000"/>
            </a:avLst>
          </a:prstGeom>
          <a:solidFill>
            <a:srgbClr val="4A7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11535" y="1728216"/>
            <a:ext cx="91440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0.219</a:t>
            </a:r>
          </a:p>
        </p:txBody>
      </p:sp>
      <p:sp>
        <p:nvSpPr>
          <p:cNvPr id="36" name="TextBox 35"/>
          <p:cNvSpPr txBox="1"/>
          <p:nvPr/>
        </p:nvSpPr>
        <p:spPr>
          <a:xfrm>
            <a:off x="6233007" y="2185416"/>
            <a:ext cx="182880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MHEC/CSP 1-5</a:t>
            </a:r>
          </a:p>
        </p:txBody>
      </p:sp>
      <p:sp>
        <p:nvSpPr>
          <p:cNvPr id="37" name="Rounded Rectangle 36"/>
          <p:cNvSpPr/>
          <p:nvPr/>
        </p:nvSpPr>
        <p:spPr>
          <a:xfrm>
            <a:off x="8153247" y="2258568"/>
            <a:ext cx="26668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153247" y="2258568"/>
            <a:ext cx="2666847" cy="146304"/>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11535" y="2185416"/>
            <a:ext cx="91440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0.400</a:t>
            </a:r>
          </a:p>
        </p:txBody>
      </p:sp>
      <p:sp>
        <p:nvSpPr>
          <p:cNvPr id="40" name="Rounded Rectangle 39"/>
          <p:cNvSpPr/>
          <p:nvPr/>
        </p:nvSpPr>
        <p:spPr>
          <a:xfrm>
            <a:off x="6233007" y="2779776"/>
            <a:ext cx="5592927" cy="7315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33007" y="2779776"/>
            <a:ext cx="54864" cy="731520"/>
          </a:xfrm>
          <a:prstGeom prst="rect">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5887" y="2779776"/>
            <a:ext cx="365760" cy="731520"/>
          </a:xfrm>
          <a:prstGeom prst="rect">
            <a:avLst/>
          </a:prstGeom>
          <a:noFill/>
        </p:spPr>
        <p:txBody>
          <a:bodyPr wrap="square" anchor="ctr" lIns="36000" rIns="36000" tIns="18000" bIns="18000">
            <a:spAutoFit/>
          </a:bodyPr>
          <a:lstStyle/>
          <a:p>
            <a:pPr algn="l"/>
            <a:r>
              <a:rPr sz="1400" b="0" i="0">
                <a:solidFill>
                  <a:srgbClr val="D4A574"/>
                </a:solidFill>
                <a:latin typeface="Noto Sans JP"/>
              </a:rPr>
              <a:t>✓</a:t>
            </a:r>
          </a:p>
        </p:txBody>
      </p:sp>
      <p:sp>
        <p:nvSpPr>
          <p:cNvPr id="43" name="TextBox 42"/>
          <p:cNvSpPr txBox="1"/>
          <p:nvPr/>
        </p:nvSpPr>
        <p:spPr>
          <a:xfrm>
            <a:off x="6827367" y="2779776"/>
            <a:ext cx="4907127" cy="731520"/>
          </a:xfrm>
          <a:prstGeom prst="rect">
            <a:avLst/>
          </a:prstGeom>
          <a:noFill/>
        </p:spPr>
        <p:txBody>
          <a:bodyPr wrap="square" anchor="ctr" lIns="36000" rIns="36000" tIns="18000" bIns="18000">
            <a:spAutoFit/>
          </a:bodyPr>
          <a:lstStyle/>
          <a:p>
            <a:pPr algn="l"/>
            <a:r>
              <a:rPr sz="1300" b="1" i="0">
                <a:solidFill>
                  <a:srgbClr val="FFFFFF"/>
                </a:solidFill>
                <a:latin typeface="Noto Sans JP"/>
              </a:rPr>
              <a:t>全系でtan δ &lt; 1 → ゲル挙動。AquaGel-K が最も弾性的（0.168）。MHEC系は流動性が高め（0.400）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5/11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HEC+MC vs MHEC：二系統の比較</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20 / 36</a:t>
            </a:r>
          </a:p>
        </p:txBody>
      </p:sp>
      <p:sp>
        <p:nvSpPr>
          <p:cNvPr id="10" name="Rounded Rectangle 9"/>
          <p:cNvSpPr/>
          <p:nvPr/>
        </p:nvSpPr>
        <p:spPr>
          <a:xfrm>
            <a:off x="365760" y="859536"/>
            <a:ext cx="5638647" cy="43891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5638647"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24128"/>
            <a:ext cx="527288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HEC + MC 混合系</a:t>
            </a:r>
          </a:p>
        </p:txBody>
      </p:sp>
      <p:sp>
        <p:nvSpPr>
          <p:cNvPr id="13" name="TextBox 12"/>
          <p:cNvSpPr txBox="1"/>
          <p:nvPr/>
        </p:nvSpPr>
        <p:spPr>
          <a:xfrm>
            <a:off x="548640" y="1362456"/>
            <a:ext cx="5272887" cy="365760"/>
          </a:xfrm>
          <a:prstGeom prst="rect">
            <a:avLst/>
          </a:prstGeom>
          <a:noFill/>
        </p:spPr>
        <p:txBody>
          <a:bodyPr wrap="square" anchor="t" lIns="36000" rIns="36000" tIns="18000" bIns="18000">
            <a:spAutoFit/>
          </a:bodyPr>
          <a:lstStyle/>
          <a:p>
            <a:pPr algn="l"/>
            <a:r>
              <a:rPr sz="1300" b="0" i="1">
                <a:solidFill>
                  <a:srgbClr val="475569"/>
                </a:solidFill>
                <a:latin typeface="Noto Sans JP"/>
              </a:rPr>
              <a:t>HEC（非熱ゲル化） + MC（熱ゲル化・LCST）</a:t>
            </a:r>
          </a:p>
        </p:txBody>
      </p:sp>
      <p:sp>
        <p:nvSpPr>
          <p:cNvPr id="14" name="TextBox 13"/>
          <p:cNvSpPr txBox="1"/>
          <p:nvPr/>
        </p:nvSpPr>
        <p:spPr>
          <a:xfrm>
            <a:off x="640080" y="186537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15" name="TextBox 14"/>
          <p:cNvSpPr txBox="1"/>
          <p:nvPr/>
        </p:nvSpPr>
        <p:spPr>
          <a:xfrm>
            <a:off x="868680" y="186537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HECで常温粘度・付着性を確保</a:t>
            </a:r>
          </a:p>
        </p:txBody>
      </p:sp>
      <p:sp>
        <p:nvSpPr>
          <p:cNvPr id="16" name="TextBox 15"/>
          <p:cNvSpPr txBox="1"/>
          <p:nvPr/>
        </p:nvSpPr>
        <p:spPr>
          <a:xfrm>
            <a:off x="640080" y="223113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17" name="TextBox 16"/>
          <p:cNvSpPr txBox="1"/>
          <p:nvPr/>
        </p:nvSpPr>
        <p:spPr>
          <a:xfrm>
            <a:off x="868680" y="223113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MCで加熱時の構造維持を担当</a:t>
            </a:r>
          </a:p>
        </p:txBody>
      </p:sp>
      <p:sp>
        <p:nvSpPr>
          <p:cNvPr id="18" name="TextBox 17"/>
          <p:cNvSpPr txBox="1"/>
          <p:nvPr/>
        </p:nvSpPr>
        <p:spPr>
          <a:xfrm>
            <a:off x="640080" y="259689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19" name="TextBox 18"/>
          <p:cNvSpPr txBox="1"/>
          <p:nvPr/>
        </p:nvSpPr>
        <p:spPr>
          <a:xfrm>
            <a:off x="868680" y="259689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強い剪断希薄化（n &lt; 1）</a:t>
            </a:r>
          </a:p>
        </p:txBody>
      </p:sp>
      <p:sp>
        <p:nvSpPr>
          <p:cNvPr id="20" name="TextBox 19"/>
          <p:cNvSpPr txBox="1"/>
          <p:nvPr/>
        </p:nvSpPr>
        <p:spPr>
          <a:xfrm>
            <a:off x="640080" y="296265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21" name="TextBox 20"/>
          <p:cNvSpPr txBox="1"/>
          <p:nvPr/>
        </p:nvSpPr>
        <p:spPr>
          <a:xfrm>
            <a:off x="868680" y="296265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Time to char ＞ 7 min</a:t>
            </a:r>
          </a:p>
        </p:txBody>
      </p:sp>
      <p:sp>
        <p:nvSpPr>
          <p:cNvPr id="22" name="TextBox 21"/>
          <p:cNvSpPr txBox="1"/>
          <p:nvPr/>
        </p:nvSpPr>
        <p:spPr>
          <a:xfrm>
            <a:off x="640080" y="332841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23" name="TextBox 22"/>
          <p:cNvSpPr txBox="1"/>
          <p:nvPr/>
        </p:nvSpPr>
        <p:spPr>
          <a:xfrm>
            <a:off x="868680" y="332841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Foaming Index 最大≈2.6（SDS無し）</a:t>
            </a:r>
          </a:p>
        </p:txBody>
      </p:sp>
      <p:sp>
        <p:nvSpPr>
          <p:cNvPr id="24" name="Rounded Rectangle 23"/>
          <p:cNvSpPr/>
          <p:nvPr/>
        </p:nvSpPr>
        <p:spPr>
          <a:xfrm>
            <a:off x="548640" y="3831336"/>
            <a:ext cx="5272887" cy="457200"/>
          </a:xfrm>
          <a:prstGeom prst="roundRect">
            <a:avLst>
              <a:gd name="adj" fmla="val 4000"/>
            </a:avLst>
          </a:prstGeom>
          <a:solidFill>
            <a:srgbClr val="F8FAFC"/>
          </a:solidFill>
          <a:ln w="635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877056"/>
            <a:ext cx="5090007" cy="365760"/>
          </a:xfrm>
          <a:prstGeom prst="rect">
            <a:avLst/>
          </a:prstGeom>
          <a:noFill/>
        </p:spPr>
        <p:txBody>
          <a:bodyPr wrap="square" anchor="ctr" lIns="36000" rIns="36000" tIns="18000" bIns="18000">
            <a:spAutoFit/>
          </a:bodyPr>
          <a:lstStyle/>
          <a:p>
            <a:pPr algn="l"/>
            <a:r>
              <a:rPr sz="1200" b="1" i="0">
                <a:solidFill>
                  <a:srgbClr val="3B5174"/>
                </a:solidFill>
                <a:latin typeface="Noto Sans JP"/>
              </a:rPr>
              <a:t>→ SDSとの相性も良く、発泡構造の最適化に優れる</a:t>
            </a:r>
          </a:p>
        </p:txBody>
      </p:sp>
      <p:sp>
        <p:nvSpPr>
          <p:cNvPr id="26" name="Rounded Rectangle 25"/>
          <p:cNvSpPr/>
          <p:nvPr/>
        </p:nvSpPr>
        <p:spPr>
          <a:xfrm>
            <a:off x="6187287" y="859536"/>
            <a:ext cx="5638647" cy="43891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7287" y="859536"/>
            <a:ext cx="5638647"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0167" y="1024128"/>
            <a:ext cx="527288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MHEC 単独系</a:t>
            </a:r>
          </a:p>
        </p:txBody>
      </p:sp>
      <p:sp>
        <p:nvSpPr>
          <p:cNvPr id="29" name="TextBox 28"/>
          <p:cNvSpPr txBox="1"/>
          <p:nvPr/>
        </p:nvSpPr>
        <p:spPr>
          <a:xfrm>
            <a:off x="6370167" y="1362456"/>
            <a:ext cx="5272887" cy="365760"/>
          </a:xfrm>
          <a:prstGeom prst="rect">
            <a:avLst/>
          </a:prstGeom>
          <a:noFill/>
        </p:spPr>
        <p:txBody>
          <a:bodyPr wrap="square" anchor="t" lIns="36000" rIns="36000" tIns="18000" bIns="18000">
            <a:spAutoFit/>
          </a:bodyPr>
          <a:lstStyle/>
          <a:p>
            <a:pPr algn="l"/>
            <a:r>
              <a:rPr sz="1300" b="0" i="1">
                <a:solidFill>
                  <a:srgbClr val="475569"/>
                </a:solidFill>
                <a:latin typeface="Noto Sans JP"/>
              </a:rPr>
              <a:t>MHEC（HEC+MCの機能を一分子に統合）</a:t>
            </a:r>
          </a:p>
        </p:txBody>
      </p:sp>
      <p:sp>
        <p:nvSpPr>
          <p:cNvPr id="30" name="TextBox 29"/>
          <p:cNvSpPr txBox="1"/>
          <p:nvPr/>
        </p:nvSpPr>
        <p:spPr>
          <a:xfrm>
            <a:off x="6461607" y="186537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1" name="TextBox 30"/>
          <p:cNvSpPr txBox="1"/>
          <p:nvPr/>
        </p:nvSpPr>
        <p:spPr>
          <a:xfrm>
            <a:off x="6690207" y="186537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ヒドロキシエチル基とメチル基を同一鎖上に有する</a:t>
            </a:r>
          </a:p>
        </p:txBody>
      </p:sp>
      <p:sp>
        <p:nvSpPr>
          <p:cNvPr id="32" name="TextBox 31"/>
          <p:cNvSpPr txBox="1"/>
          <p:nvPr/>
        </p:nvSpPr>
        <p:spPr>
          <a:xfrm>
            <a:off x="6461607" y="223113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3" name="TextBox 32"/>
          <p:cNvSpPr txBox="1"/>
          <p:nvPr/>
        </p:nvSpPr>
        <p:spPr>
          <a:xfrm>
            <a:off x="6690207" y="223113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単一ポリマーで同等の粘弾性・熱応答を実現</a:t>
            </a:r>
          </a:p>
        </p:txBody>
      </p:sp>
      <p:sp>
        <p:nvSpPr>
          <p:cNvPr id="34" name="TextBox 33"/>
          <p:cNvSpPr txBox="1"/>
          <p:nvPr/>
        </p:nvSpPr>
        <p:spPr>
          <a:xfrm>
            <a:off x="6461607" y="259689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5" name="TextBox 34"/>
          <p:cNvSpPr txBox="1"/>
          <p:nvPr/>
        </p:nvSpPr>
        <p:spPr>
          <a:xfrm>
            <a:off x="6690207" y="259689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剪断希薄化（n &lt; 1）</a:t>
            </a:r>
          </a:p>
        </p:txBody>
      </p:sp>
      <p:sp>
        <p:nvSpPr>
          <p:cNvPr id="36" name="TextBox 35"/>
          <p:cNvSpPr txBox="1"/>
          <p:nvPr/>
        </p:nvSpPr>
        <p:spPr>
          <a:xfrm>
            <a:off x="6461607" y="296265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7" name="TextBox 36"/>
          <p:cNvSpPr txBox="1"/>
          <p:nvPr/>
        </p:nvSpPr>
        <p:spPr>
          <a:xfrm>
            <a:off x="6690207" y="296265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Time to char ＞ 5 min</a:t>
            </a:r>
          </a:p>
        </p:txBody>
      </p:sp>
      <p:sp>
        <p:nvSpPr>
          <p:cNvPr id="38" name="TextBox 37"/>
          <p:cNvSpPr txBox="1"/>
          <p:nvPr/>
        </p:nvSpPr>
        <p:spPr>
          <a:xfrm>
            <a:off x="6461607" y="332841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9" name="TextBox 38"/>
          <p:cNvSpPr txBox="1"/>
          <p:nvPr/>
        </p:nvSpPr>
        <p:spPr>
          <a:xfrm>
            <a:off x="6690207" y="3328416"/>
            <a:ext cx="495284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配合・品質管理が単純化される利点</a:t>
            </a:r>
          </a:p>
        </p:txBody>
      </p:sp>
      <p:sp>
        <p:nvSpPr>
          <p:cNvPr id="40" name="Rounded Rectangle 39"/>
          <p:cNvSpPr/>
          <p:nvPr/>
        </p:nvSpPr>
        <p:spPr>
          <a:xfrm>
            <a:off x="6370167" y="3831336"/>
            <a:ext cx="5272887" cy="457200"/>
          </a:xfrm>
          <a:prstGeom prst="roundRect">
            <a:avLst>
              <a:gd name="adj" fmla="val 4000"/>
            </a:avLst>
          </a:prstGeom>
          <a:solidFill>
            <a:srgbClr val="F8FAFC"/>
          </a:solidFill>
          <a:ln w="635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1607" y="3877056"/>
            <a:ext cx="5090007" cy="365760"/>
          </a:xfrm>
          <a:prstGeom prst="rect">
            <a:avLst/>
          </a:prstGeom>
          <a:noFill/>
        </p:spPr>
        <p:txBody>
          <a:bodyPr wrap="square" anchor="ctr" lIns="36000" rIns="36000" tIns="18000" bIns="18000">
            <a:spAutoFit/>
          </a:bodyPr>
          <a:lstStyle/>
          <a:p>
            <a:pPr algn="l"/>
            <a:r>
              <a:rPr sz="1200" b="1" i="0">
                <a:solidFill>
                  <a:srgbClr val="3B5174"/>
                </a:solidFill>
                <a:latin typeface="Noto Sans JP"/>
              </a:rPr>
              <a:t>→ スケールアップ・製造コスト低減に有利</a:t>
            </a:r>
          </a:p>
        </p:txBody>
      </p:sp>
      <p:sp>
        <p:nvSpPr>
          <p:cNvPr id="42" name="Rounded Rectangle 41"/>
          <p:cNvSpPr/>
          <p:nvPr/>
        </p:nvSpPr>
        <p:spPr>
          <a:xfrm>
            <a:off x="365760" y="5477256"/>
            <a:ext cx="11460175" cy="73152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5477256"/>
            <a:ext cx="54864" cy="73152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77256"/>
            <a:ext cx="365760" cy="73152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45" name="TextBox 44"/>
          <p:cNvSpPr txBox="1"/>
          <p:nvPr/>
        </p:nvSpPr>
        <p:spPr>
          <a:xfrm>
            <a:off x="960120" y="5477256"/>
            <a:ext cx="10774375" cy="731520"/>
          </a:xfrm>
          <a:prstGeom prst="rect">
            <a:avLst/>
          </a:prstGeom>
          <a:noFill/>
        </p:spPr>
        <p:txBody>
          <a:bodyPr wrap="square" anchor="ctr" lIns="36000" rIns="36000" tIns="18000" bIns="18000">
            <a:spAutoFit/>
          </a:bodyPr>
          <a:lstStyle/>
          <a:p>
            <a:pPr algn="l"/>
            <a:r>
              <a:rPr sz="1300" b="1" i="0">
                <a:solidFill>
                  <a:srgbClr val="1E293B"/>
                </a:solidFill>
                <a:latin typeface="Noto Sans JP"/>
              </a:rPr>
              <a:t>両系統とも市販AquaGel-Kを大幅に上回る性能。HEC+MC系は発泡最適化、MHEC系は製造簡便性に優れる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6/11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燃焼試験のセットアップ</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21 / 36</a:t>
            </a:r>
          </a:p>
        </p:txBody>
      </p:sp>
      <p:sp>
        <p:nvSpPr>
          <p:cNvPr id="10" name="Rounded Rectangle 9"/>
          <p:cNvSpPr/>
          <p:nvPr/>
        </p:nvSpPr>
        <p:spPr>
          <a:xfrm>
            <a:off x="365760" y="859536"/>
            <a:ext cx="6211656" cy="420624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3a</a:t>
            </a:r>
          </a:p>
        </p:txBody>
      </p:sp>
      <p:sp>
        <p:nvSpPr>
          <p:cNvPr id="13" name="TextBox 12"/>
          <p:cNvSpPr txBox="1"/>
          <p:nvPr/>
        </p:nvSpPr>
        <p:spPr>
          <a:xfrm>
            <a:off x="365760" y="859536"/>
            <a:ext cx="6211656" cy="420624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5102352"/>
            <a:ext cx="6211656"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燃焼試験の実験セットアップ</a:t>
            </a:r>
          </a:p>
        </p:txBody>
      </p:sp>
      <p:sp>
        <p:nvSpPr>
          <p:cNvPr id="15" name="Rounded Rectangle 14"/>
          <p:cNvSpPr/>
          <p:nvPr/>
        </p:nvSpPr>
        <p:spPr>
          <a:xfrm>
            <a:off x="6760296" y="859536"/>
            <a:ext cx="5065638" cy="320040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60296" y="859536"/>
            <a:ext cx="5065638"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3176" y="1024128"/>
            <a:ext cx="4699878"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EXPERIMENTAL</a:t>
            </a:r>
          </a:p>
        </p:txBody>
      </p:sp>
      <p:sp>
        <p:nvSpPr>
          <p:cNvPr id="18" name="TextBox 17"/>
          <p:cNvSpPr txBox="1"/>
          <p:nvPr/>
        </p:nvSpPr>
        <p:spPr>
          <a:xfrm>
            <a:off x="6943176" y="1261872"/>
            <a:ext cx="4699878"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 試験条件</a:t>
            </a:r>
          </a:p>
        </p:txBody>
      </p:sp>
      <p:sp>
        <p:nvSpPr>
          <p:cNvPr id="19" name="TextBox 18"/>
          <p:cNvSpPr txBox="1"/>
          <p:nvPr/>
        </p:nvSpPr>
        <p:spPr>
          <a:xfrm>
            <a:off x="6943176"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0" name="TextBox 19"/>
          <p:cNvSpPr txBox="1"/>
          <p:nvPr/>
        </p:nvSpPr>
        <p:spPr>
          <a:xfrm>
            <a:off x="7144344" y="1627632"/>
            <a:ext cx="4498710"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基板：白木合板（whitewood plywood）</a:t>
            </a:r>
          </a:p>
        </p:txBody>
      </p:sp>
      <p:sp>
        <p:nvSpPr>
          <p:cNvPr id="21" name="TextBox 20"/>
          <p:cNvSpPr txBox="1"/>
          <p:nvPr/>
        </p:nvSpPr>
        <p:spPr>
          <a:xfrm>
            <a:off x="6943176"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2" name="TextBox 21"/>
          <p:cNvSpPr txBox="1"/>
          <p:nvPr/>
        </p:nvSpPr>
        <p:spPr>
          <a:xfrm>
            <a:off x="7144344" y="1901952"/>
            <a:ext cx="4498710"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ゲル散布厚：均一に塗布</a:t>
            </a:r>
          </a:p>
        </p:txBody>
      </p:sp>
      <p:sp>
        <p:nvSpPr>
          <p:cNvPr id="23" name="TextBox 22"/>
          <p:cNvSpPr txBox="1"/>
          <p:nvPr/>
        </p:nvSpPr>
        <p:spPr>
          <a:xfrm>
            <a:off x="6943176"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4" name="TextBox 23"/>
          <p:cNvSpPr txBox="1"/>
          <p:nvPr/>
        </p:nvSpPr>
        <p:spPr>
          <a:xfrm>
            <a:off x="7144344" y="2176272"/>
            <a:ext cx="4498710"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火炎源：MAP-Pro トーチ（~2054°C）</a:t>
            </a:r>
          </a:p>
        </p:txBody>
      </p:sp>
      <p:sp>
        <p:nvSpPr>
          <p:cNvPr id="25" name="TextBox 24"/>
          <p:cNvSpPr txBox="1"/>
          <p:nvPr/>
        </p:nvSpPr>
        <p:spPr>
          <a:xfrm>
            <a:off x="6943176" y="245059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6" name="TextBox 25"/>
          <p:cNvSpPr txBox="1"/>
          <p:nvPr/>
        </p:nvSpPr>
        <p:spPr>
          <a:xfrm>
            <a:off x="7144344" y="2450592"/>
            <a:ext cx="4498710"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計測：基材が炭化するまでの時間</a:t>
            </a:r>
          </a:p>
        </p:txBody>
      </p:sp>
      <p:sp>
        <p:nvSpPr>
          <p:cNvPr id="27" name="TextBox 26"/>
          <p:cNvSpPr txBox="1"/>
          <p:nvPr/>
        </p:nvSpPr>
        <p:spPr>
          <a:xfrm>
            <a:off x="6943176" y="272491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8" name="TextBox 27"/>
          <p:cNvSpPr txBox="1"/>
          <p:nvPr/>
        </p:nvSpPr>
        <p:spPr>
          <a:xfrm>
            <a:off x="7144344" y="2724912"/>
            <a:ext cx="4498710"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120 s時点・300 s時点で外観撮影</a:t>
            </a:r>
          </a:p>
        </p:txBody>
      </p:sp>
      <p:sp>
        <p:nvSpPr>
          <p:cNvPr id="29" name="Rounded Rectangle 28"/>
          <p:cNvSpPr/>
          <p:nvPr/>
        </p:nvSpPr>
        <p:spPr>
          <a:xfrm>
            <a:off x="6760296" y="4242816"/>
            <a:ext cx="5065638" cy="77724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760296" y="4242816"/>
            <a:ext cx="54864" cy="77724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3176" y="4242816"/>
            <a:ext cx="365760" cy="77724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32" name="TextBox 31"/>
          <p:cNvSpPr txBox="1"/>
          <p:nvPr/>
        </p:nvSpPr>
        <p:spPr>
          <a:xfrm>
            <a:off x="7354656" y="4242816"/>
            <a:ext cx="4379838" cy="777240"/>
          </a:xfrm>
          <a:prstGeom prst="rect">
            <a:avLst/>
          </a:prstGeom>
          <a:noFill/>
        </p:spPr>
        <p:txBody>
          <a:bodyPr wrap="square" anchor="ctr" lIns="36000" rIns="36000" tIns="18000" bIns="18000">
            <a:spAutoFit/>
          </a:bodyPr>
          <a:lstStyle/>
          <a:p>
            <a:pPr algn="l"/>
            <a:r>
              <a:rPr sz="1300" b="1" i="0">
                <a:solidFill>
                  <a:srgbClr val="1E293B"/>
                </a:solidFill>
                <a:latin typeface="Noto Sans JP"/>
              </a:rPr>
              <a:t>Time to char = 木材表面が炭化するまでに要した時間（長いほど高保護）</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7/11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Time to char：5配合系の定量比較</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22 / 36</a:t>
            </a:r>
          </a:p>
        </p:txBody>
      </p:sp>
      <p:sp>
        <p:nvSpPr>
          <p:cNvPr id="10" name="TextBox 9"/>
          <p:cNvSpPr txBox="1"/>
          <p:nvPr/>
        </p:nvSpPr>
        <p:spPr>
          <a:xfrm>
            <a:off x="365760" y="859536"/>
            <a:ext cx="7013868"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Time to char（炭化開始までの時間）</a:t>
            </a:r>
          </a:p>
        </p:txBody>
      </p:sp>
      <p:sp>
        <p:nvSpPr>
          <p:cNvPr id="11" name="TextBox 10"/>
          <p:cNvSpPr txBox="1"/>
          <p:nvPr/>
        </p:nvSpPr>
        <p:spPr>
          <a:xfrm>
            <a:off x="365760" y="1271016"/>
            <a:ext cx="23774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Water</a:t>
            </a:r>
          </a:p>
        </p:txBody>
      </p:sp>
      <p:sp>
        <p:nvSpPr>
          <p:cNvPr id="12" name="Rounded Rectangle 11"/>
          <p:cNvSpPr/>
          <p:nvPr/>
        </p:nvSpPr>
        <p:spPr>
          <a:xfrm>
            <a:off x="2834640" y="1344168"/>
            <a:ext cx="3447708"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34640" y="1344168"/>
            <a:ext cx="137908" cy="146304"/>
          </a:xfrm>
          <a:prstGeom prst="roundRect">
            <a:avLst>
              <a:gd name="adj" fmla="val 50000"/>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788" y="1271016"/>
            <a:ext cx="100584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~0.3 min</a:t>
            </a:r>
          </a:p>
        </p:txBody>
      </p:sp>
      <p:sp>
        <p:nvSpPr>
          <p:cNvPr id="15" name="TextBox 14"/>
          <p:cNvSpPr txBox="1"/>
          <p:nvPr/>
        </p:nvSpPr>
        <p:spPr>
          <a:xfrm>
            <a:off x="365760" y="1773936"/>
            <a:ext cx="23774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AquaGel-K（市販品）</a:t>
            </a:r>
          </a:p>
        </p:txBody>
      </p:sp>
      <p:sp>
        <p:nvSpPr>
          <p:cNvPr id="16" name="Rounded Rectangle 15"/>
          <p:cNvSpPr/>
          <p:nvPr/>
        </p:nvSpPr>
        <p:spPr>
          <a:xfrm>
            <a:off x="2834640" y="1847088"/>
            <a:ext cx="3447708"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34640" y="1847088"/>
            <a:ext cx="689541" cy="146304"/>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788" y="1773936"/>
            <a:ext cx="100584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~1.5 min</a:t>
            </a:r>
          </a:p>
        </p:txBody>
      </p:sp>
      <p:sp>
        <p:nvSpPr>
          <p:cNvPr id="19" name="TextBox 18"/>
          <p:cNvSpPr txBox="1"/>
          <p:nvPr/>
        </p:nvSpPr>
        <p:spPr>
          <a:xfrm>
            <a:off x="365760" y="2276856"/>
            <a:ext cx="23774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MHEC/CSP 1-5</a:t>
            </a:r>
          </a:p>
        </p:txBody>
      </p:sp>
      <p:sp>
        <p:nvSpPr>
          <p:cNvPr id="20" name="Rounded Rectangle 19"/>
          <p:cNvSpPr/>
          <p:nvPr/>
        </p:nvSpPr>
        <p:spPr>
          <a:xfrm>
            <a:off x="2834640" y="2350008"/>
            <a:ext cx="3447708"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834640" y="2350008"/>
            <a:ext cx="2241010" cy="146304"/>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788" y="2276856"/>
            <a:ext cx="100584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&gt;5 min</a:t>
            </a:r>
          </a:p>
        </p:txBody>
      </p:sp>
      <p:sp>
        <p:nvSpPr>
          <p:cNvPr id="23" name="TextBox 22"/>
          <p:cNvSpPr txBox="1"/>
          <p:nvPr/>
        </p:nvSpPr>
        <p:spPr>
          <a:xfrm>
            <a:off x="365760" y="2779776"/>
            <a:ext cx="23774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HEC+MC/CSP 1-5</a:t>
            </a:r>
          </a:p>
        </p:txBody>
      </p:sp>
      <p:sp>
        <p:nvSpPr>
          <p:cNvPr id="24" name="Rounded Rectangle 23"/>
          <p:cNvSpPr/>
          <p:nvPr/>
        </p:nvSpPr>
        <p:spPr>
          <a:xfrm>
            <a:off x="2834640" y="2852928"/>
            <a:ext cx="3447708"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834640" y="2852928"/>
            <a:ext cx="3102937" cy="146304"/>
          </a:xfrm>
          <a:prstGeom prst="roundRect">
            <a:avLst>
              <a:gd name="adj" fmla="val 50000"/>
            </a:avLst>
          </a:prstGeom>
          <a:solidFill>
            <a:srgbClr val="4A7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788" y="2779776"/>
            <a:ext cx="100584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&gt;7 min</a:t>
            </a:r>
          </a:p>
        </p:txBody>
      </p:sp>
      <p:sp>
        <p:nvSpPr>
          <p:cNvPr id="27" name="TextBox 26"/>
          <p:cNvSpPr txBox="1"/>
          <p:nvPr/>
        </p:nvSpPr>
        <p:spPr>
          <a:xfrm>
            <a:off x="365760" y="3282696"/>
            <a:ext cx="23774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HEC+MC/CSP/SDS 1-5-0.1</a:t>
            </a:r>
          </a:p>
        </p:txBody>
      </p:sp>
      <p:sp>
        <p:nvSpPr>
          <p:cNvPr id="28" name="Rounded Rectangle 27"/>
          <p:cNvSpPr/>
          <p:nvPr/>
        </p:nvSpPr>
        <p:spPr>
          <a:xfrm>
            <a:off x="2834640" y="3355848"/>
            <a:ext cx="3447708"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834640" y="3355848"/>
            <a:ext cx="3102937" cy="146304"/>
          </a:xfrm>
          <a:prstGeom prst="roundRect">
            <a:avLst>
              <a:gd name="adj" fmla="val 50000"/>
            </a:avLst>
          </a:prstGeom>
          <a:solidFill>
            <a:srgbClr val="5B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788" y="3282696"/>
            <a:ext cx="100584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&gt;7 min</a:t>
            </a:r>
          </a:p>
        </p:txBody>
      </p:sp>
      <p:sp>
        <p:nvSpPr>
          <p:cNvPr id="31" name="Rounded Rectangle 30"/>
          <p:cNvSpPr/>
          <p:nvPr/>
        </p:nvSpPr>
        <p:spPr>
          <a:xfrm>
            <a:off x="365760" y="3922776"/>
            <a:ext cx="7013868" cy="77724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922776"/>
            <a:ext cx="54864" cy="77724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922776"/>
            <a:ext cx="365760" cy="77724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34" name="TextBox 33"/>
          <p:cNvSpPr txBox="1"/>
          <p:nvPr/>
        </p:nvSpPr>
        <p:spPr>
          <a:xfrm>
            <a:off x="960120" y="3922776"/>
            <a:ext cx="6328068" cy="777240"/>
          </a:xfrm>
          <a:prstGeom prst="rect">
            <a:avLst/>
          </a:prstGeom>
          <a:noFill/>
        </p:spPr>
        <p:txBody>
          <a:bodyPr wrap="square" anchor="ctr" lIns="36000" rIns="36000" tIns="18000" bIns="18000">
            <a:spAutoFit/>
          </a:bodyPr>
          <a:lstStyle/>
          <a:p>
            <a:pPr algn="l"/>
            <a:r>
              <a:rPr sz="1300" b="1" i="0">
                <a:solidFill>
                  <a:srgbClr val="1E293B"/>
                </a:solidFill>
                <a:latin typeface="Noto Sans JP"/>
              </a:rPr>
              <a:t>本研究WEGは市販AquaGel-Kの3〜6倍の保護時間を達成（全試験でn≥3）</a:t>
            </a:r>
          </a:p>
        </p:txBody>
      </p:sp>
      <p:sp>
        <p:nvSpPr>
          <p:cNvPr id="35" name="Rounded Rectangle 34"/>
          <p:cNvSpPr/>
          <p:nvPr/>
        </p:nvSpPr>
        <p:spPr>
          <a:xfrm>
            <a:off x="7562508" y="859536"/>
            <a:ext cx="4263426" cy="475488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72236"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72236"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3b</a:t>
            </a:r>
          </a:p>
        </p:txBody>
      </p:sp>
      <p:sp>
        <p:nvSpPr>
          <p:cNvPr id="38" name="TextBox 37"/>
          <p:cNvSpPr txBox="1"/>
          <p:nvPr/>
        </p:nvSpPr>
        <p:spPr>
          <a:xfrm>
            <a:off x="7562508" y="859536"/>
            <a:ext cx="4263426" cy="475488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39" name="TextBox 38"/>
          <p:cNvSpPr txBox="1"/>
          <p:nvPr/>
        </p:nvSpPr>
        <p:spPr>
          <a:xfrm>
            <a:off x="7562508" y="5650992"/>
            <a:ext cx="4263426"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Time-to-char バーチャート（n≧3、エラーバーは標準偏差）</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8/11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燃焼過程の時系列観察</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23 / 36</a:t>
            </a:r>
          </a:p>
        </p:txBody>
      </p:sp>
      <p:sp>
        <p:nvSpPr>
          <p:cNvPr id="10" name="Rounded Rectangle 9"/>
          <p:cNvSpPr/>
          <p:nvPr/>
        </p:nvSpPr>
        <p:spPr>
          <a:xfrm>
            <a:off x="365760" y="859536"/>
            <a:ext cx="11460175" cy="219456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3c</a:t>
            </a:r>
          </a:p>
        </p:txBody>
      </p:sp>
      <p:sp>
        <p:nvSpPr>
          <p:cNvPr id="13" name="TextBox 12"/>
          <p:cNvSpPr txBox="1"/>
          <p:nvPr/>
        </p:nvSpPr>
        <p:spPr>
          <a:xfrm>
            <a:off x="365760" y="859536"/>
            <a:ext cx="11460175" cy="219456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3090672"/>
            <a:ext cx="11460175"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各配合系の火炎接触時の連続写真</a:t>
            </a:r>
          </a:p>
        </p:txBody>
      </p:sp>
      <p:sp>
        <p:nvSpPr>
          <p:cNvPr id="15" name="Rounded Rectangle 14"/>
          <p:cNvSpPr/>
          <p:nvPr/>
        </p:nvSpPr>
        <p:spPr>
          <a:xfrm>
            <a:off x="365760" y="3511296"/>
            <a:ext cx="3734714" cy="246888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675888"/>
            <a:ext cx="3405530" cy="292608"/>
          </a:xfrm>
          <a:prstGeom prst="rect">
            <a:avLst/>
          </a:prstGeom>
          <a:noFill/>
        </p:spPr>
        <p:txBody>
          <a:bodyPr wrap="square" anchor="t" lIns="36000" rIns="36000" tIns="18000" bIns="18000">
            <a:spAutoFit/>
          </a:bodyPr>
          <a:lstStyle/>
          <a:p>
            <a:pPr algn="l"/>
            <a:r>
              <a:rPr sz="1300" b="1" i="0">
                <a:solidFill>
                  <a:srgbClr val="A05656"/>
                </a:solidFill>
                <a:latin typeface="Noto Sans JP"/>
              </a:rPr>
              <a:t>Water</a:t>
            </a:r>
          </a:p>
        </p:txBody>
      </p:sp>
      <p:sp>
        <p:nvSpPr>
          <p:cNvPr id="17" name="TextBox 16"/>
          <p:cNvSpPr txBox="1"/>
          <p:nvPr/>
        </p:nvSpPr>
        <p:spPr>
          <a:xfrm>
            <a:off x="566928" y="4105656"/>
            <a:ext cx="182880" cy="274320"/>
          </a:xfrm>
          <a:prstGeom prst="rect">
            <a:avLst/>
          </a:prstGeom>
          <a:noFill/>
        </p:spPr>
        <p:txBody>
          <a:bodyPr wrap="square" anchor="t" lIns="36000" rIns="36000" tIns="18000" bIns="18000">
            <a:spAutoFit/>
          </a:bodyPr>
          <a:lstStyle/>
          <a:p>
            <a:pPr algn="l"/>
            <a:r>
              <a:rPr sz="1400" b="0" i="0">
                <a:solidFill>
                  <a:srgbClr val="A05656"/>
                </a:solidFill>
                <a:latin typeface="Noto Sans JP"/>
              </a:rPr>
              <a:t>•</a:t>
            </a:r>
          </a:p>
        </p:txBody>
      </p:sp>
      <p:sp>
        <p:nvSpPr>
          <p:cNvPr id="18" name="TextBox 17"/>
          <p:cNvSpPr txBox="1"/>
          <p:nvPr/>
        </p:nvSpPr>
        <p:spPr>
          <a:xfrm>
            <a:off x="795528" y="4105656"/>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直炎で即座に蒸発・流失</a:t>
            </a:r>
          </a:p>
        </p:txBody>
      </p:sp>
      <p:sp>
        <p:nvSpPr>
          <p:cNvPr id="19" name="TextBox 18"/>
          <p:cNvSpPr txBox="1"/>
          <p:nvPr/>
        </p:nvSpPr>
        <p:spPr>
          <a:xfrm>
            <a:off x="566928" y="4489704"/>
            <a:ext cx="182880" cy="274320"/>
          </a:xfrm>
          <a:prstGeom prst="rect">
            <a:avLst/>
          </a:prstGeom>
          <a:noFill/>
        </p:spPr>
        <p:txBody>
          <a:bodyPr wrap="square" anchor="t" lIns="36000" rIns="36000" tIns="18000" bIns="18000">
            <a:spAutoFit/>
          </a:bodyPr>
          <a:lstStyle/>
          <a:p>
            <a:pPr algn="l"/>
            <a:r>
              <a:rPr sz="1400" b="0" i="0">
                <a:solidFill>
                  <a:srgbClr val="A05656"/>
                </a:solidFill>
                <a:latin typeface="Noto Sans JP"/>
              </a:rPr>
              <a:t>•</a:t>
            </a:r>
          </a:p>
        </p:txBody>
      </p:sp>
      <p:sp>
        <p:nvSpPr>
          <p:cNvPr id="20" name="TextBox 19"/>
          <p:cNvSpPr txBox="1"/>
          <p:nvPr/>
        </p:nvSpPr>
        <p:spPr>
          <a:xfrm>
            <a:off x="795528" y="4489704"/>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~0.3分（約18秒）で炭化</a:t>
            </a:r>
          </a:p>
        </p:txBody>
      </p:sp>
      <p:sp>
        <p:nvSpPr>
          <p:cNvPr id="21" name="TextBox 20"/>
          <p:cNvSpPr txBox="1"/>
          <p:nvPr/>
        </p:nvSpPr>
        <p:spPr>
          <a:xfrm>
            <a:off x="566928" y="4873752"/>
            <a:ext cx="182880" cy="274320"/>
          </a:xfrm>
          <a:prstGeom prst="rect">
            <a:avLst/>
          </a:prstGeom>
          <a:noFill/>
        </p:spPr>
        <p:txBody>
          <a:bodyPr wrap="square" anchor="t" lIns="36000" rIns="36000" tIns="18000" bIns="18000">
            <a:spAutoFit/>
          </a:bodyPr>
          <a:lstStyle/>
          <a:p>
            <a:pPr algn="l"/>
            <a:r>
              <a:rPr sz="1400" b="0" i="0">
                <a:solidFill>
                  <a:srgbClr val="A05656"/>
                </a:solidFill>
                <a:latin typeface="Noto Sans JP"/>
              </a:rPr>
              <a:t>•</a:t>
            </a:r>
          </a:p>
        </p:txBody>
      </p:sp>
      <p:sp>
        <p:nvSpPr>
          <p:cNvPr id="22" name="TextBox 21"/>
          <p:cNvSpPr txBox="1"/>
          <p:nvPr/>
        </p:nvSpPr>
        <p:spPr>
          <a:xfrm>
            <a:off x="795528" y="4873752"/>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保護層ゼロ</a:t>
            </a:r>
          </a:p>
        </p:txBody>
      </p:sp>
      <p:sp>
        <p:nvSpPr>
          <p:cNvPr id="23" name="Rounded Rectangle 22"/>
          <p:cNvSpPr/>
          <p:nvPr/>
        </p:nvSpPr>
        <p:spPr>
          <a:xfrm>
            <a:off x="4228490" y="3511296"/>
            <a:ext cx="3734714" cy="246888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93082" y="3675888"/>
            <a:ext cx="3405530" cy="292608"/>
          </a:xfrm>
          <a:prstGeom prst="rect">
            <a:avLst/>
          </a:prstGeom>
          <a:noFill/>
        </p:spPr>
        <p:txBody>
          <a:bodyPr wrap="square" anchor="t" lIns="36000" rIns="36000" tIns="18000" bIns="18000">
            <a:spAutoFit/>
          </a:bodyPr>
          <a:lstStyle/>
          <a:p>
            <a:pPr algn="l"/>
            <a:r>
              <a:rPr sz="1300" b="1" i="0">
                <a:solidFill>
                  <a:srgbClr val="9F7639"/>
                </a:solidFill>
                <a:latin typeface="Noto Sans JP"/>
              </a:rPr>
              <a:t>AquaGel-K</a:t>
            </a:r>
          </a:p>
        </p:txBody>
      </p:sp>
      <p:sp>
        <p:nvSpPr>
          <p:cNvPr id="25" name="TextBox 24"/>
          <p:cNvSpPr txBox="1"/>
          <p:nvPr/>
        </p:nvSpPr>
        <p:spPr>
          <a:xfrm>
            <a:off x="4429658" y="4105656"/>
            <a:ext cx="182880" cy="274320"/>
          </a:xfrm>
          <a:prstGeom prst="rect">
            <a:avLst/>
          </a:prstGeom>
          <a:noFill/>
        </p:spPr>
        <p:txBody>
          <a:bodyPr wrap="square" anchor="t" lIns="36000" rIns="36000" tIns="18000" bIns="18000">
            <a:spAutoFit/>
          </a:bodyPr>
          <a:lstStyle/>
          <a:p>
            <a:pPr algn="l"/>
            <a:r>
              <a:rPr sz="1400" b="0" i="0">
                <a:solidFill>
                  <a:srgbClr val="9F7639"/>
                </a:solidFill>
                <a:latin typeface="Noto Sans JP"/>
              </a:rPr>
              <a:t>•</a:t>
            </a:r>
          </a:p>
        </p:txBody>
      </p:sp>
      <p:sp>
        <p:nvSpPr>
          <p:cNvPr id="26" name="TextBox 25"/>
          <p:cNvSpPr txBox="1"/>
          <p:nvPr/>
        </p:nvSpPr>
        <p:spPr>
          <a:xfrm>
            <a:off x="4658258" y="4105656"/>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水を保持するが水蒸発で終了</a:t>
            </a:r>
          </a:p>
        </p:txBody>
      </p:sp>
      <p:sp>
        <p:nvSpPr>
          <p:cNvPr id="27" name="TextBox 26"/>
          <p:cNvSpPr txBox="1"/>
          <p:nvPr/>
        </p:nvSpPr>
        <p:spPr>
          <a:xfrm>
            <a:off x="4429658" y="4489704"/>
            <a:ext cx="182880" cy="274320"/>
          </a:xfrm>
          <a:prstGeom prst="rect">
            <a:avLst/>
          </a:prstGeom>
          <a:noFill/>
        </p:spPr>
        <p:txBody>
          <a:bodyPr wrap="square" anchor="t" lIns="36000" rIns="36000" tIns="18000" bIns="18000">
            <a:spAutoFit/>
          </a:bodyPr>
          <a:lstStyle/>
          <a:p>
            <a:pPr algn="l"/>
            <a:r>
              <a:rPr sz="1400" b="0" i="0">
                <a:solidFill>
                  <a:srgbClr val="9F7639"/>
                </a:solidFill>
                <a:latin typeface="Noto Sans JP"/>
              </a:rPr>
              <a:t>•</a:t>
            </a:r>
          </a:p>
        </p:txBody>
      </p:sp>
      <p:sp>
        <p:nvSpPr>
          <p:cNvPr id="28" name="TextBox 27"/>
          <p:cNvSpPr txBox="1"/>
          <p:nvPr/>
        </p:nvSpPr>
        <p:spPr>
          <a:xfrm>
            <a:off x="4658258" y="4489704"/>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~1.5分で炭化</a:t>
            </a:r>
          </a:p>
        </p:txBody>
      </p:sp>
      <p:sp>
        <p:nvSpPr>
          <p:cNvPr id="29" name="TextBox 28"/>
          <p:cNvSpPr txBox="1"/>
          <p:nvPr/>
        </p:nvSpPr>
        <p:spPr>
          <a:xfrm>
            <a:off x="4429658" y="4873752"/>
            <a:ext cx="182880" cy="274320"/>
          </a:xfrm>
          <a:prstGeom prst="rect">
            <a:avLst/>
          </a:prstGeom>
          <a:noFill/>
        </p:spPr>
        <p:txBody>
          <a:bodyPr wrap="square" anchor="t" lIns="36000" rIns="36000" tIns="18000" bIns="18000">
            <a:spAutoFit/>
          </a:bodyPr>
          <a:lstStyle/>
          <a:p>
            <a:pPr algn="l"/>
            <a:r>
              <a:rPr sz="1400" b="0" i="0">
                <a:solidFill>
                  <a:srgbClr val="9F7639"/>
                </a:solidFill>
                <a:latin typeface="Noto Sans JP"/>
              </a:rPr>
              <a:t>•</a:t>
            </a:r>
          </a:p>
        </p:txBody>
      </p:sp>
      <p:sp>
        <p:nvSpPr>
          <p:cNvPr id="30" name="TextBox 29"/>
          <p:cNvSpPr txBox="1"/>
          <p:nvPr/>
        </p:nvSpPr>
        <p:spPr>
          <a:xfrm>
            <a:off x="4658258" y="4873752"/>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固体保護層を形成しない</a:t>
            </a:r>
          </a:p>
        </p:txBody>
      </p:sp>
      <p:sp>
        <p:nvSpPr>
          <p:cNvPr id="31" name="Rounded Rectangle 30"/>
          <p:cNvSpPr/>
          <p:nvPr/>
        </p:nvSpPr>
        <p:spPr>
          <a:xfrm>
            <a:off x="8091220" y="3511296"/>
            <a:ext cx="3734714" cy="2468880"/>
          </a:xfrm>
          <a:prstGeom prst="roundRect">
            <a:avLst>
              <a:gd name="adj" fmla="val 4000"/>
            </a:avLst>
          </a:prstGeom>
          <a:solidFill>
            <a:srgbClr val="FFFFFF"/>
          </a:solidFill>
          <a:ln w="1016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5812" y="3675888"/>
            <a:ext cx="3405530" cy="292608"/>
          </a:xfrm>
          <a:prstGeom prst="rect">
            <a:avLst/>
          </a:prstGeom>
          <a:noFill/>
        </p:spPr>
        <p:txBody>
          <a:bodyPr wrap="square" anchor="t" lIns="36000" rIns="36000" tIns="18000" bIns="18000">
            <a:spAutoFit/>
          </a:bodyPr>
          <a:lstStyle/>
          <a:p>
            <a:pPr algn="l"/>
            <a:r>
              <a:rPr sz="1300" b="1" i="0">
                <a:solidFill>
                  <a:srgbClr val="3B5174"/>
                </a:solidFill>
                <a:latin typeface="Noto Sans JP"/>
              </a:rPr>
              <a:t>本研究 WEG</a:t>
            </a:r>
          </a:p>
        </p:txBody>
      </p:sp>
      <p:sp>
        <p:nvSpPr>
          <p:cNvPr id="33" name="TextBox 32"/>
          <p:cNvSpPr txBox="1"/>
          <p:nvPr/>
        </p:nvSpPr>
        <p:spPr>
          <a:xfrm>
            <a:off x="8292388" y="410565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4" name="TextBox 33"/>
          <p:cNvSpPr txBox="1"/>
          <p:nvPr/>
        </p:nvSpPr>
        <p:spPr>
          <a:xfrm>
            <a:off x="8520988" y="4105656"/>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水蒸発と同時にゲルが発泡・膨張</a:t>
            </a:r>
          </a:p>
        </p:txBody>
      </p:sp>
      <p:sp>
        <p:nvSpPr>
          <p:cNvPr id="35" name="TextBox 34"/>
          <p:cNvSpPr txBox="1"/>
          <p:nvPr/>
        </p:nvSpPr>
        <p:spPr>
          <a:xfrm>
            <a:off x="8292388" y="4489704"/>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6" name="TextBox 35"/>
          <p:cNvSpPr txBox="1"/>
          <p:nvPr/>
        </p:nvSpPr>
        <p:spPr>
          <a:xfrm>
            <a:off x="8520988" y="4489704"/>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多孔質エアロゲル層が継続保護</a:t>
            </a:r>
          </a:p>
        </p:txBody>
      </p:sp>
      <p:sp>
        <p:nvSpPr>
          <p:cNvPr id="37" name="TextBox 36"/>
          <p:cNvSpPr txBox="1"/>
          <p:nvPr/>
        </p:nvSpPr>
        <p:spPr>
          <a:xfrm>
            <a:off x="8292388" y="4873752"/>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8" name="TextBox 37"/>
          <p:cNvSpPr txBox="1"/>
          <p:nvPr/>
        </p:nvSpPr>
        <p:spPr>
          <a:xfrm>
            <a:off x="8520988" y="4873752"/>
            <a:ext cx="3140354"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&gt;7分間（HEC+MC）炭化を阻止</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8/11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120秒 / 300秒時点の表面状態比較</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24 / 36</a:t>
            </a:r>
          </a:p>
        </p:txBody>
      </p:sp>
      <p:sp>
        <p:nvSpPr>
          <p:cNvPr id="10" name="Rounded Rectangle 9"/>
          <p:cNvSpPr/>
          <p:nvPr/>
        </p:nvSpPr>
        <p:spPr>
          <a:xfrm>
            <a:off x="365760" y="859536"/>
            <a:ext cx="11460175" cy="21031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3d</a:t>
            </a:r>
          </a:p>
        </p:txBody>
      </p:sp>
      <p:sp>
        <p:nvSpPr>
          <p:cNvPr id="13" name="TextBox 12"/>
          <p:cNvSpPr txBox="1"/>
          <p:nvPr/>
        </p:nvSpPr>
        <p:spPr>
          <a:xfrm>
            <a:off x="365760" y="859536"/>
            <a:ext cx="11460175" cy="21031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2999232"/>
            <a:ext cx="11460175"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120秒時点（上段）と300秒時点（下段）の表面状態比較</a:t>
            </a:r>
          </a:p>
        </p:txBody>
      </p:sp>
      <p:sp>
        <p:nvSpPr>
          <p:cNvPr id="15" name="Rounded Rectangle 14"/>
          <p:cNvSpPr/>
          <p:nvPr/>
        </p:nvSpPr>
        <p:spPr>
          <a:xfrm>
            <a:off x="365760" y="3419856"/>
            <a:ext cx="3734714" cy="256032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566160"/>
            <a:ext cx="3405530" cy="292608"/>
          </a:xfrm>
          <a:prstGeom prst="rect">
            <a:avLst/>
          </a:prstGeom>
          <a:noFill/>
        </p:spPr>
        <p:txBody>
          <a:bodyPr wrap="square" anchor="t" lIns="36000" rIns="36000" tIns="18000" bIns="18000">
            <a:spAutoFit/>
          </a:bodyPr>
          <a:lstStyle/>
          <a:p>
            <a:pPr algn="l"/>
            <a:r>
              <a:rPr sz="1300" b="1" i="0">
                <a:solidFill>
                  <a:srgbClr val="A05656"/>
                </a:solidFill>
                <a:latin typeface="Noto Sans JP"/>
              </a:rPr>
              <a:t>Water</a:t>
            </a:r>
          </a:p>
        </p:txBody>
      </p:sp>
      <p:sp>
        <p:nvSpPr>
          <p:cNvPr id="17" name="TextBox 16"/>
          <p:cNvSpPr txBox="1"/>
          <p:nvPr/>
        </p:nvSpPr>
        <p:spPr>
          <a:xfrm>
            <a:off x="566928" y="3968496"/>
            <a:ext cx="3332378" cy="292608"/>
          </a:xfrm>
          <a:prstGeom prst="rect">
            <a:avLst/>
          </a:prstGeom>
          <a:noFill/>
        </p:spPr>
        <p:txBody>
          <a:bodyPr wrap="square" anchor="t" lIns="36000" rIns="36000" tIns="18000" bIns="18000">
            <a:spAutoFit/>
          </a:bodyPr>
          <a:lstStyle/>
          <a:p>
            <a:pPr algn="l"/>
            <a:r>
              <a:rPr sz="1200" b="0" i="0">
                <a:solidFill>
                  <a:srgbClr val="475569"/>
                </a:solidFill>
                <a:latin typeface="Noto Sans JP"/>
              </a:rPr>
              <a:t>• 120 s：既に広範囲が炭化開始</a:t>
            </a:r>
          </a:p>
        </p:txBody>
      </p:sp>
      <p:sp>
        <p:nvSpPr>
          <p:cNvPr id="18" name="TextBox 17"/>
          <p:cNvSpPr txBox="1"/>
          <p:nvPr/>
        </p:nvSpPr>
        <p:spPr>
          <a:xfrm>
            <a:off x="566928" y="4379976"/>
            <a:ext cx="3332378" cy="292608"/>
          </a:xfrm>
          <a:prstGeom prst="rect">
            <a:avLst/>
          </a:prstGeom>
          <a:noFill/>
        </p:spPr>
        <p:txBody>
          <a:bodyPr wrap="square" anchor="t" lIns="36000" rIns="36000" tIns="18000" bIns="18000">
            <a:spAutoFit/>
          </a:bodyPr>
          <a:lstStyle/>
          <a:p>
            <a:pPr algn="l"/>
            <a:r>
              <a:rPr sz="1200" b="0" i="0">
                <a:solidFill>
                  <a:srgbClr val="475569"/>
                </a:solidFill>
                <a:latin typeface="Noto Sans JP"/>
              </a:rPr>
              <a:t>• 300 s：表面全体が黒化・損傷甚大</a:t>
            </a:r>
          </a:p>
        </p:txBody>
      </p:sp>
      <p:sp>
        <p:nvSpPr>
          <p:cNvPr id="19" name="TextBox 18"/>
          <p:cNvSpPr txBox="1"/>
          <p:nvPr/>
        </p:nvSpPr>
        <p:spPr>
          <a:xfrm>
            <a:off x="530352" y="5614416"/>
            <a:ext cx="3405530" cy="274320"/>
          </a:xfrm>
          <a:prstGeom prst="rect">
            <a:avLst/>
          </a:prstGeom>
          <a:noFill/>
        </p:spPr>
        <p:txBody>
          <a:bodyPr wrap="square" anchor="t" lIns="36000" rIns="36000" tIns="18000" bIns="18000">
            <a:spAutoFit/>
          </a:bodyPr>
          <a:lstStyle/>
          <a:p>
            <a:pPr algn="l"/>
            <a:r>
              <a:rPr sz="1200" b="1" i="0">
                <a:solidFill>
                  <a:srgbClr val="A05656"/>
                </a:solidFill>
                <a:latin typeface="Noto Sans JP"/>
              </a:rPr>
              <a:t>Time to char：~0.3 min</a:t>
            </a:r>
          </a:p>
        </p:txBody>
      </p:sp>
      <p:sp>
        <p:nvSpPr>
          <p:cNvPr id="20" name="Rounded Rectangle 19"/>
          <p:cNvSpPr/>
          <p:nvPr/>
        </p:nvSpPr>
        <p:spPr>
          <a:xfrm>
            <a:off x="4228490" y="3419856"/>
            <a:ext cx="3734714" cy="256032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3082" y="3566160"/>
            <a:ext cx="3405530" cy="292608"/>
          </a:xfrm>
          <a:prstGeom prst="rect">
            <a:avLst/>
          </a:prstGeom>
          <a:noFill/>
        </p:spPr>
        <p:txBody>
          <a:bodyPr wrap="square" anchor="t" lIns="36000" rIns="36000" tIns="18000" bIns="18000">
            <a:spAutoFit/>
          </a:bodyPr>
          <a:lstStyle/>
          <a:p>
            <a:pPr algn="l"/>
            <a:r>
              <a:rPr sz="1300" b="1" i="0">
                <a:solidFill>
                  <a:srgbClr val="9F7639"/>
                </a:solidFill>
                <a:latin typeface="Noto Sans JP"/>
              </a:rPr>
              <a:t>AquaGel-K（市販品）</a:t>
            </a:r>
          </a:p>
        </p:txBody>
      </p:sp>
      <p:sp>
        <p:nvSpPr>
          <p:cNvPr id="22" name="TextBox 21"/>
          <p:cNvSpPr txBox="1"/>
          <p:nvPr/>
        </p:nvSpPr>
        <p:spPr>
          <a:xfrm>
            <a:off x="4429658" y="3968496"/>
            <a:ext cx="3332378" cy="292608"/>
          </a:xfrm>
          <a:prstGeom prst="rect">
            <a:avLst/>
          </a:prstGeom>
          <a:noFill/>
        </p:spPr>
        <p:txBody>
          <a:bodyPr wrap="square" anchor="t" lIns="36000" rIns="36000" tIns="18000" bIns="18000">
            <a:spAutoFit/>
          </a:bodyPr>
          <a:lstStyle/>
          <a:p>
            <a:pPr algn="l"/>
            <a:r>
              <a:rPr sz="1200" b="0" i="0">
                <a:solidFill>
                  <a:srgbClr val="475569"/>
                </a:solidFill>
                <a:latin typeface="Noto Sans JP"/>
              </a:rPr>
              <a:t>• 120 s：ゲルが乾燥し一部炭化</a:t>
            </a:r>
          </a:p>
        </p:txBody>
      </p:sp>
      <p:sp>
        <p:nvSpPr>
          <p:cNvPr id="23" name="TextBox 22"/>
          <p:cNvSpPr txBox="1"/>
          <p:nvPr/>
        </p:nvSpPr>
        <p:spPr>
          <a:xfrm>
            <a:off x="4429658" y="4379976"/>
            <a:ext cx="3332378" cy="292608"/>
          </a:xfrm>
          <a:prstGeom prst="rect">
            <a:avLst/>
          </a:prstGeom>
          <a:noFill/>
        </p:spPr>
        <p:txBody>
          <a:bodyPr wrap="square" anchor="t" lIns="36000" rIns="36000" tIns="18000" bIns="18000">
            <a:spAutoFit/>
          </a:bodyPr>
          <a:lstStyle/>
          <a:p>
            <a:pPr algn="l"/>
            <a:r>
              <a:rPr sz="1200" b="0" i="0">
                <a:solidFill>
                  <a:srgbClr val="475569"/>
                </a:solidFill>
                <a:latin typeface="Noto Sans JP"/>
              </a:rPr>
              <a:t>• 300 s：保護層なし、部分炭化</a:t>
            </a:r>
          </a:p>
        </p:txBody>
      </p:sp>
      <p:sp>
        <p:nvSpPr>
          <p:cNvPr id="24" name="TextBox 23"/>
          <p:cNvSpPr txBox="1"/>
          <p:nvPr/>
        </p:nvSpPr>
        <p:spPr>
          <a:xfrm>
            <a:off x="4393082" y="5614416"/>
            <a:ext cx="3405530" cy="274320"/>
          </a:xfrm>
          <a:prstGeom prst="rect">
            <a:avLst/>
          </a:prstGeom>
          <a:noFill/>
        </p:spPr>
        <p:txBody>
          <a:bodyPr wrap="square" anchor="t" lIns="36000" rIns="36000" tIns="18000" bIns="18000">
            <a:spAutoFit/>
          </a:bodyPr>
          <a:lstStyle/>
          <a:p>
            <a:pPr algn="l"/>
            <a:r>
              <a:rPr sz="1200" b="1" i="0">
                <a:solidFill>
                  <a:srgbClr val="9F7639"/>
                </a:solidFill>
                <a:latin typeface="Noto Sans JP"/>
              </a:rPr>
              <a:t>Time to char：~1.5 min</a:t>
            </a:r>
          </a:p>
        </p:txBody>
      </p:sp>
      <p:sp>
        <p:nvSpPr>
          <p:cNvPr id="25" name="Rounded Rectangle 24"/>
          <p:cNvSpPr/>
          <p:nvPr/>
        </p:nvSpPr>
        <p:spPr>
          <a:xfrm>
            <a:off x="8091220" y="3419856"/>
            <a:ext cx="3734714" cy="2560320"/>
          </a:xfrm>
          <a:prstGeom prst="roundRect">
            <a:avLst>
              <a:gd name="adj" fmla="val 4000"/>
            </a:avLst>
          </a:prstGeom>
          <a:solidFill>
            <a:srgbClr val="FFFFFF"/>
          </a:solidFill>
          <a:ln w="1016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812" y="3566160"/>
            <a:ext cx="3405530" cy="292608"/>
          </a:xfrm>
          <a:prstGeom prst="rect">
            <a:avLst/>
          </a:prstGeom>
          <a:noFill/>
        </p:spPr>
        <p:txBody>
          <a:bodyPr wrap="square" anchor="t" lIns="36000" rIns="36000" tIns="18000" bIns="18000">
            <a:spAutoFit/>
          </a:bodyPr>
          <a:lstStyle/>
          <a:p>
            <a:pPr algn="l"/>
            <a:r>
              <a:rPr sz="1300" b="1" i="0">
                <a:solidFill>
                  <a:srgbClr val="3B5174"/>
                </a:solidFill>
                <a:latin typeface="Noto Sans JP"/>
              </a:rPr>
              <a:t>本研究 WEG</a:t>
            </a:r>
          </a:p>
        </p:txBody>
      </p:sp>
      <p:sp>
        <p:nvSpPr>
          <p:cNvPr id="27" name="TextBox 26"/>
          <p:cNvSpPr txBox="1"/>
          <p:nvPr/>
        </p:nvSpPr>
        <p:spPr>
          <a:xfrm>
            <a:off x="8292388" y="3968496"/>
            <a:ext cx="3332378" cy="292608"/>
          </a:xfrm>
          <a:prstGeom prst="rect">
            <a:avLst/>
          </a:prstGeom>
          <a:noFill/>
        </p:spPr>
        <p:txBody>
          <a:bodyPr wrap="square" anchor="t" lIns="36000" rIns="36000" tIns="18000" bIns="18000">
            <a:spAutoFit/>
          </a:bodyPr>
          <a:lstStyle/>
          <a:p>
            <a:pPr algn="l"/>
            <a:r>
              <a:rPr sz="1200" b="0" i="0">
                <a:solidFill>
                  <a:srgbClr val="475569"/>
                </a:solidFill>
                <a:latin typeface="Noto Sans JP"/>
              </a:rPr>
              <a:t>• 120 s：エアロゲル層が形成・膨張中</a:t>
            </a:r>
          </a:p>
        </p:txBody>
      </p:sp>
      <p:sp>
        <p:nvSpPr>
          <p:cNvPr id="28" name="TextBox 27"/>
          <p:cNvSpPr txBox="1"/>
          <p:nvPr/>
        </p:nvSpPr>
        <p:spPr>
          <a:xfrm>
            <a:off x="8292388" y="4379976"/>
            <a:ext cx="3332378" cy="292608"/>
          </a:xfrm>
          <a:prstGeom prst="rect">
            <a:avLst/>
          </a:prstGeom>
          <a:noFill/>
        </p:spPr>
        <p:txBody>
          <a:bodyPr wrap="square" anchor="t" lIns="36000" rIns="36000" tIns="18000" bIns="18000">
            <a:spAutoFit/>
          </a:bodyPr>
          <a:lstStyle/>
          <a:p>
            <a:pPr algn="l"/>
            <a:r>
              <a:rPr sz="1200" b="0" i="0">
                <a:solidFill>
                  <a:srgbClr val="475569"/>
                </a:solidFill>
                <a:latin typeface="Noto Sans JP"/>
              </a:rPr>
              <a:t>• 300 s：表面ほぼ無傷、層が残存</a:t>
            </a:r>
          </a:p>
        </p:txBody>
      </p:sp>
      <p:sp>
        <p:nvSpPr>
          <p:cNvPr id="29" name="TextBox 28"/>
          <p:cNvSpPr txBox="1"/>
          <p:nvPr/>
        </p:nvSpPr>
        <p:spPr>
          <a:xfrm>
            <a:off x="8255812" y="5614416"/>
            <a:ext cx="3405530" cy="274320"/>
          </a:xfrm>
          <a:prstGeom prst="rect">
            <a:avLst/>
          </a:prstGeom>
          <a:noFill/>
        </p:spPr>
        <p:txBody>
          <a:bodyPr wrap="square" anchor="t" lIns="36000" rIns="36000" tIns="18000" bIns="18000">
            <a:spAutoFit/>
          </a:bodyPr>
          <a:lstStyle/>
          <a:p>
            <a:pPr algn="l"/>
            <a:r>
              <a:rPr sz="1200" b="1" i="0">
                <a:solidFill>
                  <a:srgbClr val="3B5174"/>
                </a:solidFill>
                <a:latin typeface="Noto Sans JP"/>
              </a:rPr>
              <a:t>Time to char：&gt;7 min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0"/>
            <a:ext cx="11247120" cy="457200"/>
          </a:xfrm>
          <a:prstGeom prst="rect">
            <a:avLst/>
          </a:prstGeom>
          <a:noFill/>
        </p:spPr>
        <p:txBody>
          <a:bodyPr wrap="square" anchor="t" lIns="36000" rIns="36000" tIns="18000" bIns="18000">
            <a:spAutoFit/>
          </a:bodyPr>
          <a:lstStyle/>
          <a:p>
            <a:pPr algn="ctr"/>
            <a:r>
              <a:rPr sz="1400" b="1" i="0">
                <a:solidFill>
                  <a:srgbClr val="88A4C0"/>
                </a:solidFill>
                <a:latin typeface="Noto Sans JP"/>
              </a:rPr>
              <a:t>KEY RESULT</a:t>
            </a:r>
          </a:p>
        </p:txBody>
      </p:sp>
      <p:sp>
        <p:nvSpPr>
          <p:cNvPr id="4" name="TextBox 3"/>
          <p:cNvSpPr txBox="1"/>
          <p:nvPr/>
        </p:nvSpPr>
        <p:spPr>
          <a:xfrm>
            <a:off x="457200" y="1737360"/>
            <a:ext cx="11247120" cy="2103120"/>
          </a:xfrm>
          <a:prstGeom prst="rect">
            <a:avLst/>
          </a:prstGeom>
          <a:noFill/>
        </p:spPr>
        <p:txBody>
          <a:bodyPr wrap="square" anchor="ctr" lIns="36000" rIns="36000" tIns="18000" bIns="18000">
            <a:spAutoFit/>
          </a:bodyPr>
          <a:lstStyle/>
          <a:p>
            <a:pPr algn="ctr"/>
            <a:r>
              <a:rPr sz="13000" b="1" i="0">
                <a:solidFill>
                  <a:srgbClr val="D4A574"/>
                </a:solidFill>
                <a:latin typeface="Noto Sans JP"/>
              </a:rPr>
              <a:t>&gt;7</a:t>
            </a:r>
            <a:r>
              <a:rPr sz="6000" b="0" i="0">
                <a:solidFill>
                  <a:srgbClr val="C89A68"/>
                </a:solidFill>
                <a:latin typeface="Noto Sans JP"/>
              </a:rPr>
              <a:t> min</a:t>
            </a:r>
          </a:p>
        </p:txBody>
      </p:sp>
      <p:sp>
        <p:nvSpPr>
          <p:cNvPr id="5" name="TextBox 4"/>
          <p:cNvSpPr txBox="1"/>
          <p:nvPr/>
        </p:nvSpPr>
        <p:spPr>
          <a:xfrm>
            <a:off x="457200" y="4023360"/>
            <a:ext cx="11247120" cy="548640"/>
          </a:xfrm>
          <a:prstGeom prst="rect">
            <a:avLst/>
          </a:prstGeom>
          <a:noFill/>
        </p:spPr>
        <p:txBody>
          <a:bodyPr wrap="square" anchor="t" lIns="36000" rIns="36000" tIns="18000" bIns="18000">
            <a:spAutoFit/>
          </a:bodyPr>
          <a:lstStyle/>
          <a:p>
            <a:pPr algn="ctr"/>
            <a:r>
              <a:rPr sz="2600" b="1" i="0">
                <a:solidFill>
                  <a:srgbClr val="FFFFFF"/>
                </a:solidFill>
                <a:latin typeface="Noto Sans JP"/>
              </a:rPr>
              <a:t>本研究WEGの Time to char（HEC+MC/CSP）</a:t>
            </a:r>
          </a:p>
        </p:txBody>
      </p:sp>
      <p:sp>
        <p:nvSpPr>
          <p:cNvPr id="6" name="TextBox 5"/>
          <p:cNvSpPr txBox="1"/>
          <p:nvPr/>
        </p:nvSpPr>
        <p:spPr>
          <a:xfrm>
            <a:off x="1371600" y="4709160"/>
            <a:ext cx="9418320" cy="640080"/>
          </a:xfrm>
          <a:prstGeom prst="rect">
            <a:avLst/>
          </a:prstGeom>
          <a:noFill/>
        </p:spPr>
        <p:txBody>
          <a:bodyPr wrap="square" anchor="t" lIns="36000" rIns="36000" tIns="18000" bIns="18000">
            <a:spAutoFit/>
          </a:bodyPr>
          <a:lstStyle/>
          <a:p>
            <a:pPr algn="ctr"/>
            <a:r>
              <a:rPr sz="1400" b="0" i="0">
                <a:solidFill>
                  <a:srgbClr val="9CB4CC"/>
                </a:solidFill>
                <a:latin typeface="Noto Sans JP"/>
              </a:rPr>
              <a:t>市販AquaGel-K（~1.5分）の3〜6倍の保護時間を達成（全試験でn≥3）</a:t>
            </a:r>
          </a:p>
        </p:txBody>
      </p:sp>
      <p:sp>
        <p:nvSpPr>
          <p:cNvPr id="7" name="TextBox 6"/>
          <p:cNvSpPr txBox="1"/>
          <p:nvPr/>
        </p:nvSpPr>
        <p:spPr>
          <a:xfrm>
            <a:off x="2286000" y="5532120"/>
            <a:ext cx="1554480" cy="274320"/>
          </a:xfrm>
          <a:prstGeom prst="rect">
            <a:avLst/>
          </a:prstGeom>
          <a:noFill/>
        </p:spPr>
        <p:txBody>
          <a:bodyPr wrap="square" anchor="ctr" lIns="36000" rIns="36000" tIns="18000" bIns="18000">
            <a:spAutoFit/>
          </a:bodyPr>
          <a:lstStyle/>
          <a:p>
            <a:pPr algn="r"/>
            <a:r>
              <a:rPr sz="1100" b="0" i="0">
                <a:solidFill>
                  <a:srgbClr val="C0D0E0"/>
                </a:solidFill>
                <a:latin typeface="Noto Sans JP"/>
              </a:rPr>
              <a:t>Water</a:t>
            </a:r>
          </a:p>
        </p:txBody>
      </p:sp>
      <p:sp>
        <p:nvSpPr>
          <p:cNvPr id="8" name="Rounded Rectangle 7"/>
          <p:cNvSpPr/>
          <p:nvPr/>
        </p:nvSpPr>
        <p:spPr>
          <a:xfrm>
            <a:off x="3931920" y="5568696"/>
            <a:ext cx="6400800" cy="164592"/>
          </a:xfrm>
          <a:prstGeom prst="roundRect">
            <a:avLst>
              <a:gd name="adj" fmla="val 50000"/>
            </a:avLst>
          </a:prstGeom>
          <a:solidFill>
            <a:srgbClr val="2C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31920" y="5568696"/>
            <a:ext cx="256032" cy="164592"/>
          </a:xfrm>
          <a:prstGeom prst="roundRect">
            <a:avLst>
              <a:gd name="adj" fmla="val 50000"/>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69880" y="5532120"/>
            <a:ext cx="914400" cy="274320"/>
          </a:xfrm>
          <a:prstGeom prst="rect">
            <a:avLst/>
          </a:prstGeom>
          <a:noFill/>
        </p:spPr>
        <p:txBody>
          <a:bodyPr wrap="square" anchor="ctr" lIns="36000" rIns="36000" tIns="18000" bIns="18000">
            <a:spAutoFit/>
          </a:bodyPr>
          <a:lstStyle/>
          <a:p>
            <a:pPr algn="l"/>
            <a:r>
              <a:rPr sz="1100" b="1" i="0">
                <a:solidFill>
                  <a:srgbClr val="C0D0E0"/>
                </a:solidFill>
                <a:latin typeface="Noto Sans JP"/>
              </a:rPr>
              <a:t>~0.3 min</a:t>
            </a:r>
          </a:p>
        </p:txBody>
      </p:sp>
      <p:sp>
        <p:nvSpPr>
          <p:cNvPr id="11" name="TextBox 10"/>
          <p:cNvSpPr txBox="1"/>
          <p:nvPr/>
        </p:nvSpPr>
        <p:spPr>
          <a:xfrm>
            <a:off x="2286000" y="5852160"/>
            <a:ext cx="1554480" cy="274320"/>
          </a:xfrm>
          <a:prstGeom prst="rect">
            <a:avLst/>
          </a:prstGeom>
          <a:noFill/>
        </p:spPr>
        <p:txBody>
          <a:bodyPr wrap="square" anchor="ctr" lIns="36000" rIns="36000" tIns="18000" bIns="18000">
            <a:spAutoFit/>
          </a:bodyPr>
          <a:lstStyle/>
          <a:p>
            <a:pPr algn="r"/>
            <a:r>
              <a:rPr sz="1100" b="0" i="0">
                <a:solidFill>
                  <a:srgbClr val="C0D0E0"/>
                </a:solidFill>
                <a:latin typeface="Noto Sans JP"/>
              </a:rPr>
              <a:t>AquaGel-K</a:t>
            </a:r>
          </a:p>
        </p:txBody>
      </p:sp>
      <p:sp>
        <p:nvSpPr>
          <p:cNvPr id="12" name="Rounded Rectangle 11"/>
          <p:cNvSpPr/>
          <p:nvPr/>
        </p:nvSpPr>
        <p:spPr>
          <a:xfrm>
            <a:off x="3931920" y="5888736"/>
            <a:ext cx="6400800" cy="164592"/>
          </a:xfrm>
          <a:prstGeom prst="roundRect">
            <a:avLst>
              <a:gd name="adj" fmla="val 50000"/>
            </a:avLst>
          </a:prstGeom>
          <a:solidFill>
            <a:srgbClr val="2C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931920" y="5888736"/>
            <a:ext cx="1280160" cy="164592"/>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69880" y="5852160"/>
            <a:ext cx="914400" cy="274320"/>
          </a:xfrm>
          <a:prstGeom prst="rect">
            <a:avLst/>
          </a:prstGeom>
          <a:noFill/>
        </p:spPr>
        <p:txBody>
          <a:bodyPr wrap="square" anchor="ctr" lIns="36000" rIns="36000" tIns="18000" bIns="18000">
            <a:spAutoFit/>
          </a:bodyPr>
          <a:lstStyle/>
          <a:p>
            <a:pPr algn="l"/>
            <a:r>
              <a:rPr sz="1100" b="1" i="0">
                <a:solidFill>
                  <a:srgbClr val="C0D0E0"/>
                </a:solidFill>
                <a:latin typeface="Noto Sans JP"/>
              </a:rPr>
              <a:t>~1.5 min</a:t>
            </a:r>
          </a:p>
        </p:txBody>
      </p:sp>
      <p:sp>
        <p:nvSpPr>
          <p:cNvPr id="15" name="TextBox 14"/>
          <p:cNvSpPr txBox="1"/>
          <p:nvPr/>
        </p:nvSpPr>
        <p:spPr>
          <a:xfrm>
            <a:off x="2286000" y="6172200"/>
            <a:ext cx="1554480" cy="274320"/>
          </a:xfrm>
          <a:prstGeom prst="rect">
            <a:avLst/>
          </a:prstGeom>
          <a:noFill/>
        </p:spPr>
        <p:txBody>
          <a:bodyPr wrap="square" anchor="ctr" lIns="36000" rIns="36000" tIns="18000" bIns="18000">
            <a:spAutoFit/>
          </a:bodyPr>
          <a:lstStyle/>
          <a:p>
            <a:pPr algn="r"/>
            <a:r>
              <a:rPr sz="1100" b="0" i="0">
                <a:solidFill>
                  <a:srgbClr val="C0D0E0"/>
                </a:solidFill>
                <a:latin typeface="Noto Sans JP"/>
              </a:rPr>
              <a:t>本研究 WEG</a:t>
            </a:r>
          </a:p>
        </p:txBody>
      </p:sp>
      <p:sp>
        <p:nvSpPr>
          <p:cNvPr id="16" name="Rounded Rectangle 15"/>
          <p:cNvSpPr/>
          <p:nvPr/>
        </p:nvSpPr>
        <p:spPr>
          <a:xfrm>
            <a:off x="3931920" y="6208776"/>
            <a:ext cx="6400800" cy="164592"/>
          </a:xfrm>
          <a:prstGeom prst="roundRect">
            <a:avLst>
              <a:gd name="adj" fmla="val 50000"/>
            </a:avLst>
          </a:prstGeom>
          <a:solidFill>
            <a:srgbClr val="2C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931920" y="6208776"/>
            <a:ext cx="6080760" cy="164592"/>
          </a:xfrm>
          <a:prstGeom prst="roundRect">
            <a:avLst>
              <a:gd name="adj" fmla="val 50000"/>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172200"/>
            <a:ext cx="914400" cy="274320"/>
          </a:xfrm>
          <a:prstGeom prst="rect">
            <a:avLst/>
          </a:prstGeom>
          <a:noFill/>
        </p:spPr>
        <p:txBody>
          <a:bodyPr wrap="square" anchor="ctr" lIns="36000" rIns="36000" tIns="18000" bIns="18000">
            <a:spAutoFit/>
          </a:bodyPr>
          <a:lstStyle/>
          <a:p>
            <a:pPr algn="l"/>
            <a:r>
              <a:rPr sz="1100" b="1" i="0">
                <a:solidFill>
                  <a:srgbClr val="C0D0E0"/>
                </a:solidFill>
                <a:latin typeface="Noto Sans JP"/>
              </a:rPr>
              <a:t>&gt;7 min</a:t>
            </a:r>
          </a:p>
        </p:txBody>
      </p:sp>
      <p:sp>
        <p:nvSpPr>
          <p:cNvPr id="19" name="TextBox 18"/>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556677"/>
                </a:solidFill>
                <a:latin typeface="Noto Sans JP"/>
              </a:rPr>
              <a:t>25 / 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9/11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発泡指数（Foaming Index）の比較</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26 / 36</a:t>
            </a:r>
          </a:p>
        </p:txBody>
      </p:sp>
      <p:sp>
        <p:nvSpPr>
          <p:cNvPr id="10" name="Rounded Rectangle 9"/>
          <p:cNvSpPr/>
          <p:nvPr/>
        </p:nvSpPr>
        <p:spPr>
          <a:xfrm>
            <a:off x="365760" y="859536"/>
            <a:ext cx="5638647" cy="21031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4a</a:t>
            </a:r>
          </a:p>
        </p:txBody>
      </p:sp>
      <p:sp>
        <p:nvSpPr>
          <p:cNvPr id="13" name="TextBox 12"/>
          <p:cNvSpPr txBox="1"/>
          <p:nvPr/>
        </p:nvSpPr>
        <p:spPr>
          <a:xfrm>
            <a:off x="365760" y="859536"/>
            <a:ext cx="5638647" cy="21031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2999232"/>
            <a:ext cx="5638647"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燃焼後の発泡層外観</a:t>
            </a:r>
          </a:p>
        </p:txBody>
      </p:sp>
      <p:sp>
        <p:nvSpPr>
          <p:cNvPr id="15" name="Rounded Rectangle 14"/>
          <p:cNvSpPr/>
          <p:nvPr/>
        </p:nvSpPr>
        <p:spPr>
          <a:xfrm>
            <a:off x="6187287" y="859536"/>
            <a:ext cx="5638647" cy="21031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7015"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7015"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4b</a:t>
            </a:r>
          </a:p>
        </p:txBody>
      </p:sp>
      <p:sp>
        <p:nvSpPr>
          <p:cNvPr id="18" name="TextBox 17"/>
          <p:cNvSpPr txBox="1"/>
          <p:nvPr/>
        </p:nvSpPr>
        <p:spPr>
          <a:xfrm>
            <a:off x="6187287" y="859536"/>
            <a:ext cx="5638647" cy="21031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9" name="TextBox 18"/>
          <p:cNvSpPr txBox="1"/>
          <p:nvPr/>
        </p:nvSpPr>
        <p:spPr>
          <a:xfrm>
            <a:off x="6187287" y="2999232"/>
            <a:ext cx="5638647"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各配合系の Foaming Index</a:t>
            </a:r>
          </a:p>
        </p:txBody>
      </p:sp>
      <p:sp>
        <p:nvSpPr>
          <p:cNvPr id="20" name="TextBox 19"/>
          <p:cNvSpPr txBox="1"/>
          <p:nvPr/>
        </p:nvSpPr>
        <p:spPr>
          <a:xfrm>
            <a:off x="365760" y="3374136"/>
            <a:ext cx="563864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Foaming Index（発泡後厚 / 初期厚）</a:t>
            </a:r>
          </a:p>
        </p:txBody>
      </p:sp>
      <p:sp>
        <p:nvSpPr>
          <p:cNvPr id="21" name="TextBox 20"/>
          <p:cNvSpPr txBox="1"/>
          <p:nvPr/>
        </p:nvSpPr>
        <p:spPr>
          <a:xfrm>
            <a:off x="365760" y="3739896"/>
            <a:ext cx="14630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AquaGel-K</a:t>
            </a:r>
          </a:p>
        </p:txBody>
      </p:sp>
      <p:sp>
        <p:nvSpPr>
          <p:cNvPr id="22" name="Rounded Rectangle 21"/>
          <p:cNvSpPr/>
          <p:nvPr/>
        </p:nvSpPr>
        <p:spPr>
          <a:xfrm>
            <a:off x="1920240" y="3813048"/>
            <a:ext cx="31240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920240" y="3813048"/>
            <a:ext cx="62480" cy="146304"/>
          </a:xfrm>
          <a:prstGeom prst="roundRect">
            <a:avLst>
              <a:gd name="adj" fmla="val 50000"/>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35727" y="3739896"/>
            <a:ext cx="86868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≈0</a:t>
            </a:r>
          </a:p>
        </p:txBody>
      </p:sp>
      <p:sp>
        <p:nvSpPr>
          <p:cNvPr id="25" name="TextBox 24"/>
          <p:cNvSpPr txBox="1"/>
          <p:nvPr/>
        </p:nvSpPr>
        <p:spPr>
          <a:xfrm>
            <a:off x="365760" y="4151376"/>
            <a:ext cx="14630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MHEC/CSP 1-5</a:t>
            </a:r>
          </a:p>
        </p:txBody>
      </p:sp>
      <p:sp>
        <p:nvSpPr>
          <p:cNvPr id="26" name="Rounded Rectangle 25"/>
          <p:cNvSpPr/>
          <p:nvPr/>
        </p:nvSpPr>
        <p:spPr>
          <a:xfrm>
            <a:off x="1920240" y="4224528"/>
            <a:ext cx="31240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920240" y="4224528"/>
            <a:ext cx="1655745" cy="146304"/>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35727" y="4151376"/>
            <a:ext cx="86868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≈2.1×</a:t>
            </a:r>
          </a:p>
        </p:txBody>
      </p:sp>
      <p:sp>
        <p:nvSpPr>
          <p:cNvPr id="29" name="TextBox 28"/>
          <p:cNvSpPr txBox="1"/>
          <p:nvPr/>
        </p:nvSpPr>
        <p:spPr>
          <a:xfrm>
            <a:off x="365760" y="4562856"/>
            <a:ext cx="14630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HEC+MC/CSP/SDS 1-5-0.1</a:t>
            </a:r>
          </a:p>
        </p:txBody>
      </p:sp>
      <p:sp>
        <p:nvSpPr>
          <p:cNvPr id="30" name="Rounded Rectangle 29"/>
          <p:cNvSpPr/>
          <p:nvPr/>
        </p:nvSpPr>
        <p:spPr>
          <a:xfrm>
            <a:off x="1920240" y="4636008"/>
            <a:ext cx="31240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920240" y="4636008"/>
            <a:ext cx="1874428" cy="146304"/>
          </a:xfrm>
          <a:prstGeom prst="roundRect">
            <a:avLst>
              <a:gd name="adj" fmla="val 50000"/>
            </a:avLst>
          </a:prstGeom>
          <a:solidFill>
            <a:srgbClr val="5B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35727" y="4562856"/>
            <a:ext cx="86868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≈2.3×</a:t>
            </a:r>
          </a:p>
        </p:txBody>
      </p:sp>
      <p:sp>
        <p:nvSpPr>
          <p:cNvPr id="33" name="TextBox 32"/>
          <p:cNvSpPr txBox="1"/>
          <p:nvPr/>
        </p:nvSpPr>
        <p:spPr>
          <a:xfrm>
            <a:off x="365760" y="4974336"/>
            <a:ext cx="1463040" cy="274320"/>
          </a:xfrm>
          <a:prstGeom prst="rect">
            <a:avLst/>
          </a:prstGeom>
          <a:noFill/>
        </p:spPr>
        <p:txBody>
          <a:bodyPr wrap="square" anchor="ctr" lIns="36000" rIns="36000" tIns="18000" bIns="18000">
            <a:spAutoFit/>
          </a:bodyPr>
          <a:lstStyle/>
          <a:p>
            <a:pPr algn="l"/>
            <a:r>
              <a:rPr sz="1200" b="0" i="0">
                <a:solidFill>
                  <a:srgbClr val="334155"/>
                </a:solidFill>
                <a:latin typeface="Noto Sans JP"/>
              </a:rPr>
              <a:t>HEC+MC/CSP 1-5</a:t>
            </a:r>
          </a:p>
        </p:txBody>
      </p:sp>
      <p:sp>
        <p:nvSpPr>
          <p:cNvPr id="34" name="Rounded Rectangle 33"/>
          <p:cNvSpPr/>
          <p:nvPr/>
        </p:nvSpPr>
        <p:spPr>
          <a:xfrm>
            <a:off x="1920240" y="5047488"/>
            <a:ext cx="3124047" cy="146304"/>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920240" y="5047488"/>
            <a:ext cx="2124352" cy="146304"/>
          </a:xfrm>
          <a:prstGeom prst="roundRect">
            <a:avLst>
              <a:gd name="adj" fmla="val 50000"/>
            </a:avLst>
          </a:prstGeom>
          <a:solidFill>
            <a:srgbClr val="4A7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35727" y="4974336"/>
            <a:ext cx="868680" cy="274320"/>
          </a:xfrm>
          <a:prstGeom prst="rect">
            <a:avLst/>
          </a:prstGeom>
          <a:noFill/>
        </p:spPr>
        <p:txBody>
          <a:bodyPr wrap="square" anchor="ctr" lIns="36000" rIns="36000" tIns="18000" bIns="18000">
            <a:spAutoFit/>
          </a:bodyPr>
          <a:lstStyle/>
          <a:p>
            <a:pPr algn="l"/>
            <a:r>
              <a:rPr sz="1100" b="1" i="0">
                <a:solidFill>
                  <a:srgbClr val="475569"/>
                </a:solidFill>
                <a:latin typeface="Noto Sans JP"/>
              </a:rPr>
              <a:t>≈2.6×</a:t>
            </a:r>
          </a:p>
        </p:txBody>
      </p:sp>
      <p:sp>
        <p:nvSpPr>
          <p:cNvPr id="37" name="TextBox 36"/>
          <p:cNvSpPr txBox="1"/>
          <p:nvPr/>
        </p:nvSpPr>
        <p:spPr>
          <a:xfrm>
            <a:off x="6187287" y="3374136"/>
            <a:ext cx="563864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発泡がもたらす断熱効果</a:t>
            </a:r>
          </a:p>
        </p:txBody>
      </p:sp>
      <p:sp>
        <p:nvSpPr>
          <p:cNvPr id="38" name="TextBox 37"/>
          <p:cNvSpPr txBox="1"/>
          <p:nvPr/>
        </p:nvSpPr>
        <p:spPr>
          <a:xfrm>
            <a:off x="6233007" y="3739896"/>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39" name="TextBox 38"/>
          <p:cNvSpPr txBox="1"/>
          <p:nvPr/>
        </p:nvSpPr>
        <p:spPr>
          <a:xfrm>
            <a:off x="6461607" y="3739896"/>
            <a:ext cx="531860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初期厚の2倍以上に膨張 → 熱伝導経路が延長</a:t>
            </a:r>
          </a:p>
        </p:txBody>
      </p:sp>
      <p:sp>
        <p:nvSpPr>
          <p:cNvPr id="40" name="TextBox 39"/>
          <p:cNvSpPr txBox="1"/>
          <p:nvPr/>
        </p:nvSpPr>
        <p:spPr>
          <a:xfrm>
            <a:off x="6233007" y="4123944"/>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41" name="TextBox 40"/>
          <p:cNvSpPr txBox="1"/>
          <p:nvPr/>
        </p:nvSpPr>
        <p:spPr>
          <a:xfrm>
            <a:off x="6461607" y="4123944"/>
            <a:ext cx="531860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気孔内に空気が閉じ込められ断熱性が向上</a:t>
            </a:r>
          </a:p>
        </p:txBody>
      </p:sp>
      <p:sp>
        <p:nvSpPr>
          <p:cNvPr id="42" name="TextBox 41"/>
          <p:cNvSpPr txBox="1"/>
          <p:nvPr/>
        </p:nvSpPr>
        <p:spPr>
          <a:xfrm>
            <a:off x="6233007" y="4507992"/>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43" name="TextBox 42"/>
          <p:cNvSpPr txBox="1"/>
          <p:nvPr/>
        </p:nvSpPr>
        <p:spPr>
          <a:xfrm>
            <a:off x="6461607" y="4507992"/>
            <a:ext cx="531860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AquaGel-Kは発泡せず → 火炎で平坦に崩壊</a:t>
            </a:r>
          </a:p>
        </p:txBody>
      </p:sp>
      <p:sp>
        <p:nvSpPr>
          <p:cNvPr id="44" name="TextBox 43"/>
          <p:cNvSpPr txBox="1"/>
          <p:nvPr/>
        </p:nvSpPr>
        <p:spPr>
          <a:xfrm>
            <a:off x="6233007" y="4892040"/>
            <a:ext cx="182880" cy="274320"/>
          </a:xfrm>
          <a:prstGeom prst="rect">
            <a:avLst/>
          </a:prstGeom>
          <a:noFill/>
        </p:spPr>
        <p:txBody>
          <a:bodyPr wrap="square" anchor="t" lIns="36000" rIns="36000" tIns="18000" bIns="18000">
            <a:spAutoFit/>
          </a:bodyPr>
          <a:lstStyle/>
          <a:p>
            <a:pPr algn="l"/>
            <a:r>
              <a:rPr sz="1400" b="0" i="0">
                <a:solidFill>
                  <a:srgbClr val="3B5174"/>
                </a:solidFill>
                <a:latin typeface="Noto Sans JP"/>
              </a:rPr>
              <a:t>•</a:t>
            </a:r>
          </a:p>
        </p:txBody>
      </p:sp>
      <p:sp>
        <p:nvSpPr>
          <p:cNvPr id="45" name="TextBox 44"/>
          <p:cNvSpPr txBox="1"/>
          <p:nvPr/>
        </p:nvSpPr>
        <p:spPr>
          <a:xfrm>
            <a:off x="6461607" y="4892040"/>
            <a:ext cx="5318607" cy="274320"/>
          </a:xfrm>
          <a:prstGeom prst="rect">
            <a:avLst/>
          </a:prstGeom>
          <a:noFill/>
        </p:spPr>
        <p:txBody>
          <a:bodyPr wrap="square" anchor="t" lIns="36000" rIns="36000" tIns="18000" bIns="18000">
            <a:spAutoFit/>
          </a:bodyPr>
          <a:lstStyle/>
          <a:p>
            <a:pPr algn="l"/>
            <a:r>
              <a:rPr sz="1200" b="0" i="0">
                <a:solidFill>
                  <a:srgbClr val="334155"/>
                </a:solidFill>
                <a:latin typeface="Noto Sans JP"/>
              </a:rPr>
              <a:t>SDS無しのHEC+MC/CSPが最高発泡指数（≈2.6）を達成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9/11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SDS濃度がエアロゲル微細構造に与える影響</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27 / 36</a:t>
            </a:r>
          </a:p>
        </p:txBody>
      </p:sp>
      <p:sp>
        <p:nvSpPr>
          <p:cNvPr id="10" name="Rounded Rectangle 9"/>
          <p:cNvSpPr/>
          <p:nvPr/>
        </p:nvSpPr>
        <p:spPr>
          <a:xfrm>
            <a:off x="365760" y="859536"/>
            <a:ext cx="11460175" cy="274320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4c</a:t>
            </a:r>
          </a:p>
        </p:txBody>
      </p:sp>
      <p:sp>
        <p:nvSpPr>
          <p:cNvPr id="13" name="TextBox 12"/>
          <p:cNvSpPr txBox="1"/>
          <p:nvPr/>
        </p:nvSpPr>
        <p:spPr>
          <a:xfrm>
            <a:off x="365760" y="859536"/>
            <a:ext cx="11460175" cy="274320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3639312"/>
            <a:ext cx="11460175"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SDS濃度別のFE-SEM観察像（0%, 0.1%, 0.5%）</a:t>
            </a:r>
          </a:p>
        </p:txBody>
      </p:sp>
      <p:sp>
        <p:nvSpPr>
          <p:cNvPr id="15" name="Rounded Rectangle 14"/>
          <p:cNvSpPr/>
          <p:nvPr/>
        </p:nvSpPr>
        <p:spPr>
          <a:xfrm>
            <a:off x="365760" y="4014216"/>
            <a:ext cx="3734714" cy="2103120"/>
          </a:xfrm>
          <a:prstGeom prst="roundRect">
            <a:avLst>
              <a:gd name="adj" fmla="val 4000"/>
            </a:avLst>
          </a:prstGeom>
          <a:solidFill>
            <a:srgbClr val="FFFFFF"/>
          </a:solidFill>
          <a:ln w="1016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4215384"/>
            <a:ext cx="3405530" cy="320040"/>
          </a:xfrm>
          <a:prstGeom prst="rect">
            <a:avLst/>
          </a:prstGeom>
          <a:noFill/>
        </p:spPr>
        <p:txBody>
          <a:bodyPr wrap="square" anchor="t" lIns="36000" rIns="36000" tIns="18000" bIns="18000">
            <a:spAutoFit/>
          </a:bodyPr>
          <a:lstStyle/>
          <a:p>
            <a:pPr algn="l"/>
            <a:r>
              <a:rPr sz="1300" b="1" i="0">
                <a:solidFill>
                  <a:srgbClr val="3B5174"/>
                </a:solidFill>
                <a:latin typeface="Noto Sans JP"/>
              </a:rPr>
              <a:t>0% SDS</a:t>
            </a:r>
          </a:p>
        </p:txBody>
      </p:sp>
      <p:sp>
        <p:nvSpPr>
          <p:cNvPr id="17" name="TextBox 16"/>
          <p:cNvSpPr txBox="1"/>
          <p:nvPr/>
        </p:nvSpPr>
        <p:spPr>
          <a:xfrm>
            <a:off x="530352" y="4700016"/>
            <a:ext cx="3405530" cy="1280160"/>
          </a:xfrm>
          <a:prstGeom prst="rect">
            <a:avLst/>
          </a:prstGeom>
          <a:noFill/>
        </p:spPr>
        <p:txBody>
          <a:bodyPr wrap="square" anchor="t" lIns="36000" rIns="36000" tIns="18000" bIns="18000">
            <a:spAutoFit/>
          </a:bodyPr>
          <a:lstStyle/>
          <a:p>
            <a:pPr algn="l"/>
            <a:r>
              <a:rPr sz="1200" b="0" i="0">
                <a:solidFill>
                  <a:srgbClr val="475569"/>
                </a:solidFill>
                <a:latin typeface="Noto Sans JP"/>
              </a:rPr>
              <a:t>最高の発泡指数（≈2.6）。SDSなしが膨張率最大。</a:t>
            </a:r>
          </a:p>
        </p:txBody>
      </p:sp>
      <p:sp>
        <p:nvSpPr>
          <p:cNvPr id="18" name="Rounded Rectangle 17"/>
          <p:cNvSpPr/>
          <p:nvPr/>
        </p:nvSpPr>
        <p:spPr>
          <a:xfrm>
            <a:off x="4228490" y="4014216"/>
            <a:ext cx="3734714" cy="210312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3082" y="4215384"/>
            <a:ext cx="3405530" cy="320040"/>
          </a:xfrm>
          <a:prstGeom prst="rect">
            <a:avLst/>
          </a:prstGeom>
          <a:noFill/>
        </p:spPr>
        <p:txBody>
          <a:bodyPr wrap="square" anchor="t" lIns="36000" rIns="36000" tIns="18000" bIns="18000">
            <a:spAutoFit/>
          </a:bodyPr>
          <a:lstStyle/>
          <a:p>
            <a:pPr algn="l"/>
            <a:r>
              <a:rPr sz="1300" b="1" i="0">
                <a:solidFill>
                  <a:srgbClr val="64748B"/>
                </a:solidFill>
                <a:latin typeface="Noto Sans JP"/>
              </a:rPr>
              <a:t>0.1% SDS</a:t>
            </a:r>
          </a:p>
        </p:txBody>
      </p:sp>
      <p:sp>
        <p:nvSpPr>
          <p:cNvPr id="20" name="TextBox 19"/>
          <p:cNvSpPr txBox="1"/>
          <p:nvPr/>
        </p:nvSpPr>
        <p:spPr>
          <a:xfrm>
            <a:off x="4393082" y="4700016"/>
            <a:ext cx="3405530" cy="1280160"/>
          </a:xfrm>
          <a:prstGeom prst="rect">
            <a:avLst/>
          </a:prstGeom>
          <a:noFill/>
        </p:spPr>
        <p:txBody>
          <a:bodyPr wrap="square" anchor="t" lIns="36000" rIns="36000" tIns="18000" bIns="18000">
            <a:spAutoFit/>
          </a:bodyPr>
          <a:lstStyle/>
          <a:p>
            <a:pPr algn="l"/>
            <a:r>
              <a:rPr sz="1200" b="0" i="0">
                <a:solidFill>
                  <a:srgbClr val="475569"/>
                </a:solidFill>
                <a:latin typeface="Noto Sans JP"/>
              </a:rPr>
              <a:t>均一な微細気泡構造。発泡指数≈2.3（SDSなしより低い）。</a:t>
            </a:r>
          </a:p>
        </p:txBody>
      </p:sp>
      <p:sp>
        <p:nvSpPr>
          <p:cNvPr id="21" name="Rounded Rectangle 20"/>
          <p:cNvSpPr/>
          <p:nvPr/>
        </p:nvSpPr>
        <p:spPr>
          <a:xfrm>
            <a:off x="8091220" y="4014216"/>
            <a:ext cx="3734714" cy="210312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812" y="4215384"/>
            <a:ext cx="3405530" cy="320040"/>
          </a:xfrm>
          <a:prstGeom prst="rect">
            <a:avLst/>
          </a:prstGeom>
          <a:noFill/>
        </p:spPr>
        <p:txBody>
          <a:bodyPr wrap="square" anchor="t" lIns="36000" rIns="36000" tIns="18000" bIns="18000">
            <a:spAutoFit/>
          </a:bodyPr>
          <a:lstStyle/>
          <a:p>
            <a:pPr algn="l"/>
            <a:r>
              <a:rPr sz="1300" b="1" i="0">
                <a:solidFill>
                  <a:srgbClr val="64748B"/>
                </a:solidFill>
                <a:latin typeface="Noto Sans JP"/>
              </a:rPr>
              <a:t>0.5% SDS（過剰）</a:t>
            </a:r>
          </a:p>
        </p:txBody>
      </p:sp>
      <p:sp>
        <p:nvSpPr>
          <p:cNvPr id="23" name="TextBox 22"/>
          <p:cNvSpPr txBox="1"/>
          <p:nvPr/>
        </p:nvSpPr>
        <p:spPr>
          <a:xfrm>
            <a:off x="8255812" y="4700016"/>
            <a:ext cx="3405530" cy="1280160"/>
          </a:xfrm>
          <a:prstGeom prst="rect">
            <a:avLst/>
          </a:prstGeom>
          <a:noFill/>
        </p:spPr>
        <p:txBody>
          <a:bodyPr wrap="square" anchor="t" lIns="36000" rIns="36000" tIns="18000" bIns="18000">
            <a:spAutoFit/>
          </a:bodyPr>
          <a:lstStyle/>
          <a:p>
            <a:pPr algn="l"/>
            <a:r>
              <a:rPr sz="1200" b="0" i="0">
                <a:solidFill>
                  <a:srgbClr val="475569"/>
                </a:solidFill>
                <a:latin typeface="Noto Sans JP"/>
              </a:rPr>
              <a:t>気泡サイズ不均一・粗大化。発泡指数がさらに低下。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10/11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FT-IR・XPS：化学組成の変化（燃焼前後）</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28 / 36</a:t>
            </a:r>
          </a:p>
        </p:txBody>
      </p:sp>
      <p:sp>
        <p:nvSpPr>
          <p:cNvPr id="10" name="TextBox 9"/>
          <p:cNvSpPr txBox="1"/>
          <p:nvPr/>
        </p:nvSpPr>
        <p:spPr>
          <a:xfrm>
            <a:off x="365760" y="859536"/>
            <a:ext cx="563864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FT-IR 主要ピーク帰属</a:t>
            </a:r>
          </a:p>
        </p:txBody>
      </p:sp>
      <p:sp>
        <p:nvSpPr>
          <p:cNvPr id="11" name="Rectangle 10"/>
          <p:cNvSpPr/>
          <p:nvPr/>
        </p:nvSpPr>
        <p:spPr>
          <a:xfrm>
            <a:off x="365760" y="1243584"/>
            <a:ext cx="5638647" cy="4572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43584"/>
            <a:ext cx="1209786" cy="457200"/>
          </a:xfrm>
          <a:prstGeom prst="rect">
            <a:avLst/>
          </a:prstGeom>
          <a:noFill/>
        </p:spPr>
        <p:txBody>
          <a:bodyPr wrap="square" anchor="ctr" lIns="36000" rIns="36000" tIns="18000" bIns="18000">
            <a:spAutoFit/>
          </a:bodyPr>
          <a:lstStyle/>
          <a:p>
            <a:pPr algn="l"/>
            <a:r>
              <a:rPr sz="1100" b="1" i="0">
                <a:solidFill>
                  <a:srgbClr val="FFFFFF"/>
                </a:solidFill>
                <a:latin typeface="Noto Sans JP"/>
              </a:rPr>
              <a:t>波数 (cm⁻¹)</a:t>
            </a:r>
          </a:p>
        </p:txBody>
      </p:sp>
      <p:sp>
        <p:nvSpPr>
          <p:cNvPr id="13" name="TextBox 12"/>
          <p:cNvSpPr txBox="1"/>
          <p:nvPr/>
        </p:nvSpPr>
        <p:spPr>
          <a:xfrm>
            <a:off x="1758426" y="1243584"/>
            <a:ext cx="2619448" cy="457200"/>
          </a:xfrm>
          <a:prstGeom prst="rect">
            <a:avLst/>
          </a:prstGeom>
          <a:noFill/>
        </p:spPr>
        <p:txBody>
          <a:bodyPr wrap="square" anchor="ctr" lIns="36000" rIns="36000" tIns="18000" bIns="18000">
            <a:spAutoFit/>
          </a:bodyPr>
          <a:lstStyle/>
          <a:p>
            <a:pPr algn="l"/>
            <a:r>
              <a:rPr sz="1100" b="1" i="0">
                <a:solidFill>
                  <a:srgbClr val="FFFFFF"/>
                </a:solidFill>
                <a:latin typeface="Noto Sans JP"/>
              </a:rPr>
              <a:t>帰属</a:t>
            </a:r>
          </a:p>
        </p:txBody>
      </p:sp>
      <p:sp>
        <p:nvSpPr>
          <p:cNvPr id="14" name="TextBox 13"/>
          <p:cNvSpPr txBox="1"/>
          <p:nvPr/>
        </p:nvSpPr>
        <p:spPr>
          <a:xfrm>
            <a:off x="4469314" y="1243584"/>
            <a:ext cx="1535092" cy="457200"/>
          </a:xfrm>
          <a:prstGeom prst="rect">
            <a:avLst/>
          </a:prstGeom>
          <a:noFill/>
        </p:spPr>
        <p:txBody>
          <a:bodyPr wrap="square" anchor="ctr" lIns="36000" rIns="36000" tIns="18000" bIns="18000">
            <a:spAutoFit/>
          </a:bodyPr>
          <a:lstStyle/>
          <a:p>
            <a:pPr algn="l"/>
            <a:r>
              <a:rPr sz="1100" b="1" i="0">
                <a:solidFill>
                  <a:srgbClr val="FFFFFF"/>
                </a:solidFill>
                <a:latin typeface="Noto Sans JP"/>
              </a:rPr>
              <a:t>燃焼後</a:t>
            </a:r>
          </a:p>
        </p:txBody>
      </p:sp>
      <p:sp>
        <p:nvSpPr>
          <p:cNvPr id="15" name="Rectangle 14"/>
          <p:cNvSpPr/>
          <p:nvPr/>
        </p:nvSpPr>
        <p:spPr>
          <a:xfrm>
            <a:off x="365760" y="1700784"/>
            <a:ext cx="5638647" cy="45720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00784"/>
            <a:ext cx="1209786"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3200–3500</a:t>
            </a:r>
          </a:p>
        </p:txBody>
      </p:sp>
      <p:sp>
        <p:nvSpPr>
          <p:cNvPr id="17" name="TextBox 16"/>
          <p:cNvSpPr txBox="1"/>
          <p:nvPr/>
        </p:nvSpPr>
        <p:spPr>
          <a:xfrm>
            <a:off x="1758426" y="1700784"/>
            <a:ext cx="2619448"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O–H 伸縮（セルロース・水）</a:t>
            </a:r>
          </a:p>
        </p:txBody>
      </p:sp>
      <p:sp>
        <p:nvSpPr>
          <p:cNvPr id="18" name="TextBox 17"/>
          <p:cNvSpPr txBox="1"/>
          <p:nvPr/>
        </p:nvSpPr>
        <p:spPr>
          <a:xfrm>
            <a:off x="4469314" y="1700784"/>
            <a:ext cx="1535092" cy="457200"/>
          </a:xfrm>
          <a:prstGeom prst="rect">
            <a:avLst/>
          </a:prstGeom>
          <a:noFill/>
        </p:spPr>
        <p:txBody>
          <a:bodyPr wrap="square" anchor="ctr" lIns="36000" rIns="36000" tIns="18000" bIns="18000">
            <a:spAutoFit/>
          </a:bodyPr>
          <a:lstStyle/>
          <a:p>
            <a:pPr algn="l"/>
            <a:r>
              <a:rPr sz="1100" b="0" i="0">
                <a:solidFill>
                  <a:srgbClr val="A05656"/>
                </a:solidFill>
                <a:latin typeface="Noto Sans JP"/>
              </a:rPr>
              <a:t>消失（脱水）</a:t>
            </a:r>
          </a:p>
        </p:txBody>
      </p:sp>
      <p:sp>
        <p:nvSpPr>
          <p:cNvPr id="19" name="Rectangle 18"/>
          <p:cNvSpPr/>
          <p:nvPr/>
        </p:nvSpPr>
        <p:spPr>
          <a:xfrm>
            <a:off x="365760" y="2157984"/>
            <a:ext cx="5638647" cy="457200"/>
          </a:xfrm>
          <a:prstGeom prst="rect">
            <a:avLst/>
          </a:prstGeom>
          <a:solidFill>
            <a:srgbClr val="FFFFFF"/>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157984"/>
            <a:ext cx="1209786"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2850–2950</a:t>
            </a:r>
          </a:p>
        </p:txBody>
      </p:sp>
      <p:sp>
        <p:nvSpPr>
          <p:cNvPr id="21" name="TextBox 20"/>
          <p:cNvSpPr txBox="1"/>
          <p:nvPr/>
        </p:nvSpPr>
        <p:spPr>
          <a:xfrm>
            <a:off x="1758426" y="2157984"/>
            <a:ext cx="2619448"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C–H 伸縮（メチル基）</a:t>
            </a:r>
          </a:p>
        </p:txBody>
      </p:sp>
      <p:sp>
        <p:nvSpPr>
          <p:cNvPr id="22" name="TextBox 21"/>
          <p:cNvSpPr txBox="1"/>
          <p:nvPr/>
        </p:nvSpPr>
        <p:spPr>
          <a:xfrm>
            <a:off x="4469314" y="2157984"/>
            <a:ext cx="1535092" cy="457200"/>
          </a:xfrm>
          <a:prstGeom prst="rect">
            <a:avLst/>
          </a:prstGeom>
          <a:noFill/>
        </p:spPr>
        <p:txBody>
          <a:bodyPr wrap="square" anchor="ctr" lIns="36000" rIns="36000" tIns="18000" bIns="18000">
            <a:spAutoFit/>
          </a:bodyPr>
          <a:lstStyle/>
          <a:p>
            <a:pPr algn="l"/>
            <a:r>
              <a:rPr sz="1100" b="0" i="0">
                <a:solidFill>
                  <a:srgbClr val="A05656"/>
                </a:solidFill>
                <a:latin typeface="Noto Sans JP"/>
              </a:rPr>
              <a:t>消失（有機分解）</a:t>
            </a:r>
          </a:p>
        </p:txBody>
      </p:sp>
      <p:sp>
        <p:nvSpPr>
          <p:cNvPr id="23" name="Rectangle 22"/>
          <p:cNvSpPr/>
          <p:nvPr/>
        </p:nvSpPr>
        <p:spPr>
          <a:xfrm>
            <a:off x="365760" y="2615184"/>
            <a:ext cx="5638647" cy="45720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615184"/>
            <a:ext cx="1209786"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1050–1100</a:t>
            </a:r>
          </a:p>
        </p:txBody>
      </p:sp>
      <p:sp>
        <p:nvSpPr>
          <p:cNvPr id="25" name="TextBox 24"/>
          <p:cNvSpPr txBox="1"/>
          <p:nvPr/>
        </p:nvSpPr>
        <p:spPr>
          <a:xfrm>
            <a:off x="1758426" y="2615184"/>
            <a:ext cx="2619448"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Si–O–Si 伸縮（シリカ）</a:t>
            </a:r>
          </a:p>
        </p:txBody>
      </p:sp>
      <p:sp>
        <p:nvSpPr>
          <p:cNvPr id="26" name="TextBox 25"/>
          <p:cNvSpPr txBox="1"/>
          <p:nvPr/>
        </p:nvSpPr>
        <p:spPr>
          <a:xfrm>
            <a:off x="4469314" y="2615184"/>
            <a:ext cx="1535092" cy="457200"/>
          </a:xfrm>
          <a:prstGeom prst="rect">
            <a:avLst/>
          </a:prstGeom>
          <a:noFill/>
        </p:spPr>
        <p:txBody>
          <a:bodyPr wrap="square" anchor="ctr" lIns="36000" rIns="36000" tIns="18000" bIns="18000">
            <a:spAutoFit/>
          </a:bodyPr>
          <a:lstStyle/>
          <a:p>
            <a:pPr algn="l"/>
            <a:r>
              <a:rPr sz="1100" b="1" i="0">
                <a:solidFill>
                  <a:srgbClr val="5B8C5A"/>
                </a:solidFill>
                <a:latin typeface="Noto Sans JP"/>
              </a:rPr>
              <a:t>強度増大</a:t>
            </a:r>
          </a:p>
        </p:txBody>
      </p:sp>
      <p:sp>
        <p:nvSpPr>
          <p:cNvPr id="27" name="Rectangle 26"/>
          <p:cNvSpPr/>
          <p:nvPr/>
        </p:nvSpPr>
        <p:spPr>
          <a:xfrm>
            <a:off x="365760" y="3072384"/>
            <a:ext cx="5638647" cy="457200"/>
          </a:xfrm>
          <a:prstGeom prst="rect">
            <a:avLst/>
          </a:prstGeom>
          <a:solidFill>
            <a:srgbClr val="FFFFFF"/>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072384"/>
            <a:ext cx="1209786"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800</a:t>
            </a:r>
          </a:p>
        </p:txBody>
      </p:sp>
      <p:sp>
        <p:nvSpPr>
          <p:cNvPr id="29" name="TextBox 28"/>
          <p:cNvSpPr txBox="1"/>
          <p:nvPr/>
        </p:nvSpPr>
        <p:spPr>
          <a:xfrm>
            <a:off x="1758426" y="3072384"/>
            <a:ext cx="2619448"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Si–O 変角振動</a:t>
            </a:r>
          </a:p>
        </p:txBody>
      </p:sp>
      <p:sp>
        <p:nvSpPr>
          <p:cNvPr id="30" name="TextBox 29"/>
          <p:cNvSpPr txBox="1"/>
          <p:nvPr/>
        </p:nvSpPr>
        <p:spPr>
          <a:xfrm>
            <a:off x="4469314" y="3072384"/>
            <a:ext cx="1535092" cy="457200"/>
          </a:xfrm>
          <a:prstGeom prst="rect">
            <a:avLst/>
          </a:prstGeom>
          <a:noFill/>
        </p:spPr>
        <p:txBody>
          <a:bodyPr wrap="square" anchor="ctr" lIns="36000" rIns="36000" tIns="18000" bIns="18000">
            <a:spAutoFit/>
          </a:bodyPr>
          <a:lstStyle/>
          <a:p>
            <a:pPr algn="l"/>
            <a:r>
              <a:rPr sz="1100" b="1" i="0">
                <a:solidFill>
                  <a:srgbClr val="5B8C5A"/>
                </a:solidFill>
                <a:latin typeface="Noto Sans JP"/>
              </a:rPr>
              <a:t>明確化</a:t>
            </a:r>
          </a:p>
        </p:txBody>
      </p:sp>
      <p:sp>
        <p:nvSpPr>
          <p:cNvPr id="31" name="Rectangle 30"/>
          <p:cNvSpPr/>
          <p:nvPr/>
        </p:nvSpPr>
        <p:spPr>
          <a:xfrm>
            <a:off x="365760" y="3529584"/>
            <a:ext cx="5638647" cy="45720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529584"/>
            <a:ext cx="1209786"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450</a:t>
            </a:r>
          </a:p>
        </p:txBody>
      </p:sp>
      <p:sp>
        <p:nvSpPr>
          <p:cNvPr id="33" name="TextBox 32"/>
          <p:cNvSpPr txBox="1"/>
          <p:nvPr/>
        </p:nvSpPr>
        <p:spPr>
          <a:xfrm>
            <a:off x="1758426" y="3529584"/>
            <a:ext cx="2619448" cy="457200"/>
          </a:xfrm>
          <a:prstGeom prst="rect">
            <a:avLst/>
          </a:prstGeom>
          <a:noFill/>
        </p:spPr>
        <p:txBody>
          <a:bodyPr wrap="square" anchor="ctr" lIns="36000" rIns="36000" tIns="18000" bIns="18000">
            <a:spAutoFit/>
          </a:bodyPr>
          <a:lstStyle/>
          <a:p>
            <a:pPr algn="l"/>
            <a:r>
              <a:rPr sz="1100" b="0" i="0">
                <a:solidFill>
                  <a:srgbClr val="334155"/>
                </a:solidFill>
                <a:latin typeface="Noto Sans JP"/>
              </a:rPr>
              <a:t>Si–O 曲げ振動</a:t>
            </a:r>
          </a:p>
        </p:txBody>
      </p:sp>
      <p:sp>
        <p:nvSpPr>
          <p:cNvPr id="34" name="TextBox 33"/>
          <p:cNvSpPr txBox="1"/>
          <p:nvPr/>
        </p:nvSpPr>
        <p:spPr>
          <a:xfrm>
            <a:off x="4469314" y="3529584"/>
            <a:ext cx="1535092" cy="457200"/>
          </a:xfrm>
          <a:prstGeom prst="rect">
            <a:avLst/>
          </a:prstGeom>
          <a:noFill/>
        </p:spPr>
        <p:txBody>
          <a:bodyPr wrap="square" anchor="ctr" lIns="36000" rIns="36000" tIns="18000" bIns="18000">
            <a:spAutoFit/>
          </a:bodyPr>
          <a:lstStyle/>
          <a:p>
            <a:pPr algn="l"/>
            <a:r>
              <a:rPr sz="1100" b="1" i="0">
                <a:solidFill>
                  <a:srgbClr val="5B8C5A"/>
                </a:solidFill>
                <a:latin typeface="Noto Sans JP"/>
              </a:rPr>
              <a:t>シャープ化</a:t>
            </a:r>
          </a:p>
        </p:txBody>
      </p:sp>
      <p:sp>
        <p:nvSpPr>
          <p:cNvPr id="35" name="Rounded Rectangle 34"/>
          <p:cNvSpPr/>
          <p:nvPr/>
        </p:nvSpPr>
        <p:spPr>
          <a:xfrm>
            <a:off x="365760" y="4169664"/>
            <a:ext cx="5638647" cy="77724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4169664"/>
            <a:ext cx="54864" cy="77724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169664"/>
            <a:ext cx="365760" cy="77724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38" name="TextBox 37"/>
          <p:cNvSpPr txBox="1"/>
          <p:nvPr/>
        </p:nvSpPr>
        <p:spPr>
          <a:xfrm>
            <a:off x="960120" y="4169664"/>
            <a:ext cx="4952847" cy="777240"/>
          </a:xfrm>
          <a:prstGeom prst="rect">
            <a:avLst/>
          </a:prstGeom>
          <a:noFill/>
        </p:spPr>
        <p:txBody>
          <a:bodyPr wrap="square" anchor="ctr" lIns="36000" rIns="36000" tIns="18000" bIns="18000">
            <a:spAutoFit/>
          </a:bodyPr>
          <a:lstStyle/>
          <a:p>
            <a:pPr algn="l"/>
            <a:r>
              <a:rPr sz="1300" b="1" i="0">
                <a:solidFill>
                  <a:srgbClr val="1E293B"/>
                </a:solidFill>
                <a:latin typeface="Noto Sans JP"/>
              </a:rPr>
              <a:t>燃焼後のスペクトルは純シリカ（SiO₂）と一致 → エアロゲル化を化学的に確認</a:t>
            </a:r>
          </a:p>
        </p:txBody>
      </p:sp>
      <p:sp>
        <p:nvSpPr>
          <p:cNvPr id="39" name="TextBox 38"/>
          <p:cNvSpPr txBox="1"/>
          <p:nvPr/>
        </p:nvSpPr>
        <p:spPr>
          <a:xfrm>
            <a:off x="6187287" y="859536"/>
            <a:ext cx="563864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XPS 表面元素組成（at%）</a:t>
            </a:r>
          </a:p>
        </p:txBody>
      </p:sp>
      <p:sp>
        <p:nvSpPr>
          <p:cNvPr id="40" name="Rectangle 39"/>
          <p:cNvSpPr/>
          <p:nvPr/>
        </p:nvSpPr>
        <p:spPr>
          <a:xfrm>
            <a:off x="6187287" y="1243584"/>
            <a:ext cx="5638647"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8727" y="1243584"/>
            <a:ext cx="1922362" cy="640080"/>
          </a:xfrm>
          <a:prstGeom prst="rect">
            <a:avLst/>
          </a:prstGeom>
          <a:noFill/>
        </p:spPr>
        <p:txBody>
          <a:bodyPr wrap="square" anchor="ctr" lIns="36000" rIns="36000" tIns="18000" bIns="18000">
            <a:spAutoFit/>
          </a:bodyPr>
          <a:lstStyle/>
          <a:p>
            <a:pPr algn="l"/>
            <a:r>
              <a:rPr sz="1100" b="1" i="0">
                <a:solidFill>
                  <a:srgbClr val="FFFFFF"/>
                </a:solidFill>
                <a:latin typeface="Noto Sans JP"/>
              </a:rPr>
              <a:t>配合系</a:t>
            </a:r>
          </a:p>
        </p:txBody>
      </p:sp>
      <p:sp>
        <p:nvSpPr>
          <p:cNvPr id="42" name="TextBox 41"/>
          <p:cNvSpPr txBox="1"/>
          <p:nvPr/>
        </p:nvSpPr>
        <p:spPr>
          <a:xfrm>
            <a:off x="8292530" y="1243584"/>
            <a:ext cx="1720982" cy="640080"/>
          </a:xfrm>
          <a:prstGeom prst="rect">
            <a:avLst/>
          </a:prstGeom>
          <a:noFill/>
        </p:spPr>
        <p:txBody>
          <a:bodyPr wrap="square" anchor="ctr" lIns="36000" rIns="36000" tIns="18000" bIns="18000">
            <a:spAutoFit/>
          </a:bodyPr>
          <a:lstStyle/>
          <a:p>
            <a:pPr algn="l"/>
            <a:r>
              <a:rPr sz="1100" b="1" i="0">
                <a:solidFill>
                  <a:srgbClr val="FFFFFF"/>
                </a:solidFill>
                <a:latin typeface="Noto Sans JP"/>
              </a:rPr>
              <a:t>C 1s 燃焼前 (at%)</a:t>
            </a:r>
          </a:p>
        </p:txBody>
      </p:sp>
      <p:sp>
        <p:nvSpPr>
          <p:cNvPr id="43" name="TextBox 42"/>
          <p:cNvSpPr txBox="1"/>
          <p:nvPr/>
        </p:nvSpPr>
        <p:spPr>
          <a:xfrm>
            <a:off x="10104952" y="1243584"/>
            <a:ext cx="1720982" cy="640080"/>
          </a:xfrm>
          <a:prstGeom prst="rect">
            <a:avLst/>
          </a:prstGeom>
          <a:noFill/>
        </p:spPr>
        <p:txBody>
          <a:bodyPr wrap="square" anchor="ctr" lIns="36000" rIns="36000" tIns="18000" bIns="18000">
            <a:spAutoFit/>
          </a:bodyPr>
          <a:lstStyle/>
          <a:p>
            <a:pPr algn="l"/>
            <a:r>
              <a:rPr sz="1100" b="1" i="0">
                <a:solidFill>
                  <a:srgbClr val="FFFFFF"/>
                </a:solidFill>
                <a:latin typeface="Noto Sans JP"/>
              </a:rPr>
              <a:t>C 1s 燃焼後 (at%)</a:t>
            </a:r>
          </a:p>
        </p:txBody>
      </p:sp>
      <p:sp>
        <p:nvSpPr>
          <p:cNvPr id="44" name="Rectangle 43"/>
          <p:cNvSpPr/>
          <p:nvPr/>
        </p:nvSpPr>
        <p:spPr>
          <a:xfrm>
            <a:off x="6187287" y="1883664"/>
            <a:ext cx="5638647" cy="64008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8727" y="1883664"/>
            <a:ext cx="1922362" cy="640080"/>
          </a:xfrm>
          <a:prstGeom prst="rect">
            <a:avLst/>
          </a:prstGeom>
          <a:noFill/>
        </p:spPr>
        <p:txBody>
          <a:bodyPr wrap="square" anchor="ctr" lIns="36000" rIns="36000" tIns="18000" bIns="18000">
            <a:spAutoFit/>
          </a:bodyPr>
          <a:lstStyle/>
          <a:p>
            <a:pPr algn="l"/>
            <a:r>
              <a:rPr sz="1100" b="1" i="0">
                <a:solidFill>
                  <a:srgbClr val="334155"/>
                </a:solidFill>
                <a:latin typeface="Noto Sans JP"/>
              </a:rPr>
              <a:t>HEC+MC/CSP</a:t>
            </a:r>
          </a:p>
        </p:txBody>
      </p:sp>
      <p:sp>
        <p:nvSpPr>
          <p:cNvPr id="46" name="TextBox 45"/>
          <p:cNvSpPr txBox="1"/>
          <p:nvPr/>
        </p:nvSpPr>
        <p:spPr>
          <a:xfrm>
            <a:off x="8292530" y="1883664"/>
            <a:ext cx="1720982" cy="640080"/>
          </a:xfrm>
          <a:prstGeom prst="rect">
            <a:avLst/>
          </a:prstGeom>
          <a:noFill/>
        </p:spPr>
        <p:txBody>
          <a:bodyPr wrap="square" anchor="ctr" lIns="36000" rIns="36000" tIns="18000" bIns="18000">
            <a:spAutoFit/>
          </a:bodyPr>
          <a:lstStyle/>
          <a:p>
            <a:pPr algn="l"/>
            <a:r>
              <a:rPr sz="1100" b="0" i="0">
                <a:solidFill>
                  <a:srgbClr val="334155"/>
                </a:solidFill>
                <a:latin typeface="Noto Sans JP"/>
              </a:rPr>
              <a:t>25.6</a:t>
            </a:r>
          </a:p>
        </p:txBody>
      </p:sp>
      <p:sp>
        <p:nvSpPr>
          <p:cNvPr id="47" name="TextBox 46"/>
          <p:cNvSpPr txBox="1"/>
          <p:nvPr/>
        </p:nvSpPr>
        <p:spPr>
          <a:xfrm>
            <a:off x="10104952" y="1883664"/>
            <a:ext cx="1720982" cy="640080"/>
          </a:xfrm>
          <a:prstGeom prst="rect">
            <a:avLst/>
          </a:prstGeom>
          <a:noFill/>
        </p:spPr>
        <p:txBody>
          <a:bodyPr wrap="square" anchor="ctr" lIns="36000" rIns="36000" tIns="18000" bIns="18000">
            <a:spAutoFit/>
          </a:bodyPr>
          <a:lstStyle/>
          <a:p>
            <a:pPr algn="l"/>
            <a:r>
              <a:rPr sz="1100" b="1" i="0">
                <a:solidFill>
                  <a:srgbClr val="A05656"/>
                </a:solidFill>
                <a:latin typeface="Noto Sans JP"/>
              </a:rPr>
              <a:t>14.9</a:t>
            </a:r>
          </a:p>
        </p:txBody>
      </p:sp>
      <p:sp>
        <p:nvSpPr>
          <p:cNvPr id="48" name="Rectangle 47"/>
          <p:cNvSpPr/>
          <p:nvPr/>
        </p:nvSpPr>
        <p:spPr>
          <a:xfrm>
            <a:off x="6187287" y="2523744"/>
            <a:ext cx="5638647" cy="640080"/>
          </a:xfrm>
          <a:prstGeom prst="rect">
            <a:avLst/>
          </a:prstGeom>
          <a:solidFill>
            <a:srgbClr val="FFFFFF"/>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78727" y="2523744"/>
            <a:ext cx="1922362" cy="640080"/>
          </a:xfrm>
          <a:prstGeom prst="rect">
            <a:avLst/>
          </a:prstGeom>
          <a:noFill/>
        </p:spPr>
        <p:txBody>
          <a:bodyPr wrap="square" anchor="ctr" lIns="36000" rIns="36000" tIns="18000" bIns="18000">
            <a:spAutoFit/>
          </a:bodyPr>
          <a:lstStyle/>
          <a:p>
            <a:pPr algn="l"/>
            <a:r>
              <a:rPr sz="1100" b="1" i="0">
                <a:solidFill>
                  <a:srgbClr val="334155"/>
                </a:solidFill>
                <a:latin typeface="Noto Sans JP"/>
              </a:rPr>
              <a:t>MHEC/CSP</a:t>
            </a:r>
          </a:p>
        </p:txBody>
      </p:sp>
      <p:sp>
        <p:nvSpPr>
          <p:cNvPr id="50" name="TextBox 49"/>
          <p:cNvSpPr txBox="1"/>
          <p:nvPr/>
        </p:nvSpPr>
        <p:spPr>
          <a:xfrm>
            <a:off x="8292530" y="2523744"/>
            <a:ext cx="1720982" cy="640080"/>
          </a:xfrm>
          <a:prstGeom prst="rect">
            <a:avLst/>
          </a:prstGeom>
          <a:noFill/>
        </p:spPr>
        <p:txBody>
          <a:bodyPr wrap="square" anchor="ctr" lIns="36000" rIns="36000" tIns="18000" bIns="18000">
            <a:spAutoFit/>
          </a:bodyPr>
          <a:lstStyle/>
          <a:p>
            <a:pPr algn="l"/>
            <a:r>
              <a:rPr sz="1100" b="0" i="0">
                <a:solidFill>
                  <a:srgbClr val="334155"/>
                </a:solidFill>
                <a:latin typeface="Noto Sans JP"/>
              </a:rPr>
              <a:t>38.3</a:t>
            </a:r>
          </a:p>
        </p:txBody>
      </p:sp>
      <p:sp>
        <p:nvSpPr>
          <p:cNvPr id="51" name="TextBox 50"/>
          <p:cNvSpPr txBox="1"/>
          <p:nvPr/>
        </p:nvSpPr>
        <p:spPr>
          <a:xfrm>
            <a:off x="10104952" y="2523744"/>
            <a:ext cx="1720982" cy="640080"/>
          </a:xfrm>
          <a:prstGeom prst="rect">
            <a:avLst/>
          </a:prstGeom>
          <a:noFill/>
        </p:spPr>
        <p:txBody>
          <a:bodyPr wrap="square" anchor="ctr" lIns="36000" rIns="36000" tIns="18000" bIns="18000">
            <a:spAutoFit/>
          </a:bodyPr>
          <a:lstStyle/>
          <a:p>
            <a:pPr algn="l"/>
            <a:r>
              <a:rPr sz="1100" b="1" i="0">
                <a:solidFill>
                  <a:srgbClr val="A05656"/>
                </a:solidFill>
                <a:latin typeface="Noto Sans JP"/>
              </a:rPr>
              <a:t>4.8</a:t>
            </a:r>
          </a:p>
        </p:txBody>
      </p:sp>
      <p:sp>
        <p:nvSpPr>
          <p:cNvPr id="52" name="Rounded Rectangle 51"/>
          <p:cNvSpPr/>
          <p:nvPr/>
        </p:nvSpPr>
        <p:spPr>
          <a:xfrm>
            <a:off x="6187287" y="3300984"/>
            <a:ext cx="5638647" cy="777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7287" y="3300984"/>
            <a:ext cx="54864" cy="777240"/>
          </a:xfrm>
          <a:prstGeom prst="rect">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0167" y="3300984"/>
            <a:ext cx="365760" cy="777240"/>
          </a:xfrm>
          <a:prstGeom prst="rect">
            <a:avLst/>
          </a:prstGeom>
          <a:noFill/>
        </p:spPr>
        <p:txBody>
          <a:bodyPr wrap="square" anchor="ctr" lIns="36000" rIns="36000" tIns="18000" bIns="18000">
            <a:spAutoFit/>
          </a:bodyPr>
          <a:lstStyle/>
          <a:p>
            <a:pPr algn="l"/>
            <a:r>
              <a:rPr sz="1400" b="0" i="0">
                <a:solidFill>
                  <a:srgbClr val="D4A574"/>
                </a:solidFill>
                <a:latin typeface="Noto Sans JP"/>
              </a:rPr>
              <a:t>📊</a:t>
            </a:r>
          </a:p>
        </p:txBody>
      </p:sp>
      <p:sp>
        <p:nvSpPr>
          <p:cNvPr id="55" name="TextBox 54"/>
          <p:cNvSpPr txBox="1"/>
          <p:nvPr/>
        </p:nvSpPr>
        <p:spPr>
          <a:xfrm>
            <a:off x="6781647" y="3300984"/>
            <a:ext cx="4952847" cy="777240"/>
          </a:xfrm>
          <a:prstGeom prst="rect">
            <a:avLst/>
          </a:prstGeom>
          <a:noFill/>
        </p:spPr>
        <p:txBody>
          <a:bodyPr wrap="square" anchor="ctr" lIns="36000" rIns="36000" tIns="18000" bIns="18000">
            <a:spAutoFit/>
          </a:bodyPr>
          <a:lstStyle/>
          <a:p>
            <a:pPr algn="l"/>
            <a:r>
              <a:rPr sz="1300" b="1" i="0">
                <a:solidFill>
                  <a:srgbClr val="FFFFFF"/>
                </a:solidFill>
                <a:latin typeface="Noto Sans JP"/>
              </a:rPr>
              <a:t>炭素濃度が大幅減（MHEC: 38.3→4.8 at%）→ 有機マトリクスが燃焼除去、シリカが残存・露出</a:t>
            </a:r>
          </a:p>
        </p:txBody>
      </p:sp>
      <p:sp>
        <p:nvSpPr>
          <p:cNvPr id="56" name="Rounded Rectangle 55"/>
          <p:cNvSpPr/>
          <p:nvPr/>
        </p:nvSpPr>
        <p:spPr>
          <a:xfrm>
            <a:off x="6187287" y="4261104"/>
            <a:ext cx="5638647" cy="77724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51879" y="4389120"/>
            <a:ext cx="5309463" cy="274320"/>
          </a:xfrm>
          <a:prstGeom prst="rect">
            <a:avLst/>
          </a:prstGeom>
          <a:noFill/>
        </p:spPr>
        <p:txBody>
          <a:bodyPr wrap="square" anchor="t" lIns="36000" rIns="36000" tIns="18000" bIns="18000">
            <a:spAutoFit/>
          </a:bodyPr>
          <a:lstStyle/>
          <a:p>
            <a:pPr algn="l"/>
            <a:r>
              <a:rPr sz="1100" b="1" i="0">
                <a:solidFill>
                  <a:srgbClr val="64748B"/>
                </a:solidFill>
                <a:latin typeface="Noto Sans JP"/>
              </a:rPr>
              <a:t>ピーク位置の確認</a:t>
            </a:r>
          </a:p>
        </p:txBody>
      </p:sp>
      <p:sp>
        <p:nvSpPr>
          <p:cNvPr id="58" name="TextBox 57"/>
          <p:cNvSpPr txBox="1"/>
          <p:nvPr/>
        </p:nvSpPr>
        <p:spPr>
          <a:xfrm>
            <a:off x="6351879" y="4645152"/>
            <a:ext cx="5309463" cy="411480"/>
          </a:xfrm>
          <a:prstGeom prst="rect">
            <a:avLst/>
          </a:prstGeom>
          <a:noFill/>
        </p:spPr>
        <p:txBody>
          <a:bodyPr wrap="square" anchor="t" lIns="36000" rIns="36000" tIns="18000" bIns="18000">
            <a:spAutoFit/>
          </a:bodyPr>
          <a:lstStyle/>
          <a:p>
            <a:pPr algn="l"/>
            <a:r>
              <a:rPr sz="1200" b="0" i="0">
                <a:solidFill>
                  <a:srgbClr val="475569"/>
                </a:solidFill>
                <a:latin typeface="Noto Sans JP"/>
              </a:rPr>
              <a:t>Si 2p ピーク：~103.5 eV（SiO₂と一致）／ O 1s ピーク：~533 eV</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結果 11/11</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TGA/DSC：熱分解プロファイルと各成分の役割</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29 / 36</a:t>
            </a:r>
          </a:p>
        </p:txBody>
      </p:sp>
      <p:sp>
        <p:nvSpPr>
          <p:cNvPr id="10" name="TextBox 9"/>
          <p:cNvSpPr txBox="1"/>
          <p:nvPr/>
        </p:nvSpPr>
        <p:spPr>
          <a:xfrm>
            <a:off x="365760" y="859536"/>
            <a:ext cx="563864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TGA：重量損失プロファイル（N₂雰囲気）</a:t>
            </a:r>
          </a:p>
        </p:txBody>
      </p:sp>
      <p:sp>
        <p:nvSpPr>
          <p:cNvPr id="11" name="TextBox 10"/>
          <p:cNvSpPr txBox="1"/>
          <p:nvPr/>
        </p:nvSpPr>
        <p:spPr>
          <a:xfrm>
            <a:off x="365760" y="1271016"/>
            <a:ext cx="5638647"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50–150°C：自由水・吸着水の蒸発</a:t>
            </a:r>
          </a:p>
        </p:txBody>
      </p:sp>
      <p:sp>
        <p:nvSpPr>
          <p:cNvPr id="12" name="Rounded Rectangle 11"/>
          <p:cNvSpPr/>
          <p:nvPr/>
        </p:nvSpPr>
        <p:spPr>
          <a:xfrm>
            <a:off x="365760" y="1545336"/>
            <a:ext cx="5638647" cy="128016"/>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5760" y="1545336"/>
            <a:ext cx="1691594" cy="128016"/>
          </a:xfrm>
          <a:prstGeom prst="roundRect">
            <a:avLst>
              <a:gd name="adj" fmla="val 50000"/>
            </a:avLst>
          </a:prstGeom>
          <a:solidFill>
            <a:srgbClr val="5B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837944"/>
            <a:ext cx="5638647"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200–350°C：HEC・MC有機鎖の熱分解（主要重量損失）</a:t>
            </a:r>
          </a:p>
        </p:txBody>
      </p:sp>
      <p:sp>
        <p:nvSpPr>
          <p:cNvPr id="15" name="Rounded Rectangle 14"/>
          <p:cNvSpPr/>
          <p:nvPr/>
        </p:nvSpPr>
        <p:spPr>
          <a:xfrm>
            <a:off x="365760" y="2112264"/>
            <a:ext cx="5638647" cy="128016"/>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65760" y="2112264"/>
            <a:ext cx="4792850" cy="128016"/>
          </a:xfrm>
          <a:prstGeom prst="roundRect">
            <a:avLst>
              <a:gd name="adj" fmla="val 50000"/>
            </a:avLst>
          </a:prstGeom>
          <a:solidFill>
            <a:srgbClr val="A0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404872"/>
            <a:ext cx="5638647"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350–600°C：残留炭素の酸化・消失（空気中）</a:t>
            </a:r>
          </a:p>
        </p:txBody>
      </p:sp>
      <p:sp>
        <p:nvSpPr>
          <p:cNvPr id="18" name="Rounded Rectangle 17"/>
          <p:cNvSpPr/>
          <p:nvPr/>
        </p:nvSpPr>
        <p:spPr>
          <a:xfrm>
            <a:off x="365760" y="2679192"/>
            <a:ext cx="5638647" cy="128016"/>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5760" y="2679192"/>
            <a:ext cx="2819323" cy="128016"/>
          </a:xfrm>
          <a:prstGeom prst="roundRect">
            <a:avLst>
              <a:gd name="adj" fmla="val 50000"/>
            </a:avLst>
          </a:prstGeom>
          <a:solidFill>
            <a:srgbClr val="9F76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971800"/>
            <a:ext cx="5638647"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&gt;600°C：シリカ残渣（~5–8 wt%、変化なし）</a:t>
            </a:r>
          </a:p>
        </p:txBody>
      </p:sp>
      <p:sp>
        <p:nvSpPr>
          <p:cNvPr id="21" name="Rounded Rectangle 20"/>
          <p:cNvSpPr/>
          <p:nvPr/>
        </p:nvSpPr>
        <p:spPr>
          <a:xfrm>
            <a:off x="365760" y="3246120"/>
            <a:ext cx="5638647" cy="128016"/>
          </a:xfrm>
          <a:prstGeom prst="roundRect">
            <a:avLst>
              <a:gd name="adj" fmla="val 50000"/>
            </a:avLst>
          </a:prstGeom>
          <a:solidFill>
            <a:srgbClr val="F1F5F9"/>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5760" y="3246120"/>
            <a:ext cx="451091" cy="128016"/>
          </a:xfrm>
          <a:prstGeom prst="roundRect">
            <a:avLst>
              <a:gd name="adj" fmla="val 50000"/>
            </a:avLst>
          </a:prstGeom>
          <a:solidFill>
            <a:srgbClr val="4A7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7287" y="859536"/>
            <a:ext cx="563864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DSC：熱イベントの帰属</a:t>
            </a:r>
          </a:p>
        </p:txBody>
      </p:sp>
      <p:sp>
        <p:nvSpPr>
          <p:cNvPr id="24" name="Rectangle 23"/>
          <p:cNvSpPr/>
          <p:nvPr/>
        </p:nvSpPr>
        <p:spPr>
          <a:xfrm>
            <a:off x="6187287" y="1271016"/>
            <a:ext cx="5638647" cy="3657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78727" y="1271016"/>
            <a:ext cx="1392414" cy="365760"/>
          </a:xfrm>
          <a:prstGeom prst="rect">
            <a:avLst/>
          </a:prstGeom>
          <a:noFill/>
        </p:spPr>
        <p:txBody>
          <a:bodyPr wrap="square" anchor="ctr" lIns="36000" rIns="36000" tIns="18000" bIns="18000">
            <a:spAutoFit/>
          </a:bodyPr>
          <a:lstStyle/>
          <a:p>
            <a:pPr algn="l"/>
            <a:r>
              <a:rPr sz="1100" b="1" i="0">
                <a:solidFill>
                  <a:srgbClr val="FFFFFF"/>
                </a:solidFill>
                <a:latin typeface="Noto Sans JP"/>
              </a:rPr>
              <a:t>温度域</a:t>
            </a:r>
          </a:p>
        </p:txBody>
      </p:sp>
      <p:sp>
        <p:nvSpPr>
          <p:cNvPr id="26" name="TextBox 25"/>
          <p:cNvSpPr txBox="1"/>
          <p:nvPr/>
        </p:nvSpPr>
        <p:spPr>
          <a:xfrm>
            <a:off x="7762582" y="1271016"/>
            <a:ext cx="2876269" cy="365760"/>
          </a:xfrm>
          <a:prstGeom prst="rect">
            <a:avLst/>
          </a:prstGeom>
          <a:noFill/>
        </p:spPr>
        <p:txBody>
          <a:bodyPr wrap="square" anchor="ctr" lIns="36000" rIns="36000" tIns="18000" bIns="18000">
            <a:spAutoFit/>
          </a:bodyPr>
          <a:lstStyle/>
          <a:p>
            <a:pPr algn="l"/>
            <a:r>
              <a:rPr sz="1100" b="1" i="0">
                <a:solidFill>
                  <a:srgbClr val="FFFFFF"/>
                </a:solidFill>
                <a:latin typeface="Noto Sans JP"/>
              </a:rPr>
              <a:t>イベント</a:t>
            </a:r>
          </a:p>
        </p:txBody>
      </p:sp>
      <p:sp>
        <p:nvSpPr>
          <p:cNvPr id="27" name="TextBox 26"/>
          <p:cNvSpPr txBox="1"/>
          <p:nvPr/>
        </p:nvSpPr>
        <p:spPr>
          <a:xfrm>
            <a:off x="10730291" y="1271016"/>
            <a:ext cx="1095643" cy="365760"/>
          </a:xfrm>
          <a:prstGeom prst="rect">
            <a:avLst/>
          </a:prstGeom>
          <a:noFill/>
        </p:spPr>
        <p:txBody>
          <a:bodyPr wrap="square" anchor="ctr" lIns="36000" rIns="36000" tIns="18000" bIns="18000">
            <a:spAutoFit/>
          </a:bodyPr>
          <a:lstStyle/>
          <a:p>
            <a:pPr algn="l"/>
            <a:r>
              <a:rPr sz="1100" b="1" i="0">
                <a:solidFill>
                  <a:srgbClr val="FFFFFF"/>
                </a:solidFill>
                <a:latin typeface="Noto Sans JP"/>
              </a:rPr>
              <a:t>ΔH</a:t>
            </a:r>
          </a:p>
        </p:txBody>
      </p:sp>
      <p:sp>
        <p:nvSpPr>
          <p:cNvPr id="28" name="Rectangle 27"/>
          <p:cNvSpPr/>
          <p:nvPr/>
        </p:nvSpPr>
        <p:spPr>
          <a:xfrm>
            <a:off x="6187287" y="1636776"/>
            <a:ext cx="5638647" cy="36576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78727" y="1636776"/>
            <a:ext cx="1392414"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~100°C</a:t>
            </a:r>
          </a:p>
        </p:txBody>
      </p:sp>
      <p:sp>
        <p:nvSpPr>
          <p:cNvPr id="30" name="TextBox 29"/>
          <p:cNvSpPr txBox="1"/>
          <p:nvPr/>
        </p:nvSpPr>
        <p:spPr>
          <a:xfrm>
            <a:off x="7762582" y="1636776"/>
            <a:ext cx="2876269"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吸熱：水の蒸発</a:t>
            </a:r>
          </a:p>
        </p:txBody>
      </p:sp>
      <p:sp>
        <p:nvSpPr>
          <p:cNvPr id="31" name="TextBox 30"/>
          <p:cNvSpPr txBox="1"/>
          <p:nvPr/>
        </p:nvSpPr>
        <p:spPr>
          <a:xfrm>
            <a:off x="10730291" y="1636776"/>
            <a:ext cx="1095643"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吸熱</a:t>
            </a:r>
          </a:p>
        </p:txBody>
      </p:sp>
      <p:sp>
        <p:nvSpPr>
          <p:cNvPr id="32" name="Rectangle 31"/>
          <p:cNvSpPr/>
          <p:nvPr/>
        </p:nvSpPr>
        <p:spPr>
          <a:xfrm>
            <a:off x="6187287" y="2002536"/>
            <a:ext cx="5638647" cy="365760"/>
          </a:xfrm>
          <a:prstGeom prst="rect">
            <a:avLst/>
          </a:prstGeom>
          <a:solidFill>
            <a:srgbClr val="FFFFFF"/>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78727" y="2002536"/>
            <a:ext cx="1392414"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~55–80°C</a:t>
            </a:r>
          </a:p>
        </p:txBody>
      </p:sp>
      <p:sp>
        <p:nvSpPr>
          <p:cNvPr id="34" name="TextBox 33"/>
          <p:cNvSpPr txBox="1"/>
          <p:nvPr/>
        </p:nvSpPr>
        <p:spPr>
          <a:xfrm>
            <a:off x="7762582" y="2002536"/>
            <a:ext cx="2876269"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発熱：MCゲル化転移</a:t>
            </a:r>
          </a:p>
        </p:txBody>
      </p:sp>
      <p:sp>
        <p:nvSpPr>
          <p:cNvPr id="35" name="TextBox 34"/>
          <p:cNvSpPr txBox="1"/>
          <p:nvPr/>
        </p:nvSpPr>
        <p:spPr>
          <a:xfrm>
            <a:off x="10730291" y="2002536"/>
            <a:ext cx="1095643" cy="365760"/>
          </a:xfrm>
          <a:prstGeom prst="rect">
            <a:avLst/>
          </a:prstGeom>
          <a:noFill/>
        </p:spPr>
        <p:txBody>
          <a:bodyPr wrap="square" anchor="ctr" lIns="36000" rIns="36000" tIns="18000" bIns="18000">
            <a:spAutoFit/>
          </a:bodyPr>
          <a:lstStyle/>
          <a:p>
            <a:pPr algn="l"/>
            <a:r>
              <a:rPr sz="1100" b="0" i="0">
                <a:solidFill>
                  <a:srgbClr val="5B8C5A"/>
                </a:solidFill>
                <a:latin typeface="Noto Sans JP"/>
              </a:rPr>
              <a:t>微発熱</a:t>
            </a:r>
          </a:p>
        </p:txBody>
      </p:sp>
      <p:sp>
        <p:nvSpPr>
          <p:cNvPr id="36" name="Rectangle 35"/>
          <p:cNvSpPr/>
          <p:nvPr/>
        </p:nvSpPr>
        <p:spPr>
          <a:xfrm>
            <a:off x="6187287" y="2368296"/>
            <a:ext cx="5638647" cy="365760"/>
          </a:xfrm>
          <a:prstGeom prst="rect">
            <a:avLst/>
          </a:prstGeom>
          <a:solidFill>
            <a:srgbClr val="F8FAFC"/>
          </a:solidFill>
          <a:ln w="381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78727" y="2368296"/>
            <a:ext cx="1392414"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~250–300°C</a:t>
            </a:r>
          </a:p>
        </p:txBody>
      </p:sp>
      <p:sp>
        <p:nvSpPr>
          <p:cNvPr id="38" name="TextBox 37"/>
          <p:cNvSpPr txBox="1"/>
          <p:nvPr/>
        </p:nvSpPr>
        <p:spPr>
          <a:xfrm>
            <a:off x="7762582" y="2368296"/>
            <a:ext cx="2876269" cy="365760"/>
          </a:xfrm>
          <a:prstGeom prst="rect">
            <a:avLst/>
          </a:prstGeom>
          <a:noFill/>
        </p:spPr>
        <p:txBody>
          <a:bodyPr wrap="square" anchor="ctr" lIns="36000" rIns="36000" tIns="18000" bIns="18000">
            <a:spAutoFit/>
          </a:bodyPr>
          <a:lstStyle/>
          <a:p>
            <a:pPr algn="l"/>
            <a:r>
              <a:rPr sz="1100" b="0" i="0">
                <a:solidFill>
                  <a:srgbClr val="334155"/>
                </a:solidFill>
                <a:latin typeface="Noto Sans JP"/>
              </a:rPr>
              <a:t>発熱：有機鎖の酸化分解</a:t>
            </a:r>
          </a:p>
        </p:txBody>
      </p:sp>
      <p:sp>
        <p:nvSpPr>
          <p:cNvPr id="39" name="TextBox 38"/>
          <p:cNvSpPr txBox="1"/>
          <p:nvPr/>
        </p:nvSpPr>
        <p:spPr>
          <a:xfrm>
            <a:off x="10730291" y="2368296"/>
            <a:ext cx="1095643" cy="365760"/>
          </a:xfrm>
          <a:prstGeom prst="rect">
            <a:avLst/>
          </a:prstGeom>
          <a:noFill/>
        </p:spPr>
        <p:txBody>
          <a:bodyPr wrap="square" anchor="ctr" lIns="36000" rIns="36000" tIns="18000" bIns="18000">
            <a:spAutoFit/>
          </a:bodyPr>
          <a:lstStyle/>
          <a:p>
            <a:pPr algn="l"/>
            <a:r>
              <a:rPr sz="1100" b="0" i="0">
                <a:solidFill>
                  <a:srgbClr val="A05656"/>
                </a:solidFill>
                <a:latin typeface="Noto Sans JP"/>
              </a:rPr>
              <a:t>発熱</a:t>
            </a:r>
          </a:p>
        </p:txBody>
      </p:sp>
      <p:sp>
        <p:nvSpPr>
          <p:cNvPr id="40" name="Rounded Rectangle 39"/>
          <p:cNvSpPr/>
          <p:nvPr/>
        </p:nvSpPr>
        <p:spPr>
          <a:xfrm>
            <a:off x="6187287" y="3008376"/>
            <a:ext cx="2750743" cy="109728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15303" y="3118104"/>
            <a:ext cx="2494711"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最終シリカ残渣</a:t>
            </a:r>
          </a:p>
        </p:txBody>
      </p:sp>
      <p:sp>
        <p:nvSpPr>
          <p:cNvPr id="42" name="TextBox 41"/>
          <p:cNvSpPr txBox="1"/>
          <p:nvPr/>
        </p:nvSpPr>
        <p:spPr>
          <a:xfrm>
            <a:off x="6315303" y="3374136"/>
            <a:ext cx="2494711" cy="411480"/>
          </a:xfrm>
          <a:prstGeom prst="rect">
            <a:avLst/>
          </a:prstGeom>
          <a:noFill/>
        </p:spPr>
        <p:txBody>
          <a:bodyPr wrap="square" anchor="t" lIns="36000" rIns="36000" tIns="18000" bIns="18000">
            <a:spAutoFit/>
          </a:bodyPr>
          <a:lstStyle/>
          <a:p>
            <a:pPr algn="l"/>
            <a:r>
              <a:rPr sz="2000" b="1" i="0">
                <a:solidFill>
                  <a:srgbClr val="4A7C8C"/>
                </a:solidFill>
                <a:latin typeface="Noto Sans JP"/>
              </a:rPr>
              <a:t>~5–8 wt%</a:t>
            </a:r>
          </a:p>
        </p:txBody>
      </p:sp>
      <p:sp>
        <p:nvSpPr>
          <p:cNvPr id="43" name="TextBox 42"/>
          <p:cNvSpPr txBox="1"/>
          <p:nvPr/>
        </p:nvSpPr>
        <p:spPr>
          <a:xfrm>
            <a:off x="6315303" y="3794760"/>
            <a:ext cx="2494711"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CSP 5 wt% に相当</a:t>
            </a:r>
          </a:p>
        </p:txBody>
      </p:sp>
      <p:sp>
        <p:nvSpPr>
          <p:cNvPr id="44" name="Rounded Rectangle 43"/>
          <p:cNvSpPr/>
          <p:nvPr/>
        </p:nvSpPr>
        <p:spPr>
          <a:xfrm>
            <a:off x="9075191" y="3008376"/>
            <a:ext cx="2750743" cy="1097280"/>
          </a:xfrm>
          <a:prstGeom prst="roundRect">
            <a:avLst>
              <a:gd name="adj" fmla="val 3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3207" y="3118104"/>
            <a:ext cx="2494711" cy="228600"/>
          </a:xfrm>
          <a:prstGeom prst="rect">
            <a:avLst/>
          </a:prstGeom>
          <a:noFill/>
        </p:spPr>
        <p:txBody>
          <a:bodyPr wrap="square" anchor="t" lIns="36000" rIns="36000" tIns="18000" bIns="18000">
            <a:spAutoFit/>
          </a:bodyPr>
          <a:lstStyle/>
          <a:p>
            <a:pPr algn="l"/>
            <a:r>
              <a:rPr sz="1000" b="1" i="0">
                <a:solidFill>
                  <a:srgbClr val="64748B"/>
                </a:solidFill>
                <a:latin typeface="Noto Sans JP"/>
              </a:rPr>
              <a:t>セルロース分解ピーク</a:t>
            </a:r>
          </a:p>
        </p:txBody>
      </p:sp>
      <p:sp>
        <p:nvSpPr>
          <p:cNvPr id="46" name="TextBox 45"/>
          <p:cNvSpPr txBox="1"/>
          <p:nvPr/>
        </p:nvSpPr>
        <p:spPr>
          <a:xfrm>
            <a:off x="9203207" y="3374136"/>
            <a:ext cx="2494711" cy="411480"/>
          </a:xfrm>
          <a:prstGeom prst="rect">
            <a:avLst/>
          </a:prstGeom>
          <a:noFill/>
        </p:spPr>
        <p:txBody>
          <a:bodyPr wrap="square" anchor="t" lIns="36000" rIns="36000" tIns="18000" bIns="18000">
            <a:spAutoFit/>
          </a:bodyPr>
          <a:lstStyle/>
          <a:p>
            <a:pPr algn="l"/>
            <a:r>
              <a:rPr sz="2000" b="1" i="0">
                <a:solidFill>
                  <a:srgbClr val="A05656"/>
                </a:solidFill>
                <a:latin typeface="Noto Sans JP"/>
              </a:rPr>
              <a:t>~280°C</a:t>
            </a:r>
          </a:p>
        </p:txBody>
      </p:sp>
      <p:sp>
        <p:nvSpPr>
          <p:cNvPr id="47" name="TextBox 46"/>
          <p:cNvSpPr txBox="1"/>
          <p:nvPr/>
        </p:nvSpPr>
        <p:spPr>
          <a:xfrm>
            <a:off x="9203207" y="3794760"/>
            <a:ext cx="2494711" cy="219456"/>
          </a:xfrm>
          <a:prstGeom prst="rect">
            <a:avLst/>
          </a:prstGeom>
          <a:noFill/>
        </p:spPr>
        <p:txBody>
          <a:bodyPr wrap="square" anchor="t" lIns="36000" rIns="36000" tIns="18000" bIns="18000">
            <a:spAutoFit/>
          </a:bodyPr>
          <a:lstStyle/>
          <a:p>
            <a:pPr algn="l"/>
            <a:r>
              <a:rPr sz="900" b="0" i="0">
                <a:solidFill>
                  <a:srgbClr val="64748B"/>
                </a:solidFill>
                <a:latin typeface="Noto Sans JP"/>
              </a:rPr>
              <a:t>HEC/MC共通</a:t>
            </a:r>
          </a:p>
        </p:txBody>
      </p:sp>
      <p:sp>
        <p:nvSpPr>
          <p:cNvPr id="48" name="Rounded Rectangle 47"/>
          <p:cNvSpPr/>
          <p:nvPr/>
        </p:nvSpPr>
        <p:spPr>
          <a:xfrm>
            <a:off x="6187287" y="4288536"/>
            <a:ext cx="5638647" cy="77724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87287" y="4288536"/>
            <a:ext cx="54864" cy="77724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0167" y="4288536"/>
            <a:ext cx="365760" cy="77724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51" name="TextBox 50"/>
          <p:cNvSpPr txBox="1"/>
          <p:nvPr/>
        </p:nvSpPr>
        <p:spPr>
          <a:xfrm>
            <a:off x="6781647" y="4288536"/>
            <a:ext cx="4952847" cy="777240"/>
          </a:xfrm>
          <a:prstGeom prst="rect">
            <a:avLst/>
          </a:prstGeom>
          <a:noFill/>
        </p:spPr>
        <p:txBody>
          <a:bodyPr wrap="square" anchor="ctr" lIns="36000" rIns="36000" tIns="18000" bIns="18000">
            <a:spAutoFit/>
          </a:bodyPr>
          <a:lstStyle/>
          <a:p>
            <a:pPr algn="l"/>
            <a:r>
              <a:rPr sz="1300" b="1" i="0">
                <a:solidFill>
                  <a:srgbClr val="1E293B"/>
                </a:solidFill>
                <a:latin typeface="Noto Sans JP"/>
              </a:rPr>
              <a:t>CSP焼結（~200°C〜）とセルロース分解（~280°C〜）が温度的に重複 → エアロゲル化が同期</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補足 1/2</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シリカエアロゲル形成のメカニズム</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30 / 36</a:t>
            </a:r>
          </a:p>
        </p:txBody>
      </p:sp>
      <p:sp>
        <p:nvSpPr>
          <p:cNvPr id="10" name="Rounded Rectangle 9"/>
          <p:cNvSpPr/>
          <p:nvPr/>
        </p:nvSpPr>
        <p:spPr>
          <a:xfrm>
            <a:off x="365760" y="859536"/>
            <a:ext cx="11460175" cy="219456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5a</a:t>
            </a:r>
          </a:p>
        </p:txBody>
      </p:sp>
      <p:sp>
        <p:nvSpPr>
          <p:cNvPr id="13" name="TextBox 12"/>
          <p:cNvSpPr txBox="1"/>
          <p:nvPr/>
        </p:nvSpPr>
        <p:spPr>
          <a:xfrm>
            <a:off x="365760" y="859536"/>
            <a:ext cx="11460175" cy="219456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3090672"/>
            <a:ext cx="11460175"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火炎活性化によるWEG → シリカエアロゲル変態の3段階模式図</a:t>
            </a:r>
          </a:p>
        </p:txBody>
      </p:sp>
      <p:sp>
        <p:nvSpPr>
          <p:cNvPr id="15" name="Rounded Rectangle 14"/>
          <p:cNvSpPr/>
          <p:nvPr/>
        </p:nvSpPr>
        <p:spPr>
          <a:xfrm>
            <a:off x="365760" y="3465576"/>
            <a:ext cx="3734714" cy="25603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46557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3016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PHASE 1</a:t>
            </a:r>
          </a:p>
        </p:txBody>
      </p:sp>
      <p:sp>
        <p:nvSpPr>
          <p:cNvPr id="18" name="TextBox 17"/>
          <p:cNvSpPr txBox="1"/>
          <p:nvPr/>
        </p:nvSpPr>
        <p:spPr>
          <a:xfrm>
            <a:off x="548640" y="386791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Unsintered</a:t>
            </a:r>
          </a:p>
        </p:txBody>
      </p:sp>
      <p:sp>
        <p:nvSpPr>
          <p:cNvPr id="19" name="TextBox 18"/>
          <p:cNvSpPr txBox="1"/>
          <p:nvPr/>
        </p:nvSpPr>
        <p:spPr>
          <a:xfrm>
            <a:off x="548640" y="42336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0" name="TextBox 19"/>
          <p:cNvSpPr txBox="1"/>
          <p:nvPr/>
        </p:nvSpPr>
        <p:spPr>
          <a:xfrm>
            <a:off x="749808" y="42336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シリカ粒子が独立分散</a:t>
            </a:r>
          </a:p>
        </p:txBody>
      </p:sp>
      <p:sp>
        <p:nvSpPr>
          <p:cNvPr id="21" name="TextBox 20"/>
          <p:cNvSpPr txBox="1"/>
          <p:nvPr/>
        </p:nvSpPr>
        <p:spPr>
          <a:xfrm>
            <a:off x="548640" y="450799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2" name="TextBox 21"/>
          <p:cNvSpPr txBox="1"/>
          <p:nvPr/>
        </p:nvSpPr>
        <p:spPr>
          <a:xfrm>
            <a:off x="749808" y="450799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間隙に水が満たされている</a:t>
            </a:r>
          </a:p>
        </p:txBody>
      </p:sp>
      <p:sp>
        <p:nvSpPr>
          <p:cNvPr id="23" name="TextBox 22"/>
          <p:cNvSpPr txBox="1"/>
          <p:nvPr/>
        </p:nvSpPr>
        <p:spPr>
          <a:xfrm>
            <a:off x="548640" y="478231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4" name="TextBox 23"/>
          <p:cNvSpPr txBox="1"/>
          <p:nvPr/>
        </p:nvSpPr>
        <p:spPr>
          <a:xfrm>
            <a:off x="749808" y="478231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粒子間結合なし</a:t>
            </a:r>
          </a:p>
        </p:txBody>
      </p:sp>
      <p:sp>
        <p:nvSpPr>
          <p:cNvPr id="25" name="Rounded Rectangle 24"/>
          <p:cNvSpPr/>
          <p:nvPr/>
        </p:nvSpPr>
        <p:spPr>
          <a:xfrm>
            <a:off x="4228490" y="3465576"/>
            <a:ext cx="3734714" cy="25603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28490" y="346557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11370" y="363016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PHASE 2</a:t>
            </a:r>
          </a:p>
        </p:txBody>
      </p:sp>
      <p:sp>
        <p:nvSpPr>
          <p:cNvPr id="28" name="TextBox 27"/>
          <p:cNvSpPr txBox="1"/>
          <p:nvPr/>
        </p:nvSpPr>
        <p:spPr>
          <a:xfrm>
            <a:off x="4411370" y="386791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Grain boundary</a:t>
            </a:r>
          </a:p>
        </p:txBody>
      </p:sp>
      <p:sp>
        <p:nvSpPr>
          <p:cNvPr id="29" name="TextBox 28"/>
          <p:cNvSpPr txBox="1"/>
          <p:nvPr/>
        </p:nvSpPr>
        <p:spPr>
          <a:xfrm>
            <a:off x="4411370" y="42336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0" name="TextBox 29"/>
          <p:cNvSpPr txBox="1"/>
          <p:nvPr/>
        </p:nvSpPr>
        <p:spPr>
          <a:xfrm>
            <a:off x="4612538" y="42336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脱水・加熱で粒子が近接</a:t>
            </a:r>
          </a:p>
        </p:txBody>
      </p:sp>
      <p:sp>
        <p:nvSpPr>
          <p:cNvPr id="31" name="TextBox 30"/>
          <p:cNvSpPr txBox="1"/>
          <p:nvPr/>
        </p:nvSpPr>
        <p:spPr>
          <a:xfrm>
            <a:off x="4411370" y="450799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2" name="TextBox 31"/>
          <p:cNvSpPr txBox="1"/>
          <p:nvPr/>
        </p:nvSpPr>
        <p:spPr>
          <a:xfrm>
            <a:off x="4612538" y="450799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粒界（grain boundary）形成</a:t>
            </a:r>
          </a:p>
        </p:txBody>
      </p:sp>
      <p:sp>
        <p:nvSpPr>
          <p:cNvPr id="33" name="TextBox 32"/>
          <p:cNvSpPr txBox="1"/>
          <p:nvPr/>
        </p:nvSpPr>
        <p:spPr>
          <a:xfrm>
            <a:off x="4411370" y="478231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4" name="TextBox 33"/>
          <p:cNvSpPr txBox="1"/>
          <p:nvPr/>
        </p:nvSpPr>
        <p:spPr>
          <a:xfrm>
            <a:off x="4612538" y="478231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初期ネック形成開始</a:t>
            </a:r>
          </a:p>
        </p:txBody>
      </p:sp>
      <p:sp>
        <p:nvSpPr>
          <p:cNvPr id="35" name="Rounded Rectangle 34"/>
          <p:cNvSpPr/>
          <p:nvPr/>
        </p:nvSpPr>
        <p:spPr>
          <a:xfrm>
            <a:off x="8091220" y="3465576"/>
            <a:ext cx="3734714" cy="256032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1220" y="346557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4100" y="363016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PHASE 3</a:t>
            </a:r>
          </a:p>
        </p:txBody>
      </p:sp>
      <p:sp>
        <p:nvSpPr>
          <p:cNvPr id="38" name="TextBox 37"/>
          <p:cNvSpPr txBox="1"/>
          <p:nvPr/>
        </p:nvSpPr>
        <p:spPr>
          <a:xfrm>
            <a:off x="8274100" y="386791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Necking &amp; porosity</a:t>
            </a:r>
          </a:p>
        </p:txBody>
      </p:sp>
      <p:sp>
        <p:nvSpPr>
          <p:cNvPr id="39" name="TextBox 38"/>
          <p:cNvSpPr txBox="1"/>
          <p:nvPr/>
        </p:nvSpPr>
        <p:spPr>
          <a:xfrm>
            <a:off x="8274100" y="42336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0" name="TextBox 39"/>
          <p:cNvSpPr txBox="1"/>
          <p:nvPr/>
        </p:nvSpPr>
        <p:spPr>
          <a:xfrm>
            <a:off x="8475268" y="42336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ネックが拡大・強化</a:t>
            </a:r>
          </a:p>
        </p:txBody>
      </p:sp>
      <p:sp>
        <p:nvSpPr>
          <p:cNvPr id="41" name="TextBox 40"/>
          <p:cNvSpPr txBox="1"/>
          <p:nvPr/>
        </p:nvSpPr>
        <p:spPr>
          <a:xfrm>
            <a:off x="8274100" y="450799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2" name="TextBox 41"/>
          <p:cNvSpPr txBox="1"/>
          <p:nvPr/>
        </p:nvSpPr>
        <p:spPr>
          <a:xfrm>
            <a:off x="8475268" y="450799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空隙率低下し骨格が完成</a:t>
            </a:r>
          </a:p>
        </p:txBody>
      </p:sp>
      <p:sp>
        <p:nvSpPr>
          <p:cNvPr id="43" name="TextBox 42"/>
          <p:cNvSpPr txBox="1"/>
          <p:nvPr/>
        </p:nvSpPr>
        <p:spPr>
          <a:xfrm>
            <a:off x="8274100" y="478231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4" name="TextBox 43"/>
          <p:cNvSpPr txBox="1"/>
          <p:nvPr/>
        </p:nvSpPr>
        <p:spPr>
          <a:xfrm>
            <a:off x="8475268" y="478231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SiO₂エアロゲル層が確立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補足 2/2</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燃焼時間に伴う焼結進行（SEM）</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31 / 36</a:t>
            </a:r>
          </a:p>
        </p:txBody>
      </p:sp>
      <p:sp>
        <p:nvSpPr>
          <p:cNvPr id="10" name="Rounded Rectangle 9"/>
          <p:cNvSpPr/>
          <p:nvPr/>
        </p:nvSpPr>
        <p:spPr>
          <a:xfrm>
            <a:off x="365760" y="859536"/>
            <a:ext cx="11460175" cy="2103120"/>
          </a:xfrm>
          <a:prstGeom prst="roundRect">
            <a:avLst>
              <a:gd name="adj" fmla="val 2000"/>
            </a:avLst>
          </a:prstGeom>
          <a:solidFill>
            <a:srgbClr val="F5F8FC"/>
          </a:solidFill>
          <a:ln w="12700">
            <a:solidFill>
              <a:srgbClr val="C0D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 y="969264"/>
            <a:ext cx="868680" cy="2926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969264"/>
            <a:ext cx="868680" cy="292608"/>
          </a:xfrm>
          <a:prstGeom prst="rect">
            <a:avLst/>
          </a:prstGeom>
          <a:noFill/>
        </p:spPr>
        <p:txBody>
          <a:bodyPr wrap="square" anchor="ctr" lIns="36000" rIns="36000" tIns="18000" bIns="18000">
            <a:spAutoFit/>
          </a:bodyPr>
          <a:lstStyle/>
          <a:p>
            <a:pPr algn="ctr"/>
            <a:r>
              <a:rPr sz="1100" b="1" i="0">
                <a:solidFill>
                  <a:srgbClr val="FFFFFF"/>
                </a:solidFill>
                <a:latin typeface="Noto Sans JP"/>
              </a:rPr>
              <a:t>Fig. 5b</a:t>
            </a:r>
          </a:p>
        </p:txBody>
      </p:sp>
      <p:sp>
        <p:nvSpPr>
          <p:cNvPr id="13" name="TextBox 12"/>
          <p:cNvSpPr txBox="1"/>
          <p:nvPr/>
        </p:nvSpPr>
        <p:spPr>
          <a:xfrm>
            <a:off x="365760" y="859536"/>
            <a:ext cx="11460175" cy="2103120"/>
          </a:xfrm>
          <a:prstGeom prst="rect">
            <a:avLst/>
          </a:prstGeom>
          <a:noFill/>
        </p:spPr>
        <p:txBody>
          <a:bodyPr wrap="square" anchor="ctr" lIns="36000" rIns="36000" tIns="18000" bIns="18000">
            <a:spAutoFit/>
          </a:bodyPr>
          <a:lstStyle/>
          <a:p>
            <a:pPr algn="ctr"/>
            <a:r>
              <a:rPr sz="1200" b="0" i="0">
                <a:solidFill>
                  <a:srgbClr val="AAB4C0"/>
                </a:solidFill>
                <a:latin typeface="Noto Sans JP"/>
              </a:rPr>
              <a:t>（論文の図を貼り付け）</a:t>
            </a:r>
          </a:p>
        </p:txBody>
      </p:sp>
      <p:sp>
        <p:nvSpPr>
          <p:cNvPr id="14" name="TextBox 13"/>
          <p:cNvSpPr txBox="1"/>
          <p:nvPr/>
        </p:nvSpPr>
        <p:spPr>
          <a:xfrm>
            <a:off x="365760" y="2999232"/>
            <a:ext cx="11460175" cy="274320"/>
          </a:xfrm>
          <a:prstGeom prst="rect">
            <a:avLst/>
          </a:prstGeom>
          <a:noFill/>
        </p:spPr>
        <p:txBody>
          <a:bodyPr wrap="square" anchor="t" lIns="36000" rIns="36000" tIns="18000" bIns="18000">
            <a:spAutoFit/>
          </a:bodyPr>
          <a:lstStyle/>
          <a:p>
            <a:pPr algn="ctr"/>
            <a:r>
              <a:rPr sz="1000" b="0" i="1">
                <a:solidFill>
                  <a:srgbClr val="64748B"/>
                </a:solidFill>
                <a:latin typeface="Noto Sans JP"/>
              </a:rPr>
              <a:t>HEC+MC/CSP 1-5 を 0, 1, 2, 4分加熱後のクロスセクションSEM像</a:t>
            </a:r>
          </a:p>
        </p:txBody>
      </p:sp>
      <p:sp>
        <p:nvSpPr>
          <p:cNvPr id="15" name="Rounded Rectangle 14"/>
          <p:cNvSpPr/>
          <p:nvPr/>
        </p:nvSpPr>
        <p:spPr>
          <a:xfrm>
            <a:off x="365760" y="3374136"/>
            <a:ext cx="2769031" cy="246888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3520440"/>
            <a:ext cx="2476423" cy="256032"/>
          </a:xfrm>
          <a:prstGeom prst="rect">
            <a:avLst/>
          </a:prstGeom>
          <a:noFill/>
        </p:spPr>
        <p:txBody>
          <a:bodyPr wrap="square" anchor="t" lIns="36000" rIns="36000" tIns="18000" bIns="18000">
            <a:spAutoFit/>
          </a:bodyPr>
          <a:lstStyle/>
          <a:p>
            <a:pPr algn="l"/>
            <a:r>
              <a:rPr sz="1100" b="1" i="0">
                <a:solidFill>
                  <a:srgbClr val="64748B"/>
                </a:solidFill>
                <a:latin typeface="Noto Sans JP"/>
              </a:rPr>
              <a:t>0 min</a:t>
            </a:r>
          </a:p>
        </p:txBody>
      </p:sp>
      <p:sp>
        <p:nvSpPr>
          <p:cNvPr id="17" name="TextBox 16"/>
          <p:cNvSpPr txBox="1"/>
          <p:nvPr/>
        </p:nvSpPr>
        <p:spPr>
          <a:xfrm>
            <a:off x="512064" y="3813048"/>
            <a:ext cx="2476423" cy="384048"/>
          </a:xfrm>
          <a:prstGeom prst="rect">
            <a:avLst/>
          </a:prstGeom>
          <a:noFill/>
        </p:spPr>
        <p:txBody>
          <a:bodyPr wrap="square" anchor="t" lIns="36000" rIns="36000" tIns="18000" bIns="18000">
            <a:spAutoFit/>
          </a:bodyPr>
          <a:lstStyle/>
          <a:p>
            <a:pPr algn="l"/>
            <a:r>
              <a:rPr sz="1500" b="1" i="0">
                <a:solidFill>
                  <a:srgbClr val="64748B"/>
                </a:solidFill>
                <a:latin typeface="Noto Sans JP"/>
              </a:rPr>
              <a:t>未加熱</a:t>
            </a:r>
          </a:p>
        </p:txBody>
      </p:sp>
      <p:sp>
        <p:nvSpPr>
          <p:cNvPr id="18" name="TextBox 17"/>
          <p:cNvSpPr txBox="1"/>
          <p:nvPr/>
        </p:nvSpPr>
        <p:spPr>
          <a:xfrm>
            <a:off x="548640" y="433425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19" name="TextBox 18"/>
          <p:cNvSpPr txBox="1"/>
          <p:nvPr/>
        </p:nvSpPr>
        <p:spPr>
          <a:xfrm>
            <a:off x="731520" y="433425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球状粒子が独立分散</a:t>
            </a:r>
          </a:p>
        </p:txBody>
      </p:sp>
      <p:sp>
        <p:nvSpPr>
          <p:cNvPr id="20" name="TextBox 19"/>
          <p:cNvSpPr txBox="1"/>
          <p:nvPr/>
        </p:nvSpPr>
        <p:spPr>
          <a:xfrm>
            <a:off x="548640" y="470001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21" name="TextBox 20"/>
          <p:cNvSpPr txBox="1"/>
          <p:nvPr/>
        </p:nvSpPr>
        <p:spPr>
          <a:xfrm>
            <a:off x="731520" y="470001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粒子間結合なし</a:t>
            </a:r>
          </a:p>
        </p:txBody>
      </p:sp>
      <p:sp>
        <p:nvSpPr>
          <p:cNvPr id="22" name="TextBox 21"/>
          <p:cNvSpPr txBox="1"/>
          <p:nvPr/>
        </p:nvSpPr>
        <p:spPr>
          <a:xfrm>
            <a:off x="548640" y="506577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23" name="TextBox 22"/>
          <p:cNvSpPr txBox="1"/>
          <p:nvPr/>
        </p:nvSpPr>
        <p:spPr>
          <a:xfrm>
            <a:off x="731520" y="506577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水がマトリクスを充填</a:t>
            </a:r>
          </a:p>
        </p:txBody>
      </p:sp>
      <p:sp>
        <p:nvSpPr>
          <p:cNvPr id="24" name="Rounded Rectangle 23"/>
          <p:cNvSpPr/>
          <p:nvPr/>
        </p:nvSpPr>
        <p:spPr>
          <a:xfrm>
            <a:off x="3262807" y="3374136"/>
            <a:ext cx="2769031" cy="246888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09111" y="3520440"/>
            <a:ext cx="2476423" cy="256032"/>
          </a:xfrm>
          <a:prstGeom prst="rect">
            <a:avLst/>
          </a:prstGeom>
          <a:noFill/>
        </p:spPr>
        <p:txBody>
          <a:bodyPr wrap="square" anchor="t" lIns="36000" rIns="36000" tIns="18000" bIns="18000">
            <a:spAutoFit/>
          </a:bodyPr>
          <a:lstStyle/>
          <a:p>
            <a:pPr algn="l"/>
            <a:r>
              <a:rPr sz="1100" b="1" i="0">
                <a:solidFill>
                  <a:srgbClr val="64748B"/>
                </a:solidFill>
                <a:latin typeface="Noto Sans JP"/>
              </a:rPr>
              <a:t>1 min</a:t>
            </a:r>
          </a:p>
        </p:txBody>
      </p:sp>
      <p:sp>
        <p:nvSpPr>
          <p:cNvPr id="26" name="TextBox 25"/>
          <p:cNvSpPr txBox="1"/>
          <p:nvPr/>
        </p:nvSpPr>
        <p:spPr>
          <a:xfrm>
            <a:off x="3409111" y="3813048"/>
            <a:ext cx="2476423" cy="384048"/>
          </a:xfrm>
          <a:prstGeom prst="rect">
            <a:avLst/>
          </a:prstGeom>
          <a:noFill/>
        </p:spPr>
        <p:txBody>
          <a:bodyPr wrap="square" anchor="t" lIns="36000" rIns="36000" tIns="18000" bIns="18000">
            <a:spAutoFit/>
          </a:bodyPr>
          <a:lstStyle/>
          <a:p>
            <a:pPr algn="l"/>
            <a:r>
              <a:rPr sz="1500" b="1" i="0">
                <a:solidFill>
                  <a:srgbClr val="64748B"/>
                </a:solidFill>
                <a:latin typeface="Noto Sans JP"/>
              </a:rPr>
              <a:t>焼結初期</a:t>
            </a:r>
          </a:p>
        </p:txBody>
      </p:sp>
      <p:sp>
        <p:nvSpPr>
          <p:cNvPr id="27" name="TextBox 26"/>
          <p:cNvSpPr txBox="1"/>
          <p:nvPr/>
        </p:nvSpPr>
        <p:spPr>
          <a:xfrm>
            <a:off x="3445687" y="433425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28" name="TextBox 27"/>
          <p:cNvSpPr txBox="1"/>
          <p:nvPr/>
        </p:nvSpPr>
        <p:spPr>
          <a:xfrm>
            <a:off x="3628567" y="433425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粒子間で粒界が出現</a:t>
            </a:r>
          </a:p>
        </p:txBody>
      </p:sp>
      <p:sp>
        <p:nvSpPr>
          <p:cNvPr id="29" name="TextBox 28"/>
          <p:cNvSpPr txBox="1"/>
          <p:nvPr/>
        </p:nvSpPr>
        <p:spPr>
          <a:xfrm>
            <a:off x="3445687" y="470001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30" name="TextBox 29"/>
          <p:cNvSpPr txBox="1"/>
          <p:nvPr/>
        </p:nvSpPr>
        <p:spPr>
          <a:xfrm>
            <a:off x="3628567" y="470001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初期ネックが形成</a:t>
            </a:r>
          </a:p>
        </p:txBody>
      </p:sp>
      <p:sp>
        <p:nvSpPr>
          <p:cNvPr id="31" name="TextBox 30"/>
          <p:cNvSpPr txBox="1"/>
          <p:nvPr/>
        </p:nvSpPr>
        <p:spPr>
          <a:xfrm>
            <a:off x="3445687" y="506577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32" name="TextBox 31"/>
          <p:cNvSpPr txBox="1"/>
          <p:nvPr/>
        </p:nvSpPr>
        <p:spPr>
          <a:xfrm>
            <a:off x="3628567" y="506577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水分の大半が蒸発済み</a:t>
            </a:r>
          </a:p>
        </p:txBody>
      </p:sp>
      <p:sp>
        <p:nvSpPr>
          <p:cNvPr id="33" name="Rounded Rectangle 32"/>
          <p:cNvSpPr/>
          <p:nvPr/>
        </p:nvSpPr>
        <p:spPr>
          <a:xfrm>
            <a:off x="6159855" y="3374136"/>
            <a:ext cx="2769031" cy="246888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6159" y="3520440"/>
            <a:ext cx="2476423" cy="256032"/>
          </a:xfrm>
          <a:prstGeom prst="rect">
            <a:avLst/>
          </a:prstGeom>
          <a:noFill/>
        </p:spPr>
        <p:txBody>
          <a:bodyPr wrap="square" anchor="t" lIns="36000" rIns="36000" tIns="18000" bIns="18000">
            <a:spAutoFit/>
          </a:bodyPr>
          <a:lstStyle/>
          <a:p>
            <a:pPr algn="l"/>
            <a:r>
              <a:rPr sz="1100" b="1" i="0">
                <a:solidFill>
                  <a:srgbClr val="64748B"/>
                </a:solidFill>
                <a:latin typeface="Noto Sans JP"/>
              </a:rPr>
              <a:t>2 min</a:t>
            </a:r>
          </a:p>
        </p:txBody>
      </p:sp>
      <p:sp>
        <p:nvSpPr>
          <p:cNvPr id="35" name="TextBox 34"/>
          <p:cNvSpPr txBox="1"/>
          <p:nvPr/>
        </p:nvSpPr>
        <p:spPr>
          <a:xfrm>
            <a:off x="6306159" y="3813048"/>
            <a:ext cx="2476423" cy="384048"/>
          </a:xfrm>
          <a:prstGeom prst="rect">
            <a:avLst/>
          </a:prstGeom>
          <a:noFill/>
        </p:spPr>
        <p:txBody>
          <a:bodyPr wrap="square" anchor="t" lIns="36000" rIns="36000" tIns="18000" bIns="18000">
            <a:spAutoFit/>
          </a:bodyPr>
          <a:lstStyle/>
          <a:p>
            <a:pPr algn="l"/>
            <a:r>
              <a:rPr sz="1500" b="1" i="0">
                <a:solidFill>
                  <a:srgbClr val="64748B"/>
                </a:solidFill>
                <a:latin typeface="Noto Sans JP"/>
              </a:rPr>
              <a:t>焼結進行</a:t>
            </a:r>
          </a:p>
        </p:txBody>
      </p:sp>
      <p:sp>
        <p:nvSpPr>
          <p:cNvPr id="36" name="TextBox 35"/>
          <p:cNvSpPr txBox="1"/>
          <p:nvPr/>
        </p:nvSpPr>
        <p:spPr>
          <a:xfrm>
            <a:off x="6342735" y="433425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37" name="TextBox 36"/>
          <p:cNvSpPr txBox="1"/>
          <p:nvPr/>
        </p:nvSpPr>
        <p:spPr>
          <a:xfrm>
            <a:off x="6525615" y="433425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ネック領域が拡大</a:t>
            </a:r>
          </a:p>
        </p:txBody>
      </p:sp>
      <p:sp>
        <p:nvSpPr>
          <p:cNvPr id="38" name="TextBox 37"/>
          <p:cNvSpPr txBox="1"/>
          <p:nvPr/>
        </p:nvSpPr>
        <p:spPr>
          <a:xfrm>
            <a:off x="6342735" y="470001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39" name="TextBox 38"/>
          <p:cNvSpPr txBox="1"/>
          <p:nvPr/>
        </p:nvSpPr>
        <p:spPr>
          <a:xfrm>
            <a:off x="6525615" y="470001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連続ネットワーク形成</a:t>
            </a:r>
          </a:p>
        </p:txBody>
      </p:sp>
      <p:sp>
        <p:nvSpPr>
          <p:cNvPr id="40" name="TextBox 39"/>
          <p:cNvSpPr txBox="1"/>
          <p:nvPr/>
        </p:nvSpPr>
        <p:spPr>
          <a:xfrm>
            <a:off x="6342735" y="5065776"/>
            <a:ext cx="164592" cy="274320"/>
          </a:xfrm>
          <a:prstGeom prst="rect">
            <a:avLst/>
          </a:prstGeom>
          <a:noFill/>
        </p:spPr>
        <p:txBody>
          <a:bodyPr wrap="square" anchor="t" lIns="36000" rIns="36000" tIns="18000" bIns="18000">
            <a:spAutoFit/>
          </a:bodyPr>
          <a:lstStyle/>
          <a:p>
            <a:pPr algn="l"/>
            <a:r>
              <a:rPr sz="1200" b="0" i="0">
                <a:solidFill>
                  <a:srgbClr val="64748B"/>
                </a:solidFill>
                <a:latin typeface="Noto Sans JP"/>
              </a:rPr>
              <a:t>•</a:t>
            </a:r>
          </a:p>
        </p:txBody>
      </p:sp>
      <p:sp>
        <p:nvSpPr>
          <p:cNvPr id="41" name="TextBox 40"/>
          <p:cNvSpPr txBox="1"/>
          <p:nvPr/>
        </p:nvSpPr>
        <p:spPr>
          <a:xfrm>
            <a:off x="6525615" y="506577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空隙率が低下</a:t>
            </a:r>
          </a:p>
        </p:txBody>
      </p:sp>
      <p:sp>
        <p:nvSpPr>
          <p:cNvPr id="42" name="Rounded Rectangle 41"/>
          <p:cNvSpPr/>
          <p:nvPr/>
        </p:nvSpPr>
        <p:spPr>
          <a:xfrm>
            <a:off x="9056903" y="3374136"/>
            <a:ext cx="2769031" cy="2468880"/>
          </a:xfrm>
          <a:prstGeom prst="roundRect">
            <a:avLst>
              <a:gd name="adj" fmla="val 4000"/>
            </a:avLst>
          </a:prstGeom>
          <a:solidFill>
            <a:srgbClr val="FFFFFF"/>
          </a:solidFill>
          <a:ln w="10160">
            <a:solidFill>
              <a:srgbClr val="3B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03207" y="3520440"/>
            <a:ext cx="2476423" cy="256032"/>
          </a:xfrm>
          <a:prstGeom prst="rect">
            <a:avLst/>
          </a:prstGeom>
          <a:noFill/>
        </p:spPr>
        <p:txBody>
          <a:bodyPr wrap="square" anchor="t" lIns="36000" rIns="36000" tIns="18000" bIns="18000">
            <a:spAutoFit/>
          </a:bodyPr>
          <a:lstStyle/>
          <a:p>
            <a:pPr algn="l"/>
            <a:r>
              <a:rPr sz="1100" b="1" i="0">
                <a:solidFill>
                  <a:srgbClr val="64748B"/>
                </a:solidFill>
                <a:latin typeface="Noto Sans JP"/>
              </a:rPr>
              <a:t>4 min</a:t>
            </a:r>
          </a:p>
        </p:txBody>
      </p:sp>
      <p:sp>
        <p:nvSpPr>
          <p:cNvPr id="44" name="TextBox 43"/>
          <p:cNvSpPr txBox="1"/>
          <p:nvPr/>
        </p:nvSpPr>
        <p:spPr>
          <a:xfrm>
            <a:off x="9203207" y="3813048"/>
            <a:ext cx="2476423" cy="384048"/>
          </a:xfrm>
          <a:prstGeom prst="rect">
            <a:avLst/>
          </a:prstGeom>
          <a:noFill/>
        </p:spPr>
        <p:txBody>
          <a:bodyPr wrap="square" anchor="t" lIns="36000" rIns="36000" tIns="18000" bIns="18000">
            <a:spAutoFit/>
          </a:bodyPr>
          <a:lstStyle/>
          <a:p>
            <a:pPr algn="l"/>
            <a:r>
              <a:rPr sz="1500" b="1" i="0">
                <a:solidFill>
                  <a:srgbClr val="3B5174"/>
                </a:solidFill>
                <a:latin typeface="Noto Sans JP"/>
              </a:rPr>
              <a:t>エアロゲル完成</a:t>
            </a:r>
          </a:p>
        </p:txBody>
      </p:sp>
      <p:sp>
        <p:nvSpPr>
          <p:cNvPr id="45" name="TextBox 44"/>
          <p:cNvSpPr txBox="1"/>
          <p:nvPr/>
        </p:nvSpPr>
        <p:spPr>
          <a:xfrm>
            <a:off x="9239783" y="4334256"/>
            <a:ext cx="164592"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6" name="TextBox 45"/>
          <p:cNvSpPr txBox="1"/>
          <p:nvPr/>
        </p:nvSpPr>
        <p:spPr>
          <a:xfrm>
            <a:off x="9422663" y="433425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緻密なSiO₂骨格完成</a:t>
            </a:r>
          </a:p>
        </p:txBody>
      </p:sp>
      <p:sp>
        <p:nvSpPr>
          <p:cNvPr id="47" name="TextBox 46"/>
          <p:cNvSpPr txBox="1"/>
          <p:nvPr/>
        </p:nvSpPr>
        <p:spPr>
          <a:xfrm>
            <a:off x="9239783" y="4700016"/>
            <a:ext cx="164592"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8" name="TextBox 47"/>
          <p:cNvSpPr txBox="1"/>
          <p:nvPr/>
        </p:nvSpPr>
        <p:spPr>
          <a:xfrm>
            <a:off x="9422663" y="470001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高い機械的強度</a:t>
            </a:r>
          </a:p>
        </p:txBody>
      </p:sp>
      <p:sp>
        <p:nvSpPr>
          <p:cNvPr id="49" name="TextBox 48"/>
          <p:cNvSpPr txBox="1"/>
          <p:nvPr/>
        </p:nvSpPr>
        <p:spPr>
          <a:xfrm>
            <a:off x="9239783" y="5065776"/>
            <a:ext cx="164592"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50" name="TextBox 49"/>
          <p:cNvSpPr txBox="1"/>
          <p:nvPr/>
        </p:nvSpPr>
        <p:spPr>
          <a:xfrm>
            <a:off x="9422663" y="5065776"/>
            <a:ext cx="2256967"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断熱層として機能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B08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62495" y="457200"/>
            <a:ext cx="4572000" cy="6400800"/>
          </a:xfrm>
          <a:prstGeom prst="rect">
            <a:avLst/>
          </a:prstGeom>
          <a:noFill/>
        </p:spPr>
        <p:txBody>
          <a:bodyPr wrap="square" anchor="b" lIns="36000" rIns="36000" tIns="18000" bIns="18000">
            <a:spAutoFit/>
          </a:bodyPr>
          <a:lstStyle/>
          <a:p>
            <a:pPr algn="r"/>
            <a:r>
              <a:rPr sz="24000" b="1" i="0">
                <a:solidFill>
                  <a:srgbClr val="243044"/>
                </a:solidFill>
                <a:latin typeface="Noto Sans JP"/>
              </a:rPr>
              <a:t>04</a:t>
            </a:r>
          </a:p>
        </p:txBody>
      </p:sp>
      <p:sp>
        <p:nvSpPr>
          <p:cNvPr id="5" name="TextBox 4"/>
          <p:cNvSpPr txBox="1"/>
          <p:nvPr/>
        </p:nvSpPr>
        <p:spPr>
          <a:xfrm>
            <a:off x="914400" y="1554480"/>
            <a:ext cx="9144000" cy="365760"/>
          </a:xfrm>
          <a:prstGeom prst="rect">
            <a:avLst/>
          </a:prstGeom>
          <a:noFill/>
        </p:spPr>
        <p:txBody>
          <a:bodyPr wrap="square" anchor="t" lIns="36000" rIns="36000" tIns="18000" bIns="18000">
            <a:spAutoFit/>
          </a:bodyPr>
          <a:lstStyle/>
          <a:p>
            <a:pPr algn="l"/>
            <a:r>
              <a:rPr sz="1300" b="1" i="0">
                <a:solidFill>
                  <a:srgbClr val="88A4C0"/>
                </a:solidFill>
                <a:latin typeface="Noto Sans JP"/>
              </a:rPr>
              <a:t>Part 4</a:t>
            </a:r>
          </a:p>
        </p:txBody>
      </p:sp>
      <p:sp>
        <p:nvSpPr>
          <p:cNvPr id="6" name="TextBox 5"/>
          <p:cNvSpPr txBox="1"/>
          <p:nvPr/>
        </p:nvSpPr>
        <p:spPr>
          <a:xfrm>
            <a:off x="914400" y="2011680"/>
            <a:ext cx="9144000" cy="1280160"/>
          </a:xfrm>
          <a:prstGeom prst="rect">
            <a:avLst/>
          </a:prstGeom>
          <a:noFill/>
        </p:spPr>
        <p:txBody>
          <a:bodyPr wrap="square" anchor="t" lIns="36000" rIns="36000" tIns="18000" bIns="18000">
            <a:spAutoFit/>
          </a:bodyPr>
          <a:lstStyle/>
          <a:p>
            <a:pPr algn="l"/>
            <a:r>
              <a:rPr sz="5200" b="1" i="0">
                <a:solidFill>
                  <a:srgbClr val="FFFFFF"/>
                </a:solidFill>
                <a:latin typeface="Noto Sans JP"/>
              </a:rPr>
              <a:t>考察・まとめ</a:t>
            </a:r>
          </a:p>
        </p:txBody>
      </p:sp>
      <p:sp>
        <p:nvSpPr>
          <p:cNvPr id="7" name="TextBox 6"/>
          <p:cNvSpPr txBox="1"/>
          <p:nvPr/>
        </p:nvSpPr>
        <p:spPr>
          <a:xfrm>
            <a:off x="914400" y="3383280"/>
            <a:ext cx="9144000" cy="914400"/>
          </a:xfrm>
          <a:prstGeom prst="rect">
            <a:avLst/>
          </a:prstGeom>
          <a:noFill/>
        </p:spPr>
        <p:txBody>
          <a:bodyPr wrap="square" anchor="t" lIns="36000" rIns="36000" tIns="18000" bIns="18000">
            <a:spAutoFit/>
          </a:bodyPr>
          <a:lstStyle/>
          <a:p>
            <a:pPr algn="l"/>
            <a:r>
              <a:rPr sz="1700" b="0" i="0">
                <a:solidFill>
                  <a:srgbClr val="9CB4CC"/>
                </a:solidFill>
                <a:latin typeface="Noto Sans JP"/>
              </a:rPr>
              <a:t>実装シナリオ、既存品との総合比較、研究の意義と今後の展望</a:t>
            </a:r>
          </a:p>
        </p:txBody>
      </p:sp>
      <p:sp>
        <p:nvSpPr>
          <p:cNvPr id="8" name="Rounded Rectangle 7"/>
          <p:cNvSpPr/>
          <p:nvPr/>
        </p:nvSpPr>
        <p:spPr>
          <a:xfrm>
            <a:off x="914400"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実装シナリオ</a:t>
            </a:r>
          </a:p>
        </p:txBody>
      </p:sp>
      <p:sp>
        <p:nvSpPr>
          <p:cNvPr id="10" name="Rounded Rectangle 9"/>
          <p:cNvSpPr/>
          <p:nvPr/>
        </p:nvSpPr>
        <p:spPr>
          <a:xfrm>
            <a:off x="2523744"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23744"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性能比較</a:t>
            </a:r>
          </a:p>
        </p:txBody>
      </p:sp>
      <p:sp>
        <p:nvSpPr>
          <p:cNvPr id="12" name="Rounded Rectangle 11"/>
          <p:cNvSpPr/>
          <p:nvPr/>
        </p:nvSpPr>
        <p:spPr>
          <a:xfrm>
            <a:off x="4133088" y="4572000"/>
            <a:ext cx="1463040" cy="384048"/>
          </a:xfrm>
          <a:prstGeom prst="roundRect">
            <a:avLst>
              <a:gd name="adj" fmla="val 40000"/>
            </a:avLst>
          </a:prstGeom>
          <a:solidFill>
            <a:srgbClr val="2A384E"/>
          </a:solidFill>
          <a:ln w="6350">
            <a:solidFill>
              <a:srgbClr val="4458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33088" y="4572000"/>
            <a:ext cx="1463040" cy="384048"/>
          </a:xfrm>
          <a:prstGeom prst="rect">
            <a:avLst/>
          </a:prstGeom>
          <a:noFill/>
        </p:spPr>
        <p:txBody>
          <a:bodyPr wrap="square" anchor="ctr" lIns="36000" rIns="36000" tIns="18000" bIns="18000">
            <a:spAutoFit/>
          </a:bodyPr>
          <a:lstStyle/>
          <a:p>
            <a:pPr algn="ctr"/>
            <a:r>
              <a:rPr sz="1200" b="0" i="0">
                <a:solidFill>
                  <a:srgbClr val="C0D0E0"/>
                </a:solidFill>
                <a:latin typeface="Noto Sans JP"/>
              </a:rPr>
              <a:t>まとめ</a:t>
            </a:r>
          </a:p>
        </p:txBody>
      </p:sp>
      <p:sp>
        <p:nvSpPr>
          <p:cNvPr id="14" name="TextBox 13"/>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667788"/>
                </a:solidFill>
                <a:latin typeface="Noto Sans JP"/>
              </a:rPr>
              <a:t>32 / 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考察 1/3</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実装シナリオ：WEGの展開戦略</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33 / 36</a:t>
            </a:r>
          </a:p>
        </p:txBody>
      </p:sp>
      <p:sp>
        <p:nvSpPr>
          <p:cNvPr id="10" name="Rounded Rectangle 9"/>
          <p:cNvSpPr/>
          <p:nvPr/>
        </p:nvSpPr>
        <p:spPr>
          <a:xfrm>
            <a:off x="365760" y="859536"/>
            <a:ext cx="3734714" cy="32918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2412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SCENARIO 1</a:t>
            </a:r>
          </a:p>
        </p:txBody>
      </p:sp>
      <p:sp>
        <p:nvSpPr>
          <p:cNvPr id="13" name="TextBox 12"/>
          <p:cNvSpPr txBox="1"/>
          <p:nvPr/>
        </p:nvSpPr>
        <p:spPr>
          <a:xfrm>
            <a:off x="548640" y="126187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WUI住宅の事前保護</a:t>
            </a:r>
          </a:p>
        </p:txBody>
      </p:sp>
      <p:sp>
        <p:nvSpPr>
          <p:cNvPr id="14" name="TextBox 13"/>
          <p:cNvSpPr txBox="1"/>
          <p:nvPr/>
        </p:nvSpPr>
        <p:spPr>
          <a:xfrm>
            <a:off x="54864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5" name="TextBox 14"/>
          <p:cNvSpPr txBox="1"/>
          <p:nvPr/>
        </p:nvSpPr>
        <p:spPr>
          <a:xfrm>
            <a:off x="749808" y="162763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山火事シーズン前に建物外壁・屋根に散布</a:t>
            </a:r>
          </a:p>
        </p:txBody>
      </p:sp>
      <p:sp>
        <p:nvSpPr>
          <p:cNvPr id="16" name="TextBox 15"/>
          <p:cNvSpPr txBox="1"/>
          <p:nvPr/>
        </p:nvSpPr>
        <p:spPr>
          <a:xfrm>
            <a:off x="54864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7" name="TextBox 16"/>
          <p:cNvSpPr txBox="1"/>
          <p:nvPr/>
        </p:nvSpPr>
        <p:spPr>
          <a:xfrm>
            <a:off x="749808" y="190195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ヘリコプター・地上ホース双方で対応可能</a:t>
            </a:r>
          </a:p>
        </p:txBody>
      </p:sp>
      <p:sp>
        <p:nvSpPr>
          <p:cNvPr id="18" name="TextBox 17"/>
          <p:cNvSpPr txBox="1"/>
          <p:nvPr/>
        </p:nvSpPr>
        <p:spPr>
          <a:xfrm>
            <a:off x="54864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19" name="TextBox 18"/>
          <p:cNvSpPr txBox="1"/>
          <p:nvPr/>
        </p:nvSpPr>
        <p:spPr>
          <a:xfrm>
            <a:off x="749808" y="21762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乾燥しても保護機能が残る</a:t>
            </a:r>
          </a:p>
        </p:txBody>
      </p:sp>
      <p:sp>
        <p:nvSpPr>
          <p:cNvPr id="20" name="Rounded Rectangle 19"/>
          <p:cNvSpPr/>
          <p:nvPr/>
        </p:nvSpPr>
        <p:spPr>
          <a:xfrm>
            <a:off x="4228490" y="859536"/>
            <a:ext cx="3734714" cy="32918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28490" y="85953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1370" y="102412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SCENARIO 2</a:t>
            </a:r>
          </a:p>
        </p:txBody>
      </p:sp>
      <p:sp>
        <p:nvSpPr>
          <p:cNvPr id="23" name="TextBox 22"/>
          <p:cNvSpPr txBox="1"/>
          <p:nvPr/>
        </p:nvSpPr>
        <p:spPr>
          <a:xfrm>
            <a:off x="4411370" y="126187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重要インフラの保護</a:t>
            </a:r>
          </a:p>
        </p:txBody>
      </p:sp>
      <p:sp>
        <p:nvSpPr>
          <p:cNvPr id="24" name="TextBox 23"/>
          <p:cNvSpPr txBox="1"/>
          <p:nvPr/>
        </p:nvSpPr>
        <p:spPr>
          <a:xfrm>
            <a:off x="441137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5" name="TextBox 24"/>
          <p:cNvSpPr txBox="1"/>
          <p:nvPr/>
        </p:nvSpPr>
        <p:spPr>
          <a:xfrm>
            <a:off x="4612538" y="162763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送電塔・変電所・通信基地局</a:t>
            </a:r>
          </a:p>
        </p:txBody>
      </p:sp>
      <p:sp>
        <p:nvSpPr>
          <p:cNvPr id="26" name="TextBox 25"/>
          <p:cNvSpPr txBox="1"/>
          <p:nvPr/>
        </p:nvSpPr>
        <p:spPr>
          <a:xfrm>
            <a:off x="441137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7" name="TextBox 26"/>
          <p:cNvSpPr txBox="1"/>
          <p:nvPr/>
        </p:nvSpPr>
        <p:spPr>
          <a:xfrm>
            <a:off x="4612538" y="190195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金属構造物にも強固に付着</a:t>
            </a:r>
          </a:p>
        </p:txBody>
      </p:sp>
      <p:sp>
        <p:nvSpPr>
          <p:cNvPr id="28" name="TextBox 27"/>
          <p:cNvSpPr txBox="1"/>
          <p:nvPr/>
        </p:nvSpPr>
        <p:spPr>
          <a:xfrm>
            <a:off x="441137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29" name="TextBox 28"/>
          <p:cNvSpPr txBox="1"/>
          <p:nvPr/>
        </p:nvSpPr>
        <p:spPr>
          <a:xfrm>
            <a:off x="4612538" y="21762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断電・通信遮断を予防</a:t>
            </a:r>
          </a:p>
        </p:txBody>
      </p:sp>
      <p:sp>
        <p:nvSpPr>
          <p:cNvPr id="30" name="Rounded Rectangle 29"/>
          <p:cNvSpPr/>
          <p:nvPr/>
        </p:nvSpPr>
        <p:spPr>
          <a:xfrm>
            <a:off x="8091220" y="859536"/>
            <a:ext cx="3734714" cy="32918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1220" y="859536"/>
            <a:ext cx="3734714"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4100" y="1024128"/>
            <a:ext cx="3368954"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SCENARIO 3</a:t>
            </a:r>
          </a:p>
        </p:txBody>
      </p:sp>
      <p:sp>
        <p:nvSpPr>
          <p:cNvPr id="33" name="TextBox 32"/>
          <p:cNvSpPr txBox="1"/>
          <p:nvPr/>
        </p:nvSpPr>
        <p:spPr>
          <a:xfrm>
            <a:off x="8274100" y="1261872"/>
            <a:ext cx="3368954" cy="329184"/>
          </a:xfrm>
          <a:prstGeom prst="rect">
            <a:avLst/>
          </a:prstGeom>
          <a:noFill/>
        </p:spPr>
        <p:txBody>
          <a:bodyPr wrap="square" anchor="t" lIns="36000" rIns="36000" tIns="18000" bIns="18000">
            <a:spAutoFit/>
          </a:bodyPr>
          <a:lstStyle/>
          <a:p>
            <a:pPr algn="l"/>
            <a:r>
              <a:rPr sz="1500" b="1" i="0">
                <a:solidFill>
                  <a:srgbClr val="1E293B"/>
                </a:solidFill>
                <a:latin typeface="Noto Sans JP"/>
              </a:rPr>
              <a:t>防火線（Fire Break）形成</a:t>
            </a:r>
          </a:p>
        </p:txBody>
      </p:sp>
      <p:sp>
        <p:nvSpPr>
          <p:cNvPr id="34" name="TextBox 33"/>
          <p:cNvSpPr txBox="1"/>
          <p:nvPr/>
        </p:nvSpPr>
        <p:spPr>
          <a:xfrm>
            <a:off x="8274100" y="162763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5" name="TextBox 34"/>
          <p:cNvSpPr txBox="1"/>
          <p:nvPr/>
        </p:nvSpPr>
        <p:spPr>
          <a:xfrm>
            <a:off x="8475268" y="162763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延焼経路となる植生帯に事前散布</a:t>
            </a:r>
          </a:p>
        </p:txBody>
      </p:sp>
      <p:sp>
        <p:nvSpPr>
          <p:cNvPr id="36" name="TextBox 35"/>
          <p:cNvSpPr txBox="1"/>
          <p:nvPr/>
        </p:nvSpPr>
        <p:spPr>
          <a:xfrm>
            <a:off x="8274100" y="190195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7" name="TextBox 36"/>
          <p:cNvSpPr txBox="1"/>
          <p:nvPr/>
        </p:nvSpPr>
        <p:spPr>
          <a:xfrm>
            <a:off x="8475268" y="190195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Phos-Chek の環境負荷なし</a:t>
            </a:r>
          </a:p>
        </p:txBody>
      </p:sp>
      <p:sp>
        <p:nvSpPr>
          <p:cNvPr id="38" name="TextBox 37"/>
          <p:cNvSpPr txBox="1"/>
          <p:nvPr/>
        </p:nvSpPr>
        <p:spPr>
          <a:xfrm>
            <a:off x="8274100" y="2176272"/>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9" name="TextBox 38"/>
          <p:cNvSpPr txBox="1"/>
          <p:nvPr/>
        </p:nvSpPr>
        <p:spPr>
          <a:xfrm>
            <a:off x="8475268" y="2176272"/>
            <a:ext cx="3167786"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セルロース・シリカは残留性が低い</a:t>
            </a:r>
          </a:p>
        </p:txBody>
      </p:sp>
      <p:sp>
        <p:nvSpPr>
          <p:cNvPr id="40" name="Rounded Rectangle 39"/>
          <p:cNvSpPr/>
          <p:nvPr/>
        </p:nvSpPr>
        <p:spPr>
          <a:xfrm>
            <a:off x="365760" y="4425696"/>
            <a:ext cx="5638647" cy="1554480"/>
          </a:xfrm>
          <a:prstGeom prst="roundRect">
            <a:avLst>
              <a:gd name="adj" fmla="val 4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553712"/>
            <a:ext cx="5272887" cy="274320"/>
          </a:xfrm>
          <a:prstGeom prst="rect">
            <a:avLst/>
          </a:prstGeom>
          <a:noFill/>
        </p:spPr>
        <p:txBody>
          <a:bodyPr wrap="square" anchor="t" lIns="36000" rIns="36000" tIns="18000" bIns="18000">
            <a:spAutoFit/>
          </a:bodyPr>
          <a:lstStyle/>
          <a:p>
            <a:pPr algn="l"/>
            <a:r>
              <a:rPr sz="1200" b="1" i="0">
                <a:solidFill>
                  <a:srgbClr val="64748B"/>
                </a:solidFill>
                <a:latin typeface="Noto Sans JP"/>
              </a:rPr>
              <a:t>既存手法との優位点</a:t>
            </a:r>
          </a:p>
        </p:txBody>
      </p:sp>
      <p:sp>
        <p:nvSpPr>
          <p:cNvPr id="42" name="TextBox 41"/>
          <p:cNvSpPr txBox="1"/>
          <p:nvPr/>
        </p:nvSpPr>
        <p:spPr>
          <a:xfrm>
            <a:off x="594360" y="4837176"/>
            <a:ext cx="1463040"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vs 水</a:t>
            </a:r>
          </a:p>
        </p:txBody>
      </p:sp>
      <p:sp>
        <p:nvSpPr>
          <p:cNvPr id="43" name="TextBox 42"/>
          <p:cNvSpPr txBox="1"/>
          <p:nvPr/>
        </p:nvSpPr>
        <p:spPr>
          <a:xfrm>
            <a:off x="2148840" y="4837176"/>
            <a:ext cx="3626967" cy="228600"/>
          </a:xfrm>
          <a:prstGeom prst="rect">
            <a:avLst/>
          </a:prstGeom>
          <a:noFill/>
        </p:spPr>
        <p:txBody>
          <a:bodyPr wrap="square" anchor="t" lIns="36000" rIns="36000" tIns="18000" bIns="18000">
            <a:spAutoFit/>
          </a:bodyPr>
          <a:lstStyle/>
          <a:p>
            <a:pPr algn="l"/>
            <a:r>
              <a:rPr sz="1100" b="1" i="0">
                <a:solidFill>
                  <a:srgbClr val="5B8C5A"/>
                </a:solidFill>
                <a:latin typeface="Noto Sans JP"/>
              </a:rPr>
              <a:t>保護時間大幅向上（水は~0.3分で炭化）</a:t>
            </a:r>
          </a:p>
        </p:txBody>
      </p:sp>
      <p:sp>
        <p:nvSpPr>
          <p:cNvPr id="44" name="TextBox 43"/>
          <p:cNvSpPr txBox="1"/>
          <p:nvPr/>
        </p:nvSpPr>
        <p:spPr>
          <a:xfrm>
            <a:off x="594360" y="5093208"/>
            <a:ext cx="1463040"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vs AquaGel-K</a:t>
            </a:r>
          </a:p>
        </p:txBody>
      </p:sp>
      <p:sp>
        <p:nvSpPr>
          <p:cNvPr id="45" name="TextBox 44"/>
          <p:cNvSpPr txBox="1"/>
          <p:nvPr/>
        </p:nvSpPr>
        <p:spPr>
          <a:xfrm>
            <a:off x="2148840" y="5093208"/>
            <a:ext cx="3626967" cy="228600"/>
          </a:xfrm>
          <a:prstGeom prst="rect">
            <a:avLst/>
          </a:prstGeom>
          <a:noFill/>
        </p:spPr>
        <p:txBody>
          <a:bodyPr wrap="square" anchor="t" lIns="36000" rIns="36000" tIns="18000" bIns="18000">
            <a:spAutoFit/>
          </a:bodyPr>
          <a:lstStyle/>
          <a:p>
            <a:pPr algn="l"/>
            <a:r>
              <a:rPr sz="1100" b="1" i="0">
                <a:solidFill>
                  <a:srgbClr val="5B8C5A"/>
                </a:solidFill>
                <a:latin typeface="Noto Sans JP"/>
              </a:rPr>
              <a:t>3〜6倍の保護時間＋水蒸発後も継続</a:t>
            </a:r>
          </a:p>
        </p:txBody>
      </p:sp>
      <p:sp>
        <p:nvSpPr>
          <p:cNvPr id="46" name="TextBox 45"/>
          <p:cNvSpPr txBox="1"/>
          <p:nvPr/>
        </p:nvSpPr>
        <p:spPr>
          <a:xfrm>
            <a:off x="594360" y="5349240"/>
            <a:ext cx="1463040"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vs Phos-Chek</a:t>
            </a:r>
          </a:p>
        </p:txBody>
      </p:sp>
      <p:sp>
        <p:nvSpPr>
          <p:cNvPr id="47" name="TextBox 46"/>
          <p:cNvSpPr txBox="1"/>
          <p:nvPr/>
        </p:nvSpPr>
        <p:spPr>
          <a:xfrm>
            <a:off x="2148840" y="5349240"/>
            <a:ext cx="3626967" cy="228600"/>
          </a:xfrm>
          <a:prstGeom prst="rect">
            <a:avLst/>
          </a:prstGeom>
          <a:noFill/>
        </p:spPr>
        <p:txBody>
          <a:bodyPr wrap="square" anchor="t" lIns="36000" rIns="36000" tIns="18000" bIns="18000">
            <a:spAutoFit/>
          </a:bodyPr>
          <a:lstStyle/>
          <a:p>
            <a:pPr algn="l"/>
            <a:r>
              <a:rPr sz="1100" b="1" i="0">
                <a:solidFill>
                  <a:srgbClr val="5B8C5A"/>
                </a:solidFill>
                <a:latin typeface="Noto Sans JP"/>
              </a:rPr>
              <a:t>土壌・水系への残留なし</a:t>
            </a:r>
          </a:p>
        </p:txBody>
      </p:sp>
      <p:sp>
        <p:nvSpPr>
          <p:cNvPr id="48" name="TextBox 47"/>
          <p:cNvSpPr txBox="1"/>
          <p:nvPr/>
        </p:nvSpPr>
        <p:spPr>
          <a:xfrm>
            <a:off x="594360" y="5605272"/>
            <a:ext cx="1463040" cy="228600"/>
          </a:xfrm>
          <a:prstGeom prst="rect">
            <a:avLst/>
          </a:prstGeom>
          <a:noFill/>
        </p:spPr>
        <p:txBody>
          <a:bodyPr wrap="square" anchor="t" lIns="36000" rIns="36000" tIns="18000" bIns="18000">
            <a:spAutoFit/>
          </a:bodyPr>
          <a:lstStyle/>
          <a:p>
            <a:pPr algn="l"/>
            <a:r>
              <a:rPr sz="1100" b="0" i="0">
                <a:solidFill>
                  <a:srgbClr val="64748B"/>
                </a:solidFill>
                <a:latin typeface="Noto Sans JP"/>
              </a:rPr>
              <a:t>散布互換性</a:t>
            </a:r>
          </a:p>
        </p:txBody>
      </p:sp>
      <p:sp>
        <p:nvSpPr>
          <p:cNvPr id="49" name="TextBox 48"/>
          <p:cNvSpPr txBox="1"/>
          <p:nvPr/>
        </p:nvSpPr>
        <p:spPr>
          <a:xfrm>
            <a:off x="2148840" y="5605272"/>
            <a:ext cx="3626967" cy="228600"/>
          </a:xfrm>
          <a:prstGeom prst="rect">
            <a:avLst/>
          </a:prstGeom>
          <a:noFill/>
        </p:spPr>
        <p:txBody>
          <a:bodyPr wrap="square" anchor="t" lIns="36000" rIns="36000" tIns="18000" bIns="18000">
            <a:spAutoFit/>
          </a:bodyPr>
          <a:lstStyle/>
          <a:p>
            <a:pPr algn="l"/>
            <a:r>
              <a:rPr sz="1100" b="1" i="0">
                <a:solidFill>
                  <a:srgbClr val="5B8C5A"/>
                </a:solidFill>
                <a:latin typeface="Noto Sans JP"/>
              </a:rPr>
              <a:t>既存機材そのまま使用可</a:t>
            </a:r>
          </a:p>
        </p:txBody>
      </p:sp>
      <p:sp>
        <p:nvSpPr>
          <p:cNvPr id="50" name="Rounded Rectangle 49"/>
          <p:cNvSpPr/>
          <p:nvPr/>
        </p:nvSpPr>
        <p:spPr>
          <a:xfrm>
            <a:off x="6187287" y="4700016"/>
            <a:ext cx="5638647" cy="914400"/>
          </a:xfrm>
          <a:prstGeom prst="roundRect">
            <a:avLst>
              <a:gd name="adj" fmla="val 4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87287" y="4700016"/>
            <a:ext cx="54864" cy="914400"/>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70167" y="4700016"/>
            <a:ext cx="365760" cy="914400"/>
          </a:xfrm>
          <a:prstGeom prst="rect">
            <a:avLst/>
          </a:prstGeom>
          <a:noFill/>
        </p:spPr>
        <p:txBody>
          <a:bodyPr wrap="square" anchor="ctr" lIns="36000" rIns="36000" tIns="18000" bIns="18000">
            <a:spAutoFit/>
          </a:bodyPr>
          <a:lstStyle/>
          <a:p>
            <a:pPr algn="l"/>
            <a:r>
              <a:rPr sz="1400" b="0" i="0">
                <a:solidFill>
                  <a:srgbClr val="3B5174"/>
                </a:solidFill>
                <a:latin typeface="Noto Sans JP"/>
              </a:rPr>
              <a:t>🚁</a:t>
            </a:r>
          </a:p>
        </p:txBody>
      </p:sp>
      <p:sp>
        <p:nvSpPr>
          <p:cNvPr id="53" name="TextBox 52"/>
          <p:cNvSpPr txBox="1"/>
          <p:nvPr/>
        </p:nvSpPr>
        <p:spPr>
          <a:xfrm>
            <a:off x="6781647" y="4700016"/>
            <a:ext cx="4952847" cy="914400"/>
          </a:xfrm>
          <a:prstGeom prst="rect">
            <a:avLst/>
          </a:prstGeom>
          <a:noFill/>
        </p:spPr>
        <p:txBody>
          <a:bodyPr wrap="square" anchor="ctr" lIns="36000" rIns="36000" tIns="18000" bIns="18000">
            <a:spAutoFit/>
          </a:bodyPr>
          <a:lstStyle/>
          <a:p>
            <a:pPr algn="l"/>
            <a:r>
              <a:rPr sz="1300" b="1" i="0">
                <a:solidFill>
                  <a:srgbClr val="1E293B"/>
                </a:solidFill>
                <a:latin typeface="Noto Sans JP"/>
              </a:rPr>
              <a:t>航空散布・地上散布ともに対応可能な流動特性（剪断希薄化）が実用化の鍵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まとめ 1/2</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実証された主要結果</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34 / 36</a:t>
            </a:r>
          </a:p>
        </p:txBody>
      </p:sp>
      <p:sp>
        <p:nvSpPr>
          <p:cNvPr id="10" name="Rounded Rectangle 9"/>
          <p:cNvSpPr/>
          <p:nvPr/>
        </p:nvSpPr>
        <p:spPr>
          <a:xfrm>
            <a:off x="365760" y="859536"/>
            <a:ext cx="2769031" cy="42062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024128"/>
            <a:ext cx="2403271"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RHEOLOGY</a:t>
            </a:r>
          </a:p>
        </p:txBody>
      </p:sp>
      <p:sp>
        <p:nvSpPr>
          <p:cNvPr id="13" name="TextBox 12"/>
          <p:cNvSpPr txBox="1"/>
          <p:nvPr/>
        </p:nvSpPr>
        <p:spPr>
          <a:xfrm>
            <a:off x="548640" y="1261872"/>
            <a:ext cx="2403271"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レオロジー特性</a:t>
            </a:r>
          </a:p>
        </p:txBody>
      </p:sp>
      <p:sp>
        <p:nvSpPr>
          <p:cNvPr id="14" name="TextBox 13"/>
          <p:cNvSpPr txBox="1"/>
          <p:nvPr/>
        </p:nvSpPr>
        <p:spPr>
          <a:xfrm>
            <a:off x="548640"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15" name="TextBox 14"/>
          <p:cNvSpPr txBox="1"/>
          <p:nvPr/>
        </p:nvSpPr>
        <p:spPr>
          <a:xfrm>
            <a:off x="749808" y="162763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全系で G' &gt; G''、crossoverなし</a:t>
            </a:r>
          </a:p>
        </p:txBody>
      </p:sp>
      <p:sp>
        <p:nvSpPr>
          <p:cNvPr id="16" name="TextBox 15"/>
          <p:cNvSpPr txBox="1"/>
          <p:nvPr/>
        </p:nvSpPr>
        <p:spPr>
          <a:xfrm>
            <a:off x="548640"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17" name="TextBox 16"/>
          <p:cNvSpPr txBox="1"/>
          <p:nvPr/>
        </p:nvSpPr>
        <p:spPr>
          <a:xfrm>
            <a:off x="749808" y="190195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G': HEC+MC≈46, MHEC≈26 Pa</a:t>
            </a:r>
          </a:p>
        </p:txBody>
      </p:sp>
      <p:sp>
        <p:nvSpPr>
          <p:cNvPr id="18" name="TextBox 17"/>
          <p:cNvSpPr txBox="1"/>
          <p:nvPr/>
        </p:nvSpPr>
        <p:spPr>
          <a:xfrm>
            <a:off x="548640" y="217627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19" name="TextBox 18"/>
          <p:cNvSpPr txBox="1"/>
          <p:nvPr/>
        </p:nvSpPr>
        <p:spPr>
          <a:xfrm>
            <a:off x="749808" y="217627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剪断希薄化（HB適合）→ 噴霧可</a:t>
            </a:r>
          </a:p>
        </p:txBody>
      </p:sp>
      <p:sp>
        <p:nvSpPr>
          <p:cNvPr id="20" name="TextBox 19"/>
          <p:cNvSpPr txBox="1"/>
          <p:nvPr/>
        </p:nvSpPr>
        <p:spPr>
          <a:xfrm>
            <a:off x="548640" y="245059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21" name="TextBox 20"/>
          <p:cNvSpPr txBox="1"/>
          <p:nvPr/>
        </p:nvSpPr>
        <p:spPr>
          <a:xfrm>
            <a:off x="749808" y="245059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tan δ &lt; 1 の固体的ゲル</a:t>
            </a:r>
          </a:p>
        </p:txBody>
      </p:sp>
      <p:sp>
        <p:nvSpPr>
          <p:cNvPr id="22" name="Rounded Rectangle 21"/>
          <p:cNvSpPr/>
          <p:nvPr/>
        </p:nvSpPr>
        <p:spPr>
          <a:xfrm>
            <a:off x="3262807" y="859536"/>
            <a:ext cx="2769031" cy="42062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62807"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45687" y="1024128"/>
            <a:ext cx="2403271"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FIRE PROTECTION</a:t>
            </a:r>
          </a:p>
        </p:txBody>
      </p:sp>
      <p:sp>
        <p:nvSpPr>
          <p:cNvPr id="25" name="TextBox 24"/>
          <p:cNvSpPr txBox="1"/>
          <p:nvPr/>
        </p:nvSpPr>
        <p:spPr>
          <a:xfrm>
            <a:off x="3445687" y="1261872"/>
            <a:ext cx="2403271"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火炎保護性能</a:t>
            </a:r>
          </a:p>
        </p:txBody>
      </p:sp>
      <p:sp>
        <p:nvSpPr>
          <p:cNvPr id="26" name="TextBox 25"/>
          <p:cNvSpPr txBox="1"/>
          <p:nvPr/>
        </p:nvSpPr>
        <p:spPr>
          <a:xfrm>
            <a:off x="3445687"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27" name="TextBox 26"/>
          <p:cNvSpPr txBox="1"/>
          <p:nvPr/>
        </p:nvSpPr>
        <p:spPr>
          <a:xfrm>
            <a:off x="3646855" y="162763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HEC+MC/CSP：7分超 char遅延</a:t>
            </a:r>
          </a:p>
        </p:txBody>
      </p:sp>
      <p:sp>
        <p:nvSpPr>
          <p:cNvPr id="28" name="TextBox 27"/>
          <p:cNvSpPr txBox="1"/>
          <p:nvPr/>
        </p:nvSpPr>
        <p:spPr>
          <a:xfrm>
            <a:off x="3445687"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29" name="TextBox 28"/>
          <p:cNvSpPr txBox="1"/>
          <p:nvPr/>
        </p:nvSpPr>
        <p:spPr>
          <a:xfrm>
            <a:off x="3646855" y="190195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MHEC/CSP：5分超</a:t>
            </a:r>
          </a:p>
        </p:txBody>
      </p:sp>
      <p:sp>
        <p:nvSpPr>
          <p:cNvPr id="30" name="TextBox 29"/>
          <p:cNvSpPr txBox="1"/>
          <p:nvPr/>
        </p:nvSpPr>
        <p:spPr>
          <a:xfrm>
            <a:off x="3445687" y="217627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31" name="TextBox 30"/>
          <p:cNvSpPr txBox="1"/>
          <p:nvPr/>
        </p:nvSpPr>
        <p:spPr>
          <a:xfrm>
            <a:off x="3646855" y="217627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市販品の3〜6倍の効果</a:t>
            </a:r>
          </a:p>
        </p:txBody>
      </p:sp>
      <p:sp>
        <p:nvSpPr>
          <p:cNvPr id="32" name="TextBox 31"/>
          <p:cNvSpPr txBox="1"/>
          <p:nvPr/>
        </p:nvSpPr>
        <p:spPr>
          <a:xfrm>
            <a:off x="3445687" y="245059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33" name="TextBox 32"/>
          <p:cNvSpPr txBox="1"/>
          <p:nvPr/>
        </p:nvSpPr>
        <p:spPr>
          <a:xfrm>
            <a:off x="3646855" y="245059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水~0.3分, AquaGel-K~1.5分</a:t>
            </a:r>
          </a:p>
        </p:txBody>
      </p:sp>
      <p:sp>
        <p:nvSpPr>
          <p:cNvPr id="34" name="Rounded Rectangle 33"/>
          <p:cNvSpPr/>
          <p:nvPr/>
        </p:nvSpPr>
        <p:spPr>
          <a:xfrm>
            <a:off x="6159855" y="859536"/>
            <a:ext cx="2769031" cy="42062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59855"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42735" y="1024128"/>
            <a:ext cx="2403271"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FOAMING / SEM</a:t>
            </a:r>
          </a:p>
        </p:txBody>
      </p:sp>
      <p:sp>
        <p:nvSpPr>
          <p:cNvPr id="37" name="TextBox 36"/>
          <p:cNvSpPr txBox="1"/>
          <p:nvPr/>
        </p:nvSpPr>
        <p:spPr>
          <a:xfrm>
            <a:off x="6342735" y="1261872"/>
            <a:ext cx="2403271"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発泡・微細構造</a:t>
            </a:r>
          </a:p>
        </p:txBody>
      </p:sp>
      <p:sp>
        <p:nvSpPr>
          <p:cNvPr id="38" name="TextBox 37"/>
          <p:cNvSpPr txBox="1"/>
          <p:nvPr/>
        </p:nvSpPr>
        <p:spPr>
          <a:xfrm>
            <a:off x="6342735"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39" name="TextBox 38"/>
          <p:cNvSpPr txBox="1"/>
          <p:nvPr/>
        </p:nvSpPr>
        <p:spPr>
          <a:xfrm>
            <a:off x="6543903" y="162763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Foaming Index 最大≈2.6</a:t>
            </a:r>
          </a:p>
        </p:txBody>
      </p:sp>
      <p:sp>
        <p:nvSpPr>
          <p:cNvPr id="40" name="TextBox 39"/>
          <p:cNvSpPr txBox="1"/>
          <p:nvPr/>
        </p:nvSpPr>
        <p:spPr>
          <a:xfrm>
            <a:off x="6342735"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41" name="TextBox 40"/>
          <p:cNvSpPr txBox="1"/>
          <p:nvPr/>
        </p:nvSpPr>
        <p:spPr>
          <a:xfrm>
            <a:off x="6543903" y="190195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AquaGel-Kは発泡せず≈0</a:t>
            </a:r>
          </a:p>
        </p:txBody>
      </p:sp>
      <p:sp>
        <p:nvSpPr>
          <p:cNvPr id="42" name="TextBox 41"/>
          <p:cNvSpPr txBox="1"/>
          <p:nvPr/>
        </p:nvSpPr>
        <p:spPr>
          <a:xfrm>
            <a:off x="6342735" y="217627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43" name="TextBox 42"/>
          <p:cNvSpPr txBox="1"/>
          <p:nvPr/>
        </p:nvSpPr>
        <p:spPr>
          <a:xfrm>
            <a:off x="6543903" y="217627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燃焼で多孔質シリカ層を形成</a:t>
            </a:r>
          </a:p>
        </p:txBody>
      </p:sp>
      <p:sp>
        <p:nvSpPr>
          <p:cNvPr id="44" name="TextBox 43"/>
          <p:cNvSpPr txBox="1"/>
          <p:nvPr/>
        </p:nvSpPr>
        <p:spPr>
          <a:xfrm>
            <a:off x="6342735" y="245059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45" name="TextBox 44"/>
          <p:cNvSpPr txBox="1"/>
          <p:nvPr/>
        </p:nvSpPr>
        <p:spPr>
          <a:xfrm>
            <a:off x="6543903" y="245059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2分以降に粒子が焼結（SEM）</a:t>
            </a:r>
          </a:p>
        </p:txBody>
      </p:sp>
      <p:sp>
        <p:nvSpPr>
          <p:cNvPr id="46" name="Rounded Rectangle 45"/>
          <p:cNvSpPr/>
          <p:nvPr/>
        </p:nvSpPr>
        <p:spPr>
          <a:xfrm>
            <a:off x="9056903" y="859536"/>
            <a:ext cx="2769031" cy="420624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056903" y="859536"/>
            <a:ext cx="2769031"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39783" y="1024128"/>
            <a:ext cx="2403271" cy="219456"/>
          </a:xfrm>
          <a:prstGeom prst="rect">
            <a:avLst/>
          </a:prstGeom>
          <a:noFill/>
        </p:spPr>
        <p:txBody>
          <a:bodyPr wrap="square" anchor="t" lIns="36000" rIns="36000" tIns="18000" bIns="18000">
            <a:spAutoFit/>
          </a:bodyPr>
          <a:lstStyle/>
          <a:p>
            <a:pPr algn="l"/>
            <a:r>
              <a:rPr sz="1000" b="1" i="0">
                <a:solidFill>
                  <a:srgbClr val="64748B"/>
                </a:solidFill>
                <a:latin typeface="Noto Sans JP"/>
              </a:rPr>
              <a:t>CHEMISTRY</a:t>
            </a:r>
          </a:p>
        </p:txBody>
      </p:sp>
      <p:sp>
        <p:nvSpPr>
          <p:cNvPr id="49" name="TextBox 48"/>
          <p:cNvSpPr txBox="1"/>
          <p:nvPr/>
        </p:nvSpPr>
        <p:spPr>
          <a:xfrm>
            <a:off x="9239783" y="1261872"/>
            <a:ext cx="2403271"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化学的変態</a:t>
            </a:r>
          </a:p>
        </p:txBody>
      </p:sp>
      <p:sp>
        <p:nvSpPr>
          <p:cNvPr id="50" name="TextBox 49"/>
          <p:cNvSpPr txBox="1"/>
          <p:nvPr/>
        </p:nvSpPr>
        <p:spPr>
          <a:xfrm>
            <a:off x="9239783" y="162763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1" name="TextBox 50"/>
          <p:cNvSpPr txBox="1"/>
          <p:nvPr/>
        </p:nvSpPr>
        <p:spPr>
          <a:xfrm>
            <a:off x="9440951" y="162763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FT-IR：CH/SiO比が低下</a:t>
            </a:r>
          </a:p>
        </p:txBody>
      </p:sp>
      <p:sp>
        <p:nvSpPr>
          <p:cNvPr id="52" name="TextBox 51"/>
          <p:cNvSpPr txBox="1"/>
          <p:nvPr/>
        </p:nvSpPr>
        <p:spPr>
          <a:xfrm>
            <a:off x="9239783" y="190195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3" name="TextBox 52"/>
          <p:cNvSpPr txBox="1"/>
          <p:nvPr/>
        </p:nvSpPr>
        <p:spPr>
          <a:xfrm>
            <a:off x="9440951" y="190195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XPS：燃焼で炭素が大幅減</a:t>
            </a:r>
          </a:p>
        </p:txBody>
      </p:sp>
      <p:sp>
        <p:nvSpPr>
          <p:cNvPr id="54" name="TextBox 53"/>
          <p:cNvSpPr txBox="1"/>
          <p:nvPr/>
        </p:nvSpPr>
        <p:spPr>
          <a:xfrm>
            <a:off x="9239783" y="217627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5" name="TextBox 54"/>
          <p:cNvSpPr txBox="1"/>
          <p:nvPr/>
        </p:nvSpPr>
        <p:spPr>
          <a:xfrm>
            <a:off x="9440951" y="217627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MHEC/CSP C 38.3%→4.8%</a:t>
            </a:r>
          </a:p>
        </p:txBody>
      </p:sp>
      <p:sp>
        <p:nvSpPr>
          <p:cNvPr id="56" name="TextBox 55"/>
          <p:cNvSpPr txBox="1"/>
          <p:nvPr/>
        </p:nvSpPr>
        <p:spPr>
          <a:xfrm>
            <a:off x="9239783" y="2450592"/>
            <a:ext cx="182880" cy="274320"/>
          </a:xfrm>
          <a:prstGeom prst="rect">
            <a:avLst/>
          </a:prstGeom>
          <a:noFill/>
        </p:spPr>
        <p:txBody>
          <a:bodyPr wrap="square" anchor="t" lIns="36000" rIns="36000" tIns="18000" bIns="18000">
            <a:spAutoFit/>
          </a:bodyPr>
          <a:lstStyle/>
          <a:p>
            <a:pPr algn="l"/>
            <a:r>
              <a:rPr sz="1100" b="0" i="0">
                <a:solidFill>
                  <a:srgbClr val="3B5174"/>
                </a:solidFill>
                <a:latin typeface="Noto Sans JP"/>
              </a:rPr>
              <a:t>•</a:t>
            </a:r>
          </a:p>
        </p:txBody>
      </p:sp>
      <p:sp>
        <p:nvSpPr>
          <p:cNvPr id="57" name="TextBox 56"/>
          <p:cNvSpPr txBox="1"/>
          <p:nvPr/>
        </p:nvSpPr>
        <p:spPr>
          <a:xfrm>
            <a:off x="9440951" y="2450592"/>
            <a:ext cx="2202103" cy="274320"/>
          </a:xfrm>
          <a:prstGeom prst="rect">
            <a:avLst/>
          </a:prstGeom>
          <a:noFill/>
        </p:spPr>
        <p:txBody>
          <a:bodyPr wrap="square" anchor="t" lIns="36000" rIns="36000" tIns="18000" bIns="18000">
            <a:spAutoFit/>
          </a:bodyPr>
          <a:lstStyle/>
          <a:p>
            <a:pPr algn="l"/>
            <a:r>
              <a:rPr sz="1100" b="0" i="0">
                <a:solidFill>
                  <a:srgbClr val="475569"/>
                </a:solidFill>
                <a:latin typeface="Noto Sans JP"/>
              </a:rPr>
              <a:t>残存はシリカ（SiO₂）</a:t>
            </a:r>
          </a:p>
        </p:txBody>
      </p:sp>
      <p:sp>
        <p:nvSpPr>
          <p:cNvPr id="58" name="Rounded Rectangle 57"/>
          <p:cNvSpPr/>
          <p:nvPr/>
        </p:nvSpPr>
        <p:spPr>
          <a:xfrm>
            <a:off x="365760" y="5294376"/>
            <a:ext cx="11460175" cy="7315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5760" y="5294376"/>
            <a:ext cx="54864" cy="731520"/>
          </a:xfrm>
          <a:prstGeom prst="rect">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5294376"/>
            <a:ext cx="365760" cy="731520"/>
          </a:xfrm>
          <a:prstGeom prst="rect">
            <a:avLst/>
          </a:prstGeom>
          <a:noFill/>
        </p:spPr>
        <p:txBody>
          <a:bodyPr wrap="square" anchor="ctr" lIns="36000" rIns="36000" tIns="18000" bIns="18000">
            <a:spAutoFit/>
          </a:bodyPr>
          <a:lstStyle/>
          <a:p>
            <a:pPr algn="l"/>
            <a:r>
              <a:rPr sz="1400" b="0" i="0">
                <a:solidFill>
                  <a:srgbClr val="D4A574"/>
                </a:solidFill>
                <a:latin typeface="Noto Sans JP"/>
              </a:rPr>
              <a:t>◆</a:t>
            </a:r>
          </a:p>
        </p:txBody>
      </p:sp>
      <p:sp>
        <p:nvSpPr>
          <p:cNvPr id="61" name="TextBox 60"/>
          <p:cNvSpPr txBox="1"/>
          <p:nvPr/>
        </p:nvSpPr>
        <p:spPr>
          <a:xfrm>
            <a:off x="960120" y="5294376"/>
            <a:ext cx="10774375" cy="731520"/>
          </a:xfrm>
          <a:prstGeom prst="rect">
            <a:avLst/>
          </a:prstGeom>
          <a:noFill/>
        </p:spPr>
        <p:txBody>
          <a:bodyPr wrap="square" anchor="ctr" lIns="36000" rIns="36000" tIns="18000" bIns="18000">
            <a:spAutoFit/>
          </a:bodyPr>
          <a:lstStyle/>
          <a:p>
            <a:pPr algn="l"/>
            <a:r>
              <a:rPr sz="1300" b="1" i="0">
                <a:solidFill>
                  <a:srgbClr val="FFFFFF"/>
                </a:solidFill>
                <a:latin typeface="Noto Sans JP"/>
              </a:rPr>
              <a:t>火炎で水が蒸発しつつゲルが多孔質シリカエアロゲルへ転換 → 乾燥後も基材を断熱保護（市販WEGにない機構）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
            <a:ext cx="12191695"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2194560" cy="365760"/>
          </a:xfrm>
          <a:prstGeom prst="rect">
            <a:avLst/>
          </a:prstGeom>
          <a:noFill/>
        </p:spPr>
        <p:txBody>
          <a:bodyPr wrap="square" anchor="ctr" lIns="36000" rIns="36000" tIns="18000" bIns="18000">
            <a:spAutoFit/>
          </a:bodyPr>
          <a:lstStyle/>
          <a:p>
            <a:pPr algn="l"/>
            <a:r>
              <a:rPr sz="1100" b="1" i="0">
                <a:solidFill>
                  <a:srgbClr val="88A4C4"/>
                </a:solidFill>
                <a:latin typeface="Noto Sans JP"/>
              </a:rPr>
              <a:t>まとめ 2/2</a:t>
            </a:r>
          </a:p>
        </p:txBody>
      </p:sp>
      <p:sp>
        <p:nvSpPr>
          <p:cNvPr id="6" name="Rectangle 5"/>
          <p:cNvSpPr/>
          <p:nvPr/>
        </p:nvSpPr>
        <p:spPr>
          <a:xfrm>
            <a:off x="2606040" y="182880"/>
            <a:ext cx="10972" cy="292608"/>
          </a:xfrm>
          <a:prstGeom prst="rect">
            <a:avLst/>
          </a:prstGeom>
          <a:solidFill>
            <a:srgbClr val="445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91440"/>
            <a:ext cx="9082735" cy="502920"/>
          </a:xfrm>
          <a:prstGeom prst="rect">
            <a:avLst/>
          </a:prstGeom>
          <a:noFill/>
        </p:spPr>
        <p:txBody>
          <a:bodyPr wrap="square" anchor="ctr" lIns="36000" rIns="36000" tIns="18000" bIns="18000">
            <a:spAutoFit/>
          </a:bodyPr>
          <a:lstStyle/>
          <a:p>
            <a:pPr algn="l"/>
            <a:r>
              <a:rPr sz="2400" b="1" i="0">
                <a:solidFill>
                  <a:srgbClr val="FFFFFF"/>
                </a:solidFill>
                <a:latin typeface="Noto Sans JP"/>
              </a:rPr>
              <a:t>研究の結論</a:t>
            </a:r>
          </a:p>
        </p:txBody>
      </p:sp>
      <p:sp>
        <p:nvSpPr>
          <p:cNvPr id="8" name="Rectangle 7"/>
          <p:cNvSpPr/>
          <p:nvPr/>
        </p:nvSpPr>
        <p:spPr>
          <a:xfrm>
            <a:off x="0" y="6803136"/>
            <a:ext cx="12191695" cy="54864"/>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11535" y="6547104"/>
            <a:ext cx="1143000" cy="237744"/>
          </a:xfrm>
          <a:prstGeom prst="rect">
            <a:avLst/>
          </a:prstGeom>
          <a:noFill/>
        </p:spPr>
        <p:txBody>
          <a:bodyPr wrap="square" anchor="t" lIns="36000" rIns="36000" tIns="18000" bIns="18000">
            <a:spAutoFit/>
          </a:bodyPr>
          <a:lstStyle/>
          <a:p>
            <a:pPr algn="r"/>
            <a:r>
              <a:rPr sz="1000" b="0" i="0">
                <a:solidFill>
                  <a:srgbClr val="64748B"/>
                </a:solidFill>
                <a:latin typeface="Noto Sans JP"/>
              </a:rPr>
              <a:t>35 / 36</a:t>
            </a:r>
          </a:p>
        </p:txBody>
      </p:sp>
      <p:sp>
        <p:nvSpPr>
          <p:cNvPr id="10" name="Rounded Rectangle 9"/>
          <p:cNvSpPr/>
          <p:nvPr/>
        </p:nvSpPr>
        <p:spPr>
          <a:xfrm>
            <a:off x="365760" y="859536"/>
            <a:ext cx="2769031" cy="2286000"/>
          </a:xfrm>
          <a:prstGeom prst="roundRect">
            <a:avLst>
              <a:gd name="adj" fmla="val 4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005840"/>
            <a:ext cx="2439847" cy="256032"/>
          </a:xfrm>
          <a:prstGeom prst="rect">
            <a:avLst/>
          </a:prstGeom>
          <a:noFill/>
        </p:spPr>
        <p:txBody>
          <a:bodyPr wrap="square" anchor="t" lIns="36000" rIns="36000" tIns="18000" bIns="18000">
            <a:spAutoFit/>
          </a:bodyPr>
          <a:lstStyle/>
          <a:p>
            <a:pPr algn="l"/>
            <a:r>
              <a:rPr sz="1000" b="1" i="0">
                <a:solidFill>
                  <a:srgbClr val="64748B"/>
                </a:solidFill>
                <a:latin typeface="Noto Sans JP"/>
              </a:rPr>
              <a:t>RESULT 01</a:t>
            </a:r>
          </a:p>
        </p:txBody>
      </p:sp>
      <p:sp>
        <p:nvSpPr>
          <p:cNvPr id="12" name="TextBox 11"/>
          <p:cNvSpPr txBox="1"/>
          <p:nvPr/>
        </p:nvSpPr>
        <p:spPr>
          <a:xfrm>
            <a:off x="530352" y="1316736"/>
            <a:ext cx="548640"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13" name="TextBox 12"/>
          <p:cNvSpPr txBox="1"/>
          <p:nvPr/>
        </p:nvSpPr>
        <p:spPr>
          <a:xfrm>
            <a:off x="530352" y="1865376"/>
            <a:ext cx="2439847" cy="411480"/>
          </a:xfrm>
          <a:prstGeom prst="rect">
            <a:avLst/>
          </a:prstGeom>
          <a:noFill/>
        </p:spPr>
        <p:txBody>
          <a:bodyPr wrap="square" anchor="t" lIns="36000" rIns="36000" tIns="18000" bIns="18000">
            <a:spAutoFit/>
          </a:bodyPr>
          <a:lstStyle/>
          <a:p>
            <a:pPr algn="l"/>
            <a:r>
              <a:rPr sz="1500" b="1" i="0">
                <a:solidFill>
                  <a:srgbClr val="1E293B"/>
                </a:solidFill>
                <a:latin typeface="Noto Sans JP"/>
              </a:rPr>
              <a:t>市販品の3〜6倍の保護</a:t>
            </a:r>
          </a:p>
        </p:txBody>
      </p:sp>
      <p:sp>
        <p:nvSpPr>
          <p:cNvPr id="14" name="TextBox 13"/>
          <p:cNvSpPr txBox="1"/>
          <p:nvPr/>
        </p:nvSpPr>
        <p:spPr>
          <a:xfrm>
            <a:off x="530352" y="2368296"/>
            <a:ext cx="2439847" cy="640080"/>
          </a:xfrm>
          <a:prstGeom prst="rect">
            <a:avLst/>
          </a:prstGeom>
          <a:noFill/>
        </p:spPr>
        <p:txBody>
          <a:bodyPr wrap="square" anchor="t" lIns="36000" rIns="36000" tIns="18000" bIns="18000">
            <a:spAutoFit/>
          </a:bodyPr>
          <a:lstStyle/>
          <a:p>
            <a:pPr algn="l"/>
            <a:r>
              <a:rPr sz="1200" b="0" i="0">
                <a:solidFill>
                  <a:srgbClr val="475569"/>
                </a:solidFill>
                <a:latin typeface="Noto Sans JP"/>
              </a:rPr>
              <a:t>HEC+MC/CSPは7分超、MHEC/CSPは5分超 char遅延。火炎下で基材を長く保護</a:t>
            </a:r>
          </a:p>
        </p:txBody>
      </p:sp>
      <p:sp>
        <p:nvSpPr>
          <p:cNvPr id="15" name="Rounded Rectangle 14"/>
          <p:cNvSpPr/>
          <p:nvPr/>
        </p:nvSpPr>
        <p:spPr>
          <a:xfrm>
            <a:off x="3262807" y="859536"/>
            <a:ext cx="2769031" cy="2286000"/>
          </a:xfrm>
          <a:prstGeom prst="roundRect">
            <a:avLst>
              <a:gd name="adj" fmla="val 4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7399" y="1005840"/>
            <a:ext cx="2439847" cy="256032"/>
          </a:xfrm>
          <a:prstGeom prst="rect">
            <a:avLst/>
          </a:prstGeom>
          <a:noFill/>
        </p:spPr>
        <p:txBody>
          <a:bodyPr wrap="square" anchor="t" lIns="36000" rIns="36000" tIns="18000" bIns="18000">
            <a:spAutoFit/>
          </a:bodyPr>
          <a:lstStyle/>
          <a:p>
            <a:pPr algn="l"/>
            <a:r>
              <a:rPr sz="1000" b="1" i="0">
                <a:solidFill>
                  <a:srgbClr val="64748B"/>
                </a:solidFill>
                <a:latin typeface="Noto Sans JP"/>
              </a:rPr>
              <a:t>RESULT 02</a:t>
            </a:r>
          </a:p>
        </p:txBody>
      </p:sp>
      <p:sp>
        <p:nvSpPr>
          <p:cNvPr id="17" name="TextBox 16"/>
          <p:cNvSpPr txBox="1"/>
          <p:nvPr/>
        </p:nvSpPr>
        <p:spPr>
          <a:xfrm>
            <a:off x="3427399" y="1316736"/>
            <a:ext cx="548640"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18" name="TextBox 17"/>
          <p:cNvSpPr txBox="1"/>
          <p:nvPr/>
        </p:nvSpPr>
        <p:spPr>
          <a:xfrm>
            <a:off x="3427399" y="1865376"/>
            <a:ext cx="2439847" cy="411480"/>
          </a:xfrm>
          <a:prstGeom prst="rect">
            <a:avLst/>
          </a:prstGeom>
          <a:noFill/>
        </p:spPr>
        <p:txBody>
          <a:bodyPr wrap="square" anchor="t" lIns="36000" rIns="36000" tIns="18000" bIns="18000">
            <a:spAutoFit/>
          </a:bodyPr>
          <a:lstStyle/>
          <a:p>
            <a:pPr algn="l"/>
            <a:r>
              <a:rPr sz="1500" b="1" i="0">
                <a:solidFill>
                  <a:srgbClr val="1E293B"/>
                </a:solidFill>
                <a:latin typeface="Noto Sans JP"/>
              </a:rPr>
              <a:t>エアロゲルの自己形成</a:t>
            </a:r>
          </a:p>
        </p:txBody>
      </p:sp>
      <p:sp>
        <p:nvSpPr>
          <p:cNvPr id="19" name="TextBox 18"/>
          <p:cNvSpPr txBox="1"/>
          <p:nvPr/>
        </p:nvSpPr>
        <p:spPr>
          <a:xfrm>
            <a:off x="3427399" y="2368296"/>
            <a:ext cx="2439847" cy="640080"/>
          </a:xfrm>
          <a:prstGeom prst="rect">
            <a:avLst/>
          </a:prstGeom>
          <a:noFill/>
        </p:spPr>
        <p:txBody>
          <a:bodyPr wrap="square" anchor="t" lIns="36000" rIns="36000" tIns="18000" bIns="18000">
            <a:spAutoFit/>
          </a:bodyPr>
          <a:lstStyle/>
          <a:p>
            <a:pPr algn="l"/>
            <a:r>
              <a:rPr sz="1200" b="0" i="0">
                <a:solidFill>
                  <a:srgbClr val="475569"/>
                </a:solidFill>
                <a:latin typeface="Noto Sans JP"/>
              </a:rPr>
              <a:t>加熱で脱水・CSPが焼結 → in situで多孔質シリカエアロゲル断熱層を形成（乾燥後も保護継続）</a:t>
            </a:r>
          </a:p>
        </p:txBody>
      </p:sp>
      <p:sp>
        <p:nvSpPr>
          <p:cNvPr id="20" name="Rounded Rectangle 19"/>
          <p:cNvSpPr/>
          <p:nvPr/>
        </p:nvSpPr>
        <p:spPr>
          <a:xfrm>
            <a:off x="6159855" y="859536"/>
            <a:ext cx="2769031" cy="2286000"/>
          </a:xfrm>
          <a:prstGeom prst="roundRect">
            <a:avLst>
              <a:gd name="adj" fmla="val 4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4447" y="1005840"/>
            <a:ext cx="2439847" cy="256032"/>
          </a:xfrm>
          <a:prstGeom prst="rect">
            <a:avLst/>
          </a:prstGeom>
          <a:noFill/>
        </p:spPr>
        <p:txBody>
          <a:bodyPr wrap="square" anchor="t" lIns="36000" rIns="36000" tIns="18000" bIns="18000">
            <a:spAutoFit/>
          </a:bodyPr>
          <a:lstStyle/>
          <a:p>
            <a:pPr algn="l"/>
            <a:r>
              <a:rPr sz="1000" b="1" i="0">
                <a:solidFill>
                  <a:srgbClr val="64748B"/>
                </a:solidFill>
                <a:latin typeface="Noto Sans JP"/>
              </a:rPr>
              <a:t>RESULT 03</a:t>
            </a:r>
          </a:p>
        </p:txBody>
      </p:sp>
      <p:sp>
        <p:nvSpPr>
          <p:cNvPr id="22" name="TextBox 21"/>
          <p:cNvSpPr txBox="1"/>
          <p:nvPr/>
        </p:nvSpPr>
        <p:spPr>
          <a:xfrm>
            <a:off x="6324447" y="1316736"/>
            <a:ext cx="548640"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23" name="TextBox 22"/>
          <p:cNvSpPr txBox="1"/>
          <p:nvPr/>
        </p:nvSpPr>
        <p:spPr>
          <a:xfrm>
            <a:off x="6324447" y="1865376"/>
            <a:ext cx="2439847" cy="411480"/>
          </a:xfrm>
          <a:prstGeom prst="rect">
            <a:avLst/>
          </a:prstGeom>
          <a:noFill/>
        </p:spPr>
        <p:txBody>
          <a:bodyPr wrap="square" anchor="t" lIns="36000" rIns="36000" tIns="18000" bIns="18000">
            <a:spAutoFit/>
          </a:bodyPr>
          <a:lstStyle/>
          <a:p>
            <a:pPr algn="l"/>
            <a:r>
              <a:rPr sz="1500" b="1" i="0">
                <a:solidFill>
                  <a:srgbClr val="1E293B"/>
                </a:solidFill>
                <a:latin typeface="Noto Sans JP"/>
              </a:rPr>
              <a:t>既存散布インフラ互換</a:t>
            </a:r>
          </a:p>
        </p:txBody>
      </p:sp>
      <p:sp>
        <p:nvSpPr>
          <p:cNvPr id="24" name="TextBox 23"/>
          <p:cNvSpPr txBox="1"/>
          <p:nvPr/>
        </p:nvSpPr>
        <p:spPr>
          <a:xfrm>
            <a:off x="6324447" y="2368296"/>
            <a:ext cx="2439847" cy="640080"/>
          </a:xfrm>
          <a:prstGeom prst="rect">
            <a:avLst/>
          </a:prstGeom>
          <a:noFill/>
        </p:spPr>
        <p:txBody>
          <a:bodyPr wrap="square" anchor="t" lIns="36000" rIns="36000" tIns="18000" bIns="18000">
            <a:spAutoFit/>
          </a:bodyPr>
          <a:lstStyle/>
          <a:p>
            <a:pPr algn="l"/>
            <a:r>
              <a:rPr sz="1200" b="0" i="0">
                <a:solidFill>
                  <a:srgbClr val="475569"/>
                </a:solidFill>
                <a:latin typeface="Noto Sans JP"/>
              </a:rPr>
              <a:t>剪断希薄化を示す噴霧可能な流体。基材への高い付着性・濡れ性を両立</a:t>
            </a:r>
          </a:p>
        </p:txBody>
      </p:sp>
      <p:sp>
        <p:nvSpPr>
          <p:cNvPr id="25" name="Rounded Rectangle 24"/>
          <p:cNvSpPr/>
          <p:nvPr/>
        </p:nvSpPr>
        <p:spPr>
          <a:xfrm>
            <a:off x="9056903" y="859536"/>
            <a:ext cx="2769031" cy="2286000"/>
          </a:xfrm>
          <a:prstGeom prst="roundRect">
            <a:avLst>
              <a:gd name="adj" fmla="val 4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1495" y="1005840"/>
            <a:ext cx="2439847" cy="256032"/>
          </a:xfrm>
          <a:prstGeom prst="rect">
            <a:avLst/>
          </a:prstGeom>
          <a:noFill/>
        </p:spPr>
        <p:txBody>
          <a:bodyPr wrap="square" anchor="t" lIns="36000" rIns="36000" tIns="18000" bIns="18000">
            <a:spAutoFit/>
          </a:bodyPr>
          <a:lstStyle/>
          <a:p>
            <a:pPr algn="l"/>
            <a:r>
              <a:rPr sz="1000" b="1" i="0">
                <a:solidFill>
                  <a:srgbClr val="64748B"/>
                </a:solidFill>
                <a:latin typeface="Noto Sans JP"/>
              </a:rPr>
              <a:t>RESULT 04</a:t>
            </a:r>
          </a:p>
        </p:txBody>
      </p:sp>
      <p:sp>
        <p:nvSpPr>
          <p:cNvPr id="27" name="TextBox 26"/>
          <p:cNvSpPr txBox="1"/>
          <p:nvPr/>
        </p:nvSpPr>
        <p:spPr>
          <a:xfrm>
            <a:off x="9221495" y="1316736"/>
            <a:ext cx="548640" cy="457200"/>
          </a:xfrm>
          <a:prstGeom prst="rect">
            <a:avLst/>
          </a:prstGeom>
          <a:noFill/>
        </p:spPr>
        <p:txBody>
          <a:bodyPr wrap="square" anchor="t" lIns="36000" rIns="36000" tIns="18000" bIns="18000">
            <a:spAutoFit/>
          </a:bodyPr>
          <a:lstStyle/>
          <a:p>
            <a:pPr algn="l"/>
            <a:r>
              <a:rPr sz="2200" b="0" i="0">
                <a:solidFill>
                  <a:srgbClr val="3B5174"/>
                </a:solidFill>
                <a:latin typeface="Noto Sans JP"/>
              </a:rPr>
              <a:t>●</a:t>
            </a:r>
          </a:p>
        </p:txBody>
      </p:sp>
      <p:sp>
        <p:nvSpPr>
          <p:cNvPr id="28" name="TextBox 27"/>
          <p:cNvSpPr txBox="1"/>
          <p:nvPr/>
        </p:nvSpPr>
        <p:spPr>
          <a:xfrm>
            <a:off x="9221495" y="1865376"/>
            <a:ext cx="2439847" cy="411480"/>
          </a:xfrm>
          <a:prstGeom prst="rect">
            <a:avLst/>
          </a:prstGeom>
          <a:noFill/>
        </p:spPr>
        <p:txBody>
          <a:bodyPr wrap="square" anchor="t" lIns="36000" rIns="36000" tIns="18000" bIns="18000">
            <a:spAutoFit/>
          </a:bodyPr>
          <a:lstStyle/>
          <a:p>
            <a:pPr algn="l"/>
            <a:r>
              <a:rPr sz="1500" b="1" i="0">
                <a:solidFill>
                  <a:srgbClr val="1E293B"/>
                </a:solidFill>
                <a:latin typeface="Noto Sans JP"/>
              </a:rPr>
              <a:t>持続可能・安全な原料</a:t>
            </a:r>
          </a:p>
        </p:txBody>
      </p:sp>
      <p:sp>
        <p:nvSpPr>
          <p:cNvPr id="29" name="TextBox 28"/>
          <p:cNvSpPr txBox="1"/>
          <p:nvPr/>
        </p:nvSpPr>
        <p:spPr>
          <a:xfrm>
            <a:off x="9221495" y="2368296"/>
            <a:ext cx="2439847" cy="640080"/>
          </a:xfrm>
          <a:prstGeom prst="rect">
            <a:avLst/>
          </a:prstGeom>
          <a:noFill/>
        </p:spPr>
        <p:txBody>
          <a:bodyPr wrap="square" anchor="t" lIns="36000" rIns="36000" tIns="18000" bIns="18000">
            <a:spAutoFit/>
          </a:bodyPr>
          <a:lstStyle/>
          <a:p>
            <a:pPr algn="l"/>
            <a:r>
              <a:rPr sz="1200" b="0" i="0">
                <a:solidFill>
                  <a:srgbClr val="475569"/>
                </a:solidFill>
                <a:latin typeface="Noto Sans JP"/>
              </a:rPr>
              <a:t>地球上最も豊富なセルロース誘導体。前研究で生分解性を確認、シリカは無害</a:t>
            </a:r>
          </a:p>
        </p:txBody>
      </p:sp>
      <p:sp>
        <p:nvSpPr>
          <p:cNvPr id="30" name="Rounded Rectangle 29"/>
          <p:cNvSpPr/>
          <p:nvPr/>
        </p:nvSpPr>
        <p:spPr>
          <a:xfrm>
            <a:off x="365760" y="3374136"/>
            <a:ext cx="5638647" cy="182880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3374136"/>
            <a:ext cx="5638647"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538728"/>
            <a:ext cx="5272887"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核心メカニズム</a:t>
            </a:r>
          </a:p>
        </p:txBody>
      </p:sp>
      <p:sp>
        <p:nvSpPr>
          <p:cNvPr id="33" name="TextBox 32"/>
          <p:cNvSpPr txBox="1"/>
          <p:nvPr/>
        </p:nvSpPr>
        <p:spPr>
          <a:xfrm>
            <a:off x="548640" y="390448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4" name="TextBox 33"/>
          <p:cNvSpPr txBox="1"/>
          <p:nvPr/>
        </p:nvSpPr>
        <p:spPr>
          <a:xfrm>
            <a:off x="749808" y="390448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火炎接触で水が急速に蒸発・脱水</a:t>
            </a:r>
          </a:p>
        </p:txBody>
      </p:sp>
      <p:sp>
        <p:nvSpPr>
          <p:cNvPr id="35" name="TextBox 34"/>
          <p:cNvSpPr txBox="1"/>
          <p:nvPr/>
        </p:nvSpPr>
        <p:spPr>
          <a:xfrm>
            <a:off x="548640" y="417880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6" name="TextBox 35"/>
          <p:cNvSpPr txBox="1"/>
          <p:nvPr/>
        </p:nvSpPr>
        <p:spPr>
          <a:xfrm>
            <a:off x="749808" y="417880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CSPが焼結し粒子間ネックを形成</a:t>
            </a:r>
          </a:p>
        </p:txBody>
      </p:sp>
      <p:sp>
        <p:nvSpPr>
          <p:cNvPr id="37" name="TextBox 36"/>
          <p:cNvSpPr txBox="1"/>
          <p:nvPr/>
        </p:nvSpPr>
        <p:spPr>
          <a:xfrm>
            <a:off x="548640" y="445312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38" name="TextBox 37"/>
          <p:cNvSpPr txBox="1"/>
          <p:nvPr/>
        </p:nvSpPr>
        <p:spPr>
          <a:xfrm>
            <a:off x="749808" y="445312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多孔質シリカエアロゲル断熱層が完成</a:t>
            </a:r>
          </a:p>
        </p:txBody>
      </p:sp>
      <p:sp>
        <p:nvSpPr>
          <p:cNvPr id="39" name="Rounded Rectangle 38"/>
          <p:cNvSpPr/>
          <p:nvPr/>
        </p:nvSpPr>
        <p:spPr>
          <a:xfrm>
            <a:off x="6187287" y="3374136"/>
            <a:ext cx="5638647" cy="1828800"/>
          </a:xfrm>
          <a:prstGeom prst="roundRect">
            <a:avLst>
              <a:gd name="adj" fmla="val 4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87287" y="3374136"/>
            <a:ext cx="5638647" cy="36576"/>
          </a:xfrm>
          <a:prstGeom prst="rect">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0167" y="3538728"/>
            <a:ext cx="5272887" cy="329184"/>
          </a:xfrm>
          <a:prstGeom prst="rect">
            <a:avLst/>
          </a:prstGeom>
          <a:noFill/>
        </p:spPr>
        <p:txBody>
          <a:bodyPr wrap="square" anchor="t" lIns="36000" rIns="36000" tIns="18000" bIns="18000">
            <a:spAutoFit/>
          </a:bodyPr>
          <a:lstStyle/>
          <a:p>
            <a:pPr algn="l"/>
            <a:r>
              <a:rPr sz="1400" b="1" i="0">
                <a:solidFill>
                  <a:srgbClr val="1E293B"/>
                </a:solidFill>
                <a:latin typeface="Noto Sans JP"/>
              </a:rPr>
              <a:t>論文が示す意義</a:t>
            </a:r>
          </a:p>
        </p:txBody>
      </p:sp>
      <p:sp>
        <p:nvSpPr>
          <p:cNvPr id="42" name="TextBox 41"/>
          <p:cNvSpPr txBox="1"/>
          <p:nvPr/>
        </p:nvSpPr>
        <p:spPr>
          <a:xfrm>
            <a:off x="6370167" y="390448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3" name="TextBox 42"/>
          <p:cNvSpPr txBox="1"/>
          <p:nvPr/>
        </p:nvSpPr>
        <p:spPr>
          <a:xfrm>
            <a:off x="6571335" y="390448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PPプラットフォームは多様な難燃材料の基盤</a:t>
            </a:r>
          </a:p>
        </p:txBody>
      </p:sp>
      <p:sp>
        <p:nvSpPr>
          <p:cNvPr id="44" name="TextBox 43"/>
          <p:cNvSpPr txBox="1"/>
          <p:nvPr/>
        </p:nvSpPr>
        <p:spPr>
          <a:xfrm>
            <a:off x="6370167" y="417880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5" name="TextBox 44"/>
          <p:cNvSpPr txBox="1"/>
          <p:nvPr/>
        </p:nvSpPr>
        <p:spPr>
          <a:xfrm>
            <a:off x="6571335" y="417880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modular製造・大規模適用に展開可能</a:t>
            </a:r>
          </a:p>
        </p:txBody>
      </p:sp>
      <p:sp>
        <p:nvSpPr>
          <p:cNvPr id="46" name="TextBox 45"/>
          <p:cNvSpPr txBox="1"/>
          <p:nvPr/>
        </p:nvSpPr>
        <p:spPr>
          <a:xfrm>
            <a:off x="6370167" y="4453128"/>
            <a:ext cx="182880" cy="274320"/>
          </a:xfrm>
          <a:prstGeom prst="rect">
            <a:avLst/>
          </a:prstGeom>
          <a:noFill/>
        </p:spPr>
        <p:txBody>
          <a:bodyPr wrap="square" anchor="t" lIns="36000" rIns="36000" tIns="18000" bIns="18000">
            <a:spAutoFit/>
          </a:bodyPr>
          <a:lstStyle/>
          <a:p>
            <a:pPr algn="l"/>
            <a:r>
              <a:rPr sz="1200" b="0" i="0">
                <a:solidFill>
                  <a:srgbClr val="3B5174"/>
                </a:solidFill>
                <a:latin typeface="Noto Sans JP"/>
              </a:rPr>
              <a:t>•</a:t>
            </a:r>
          </a:p>
        </p:txBody>
      </p:sp>
      <p:sp>
        <p:nvSpPr>
          <p:cNvPr id="47" name="TextBox 46"/>
          <p:cNvSpPr txBox="1"/>
          <p:nvPr/>
        </p:nvSpPr>
        <p:spPr>
          <a:xfrm>
            <a:off x="6571335" y="4453128"/>
            <a:ext cx="5071719" cy="274320"/>
          </a:xfrm>
          <a:prstGeom prst="rect">
            <a:avLst/>
          </a:prstGeom>
          <a:noFill/>
        </p:spPr>
        <p:txBody>
          <a:bodyPr wrap="square" anchor="t" lIns="36000" rIns="36000" tIns="18000" bIns="18000">
            <a:spAutoFit/>
          </a:bodyPr>
          <a:lstStyle/>
          <a:p>
            <a:pPr algn="l"/>
            <a:r>
              <a:rPr sz="1200" b="0" i="0">
                <a:solidFill>
                  <a:srgbClr val="475569"/>
                </a:solidFill>
                <a:latin typeface="Noto Sans JP"/>
              </a:rPr>
              <a:t>455日経時後も難燃性を維持（MHEC/CSP）</a:t>
            </a:r>
          </a:p>
        </p:txBody>
      </p:sp>
      <p:sp>
        <p:nvSpPr>
          <p:cNvPr id="48" name="Rounded Rectangle 47"/>
          <p:cNvSpPr/>
          <p:nvPr/>
        </p:nvSpPr>
        <p:spPr>
          <a:xfrm>
            <a:off x="365760" y="5385816"/>
            <a:ext cx="11460175" cy="5029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65760" y="5385816"/>
            <a:ext cx="54864" cy="502920"/>
          </a:xfrm>
          <a:prstGeom prst="rect">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5385816"/>
            <a:ext cx="365760" cy="502920"/>
          </a:xfrm>
          <a:prstGeom prst="rect">
            <a:avLst/>
          </a:prstGeom>
          <a:noFill/>
        </p:spPr>
        <p:txBody>
          <a:bodyPr wrap="square" anchor="ctr" lIns="36000" rIns="36000" tIns="18000" bIns="18000">
            <a:spAutoFit/>
          </a:bodyPr>
          <a:lstStyle/>
          <a:p>
            <a:pPr algn="l"/>
            <a:r>
              <a:rPr sz="1400" b="0" i="0">
                <a:solidFill>
                  <a:srgbClr val="D4A574"/>
                </a:solidFill>
                <a:latin typeface="Noto Sans JP"/>
              </a:rPr>
              <a:t>"</a:t>
            </a:r>
          </a:p>
        </p:txBody>
      </p:sp>
      <p:sp>
        <p:nvSpPr>
          <p:cNvPr id="51" name="TextBox 50"/>
          <p:cNvSpPr txBox="1"/>
          <p:nvPr/>
        </p:nvSpPr>
        <p:spPr>
          <a:xfrm>
            <a:off x="960120" y="5385816"/>
            <a:ext cx="10774375" cy="502920"/>
          </a:xfrm>
          <a:prstGeom prst="rect">
            <a:avLst/>
          </a:prstGeom>
          <a:noFill/>
        </p:spPr>
        <p:txBody>
          <a:bodyPr wrap="square" anchor="ctr" lIns="36000" rIns="36000" tIns="18000" bIns="18000">
            <a:spAutoFit/>
          </a:bodyPr>
          <a:lstStyle/>
          <a:p>
            <a:pPr algn="l"/>
            <a:r>
              <a:rPr sz="1300" b="1" i="0">
                <a:solidFill>
                  <a:srgbClr val="FFFFFF"/>
                </a:solidFill>
                <a:latin typeface="Noto Sans JP"/>
              </a:rPr>
              <a:t>「水のキャリア」から「加熱で自己変態する難燃材料」へ ― 乾燥後も効力を保つ次世代WEG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822960"/>
            <a:ext cx="11247120" cy="457200"/>
          </a:xfrm>
          <a:prstGeom prst="rect">
            <a:avLst/>
          </a:prstGeom>
          <a:noFill/>
        </p:spPr>
        <p:txBody>
          <a:bodyPr wrap="square" anchor="t" lIns="36000" rIns="36000" tIns="18000" bIns="18000">
            <a:spAutoFit/>
          </a:bodyPr>
          <a:lstStyle/>
          <a:p>
            <a:pPr algn="ctr"/>
            <a:r>
              <a:rPr sz="1400" b="1" i="0">
                <a:solidFill>
                  <a:srgbClr val="88A4C0"/>
                </a:solidFill>
                <a:latin typeface="Noto Sans JP"/>
              </a:rPr>
              <a:t>RESEARCH IMPACT</a:t>
            </a:r>
          </a:p>
        </p:txBody>
      </p:sp>
      <p:sp>
        <p:nvSpPr>
          <p:cNvPr id="4" name="TextBox 3"/>
          <p:cNvSpPr txBox="1"/>
          <p:nvPr/>
        </p:nvSpPr>
        <p:spPr>
          <a:xfrm>
            <a:off x="457200" y="1371600"/>
            <a:ext cx="11247120" cy="1828800"/>
          </a:xfrm>
          <a:prstGeom prst="rect">
            <a:avLst/>
          </a:prstGeom>
          <a:noFill/>
        </p:spPr>
        <p:txBody>
          <a:bodyPr wrap="square" anchor="ctr" lIns="36000" rIns="36000" tIns="18000" bIns="18000">
            <a:spAutoFit/>
          </a:bodyPr>
          <a:lstStyle/>
          <a:p>
            <a:pPr algn="ctr"/>
            <a:r>
              <a:rPr sz="10000" b="1" i="0">
                <a:solidFill>
                  <a:srgbClr val="D4A574"/>
                </a:solidFill>
                <a:latin typeface="Noto Sans JP"/>
              </a:rPr>
              <a:t>3–6</a:t>
            </a:r>
            <a:r>
              <a:rPr sz="6500" b="1" i="0">
                <a:solidFill>
                  <a:srgbClr val="C89A68"/>
                </a:solidFill>
                <a:latin typeface="Noto Sans JP"/>
              </a:rPr>
              <a:t>×</a:t>
            </a:r>
          </a:p>
        </p:txBody>
      </p:sp>
      <p:sp>
        <p:nvSpPr>
          <p:cNvPr id="5" name="TextBox 4"/>
          <p:cNvSpPr txBox="1"/>
          <p:nvPr/>
        </p:nvSpPr>
        <p:spPr>
          <a:xfrm>
            <a:off x="457200" y="3291840"/>
            <a:ext cx="11247120" cy="457200"/>
          </a:xfrm>
          <a:prstGeom prst="rect">
            <a:avLst/>
          </a:prstGeom>
          <a:noFill/>
        </p:spPr>
        <p:txBody>
          <a:bodyPr wrap="square" anchor="t" lIns="36000" rIns="36000" tIns="18000" bIns="18000">
            <a:spAutoFit/>
          </a:bodyPr>
          <a:lstStyle/>
          <a:p>
            <a:pPr algn="ctr"/>
            <a:r>
              <a:rPr sz="2200" b="1" i="0">
                <a:solidFill>
                  <a:srgbClr val="FFFFFF"/>
                </a:solidFill>
                <a:latin typeface="Noto Sans JP"/>
              </a:rPr>
              <a:t>市販WEG（AquaGel-K）比 Time to char 向上率</a:t>
            </a:r>
          </a:p>
        </p:txBody>
      </p:sp>
      <p:sp>
        <p:nvSpPr>
          <p:cNvPr id="6" name="TextBox 5"/>
          <p:cNvSpPr txBox="1"/>
          <p:nvPr/>
        </p:nvSpPr>
        <p:spPr>
          <a:xfrm>
            <a:off x="1371600" y="3886200"/>
            <a:ext cx="9418320" cy="1280160"/>
          </a:xfrm>
          <a:prstGeom prst="rect">
            <a:avLst/>
          </a:prstGeom>
          <a:noFill/>
        </p:spPr>
        <p:txBody>
          <a:bodyPr wrap="square" anchor="t" lIns="36000" rIns="36000" tIns="18000" bIns="18000">
            <a:spAutoFit/>
          </a:bodyPr>
          <a:lstStyle/>
          <a:p>
            <a:pPr algn="ctr"/>
            <a:r>
              <a:rPr sz="1500" b="0" i="0">
                <a:solidFill>
                  <a:srgbClr val="A8BCD4"/>
                </a:solidFill>
                <a:latin typeface="Noto Sans JP"/>
              </a:rPr>
              <a:t>「水のキャリア」から「自己変態する難燃材料」へ</a:t>
            </a:r>
          </a:p>
          <a:p>
            <a:pPr algn="ctr"/>
            <a:r>
              <a:rPr sz="1500" b="0" i="0">
                <a:solidFill>
                  <a:srgbClr val="A8BCD4"/>
                </a:solidFill>
                <a:latin typeface="Noto Sans JP"/>
              </a:rPr>
              <a:t>WEGの新しい設計パラダイムは山火事から重要インフラを守る実用技術への道を開く</a:t>
            </a:r>
          </a:p>
        </p:txBody>
      </p:sp>
      <p:sp>
        <p:nvSpPr>
          <p:cNvPr id="7" name="TextBox 6"/>
          <p:cNvSpPr txBox="1"/>
          <p:nvPr/>
        </p:nvSpPr>
        <p:spPr>
          <a:xfrm>
            <a:off x="2743200" y="5486400"/>
            <a:ext cx="1828800" cy="256032"/>
          </a:xfrm>
          <a:prstGeom prst="rect">
            <a:avLst/>
          </a:prstGeom>
          <a:noFill/>
        </p:spPr>
        <p:txBody>
          <a:bodyPr wrap="square" anchor="ctr" lIns="36000" rIns="36000" tIns="18000" bIns="18000">
            <a:spAutoFit/>
          </a:bodyPr>
          <a:lstStyle/>
          <a:p>
            <a:pPr algn="r"/>
            <a:r>
              <a:rPr sz="1100" b="0" i="0">
                <a:solidFill>
                  <a:srgbClr val="C0D0E0"/>
                </a:solidFill>
                <a:latin typeface="Noto Sans JP"/>
              </a:rPr>
              <a:t>Time to char</a:t>
            </a:r>
          </a:p>
        </p:txBody>
      </p:sp>
      <p:sp>
        <p:nvSpPr>
          <p:cNvPr id="8" name="Rounded Rectangle 7"/>
          <p:cNvSpPr/>
          <p:nvPr/>
        </p:nvSpPr>
        <p:spPr>
          <a:xfrm>
            <a:off x="4663440" y="5522976"/>
            <a:ext cx="4754880" cy="146304"/>
          </a:xfrm>
          <a:prstGeom prst="roundRect">
            <a:avLst>
              <a:gd name="adj" fmla="val 50000"/>
            </a:avLst>
          </a:prstGeom>
          <a:solidFill>
            <a:srgbClr val="2C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63440" y="5522976"/>
            <a:ext cx="4517136" cy="146304"/>
          </a:xfrm>
          <a:prstGeom prst="roundRect">
            <a:avLst>
              <a:gd name="adj" fmla="val 50000"/>
            </a:avLst>
          </a:prstGeom>
          <a:solidFill>
            <a:srgbClr val="D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55480" y="5486400"/>
            <a:ext cx="914400" cy="256032"/>
          </a:xfrm>
          <a:prstGeom prst="rect">
            <a:avLst/>
          </a:prstGeom>
          <a:noFill/>
        </p:spPr>
        <p:txBody>
          <a:bodyPr wrap="square" anchor="ctr" lIns="36000" rIns="36000" tIns="18000" bIns="18000">
            <a:spAutoFit/>
          </a:bodyPr>
          <a:lstStyle/>
          <a:p>
            <a:pPr algn="l"/>
            <a:r>
              <a:rPr sz="1100" b="1" i="0">
                <a:solidFill>
                  <a:srgbClr val="C0D0E0"/>
                </a:solidFill>
                <a:latin typeface="Noto Sans JP"/>
              </a:rPr>
              <a:t>&gt;7 min</a:t>
            </a:r>
          </a:p>
        </p:txBody>
      </p:sp>
      <p:sp>
        <p:nvSpPr>
          <p:cNvPr id="11" name="TextBox 10"/>
          <p:cNvSpPr txBox="1"/>
          <p:nvPr/>
        </p:nvSpPr>
        <p:spPr>
          <a:xfrm>
            <a:off x="2743200" y="5779008"/>
            <a:ext cx="1828800" cy="256032"/>
          </a:xfrm>
          <a:prstGeom prst="rect">
            <a:avLst/>
          </a:prstGeom>
          <a:noFill/>
        </p:spPr>
        <p:txBody>
          <a:bodyPr wrap="square" anchor="ctr" lIns="36000" rIns="36000" tIns="18000" bIns="18000">
            <a:spAutoFit/>
          </a:bodyPr>
          <a:lstStyle/>
          <a:p>
            <a:pPr algn="r"/>
            <a:r>
              <a:rPr sz="1100" b="0" i="0">
                <a:solidFill>
                  <a:srgbClr val="C0D0E0"/>
                </a:solidFill>
                <a:latin typeface="Noto Sans JP"/>
              </a:rPr>
              <a:t>Foaming Index</a:t>
            </a:r>
          </a:p>
        </p:txBody>
      </p:sp>
      <p:sp>
        <p:nvSpPr>
          <p:cNvPr id="12" name="Rounded Rectangle 11"/>
          <p:cNvSpPr/>
          <p:nvPr/>
        </p:nvSpPr>
        <p:spPr>
          <a:xfrm>
            <a:off x="4663440" y="5815584"/>
            <a:ext cx="4754880" cy="146304"/>
          </a:xfrm>
          <a:prstGeom prst="roundRect">
            <a:avLst>
              <a:gd name="adj" fmla="val 50000"/>
            </a:avLst>
          </a:prstGeom>
          <a:solidFill>
            <a:srgbClr val="2C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5815584"/>
            <a:ext cx="3233318" cy="146304"/>
          </a:xfrm>
          <a:prstGeom prst="roundRect">
            <a:avLst>
              <a:gd name="adj" fmla="val 50000"/>
            </a:avLst>
          </a:prstGeom>
          <a:solidFill>
            <a:srgbClr val="3B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55480" y="5779008"/>
            <a:ext cx="914400" cy="256032"/>
          </a:xfrm>
          <a:prstGeom prst="rect">
            <a:avLst/>
          </a:prstGeom>
          <a:noFill/>
        </p:spPr>
        <p:txBody>
          <a:bodyPr wrap="square" anchor="ctr" lIns="36000" rIns="36000" tIns="18000" bIns="18000">
            <a:spAutoFit/>
          </a:bodyPr>
          <a:lstStyle/>
          <a:p>
            <a:pPr algn="l"/>
            <a:r>
              <a:rPr sz="1100" b="1" i="0">
                <a:solidFill>
                  <a:srgbClr val="C0D0E0"/>
                </a:solidFill>
                <a:latin typeface="Noto Sans JP"/>
              </a:rPr>
              <a:t>≈2.6×</a:t>
            </a:r>
          </a:p>
        </p:txBody>
      </p:sp>
      <p:sp>
        <p:nvSpPr>
          <p:cNvPr id="15" name="TextBox 14"/>
          <p:cNvSpPr txBox="1"/>
          <p:nvPr/>
        </p:nvSpPr>
        <p:spPr>
          <a:xfrm>
            <a:off x="2743200" y="6071616"/>
            <a:ext cx="1828800" cy="256032"/>
          </a:xfrm>
          <a:prstGeom prst="rect">
            <a:avLst/>
          </a:prstGeom>
          <a:noFill/>
        </p:spPr>
        <p:txBody>
          <a:bodyPr wrap="square" anchor="ctr" lIns="36000" rIns="36000" tIns="18000" bIns="18000">
            <a:spAutoFit/>
          </a:bodyPr>
          <a:lstStyle/>
          <a:p>
            <a:pPr algn="r"/>
            <a:r>
              <a:rPr sz="1100" b="0" i="0">
                <a:solidFill>
                  <a:srgbClr val="C0D0E0"/>
                </a:solidFill>
                <a:latin typeface="Noto Sans JP"/>
              </a:rPr>
              <a:t>Shear-thinning</a:t>
            </a:r>
          </a:p>
        </p:txBody>
      </p:sp>
      <p:sp>
        <p:nvSpPr>
          <p:cNvPr id="16" name="Rounded Rectangle 15"/>
          <p:cNvSpPr/>
          <p:nvPr/>
        </p:nvSpPr>
        <p:spPr>
          <a:xfrm>
            <a:off x="4663440" y="6108192"/>
            <a:ext cx="4754880" cy="146304"/>
          </a:xfrm>
          <a:prstGeom prst="roundRect">
            <a:avLst>
              <a:gd name="adj" fmla="val 50000"/>
            </a:avLst>
          </a:prstGeom>
          <a:solidFill>
            <a:srgbClr val="2C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63440" y="6108192"/>
            <a:ext cx="2852928" cy="146304"/>
          </a:xfrm>
          <a:prstGeom prst="roundRect">
            <a:avLst>
              <a:gd name="adj" fmla="val 50000"/>
            </a:avLst>
          </a:prstGeom>
          <a:solidFill>
            <a:srgbClr val="AAB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55480" y="6071616"/>
            <a:ext cx="914400" cy="256032"/>
          </a:xfrm>
          <a:prstGeom prst="rect">
            <a:avLst/>
          </a:prstGeom>
          <a:noFill/>
        </p:spPr>
        <p:txBody>
          <a:bodyPr wrap="square" anchor="ctr" lIns="36000" rIns="36000" tIns="18000" bIns="18000">
            <a:spAutoFit/>
          </a:bodyPr>
          <a:lstStyle/>
          <a:p>
            <a:pPr algn="l"/>
            <a:r>
              <a:rPr sz="1100" b="1" i="0">
                <a:solidFill>
                  <a:srgbClr val="C0D0E0"/>
                </a:solidFill>
                <a:latin typeface="Noto Sans JP"/>
              </a:rPr>
              <a:t>n &lt; 1</a:t>
            </a:r>
          </a:p>
        </p:txBody>
      </p:sp>
      <p:sp>
        <p:nvSpPr>
          <p:cNvPr id="19" name="TextBox 18"/>
          <p:cNvSpPr txBox="1"/>
          <p:nvPr/>
        </p:nvSpPr>
        <p:spPr>
          <a:xfrm>
            <a:off x="10911535" y="6528816"/>
            <a:ext cx="1097280" cy="237744"/>
          </a:xfrm>
          <a:prstGeom prst="rect">
            <a:avLst/>
          </a:prstGeom>
          <a:noFill/>
        </p:spPr>
        <p:txBody>
          <a:bodyPr wrap="square" anchor="t" lIns="36000" rIns="36000" tIns="18000" bIns="18000">
            <a:spAutoFit/>
          </a:bodyPr>
          <a:lstStyle/>
          <a:p>
            <a:pPr algn="r"/>
            <a:r>
              <a:rPr sz="1000" b="0" i="0">
                <a:solidFill>
                  <a:srgbClr val="556677"/>
                </a:solidFill>
                <a:latin typeface="Noto Sans JP"/>
              </a:rPr>
              <a:t>36 /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