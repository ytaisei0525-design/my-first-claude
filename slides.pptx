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36</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9–14</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16–33</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35–36</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36</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気候変動・干ばつが主要因</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乾燥・強風期間の長期化により、</a:t>
            </a:r>
          </a:p>
          <a:p>
            <a:pPr algn="l"/>
            <a:r>
              <a:rPr sz="1200" b="0" i="1">
                <a:solidFill>
                  <a:srgbClr val="475569"/>
                </a:solidFill>
                <a:latin typeface="Noto Sans JP"/>
              </a:rPr>
              <a:t>従来の消火・防火戦略だけでは対応が困難</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36</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既存の山火事対策と、その本質的な限界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36</a:t>
            </a:r>
          </a:p>
        </p:txBody>
      </p:sp>
      <p:sp>
        <p:nvSpPr>
          <p:cNvPr id="10" name="Rounded Rectangle 9"/>
          <p:cNvSpPr/>
          <p:nvPr/>
        </p:nvSpPr>
        <p:spPr>
          <a:xfrm>
            <a:off x="365760"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5488"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14" name="TextBox 13"/>
          <p:cNvSpPr txBox="1"/>
          <p:nvPr/>
        </p:nvSpPr>
        <p:spPr>
          <a:xfrm>
            <a:off x="457200"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水のみ</a:t>
            </a:r>
          </a:p>
        </p:txBody>
      </p:sp>
      <p:sp>
        <p:nvSpPr>
          <p:cNvPr id="15" name="TextBox 14"/>
          <p:cNvSpPr txBox="1"/>
          <p:nvPr/>
        </p:nvSpPr>
        <p:spPr>
          <a:xfrm>
            <a:off x="457200"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H₂O</a:t>
            </a:r>
          </a:p>
        </p:txBody>
      </p:sp>
      <p:sp>
        <p:nvSpPr>
          <p:cNvPr id="16" name="TextBox 15"/>
          <p:cNvSpPr txBox="1"/>
          <p:nvPr/>
        </p:nvSpPr>
        <p:spPr>
          <a:xfrm>
            <a:off x="457200"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蒸発・流失で</a:t>
            </a:r>
          </a:p>
          <a:p>
            <a:pPr algn="ctr"/>
            <a:r>
              <a:rPr sz="1200" b="0" i="0">
                <a:solidFill>
                  <a:srgbClr val="A05656"/>
                </a:solidFill>
                <a:latin typeface="Noto Sans JP"/>
              </a:rPr>
              <a:t>即座に効果消失</a:t>
            </a:r>
          </a:p>
        </p:txBody>
      </p:sp>
      <p:sp>
        <p:nvSpPr>
          <p:cNvPr id="17" name="Rounded Rectangle 16"/>
          <p:cNvSpPr/>
          <p:nvPr/>
        </p:nvSpPr>
        <p:spPr>
          <a:xfrm>
            <a:off x="3271951"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71951"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81679"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81679"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21" name="TextBox 20"/>
          <p:cNvSpPr txBox="1"/>
          <p:nvPr/>
        </p:nvSpPr>
        <p:spPr>
          <a:xfrm>
            <a:off x="3363391"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Phos-Chek</a:t>
            </a:r>
          </a:p>
        </p:txBody>
      </p:sp>
      <p:sp>
        <p:nvSpPr>
          <p:cNvPr id="22" name="TextBox 21"/>
          <p:cNvSpPr txBox="1"/>
          <p:nvPr/>
        </p:nvSpPr>
        <p:spPr>
          <a:xfrm>
            <a:off x="3363391"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リン酸アンモニウム</a:t>
            </a:r>
          </a:p>
        </p:txBody>
      </p:sp>
      <p:sp>
        <p:nvSpPr>
          <p:cNvPr id="23" name="TextBox 22"/>
          <p:cNvSpPr txBox="1"/>
          <p:nvPr/>
        </p:nvSpPr>
        <p:spPr>
          <a:xfrm>
            <a:off x="3363391"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土壌・水系への</a:t>
            </a:r>
          </a:p>
          <a:p>
            <a:pPr algn="ctr"/>
            <a:r>
              <a:rPr sz="1200" b="0" i="0">
                <a:solidFill>
                  <a:srgbClr val="A05656"/>
                </a:solidFill>
                <a:latin typeface="Noto Sans JP"/>
              </a:rPr>
              <a:t>化学汚染が残留</a:t>
            </a:r>
          </a:p>
        </p:txBody>
      </p:sp>
      <p:sp>
        <p:nvSpPr>
          <p:cNvPr id="24" name="Rounded Rectangle 23"/>
          <p:cNvSpPr/>
          <p:nvPr/>
        </p:nvSpPr>
        <p:spPr>
          <a:xfrm>
            <a:off x="6178143"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78143"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87871"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7871"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28" name="TextBox 27"/>
          <p:cNvSpPr txBox="1"/>
          <p:nvPr/>
        </p:nvSpPr>
        <p:spPr>
          <a:xfrm>
            <a:off x="6269583"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AquaGel-K</a:t>
            </a:r>
          </a:p>
        </p:txBody>
      </p:sp>
      <p:sp>
        <p:nvSpPr>
          <p:cNvPr id="29" name="TextBox 28"/>
          <p:cNvSpPr txBox="1"/>
          <p:nvPr/>
        </p:nvSpPr>
        <p:spPr>
          <a:xfrm>
            <a:off x="6269583"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架橋ポリアクリレート</a:t>
            </a:r>
          </a:p>
        </p:txBody>
      </p:sp>
      <p:sp>
        <p:nvSpPr>
          <p:cNvPr id="30" name="TextBox 29"/>
          <p:cNvSpPr txBox="1"/>
          <p:nvPr/>
        </p:nvSpPr>
        <p:spPr>
          <a:xfrm>
            <a:off x="6269583"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水蒸発と同時に</a:t>
            </a:r>
          </a:p>
          <a:p>
            <a:pPr algn="ctr"/>
            <a:r>
              <a:rPr sz="1200" b="0" i="0">
                <a:solidFill>
                  <a:srgbClr val="A05656"/>
                </a:solidFill>
                <a:latin typeface="Noto Sans JP"/>
              </a:rPr>
              <a:t>保護機能が消失</a:t>
            </a:r>
          </a:p>
        </p:txBody>
      </p:sp>
      <p:sp>
        <p:nvSpPr>
          <p:cNvPr id="31" name="Rounded Rectangle 30"/>
          <p:cNvSpPr/>
          <p:nvPr/>
        </p:nvSpPr>
        <p:spPr>
          <a:xfrm>
            <a:off x="9084335" y="859536"/>
            <a:ext cx="2741599" cy="5248656"/>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84335" y="859536"/>
            <a:ext cx="2741599" cy="3657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194063" y="969264"/>
            <a:ext cx="2522143" cy="2514600"/>
          </a:xfrm>
          <a:prstGeom prst="roundRect">
            <a:avLst>
              <a:gd name="adj" fmla="val 3000"/>
            </a:avLst>
          </a:prstGeom>
          <a:solidFill>
            <a:srgbClr val="2A3C54"/>
          </a:solidFill>
          <a:ln w="8890">
            <a:solidFill>
              <a:srgbClr val="445E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94063" y="969264"/>
            <a:ext cx="2522143" cy="2514600"/>
          </a:xfrm>
          <a:prstGeom prst="rect">
            <a:avLst/>
          </a:prstGeom>
          <a:noFill/>
        </p:spPr>
        <p:txBody>
          <a:bodyPr wrap="square" anchor="ctr" lIns="36000" rIns="36000" tIns="18000" bIns="18000">
            <a:spAutoFit/>
          </a:bodyPr>
          <a:lstStyle/>
          <a:p>
            <a:pPr algn="ctr"/>
            <a:r>
              <a:rPr sz="1100" b="0" i="0">
                <a:solidFill>
                  <a:srgbClr val="88A0B8"/>
                </a:solidFill>
                <a:latin typeface="Noto Sans JP"/>
              </a:rPr>
              <a:t>（写真）</a:t>
            </a:r>
          </a:p>
        </p:txBody>
      </p:sp>
      <p:sp>
        <p:nvSpPr>
          <p:cNvPr id="35" name="TextBox 34"/>
          <p:cNvSpPr txBox="1"/>
          <p:nvPr/>
        </p:nvSpPr>
        <p:spPr>
          <a:xfrm>
            <a:off x="9175775" y="3611880"/>
            <a:ext cx="2558719" cy="310896"/>
          </a:xfrm>
          <a:prstGeom prst="rect">
            <a:avLst/>
          </a:prstGeom>
          <a:noFill/>
        </p:spPr>
        <p:txBody>
          <a:bodyPr wrap="square" anchor="t" lIns="36000" rIns="36000" tIns="18000" bIns="18000">
            <a:spAutoFit/>
          </a:bodyPr>
          <a:lstStyle/>
          <a:p>
            <a:pPr algn="ctr"/>
            <a:r>
              <a:rPr sz="1400" b="1" i="0">
                <a:solidFill>
                  <a:srgbClr val="FFFFFF"/>
                </a:solidFill>
                <a:latin typeface="Noto Sans JP"/>
              </a:rPr>
              <a:t>WEG（本研究）</a:t>
            </a:r>
          </a:p>
        </p:txBody>
      </p:sp>
      <p:sp>
        <p:nvSpPr>
          <p:cNvPr id="36" name="TextBox 35"/>
          <p:cNvSpPr txBox="1"/>
          <p:nvPr/>
        </p:nvSpPr>
        <p:spPr>
          <a:xfrm>
            <a:off x="9175775" y="3922776"/>
            <a:ext cx="2558719" cy="237744"/>
          </a:xfrm>
          <a:prstGeom prst="rect">
            <a:avLst/>
          </a:prstGeom>
          <a:noFill/>
        </p:spPr>
        <p:txBody>
          <a:bodyPr wrap="square" anchor="t" lIns="36000" rIns="36000" tIns="18000" bIns="18000">
            <a:spAutoFit/>
          </a:bodyPr>
          <a:lstStyle/>
          <a:p>
            <a:pPr algn="ctr"/>
            <a:r>
              <a:rPr sz="1000" b="0" i="0">
                <a:solidFill>
                  <a:srgbClr val="A0B8D0"/>
                </a:solidFill>
                <a:latin typeface="Noto Sans JP"/>
              </a:rPr>
              <a:t>セルロース＋シリカ</a:t>
            </a:r>
          </a:p>
        </p:txBody>
      </p:sp>
      <p:sp>
        <p:nvSpPr>
          <p:cNvPr id="37" name="TextBox 36"/>
          <p:cNvSpPr txBox="1"/>
          <p:nvPr/>
        </p:nvSpPr>
        <p:spPr>
          <a:xfrm>
            <a:off x="9175775" y="4197096"/>
            <a:ext cx="2558719" cy="1837944"/>
          </a:xfrm>
          <a:prstGeom prst="rect">
            <a:avLst/>
          </a:prstGeom>
          <a:noFill/>
        </p:spPr>
        <p:txBody>
          <a:bodyPr wrap="square" anchor="t" lIns="36000" rIns="36000" tIns="18000" bIns="18000">
            <a:spAutoFit/>
          </a:bodyPr>
          <a:lstStyle/>
          <a:p>
            <a:pPr algn="ctr"/>
            <a:r>
              <a:rPr sz="1200" b="1" i="0">
                <a:solidFill>
                  <a:srgbClr val="5B8C5A"/>
                </a:solidFill>
                <a:latin typeface="Noto Sans JP"/>
              </a:rPr>
              <a:t>水蒸発後も</a:t>
            </a:r>
          </a:p>
          <a:p>
            <a:pPr algn="ctr"/>
            <a:r>
              <a:rPr sz="1200" b="1" i="0">
                <a:solidFill>
                  <a:srgbClr val="5B8C5A"/>
                </a:solidFill>
                <a:latin typeface="Noto Sans JP"/>
              </a:rPr>
              <a:t>エアロゲル層が継続保護</a:t>
            </a:r>
          </a:p>
        </p:txBody>
      </p:sp>
      <p:sp>
        <p:nvSpPr>
          <p:cNvPr id="38" name="Rectangle 37"/>
          <p:cNvSpPr/>
          <p:nvPr/>
        </p:nvSpPr>
        <p:spPr>
          <a:xfrm>
            <a:off x="365760" y="6236208"/>
            <a:ext cx="114601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345936"/>
            <a:ext cx="11460175" cy="329184"/>
          </a:xfrm>
          <a:prstGeom prst="rect">
            <a:avLst/>
          </a:prstGeom>
          <a:noFill/>
        </p:spPr>
        <p:txBody>
          <a:bodyPr wrap="square" anchor="t" lIns="36000" rIns="36000" tIns="18000" bIns="18000">
            <a:spAutoFit/>
          </a:bodyPr>
          <a:lstStyle/>
          <a:p>
            <a:pPr algn="ctr"/>
            <a:r>
              <a:rPr sz="1300" b="1" i="0">
                <a:solidFill>
                  <a:srgbClr val="1E293B"/>
                </a:solidFill>
                <a:latin typeface="Noto Sans JP"/>
              </a:rPr>
              <a:t>課題：既存WEGは「水のキャリア」止まり ─ 水分喪失と同時に保護機能が失われる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36</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水分依存からの脱却</a:t>
            </a:r>
          </a:p>
        </p:txBody>
      </p:sp>
      <p:sp>
        <p:nvSpPr>
          <p:cNvPr id="17" name="TextBox 16"/>
          <p:cNvSpPr txBox="1"/>
          <p:nvPr/>
        </p:nvSpPr>
        <p:spPr>
          <a:xfrm>
            <a:off x="786384" y="27066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熱で活性化する固体保護層を形成</a:t>
            </a:r>
          </a:p>
        </p:txBody>
      </p:sp>
      <p:sp>
        <p:nvSpPr>
          <p:cNvPr id="18" name="TextBox 17"/>
          <p:cNvSpPr txBox="1"/>
          <p:nvPr/>
        </p:nvSpPr>
        <p:spPr>
          <a:xfrm>
            <a:off x="365760" y="31363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1363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持続可能な素材</a:t>
            </a:r>
          </a:p>
        </p:txBody>
      </p:sp>
      <p:sp>
        <p:nvSpPr>
          <p:cNvPr id="20" name="TextBox 19"/>
          <p:cNvSpPr txBox="1"/>
          <p:nvPr/>
        </p:nvSpPr>
        <p:spPr>
          <a:xfrm>
            <a:off x="786384" y="33924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天然由来・食品添加物グレード素材</a:t>
            </a:r>
          </a:p>
        </p:txBody>
      </p:sp>
      <p:sp>
        <p:nvSpPr>
          <p:cNvPr id="21" name="TextBox 20"/>
          <p:cNvSpPr txBox="1"/>
          <p:nvPr/>
        </p:nvSpPr>
        <p:spPr>
          <a:xfrm>
            <a:off x="365760" y="38221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8221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既存インフラと互換</a:t>
            </a:r>
          </a:p>
        </p:txBody>
      </p:sp>
      <p:sp>
        <p:nvSpPr>
          <p:cNvPr id="23" name="TextBox 22"/>
          <p:cNvSpPr txBox="1"/>
          <p:nvPr/>
        </p:nvSpPr>
        <p:spPr>
          <a:xfrm>
            <a:off x="786384" y="40782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噴霧可能な流体として散布可能</a:t>
            </a:r>
          </a:p>
        </p:txBody>
      </p:sp>
      <p:sp>
        <p:nvSpPr>
          <p:cNvPr id="24" name="Rounded Rectangle 23"/>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27" name="TextBox 26"/>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29" name="Rounded Rectangle 28"/>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5" name="Rounded Rectangle 34"/>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8" name="TextBox 37"/>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9" name="TextBox 38"/>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0" name="TextBox 39"/>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36</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メチルセルロース(MC)の熱ゲル化：火炎保護の鍵となる特性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36</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MCゾル（室温）→ ゲル（加熱後）の外観比較</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LCST</a:t>
            </a:r>
          </a:p>
        </p:txBody>
      </p:sp>
      <p:sp>
        <p:nvSpPr>
          <p:cNvPr id="17" name="TextBox 16"/>
          <p:cNvSpPr txBox="1"/>
          <p:nvPr/>
        </p:nvSpPr>
        <p:spPr>
          <a:xfrm>
            <a:off x="1207008" y="367588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~55°C でゲル化開始（1 wt% 水溶液）</a:t>
            </a:r>
          </a:p>
        </p:txBody>
      </p:sp>
      <p:sp>
        <p:nvSpPr>
          <p:cNvPr id="18" name="TextBox 17"/>
          <p:cNvSpPr txBox="1"/>
          <p:nvPr/>
        </p:nvSpPr>
        <p:spPr>
          <a:xfrm>
            <a:off x="365760" y="404164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熱分解</a:t>
            </a:r>
          </a:p>
        </p:txBody>
      </p:sp>
      <p:sp>
        <p:nvSpPr>
          <p:cNvPr id="19" name="TextBox 18"/>
          <p:cNvSpPr txBox="1"/>
          <p:nvPr/>
        </p:nvSpPr>
        <p:spPr>
          <a:xfrm>
            <a:off x="1207008" y="404164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~300°C で有機成分が分解</a:t>
            </a:r>
          </a:p>
        </p:txBody>
      </p:sp>
      <p:sp>
        <p:nvSpPr>
          <p:cNvPr id="20" name="TextBox 19"/>
          <p:cNvSpPr txBox="1"/>
          <p:nvPr/>
        </p:nvSpPr>
        <p:spPr>
          <a:xfrm>
            <a:off x="365760" y="440740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設計意図</a:t>
            </a:r>
          </a:p>
        </p:txBody>
      </p:sp>
      <p:sp>
        <p:nvSpPr>
          <p:cNvPr id="21" name="TextBox 20"/>
          <p:cNvSpPr txBox="1"/>
          <p:nvPr/>
        </p:nvSpPr>
        <p:spPr>
          <a:xfrm>
            <a:off x="1207008" y="440740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常温では液体、火炎接触で即ゲル → CSPを固定</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LCST（ゲル化開始）</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~55°C</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 wt% MC水溶液</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熱分解温度</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~300°C</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TGA測定</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CSP焼結開始</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~200°C</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粒子間ネック形成</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温度別プロセス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~55°C</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MCゲル化</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構造を固定</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~100°C</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水分蒸発</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発泡・膨張</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~200°C</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CSP焼結</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粒界形成</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&gt;300°C</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有機分解</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純シリカ層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36</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36</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36</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36</a:t>
            </a:r>
          </a:p>
        </p:txBody>
      </p:sp>
      <p:sp>
        <p:nvSpPr>
          <p:cNvPr id="10" name="Rounded Rectangle 9"/>
          <p:cNvSpPr/>
          <p:nvPr/>
        </p:nvSpPr>
        <p:spPr>
          <a:xfrm>
            <a:off x="36576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木材上での接触角</a:t>
            </a:r>
          </a:p>
        </p:txBody>
      </p:sp>
      <p:sp>
        <p:nvSpPr>
          <p:cNvPr id="15" name="TextBox 14"/>
          <p:cNvSpPr txBox="1"/>
          <p:nvPr/>
        </p:nvSpPr>
        <p:spPr>
          <a:xfrm>
            <a:off x="36576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6" name="TextBox 15"/>
          <p:cNvSpPr txBox="1"/>
          <p:nvPr/>
        </p:nvSpPr>
        <p:spPr>
          <a:xfrm>
            <a:off x="36576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接触角測定</a:t>
            </a:r>
          </a:p>
        </p:txBody>
      </p:sp>
      <p:sp>
        <p:nvSpPr>
          <p:cNvPr id="17" name="TextBox 16"/>
          <p:cNvSpPr txBox="1"/>
          <p:nvPr/>
        </p:nvSpPr>
        <p:spPr>
          <a:xfrm>
            <a:off x="36576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8" name="TextBox 17"/>
          <p:cNvSpPr txBox="1"/>
          <p:nvPr/>
        </p:nvSpPr>
        <p:spPr>
          <a:xfrm>
            <a:off x="56692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木材・コンクリート・金属で評価</a:t>
            </a:r>
          </a:p>
        </p:txBody>
      </p:sp>
      <p:sp>
        <p:nvSpPr>
          <p:cNvPr id="19" name="TextBox 18"/>
          <p:cNvSpPr txBox="1"/>
          <p:nvPr/>
        </p:nvSpPr>
        <p:spPr>
          <a:xfrm>
            <a:off x="36576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0" name="TextBox 19"/>
          <p:cNvSpPr txBox="1"/>
          <p:nvPr/>
        </p:nvSpPr>
        <p:spPr>
          <a:xfrm>
            <a:off x="56692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WEGは低接触角 → 高い濡れ性</a:t>
            </a:r>
          </a:p>
        </p:txBody>
      </p:sp>
      <p:sp>
        <p:nvSpPr>
          <p:cNvPr id="21" name="TextBox 20"/>
          <p:cNvSpPr txBox="1"/>
          <p:nvPr/>
        </p:nvSpPr>
        <p:spPr>
          <a:xfrm>
            <a:off x="36576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2" name="TextBox 21"/>
          <p:cNvSpPr txBox="1"/>
          <p:nvPr/>
        </p:nvSpPr>
        <p:spPr>
          <a:xfrm>
            <a:off x="56692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HEC+MCは木材との親和性が高い</a:t>
            </a:r>
          </a:p>
        </p:txBody>
      </p:sp>
      <p:sp>
        <p:nvSpPr>
          <p:cNvPr id="23" name="Rounded Rectangle 22"/>
          <p:cNvSpPr/>
          <p:nvPr/>
        </p:nvSpPr>
        <p:spPr>
          <a:xfrm>
            <a:off x="422849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821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821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26" name="TextBox 25"/>
          <p:cNvSpPr txBox="1"/>
          <p:nvPr/>
        </p:nvSpPr>
        <p:spPr>
          <a:xfrm>
            <a:off x="422849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422849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垂直基板でのゲル保持</a:t>
            </a:r>
          </a:p>
        </p:txBody>
      </p:sp>
      <p:sp>
        <p:nvSpPr>
          <p:cNvPr id="28" name="TextBox 27"/>
          <p:cNvSpPr txBox="1"/>
          <p:nvPr/>
        </p:nvSpPr>
        <p:spPr>
          <a:xfrm>
            <a:off x="422849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9" name="TextBox 28"/>
          <p:cNvSpPr txBox="1"/>
          <p:nvPr/>
        </p:nvSpPr>
        <p:spPr>
          <a:xfrm>
            <a:off x="422849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垂直面付着試験</a:t>
            </a:r>
          </a:p>
        </p:txBody>
      </p:sp>
      <p:sp>
        <p:nvSpPr>
          <p:cNvPr id="30" name="TextBox 29"/>
          <p:cNvSpPr txBox="1"/>
          <p:nvPr/>
        </p:nvSpPr>
        <p:spPr>
          <a:xfrm>
            <a:off x="422849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442965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垂直基板に塗布し保持性を評価</a:t>
            </a:r>
          </a:p>
        </p:txBody>
      </p:sp>
      <p:sp>
        <p:nvSpPr>
          <p:cNvPr id="32" name="TextBox 31"/>
          <p:cNvSpPr txBox="1"/>
          <p:nvPr/>
        </p:nvSpPr>
        <p:spPr>
          <a:xfrm>
            <a:off x="422849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442965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G' ≫ G'' → 流れ落ちない</a:t>
            </a:r>
          </a:p>
        </p:txBody>
      </p:sp>
      <p:sp>
        <p:nvSpPr>
          <p:cNvPr id="34" name="TextBox 33"/>
          <p:cNvSpPr txBox="1"/>
          <p:nvPr/>
        </p:nvSpPr>
        <p:spPr>
          <a:xfrm>
            <a:off x="422849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442965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AquaGel-K同等以上の保持性</a:t>
            </a:r>
          </a:p>
        </p:txBody>
      </p:sp>
      <p:sp>
        <p:nvSpPr>
          <p:cNvPr id="36" name="Rounded Rectangle 35"/>
          <p:cNvSpPr/>
          <p:nvPr/>
        </p:nvSpPr>
        <p:spPr>
          <a:xfrm>
            <a:off x="809122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0094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094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39" name="TextBox 38"/>
          <p:cNvSpPr txBox="1"/>
          <p:nvPr/>
        </p:nvSpPr>
        <p:spPr>
          <a:xfrm>
            <a:off x="809122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0" name="TextBox 39"/>
          <p:cNvSpPr txBox="1"/>
          <p:nvPr/>
        </p:nvSpPr>
        <p:spPr>
          <a:xfrm>
            <a:off x="809122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ノズル噴霧の様子</a:t>
            </a:r>
          </a:p>
        </p:txBody>
      </p:sp>
      <p:sp>
        <p:nvSpPr>
          <p:cNvPr id="41" name="TextBox 40"/>
          <p:cNvSpPr txBox="1"/>
          <p:nvPr/>
        </p:nvSpPr>
        <p:spPr>
          <a:xfrm>
            <a:off x="809122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42" name="TextBox 41"/>
          <p:cNvSpPr txBox="1"/>
          <p:nvPr/>
        </p:nvSpPr>
        <p:spPr>
          <a:xfrm>
            <a:off x="809122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スプレー散布適性</a:t>
            </a:r>
          </a:p>
        </p:txBody>
      </p:sp>
      <p:sp>
        <p:nvSpPr>
          <p:cNvPr id="43" name="TextBox 42"/>
          <p:cNvSpPr txBox="1"/>
          <p:nvPr/>
        </p:nvSpPr>
        <p:spPr>
          <a:xfrm>
            <a:off x="809122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4" name="TextBox 43"/>
          <p:cNvSpPr txBox="1"/>
          <p:nvPr/>
        </p:nvSpPr>
        <p:spPr>
          <a:xfrm>
            <a:off x="829238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高せん断で粘度が急低下</a:t>
            </a:r>
          </a:p>
        </p:txBody>
      </p:sp>
      <p:sp>
        <p:nvSpPr>
          <p:cNvPr id="45" name="TextBox 44"/>
          <p:cNvSpPr txBox="1"/>
          <p:nvPr/>
        </p:nvSpPr>
        <p:spPr>
          <a:xfrm>
            <a:off x="809122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6" name="TextBox 45"/>
          <p:cNvSpPr txBox="1"/>
          <p:nvPr/>
        </p:nvSpPr>
        <p:spPr>
          <a:xfrm>
            <a:off x="829238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到達後すぐ高粘度を回復</a:t>
            </a:r>
          </a:p>
        </p:txBody>
      </p:sp>
      <p:sp>
        <p:nvSpPr>
          <p:cNvPr id="47" name="TextBox 46"/>
          <p:cNvSpPr txBox="1"/>
          <p:nvPr/>
        </p:nvSpPr>
        <p:spPr>
          <a:xfrm>
            <a:off x="809122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8" name="TextBox 47"/>
          <p:cNvSpPr txBox="1"/>
          <p:nvPr/>
        </p:nvSpPr>
        <p:spPr>
          <a:xfrm>
            <a:off x="829238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既存ホース・ノズルと互換</a:t>
            </a:r>
          </a:p>
        </p:txBody>
      </p:sp>
      <p:sp>
        <p:nvSpPr>
          <p:cNvPr id="49" name="Rounded Rectangle 48"/>
          <p:cNvSpPr/>
          <p:nvPr/>
        </p:nvSpPr>
        <p:spPr>
          <a:xfrm>
            <a:off x="365760" y="5980176"/>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5760" y="5980176"/>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980176"/>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2" name="TextBox 51"/>
          <p:cNvSpPr txBox="1"/>
          <p:nvPr/>
        </p:nvSpPr>
        <p:spPr>
          <a:xfrm>
            <a:off x="960120" y="5980176"/>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36</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36</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36</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36</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36</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36</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36</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36</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36</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