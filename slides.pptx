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添加：目的は発泡促進・濡れ性改善だったが…（Fig.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5647791" cy="82296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82296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932688"/>
            <a:ext cx="5373471" cy="256032"/>
          </a:xfrm>
          <a:prstGeom prst="rect">
            <a:avLst/>
          </a:prstGeom>
          <a:noFill/>
        </p:spPr>
        <p:txBody>
          <a:bodyPr wrap="square" anchor="t" lIns="36000" rIns="36000" tIns="18000" bIns="18000">
            <a:spAutoFit/>
          </a:bodyPr>
          <a:lstStyle/>
          <a:p>
            <a:pPr algn="l"/>
            <a:r>
              <a:rPr sz="1200" b="1" i="0">
                <a:solidFill>
                  <a:srgbClr val="4A7C8C"/>
                </a:solidFill>
                <a:latin typeface="Noto Sans JP"/>
              </a:rPr>
              <a:t>SDS 添加の目的</a:t>
            </a:r>
          </a:p>
        </p:txBody>
      </p:sp>
      <p:sp>
        <p:nvSpPr>
          <p:cNvPr id="13" name="TextBox 12"/>
          <p:cNvSpPr txBox="1"/>
          <p:nvPr/>
        </p:nvSpPr>
        <p:spPr>
          <a:xfrm>
            <a:off x="548640"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SDS（0 / 0.1 / 0.5 wt%）を HEC+MC/CSP に添加し、燃料表面への濡れ性改善と発泡層形成の促進を狙った</a:t>
            </a:r>
          </a:p>
        </p:txBody>
      </p:sp>
      <p:sp>
        <p:nvSpPr>
          <p:cNvPr id="14" name="Rounded Rectangle 13"/>
          <p:cNvSpPr/>
          <p:nvPr/>
        </p:nvSpPr>
        <p:spPr>
          <a:xfrm>
            <a:off x="6178143" y="859536"/>
            <a:ext cx="5647791" cy="82296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8143" y="859536"/>
            <a:ext cx="54864" cy="8229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932688"/>
            <a:ext cx="5373471" cy="256032"/>
          </a:xfrm>
          <a:prstGeom prst="rect">
            <a:avLst/>
          </a:prstGeom>
          <a:noFill/>
        </p:spPr>
        <p:txBody>
          <a:bodyPr wrap="square" anchor="t" lIns="36000" rIns="36000" tIns="18000" bIns="18000">
            <a:spAutoFit/>
          </a:bodyPr>
          <a:lstStyle/>
          <a:p>
            <a:pPr algn="l"/>
            <a:r>
              <a:rPr sz="1200" b="1" i="0">
                <a:solidFill>
                  <a:srgbClr val="3B5174"/>
                </a:solidFill>
                <a:latin typeface="Noto Sans JP"/>
              </a:rPr>
              <a:t>期待した効果</a:t>
            </a:r>
          </a:p>
        </p:txBody>
      </p:sp>
      <p:sp>
        <p:nvSpPr>
          <p:cNvPr id="17" name="TextBox 16"/>
          <p:cNvSpPr txBox="1"/>
          <p:nvPr/>
        </p:nvSpPr>
        <p:spPr>
          <a:xfrm>
            <a:off x="6361023"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①ゲル粘度を下げてスプレー性を向上　②気泡を安定化して Foaming Index を増大</a:t>
            </a:r>
          </a:p>
        </p:txBody>
      </p:sp>
      <p:sp>
        <p:nvSpPr>
          <p:cNvPr id="18" name="Rounded Rectangle 17"/>
          <p:cNvSpPr/>
          <p:nvPr/>
        </p:nvSpPr>
        <p:spPr>
          <a:xfrm>
            <a:off x="365760"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21" name="TextBox 20"/>
          <p:cNvSpPr txBox="1"/>
          <p:nvPr/>
        </p:nvSpPr>
        <p:spPr>
          <a:xfrm>
            <a:off x="365760"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2" name="TextBox 21"/>
          <p:cNvSpPr txBox="1"/>
          <p:nvPr/>
        </p:nvSpPr>
        <p:spPr>
          <a:xfrm>
            <a:off x="365760"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a:t>
            </a:r>
          </a:p>
        </p:txBody>
      </p:sp>
      <p:sp>
        <p:nvSpPr>
          <p:cNvPr id="23" name="Rounded Rectangle 22"/>
          <p:cNvSpPr/>
          <p:nvPr/>
        </p:nvSpPr>
        <p:spPr>
          <a:xfrm>
            <a:off x="6178143"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87871"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87871"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6" name="TextBox 25"/>
          <p:cNvSpPr txBox="1"/>
          <p:nvPr/>
        </p:nvSpPr>
        <p:spPr>
          <a:xfrm>
            <a:off x="6178143"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6178143"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δ（1 rad/s、濃度別棒グラフ）</a:t>
            </a:r>
          </a:p>
        </p:txBody>
      </p:sp>
      <p:sp>
        <p:nvSpPr>
          <p:cNvPr id="28" name="Rounded Rectangle 27"/>
          <p:cNvSpPr/>
          <p:nvPr/>
        </p:nvSpPr>
        <p:spPr>
          <a:xfrm>
            <a:off x="365760"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31" name="TextBox 30"/>
          <p:cNvSpPr txBox="1"/>
          <p:nvPr/>
        </p:nvSpPr>
        <p:spPr>
          <a:xfrm>
            <a:off x="365760"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365760"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fit）</a:t>
            </a:r>
          </a:p>
        </p:txBody>
      </p:sp>
      <p:sp>
        <p:nvSpPr>
          <p:cNvPr id="33" name="Rounded Rectangle 32"/>
          <p:cNvSpPr/>
          <p:nvPr/>
        </p:nvSpPr>
        <p:spPr>
          <a:xfrm>
            <a:off x="6178143"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87871"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7871"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6" name="TextBox 35"/>
          <p:cNvSpPr txBox="1"/>
          <p:nvPr/>
        </p:nvSpPr>
        <p:spPr>
          <a:xfrm>
            <a:off x="6178143"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7" name="TextBox 36"/>
          <p:cNvSpPr txBox="1"/>
          <p:nvPr/>
        </p:nvSpPr>
        <p:spPr>
          <a:xfrm>
            <a:off x="6178143"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8" name="Rounded Rectangle 37"/>
          <p:cNvSpPr/>
          <p:nvPr/>
        </p:nvSpPr>
        <p:spPr>
          <a:xfrm>
            <a:off x="365760" y="5888734"/>
            <a:ext cx="5647791" cy="768098"/>
          </a:xfrm>
          <a:prstGeom prst="roundRect">
            <a:avLst>
              <a:gd name="adj" fmla="val 4000"/>
            </a:avLst>
          </a:prstGeom>
          <a:solidFill>
            <a:srgbClr val="F1F5F9"/>
          </a:solidFill>
          <a:ln w="1524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5888734"/>
            <a:ext cx="54864" cy="768098"/>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943598"/>
            <a:ext cx="5373471" cy="237744"/>
          </a:xfrm>
          <a:prstGeom prst="rect">
            <a:avLst/>
          </a:prstGeom>
          <a:noFill/>
        </p:spPr>
        <p:txBody>
          <a:bodyPr wrap="square" anchor="t" lIns="36000" rIns="36000" tIns="18000" bIns="18000">
            <a:spAutoFit/>
          </a:bodyPr>
          <a:lstStyle/>
          <a:p>
            <a:pPr algn="l"/>
            <a:r>
              <a:rPr sz="1150" b="1" i="0">
                <a:solidFill>
                  <a:srgbClr val="9F7639"/>
                </a:solidFill>
                <a:latin typeface="Noto Sans JP"/>
              </a:rPr>
              <a:t>レオロジー：濃度依存的だが限定的改善</a:t>
            </a:r>
          </a:p>
        </p:txBody>
      </p:sp>
      <p:sp>
        <p:nvSpPr>
          <p:cNvPr id="41" name="TextBox 40"/>
          <p:cNvSpPr txBox="1"/>
          <p:nvPr/>
        </p:nvSpPr>
        <p:spPr>
          <a:xfrm>
            <a:off x="548640"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0.1 wt% で G' がわずかに上昇するが、0.5 wt% ではむしろ軟化し降伏応力も低下。付着性・ゲル強度の観点では SDS 添加は全体的にマイナスに働く</a:t>
            </a:r>
          </a:p>
        </p:txBody>
      </p:sp>
      <p:sp>
        <p:nvSpPr>
          <p:cNvPr id="42" name="Rounded Rectangle 41"/>
          <p:cNvSpPr/>
          <p:nvPr/>
        </p:nvSpPr>
        <p:spPr>
          <a:xfrm>
            <a:off x="6178143" y="5888734"/>
            <a:ext cx="5647791" cy="768098"/>
          </a:xfrm>
          <a:prstGeom prst="roundRect">
            <a:avLst>
              <a:gd name="adj" fmla="val 4000"/>
            </a:avLst>
          </a:prstGeom>
          <a:solidFill>
            <a:srgbClr val="F1F5F9"/>
          </a:solidFill>
          <a:ln w="15240">
            <a:solidFill>
              <a:srgbClr val="A056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8143" y="5888734"/>
            <a:ext cx="54864" cy="768098"/>
          </a:xfrm>
          <a:prstGeom prst="rect">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1023" y="5943598"/>
            <a:ext cx="5373471" cy="237744"/>
          </a:xfrm>
          <a:prstGeom prst="rect">
            <a:avLst/>
          </a:prstGeom>
          <a:noFill/>
        </p:spPr>
        <p:txBody>
          <a:bodyPr wrap="square" anchor="t" lIns="36000" rIns="36000" tIns="18000" bIns="18000">
            <a:spAutoFit/>
          </a:bodyPr>
          <a:lstStyle/>
          <a:p>
            <a:pPr algn="l"/>
            <a:r>
              <a:rPr sz="1150" b="1" i="0">
                <a:solidFill>
                  <a:srgbClr val="A05656"/>
                </a:solidFill>
                <a:latin typeface="Noto Sans JP"/>
              </a:rPr>
              <a:t>発泡：期待に反して Foaming Index が低下</a:t>
            </a:r>
          </a:p>
        </p:txBody>
      </p:sp>
      <p:sp>
        <p:nvSpPr>
          <p:cNvPr id="45" name="TextBox 44"/>
          <p:cNvSpPr txBox="1"/>
          <p:nvPr/>
        </p:nvSpPr>
        <p:spPr>
          <a:xfrm>
            <a:off x="6361023"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SDS 添加により気泡が粗大化・不均一化し、Foaming Index は低下（Fig. 4 参照）。発泡促進という当初の目的は達成されなかった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7830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35424"/>
            <a:ext cx="5272887" cy="256032"/>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66928" y="4882896"/>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水</a:t>
            </a:r>
          </a:p>
        </p:txBody>
      </p:sp>
      <p:sp>
        <p:nvSpPr>
          <p:cNvPr id="43" name="TextBox 42"/>
          <p:cNvSpPr txBox="1"/>
          <p:nvPr/>
        </p:nvSpPr>
        <p:spPr>
          <a:xfrm>
            <a:off x="1920240" y="4882896"/>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保護時間が大幅向上（水は~0.3分で炭化）</a:t>
            </a:r>
          </a:p>
        </p:txBody>
      </p:sp>
      <p:sp>
        <p:nvSpPr>
          <p:cNvPr id="44" name="TextBox 43"/>
          <p:cNvSpPr txBox="1"/>
          <p:nvPr/>
        </p:nvSpPr>
        <p:spPr>
          <a:xfrm>
            <a:off x="566928" y="5184648"/>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AquaGel-K</a:t>
            </a:r>
          </a:p>
        </p:txBody>
      </p:sp>
      <p:sp>
        <p:nvSpPr>
          <p:cNvPr id="45" name="TextBox 44"/>
          <p:cNvSpPr txBox="1"/>
          <p:nvPr/>
        </p:nvSpPr>
        <p:spPr>
          <a:xfrm>
            <a:off x="1920240" y="5184648"/>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3〜6倍の保護時間＋水蒸発後も継続</a:t>
            </a:r>
          </a:p>
        </p:txBody>
      </p:sp>
      <p:sp>
        <p:nvSpPr>
          <p:cNvPr id="46" name="TextBox 45"/>
          <p:cNvSpPr txBox="1"/>
          <p:nvPr/>
        </p:nvSpPr>
        <p:spPr>
          <a:xfrm>
            <a:off x="566928" y="5486400"/>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Phos-Chek</a:t>
            </a:r>
          </a:p>
        </p:txBody>
      </p:sp>
      <p:sp>
        <p:nvSpPr>
          <p:cNvPr id="47" name="TextBox 46"/>
          <p:cNvSpPr txBox="1"/>
          <p:nvPr/>
        </p:nvSpPr>
        <p:spPr>
          <a:xfrm>
            <a:off x="1920240" y="5486400"/>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土壌・水系への残留性が低い</a:t>
            </a:r>
          </a:p>
        </p:txBody>
      </p:sp>
      <p:sp>
        <p:nvSpPr>
          <p:cNvPr id="48" name="TextBox 47"/>
          <p:cNvSpPr txBox="1"/>
          <p:nvPr/>
        </p:nvSpPr>
        <p:spPr>
          <a:xfrm>
            <a:off x="566928" y="5788152"/>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散布互換性</a:t>
            </a:r>
          </a:p>
        </p:txBody>
      </p:sp>
      <p:sp>
        <p:nvSpPr>
          <p:cNvPr id="49" name="TextBox 48"/>
          <p:cNvSpPr txBox="1"/>
          <p:nvPr/>
        </p:nvSpPr>
        <p:spPr>
          <a:xfrm>
            <a:off x="1920240" y="5788152"/>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既存機材をそのまま使用可</a:t>
            </a:r>
          </a:p>
        </p:txBody>
      </p:sp>
      <p:sp>
        <p:nvSpPr>
          <p:cNvPr id="50" name="Rounded Rectangle 49"/>
          <p:cNvSpPr/>
          <p:nvPr/>
        </p:nvSpPr>
        <p:spPr>
          <a:xfrm>
            <a:off x="6187287" y="460857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60857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60857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60857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
        <p:nvSpPr>
          <p:cNvPr id="54" name="TextBox 53"/>
          <p:cNvSpPr txBox="1"/>
          <p:nvPr/>
        </p:nvSpPr>
        <p:spPr>
          <a:xfrm>
            <a:off x="6187287" y="5614416"/>
            <a:ext cx="5638647" cy="502920"/>
          </a:xfrm>
          <a:prstGeom prst="rect">
            <a:avLst/>
          </a:prstGeom>
          <a:noFill/>
        </p:spPr>
        <p:txBody>
          <a:bodyPr wrap="square" anchor="t" lIns="36000" rIns="36000" tIns="18000" bIns="18000">
            <a:spAutoFit/>
          </a:bodyPr>
          <a:lstStyle/>
          <a:p>
            <a:pPr algn="l"/>
            <a:r>
              <a:rPr sz="950" b="0" i="1">
                <a:solidFill>
                  <a:srgbClr val="64748B"/>
                </a:solidFill>
                <a:latin typeface="Noto Sans JP"/>
              </a:rPr>
              <a:t>※ 水・AquaGel-K との保護時間比較は実測（Fig. 3）。Phos-Chek は論文の燃焼直接比較ではなく、環境残留性に関する定性的な位置づけ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既存品との比較：WEG だけが満たす要件</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11460175" cy="512064"/>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120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12064"/>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12064"/>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本研究の WEG（PPハイドロゲル）は、水・市販 AquaGel-K が個別にしか満たせない要件をすべて両立する</a:t>
            </a:r>
          </a:p>
        </p:txBody>
      </p:sp>
      <p:sp>
        <p:nvSpPr>
          <p:cNvPr id="14" name="Rectangle 13"/>
          <p:cNvSpPr/>
          <p:nvPr/>
        </p:nvSpPr>
        <p:spPr>
          <a:xfrm>
            <a:off x="365760" y="1572768"/>
            <a:ext cx="2194560"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1572768"/>
            <a:ext cx="1975104" cy="868680"/>
          </a:xfrm>
          <a:prstGeom prst="rect">
            <a:avLst/>
          </a:prstGeom>
          <a:noFill/>
        </p:spPr>
        <p:txBody>
          <a:bodyPr wrap="square" anchor="ctr" lIns="36000" rIns="36000" tIns="18000" bIns="18000">
            <a:spAutoFit/>
          </a:bodyPr>
          <a:lstStyle/>
          <a:p>
            <a:pPr algn="l"/>
            <a:r>
              <a:rPr sz="1100" b="1" i="0">
                <a:solidFill>
                  <a:srgbClr val="FFFFFF"/>
                </a:solidFill>
                <a:latin typeface="Noto Sans JP"/>
              </a:rPr>
              <a:t>製品 ＼ 要件</a:t>
            </a:r>
          </a:p>
        </p:txBody>
      </p:sp>
      <p:sp>
        <p:nvSpPr>
          <p:cNvPr id="16" name="Rectangle 15"/>
          <p:cNvSpPr/>
          <p:nvPr/>
        </p:nvSpPr>
        <p:spPr>
          <a:xfrm>
            <a:off x="2560320"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96896"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長時間の</a:t>
            </a:r>
          </a:p>
          <a:p>
            <a:pPr algn="ctr"/>
            <a:r>
              <a:rPr sz="950" b="1" i="0">
                <a:solidFill>
                  <a:srgbClr val="FFFFFF"/>
                </a:solidFill>
                <a:latin typeface="Noto Sans JP"/>
              </a:rPr>
              <a:t>火炎保護</a:t>
            </a:r>
          </a:p>
        </p:txBody>
      </p:sp>
      <p:sp>
        <p:nvSpPr>
          <p:cNvPr id="18" name="Rectangle 17"/>
          <p:cNvSpPr/>
          <p:nvPr/>
        </p:nvSpPr>
        <p:spPr>
          <a:xfrm>
            <a:off x="4104589"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41165"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乾燥後も</a:t>
            </a:r>
          </a:p>
          <a:p>
            <a:pPr algn="ctr"/>
            <a:r>
              <a:rPr sz="950" b="1" i="0">
                <a:solidFill>
                  <a:srgbClr val="FFFFFF"/>
                </a:solidFill>
                <a:latin typeface="Noto Sans JP"/>
              </a:rPr>
              <a:t>保護継続</a:t>
            </a:r>
          </a:p>
        </p:txBody>
      </p:sp>
      <p:sp>
        <p:nvSpPr>
          <p:cNvPr id="20" name="Rectangle 19"/>
          <p:cNvSpPr/>
          <p:nvPr/>
        </p:nvSpPr>
        <p:spPr>
          <a:xfrm>
            <a:off x="5648858"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85434"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噴霧散布</a:t>
            </a:r>
          </a:p>
          <a:p>
            <a:pPr algn="ctr"/>
            <a:r>
              <a:rPr sz="950" b="1" i="0">
                <a:solidFill>
                  <a:srgbClr val="FFFFFF"/>
                </a:solidFill>
                <a:latin typeface="Noto Sans JP"/>
              </a:rPr>
              <a:t>が可能</a:t>
            </a:r>
          </a:p>
        </p:txBody>
      </p:sp>
      <p:sp>
        <p:nvSpPr>
          <p:cNvPr id="22" name="Rectangle 21"/>
          <p:cNvSpPr/>
          <p:nvPr/>
        </p:nvSpPr>
        <p:spPr>
          <a:xfrm>
            <a:off x="7193127"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9703"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環境残留</a:t>
            </a:r>
          </a:p>
          <a:p>
            <a:pPr algn="ctr"/>
            <a:r>
              <a:rPr sz="950" b="1" i="0">
                <a:solidFill>
                  <a:srgbClr val="FFFFFF"/>
                </a:solidFill>
                <a:latin typeface="Noto Sans JP"/>
              </a:rPr>
              <a:t>が低い</a:t>
            </a:r>
          </a:p>
        </p:txBody>
      </p:sp>
      <p:sp>
        <p:nvSpPr>
          <p:cNvPr id="24" name="Rectangle 23"/>
          <p:cNvSpPr/>
          <p:nvPr/>
        </p:nvSpPr>
        <p:spPr>
          <a:xfrm>
            <a:off x="8737396"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3972"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発泡・断熱</a:t>
            </a:r>
          </a:p>
          <a:p>
            <a:pPr algn="ctr"/>
            <a:r>
              <a:rPr sz="950" b="1" i="0">
                <a:solidFill>
                  <a:srgbClr val="FFFFFF"/>
                </a:solidFill>
                <a:latin typeface="Noto Sans JP"/>
              </a:rPr>
              <a:t>層を形成</a:t>
            </a:r>
          </a:p>
        </p:txBody>
      </p:sp>
      <p:sp>
        <p:nvSpPr>
          <p:cNvPr id="26" name="Rectangle 25"/>
          <p:cNvSpPr/>
          <p:nvPr/>
        </p:nvSpPr>
        <p:spPr>
          <a:xfrm>
            <a:off x="10281665" y="1572768"/>
            <a:ext cx="1544269"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18241" y="1618488"/>
            <a:ext cx="1471117" cy="777240"/>
          </a:xfrm>
          <a:prstGeom prst="rect">
            <a:avLst/>
          </a:prstGeom>
          <a:noFill/>
        </p:spPr>
        <p:txBody>
          <a:bodyPr wrap="square" anchor="ctr" lIns="36000" rIns="36000" tIns="18000" bIns="18000">
            <a:spAutoFit/>
          </a:bodyPr>
          <a:lstStyle/>
          <a:p>
            <a:pPr algn="ctr"/>
            <a:r>
              <a:rPr sz="950" b="1" i="0">
                <a:solidFill>
                  <a:srgbClr val="FFFFFF"/>
                </a:solidFill>
                <a:latin typeface="Noto Sans JP"/>
              </a:rPr>
              <a:t>劣化しにくい</a:t>
            </a:r>
          </a:p>
          <a:p>
            <a:pPr algn="ctr"/>
            <a:r>
              <a:rPr sz="950" b="1" i="0">
                <a:solidFill>
                  <a:srgbClr val="FFFFFF"/>
                </a:solidFill>
                <a:latin typeface="Noto Sans JP"/>
              </a:rPr>
              <a:t>（長期安定性）</a:t>
            </a:r>
          </a:p>
        </p:txBody>
      </p:sp>
      <p:sp>
        <p:nvSpPr>
          <p:cNvPr id="28" name="Rectangle 27"/>
          <p:cNvSpPr/>
          <p:nvPr/>
        </p:nvSpPr>
        <p:spPr>
          <a:xfrm>
            <a:off x="365760" y="2441448"/>
            <a:ext cx="2194560"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441448"/>
            <a:ext cx="54864" cy="658368"/>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441448"/>
            <a:ext cx="1920240" cy="658368"/>
          </a:xfrm>
          <a:prstGeom prst="rect">
            <a:avLst/>
          </a:prstGeom>
          <a:noFill/>
        </p:spPr>
        <p:txBody>
          <a:bodyPr wrap="square" anchor="ctr" lIns="36000" rIns="36000" tIns="18000" bIns="18000">
            <a:spAutoFit/>
          </a:bodyPr>
          <a:lstStyle/>
          <a:p>
            <a:pPr algn="l"/>
            <a:r>
              <a:rPr sz="1200" b="1" i="0">
                <a:solidFill>
                  <a:srgbClr val="1E293B"/>
                </a:solidFill>
                <a:latin typeface="Noto Sans JP"/>
              </a:rPr>
              <a:t>WEG（本研究）</a:t>
            </a:r>
          </a:p>
        </p:txBody>
      </p:sp>
      <p:sp>
        <p:nvSpPr>
          <p:cNvPr id="31" name="Rectangle 30"/>
          <p:cNvSpPr/>
          <p:nvPr/>
        </p:nvSpPr>
        <p:spPr>
          <a:xfrm>
            <a:off x="2560320"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0"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3" name="Rectangle 32"/>
          <p:cNvSpPr/>
          <p:nvPr/>
        </p:nvSpPr>
        <p:spPr>
          <a:xfrm>
            <a:off x="4104589"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04589"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5" name="Rectangle 34"/>
          <p:cNvSpPr/>
          <p:nvPr/>
        </p:nvSpPr>
        <p:spPr>
          <a:xfrm>
            <a:off x="5648858"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858"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7" name="Rectangle 36"/>
          <p:cNvSpPr/>
          <p:nvPr/>
        </p:nvSpPr>
        <p:spPr>
          <a:xfrm>
            <a:off x="7193127"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93127"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9" name="Rectangle 38"/>
          <p:cNvSpPr/>
          <p:nvPr/>
        </p:nvSpPr>
        <p:spPr>
          <a:xfrm>
            <a:off x="8737396"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37396"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1" name="Rectangle 40"/>
          <p:cNvSpPr/>
          <p:nvPr/>
        </p:nvSpPr>
        <p:spPr>
          <a:xfrm>
            <a:off x="10281665" y="2441448"/>
            <a:ext cx="1544269" cy="658368"/>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81665" y="2441448"/>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3" name="Rectangle 42"/>
          <p:cNvSpPr/>
          <p:nvPr/>
        </p:nvSpPr>
        <p:spPr>
          <a:xfrm>
            <a:off x="365760" y="3099816"/>
            <a:ext cx="2194560"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099816"/>
            <a:ext cx="1920240" cy="658368"/>
          </a:xfrm>
          <a:prstGeom prst="rect">
            <a:avLst/>
          </a:prstGeom>
          <a:noFill/>
        </p:spPr>
        <p:txBody>
          <a:bodyPr wrap="square" anchor="ctr" lIns="36000" rIns="36000" tIns="18000" bIns="18000">
            <a:spAutoFit/>
          </a:bodyPr>
          <a:lstStyle/>
          <a:p>
            <a:pPr algn="l"/>
            <a:r>
              <a:rPr sz="1200" b="0" i="0">
                <a:solidFill>
                  <a:srgbClr val="334155"/>
                </a:solidFill>
                <a:latin typeface="Noto Sans JP"/>
              </a:rPr>
              <a:t>市販 AquaGel-K</a:t>
            </a:r>
          </a:p>
        </p:txBody>
      </p:sp>
      <p:sp>
        <p:nvSpPr>
          <p:cNvPr id="45" name="Rectangle 44"/>
          <p:cNvSpPr/>
          <p:nvPr/>
        </p:nvSpPr>
        <p:spPr>
          <a:xfrm>
            <a:off x="2560320"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560320" y="3099816"/>
            <a:ext cx="1544269" cy="658368"/>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47" name="Rectangle 46"/>
          <p:cNvSpPr/>
          <p:nvPr/>
        </p:nvSpPr>
        <p:spPr>
          <a:xfrm>
            <a:off x="4104589"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04589" y="3099816"/>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49" name="Rectangle 48"/>
          <p:cNvSpPr/>
          <p:nvPr/>
        </p:nvSpPr>
        <p:spPr>
          <a:xfrm>
            <a:off x="5648858"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48858" y="3099816"/>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1" name="Rectangle 50"/>
          <p:cNvSpPr/>
          <p:nvPr/>
        </p:nvSpPr>
        <p:spPr>
          <a:xfrm>
            <a:off x="7193127"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193127" y="3099816"/>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3" name="Rectangle 52"/>
          <p:cNvSpPr/>
          <p:nvPr/>
        </p:nvSpPr>
        <p:spPr>
          <a:xfrm>
            <a:off x="8737396"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737396" y="3099816"/>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55" name="Rectangle 54"/>
          <p:cNvSpPr/>
          <p:nvPr/>
        </p:nvSpPr>
        <p:spPr>
          <a:xfrm>
            <a:off x="10281665" y="3099816"/>
            <a:ext cx="1544269" cy="658368"/>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281665" y="3099816"/>
            <a:ext cx="1544269" cy="658368"/>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57" name="Rectangle 56"/>
          <p:cNvSpPr/>
          <p:nvPr/>
        </p:nvSpPr>
        <p:spPr>
          <a:xfrm>
            <a:off x="365760" y="3758184"/>
            <a:ext cx="2194560"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8640" y="3758184"/>
            <a:ext cx="1920240" cy="658368"/>
          </a:xfrm>
          <a:prstGeom prst="rect">
            <a:avLst/>
          </a:prstGeom>
          <a:noFill/>
        </p:spPr>
        <p:txBody>
          <a:bodyPr wrap="square" anchor="ctr" lIns="36000" rIns="36000" tIns="18000" bIns="18000">
            <a:spAutoFit/>
          </a:bodyPr>
          <a:lstStyle/>
          <a:p>
            <a:pPr algn="l"/>
            <a:r>
              <a:rPr sz="1200" b="0" i="0">
                <a:solidFill>
                  <a:srgbClr val="334155"/>
                </a:solidFill>
                <a:latin typeface="Noto Sans JP"/>
              </a:rPr>
              <a:t>水のみ</a:t>
            </a:r>
          </a:p>
        </p:txBody>
      </p:sp>
      <p:sp>
        <p:nvSpPr>
          <p:cNvPr id="59" name="Rectangle 58"/>
          <p:cNvSpPr/>
          <p:nvPr/>
        </p:nvSpPr>
        <p:spPr>
          <a:xfrm>
            <a:off x="2560320"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560320"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1" name="Rectangle 60"/>
          <p:cNvSpPr/>
          <p:nvPr/>
        </p:nvSpPr>
        <p:spPr>
          <a:xfrm>
            <a:off x="4104589"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04589"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3" name="Rectangle 62"/>
          <p:cNvSpPr/>
          <p:nvPr/>
        </p:nvSpPr>
        <p:spPr>
          <a:xfrm>
            <a:off x="5648858"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648858" y="3758184"/>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65" name="Rectangle 64"/>
          <p:cNvSpPr/>
          <p:nvPr/>
        </p:nvSpPr>
        <p:spPr>
          <a:xfrm>
            <a:off x="7193127"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93127" y="3758184"/>
            <a:ext cx="1544269" cy="658368"/>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67" name="Rectangle 66"/>
          <p:cNvSpPr/>
          <p:nvPr/>
        </p:nvSpPr>
        <p:spPr>
          <a:xfrm>
            <a:off x="8737396"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37396"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9" name="Rectangle 68"/>
          <p:cNvSpPr/>
          <p:nvPr/>
        </p:nvSpPr>
        <p:spPr>
          <a:xfrm>
            <a:off x="10281665" y="3758184"/>
            <a:ext cx="1544269" cy="658368"/>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81665" y="3758184"/>
            <a:ext cx="1544269" cy="658368"/>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71" name="TextBox 70"/>
          <p:cNvSpPr txBox="1"/>
          <p:nvPr/>
        </p:nvSpPr>
        <p:spPr>
          <a:xfrm>
            <a:off x="365760" y="4562856"/>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2" name="TextBox 71"/>
          <p:cNvSpPr txBox="1"/>
          <p:nvPr/>
        </p:nvSpPr>
        <p:spPr>
          <a:xfrm>
            <a:off x="7132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優れる</a:t>
            </a:r>
          </a:p>
        </p:txBody>
      </p:sp>
      <p:sp>
        <p:nvSpPr>
          <p:cNvPr id="73" name="TextBox 72"/>
          <p:cNvSpPr txBox="1"/>
          <p:nvPr/>
        </p:nvSpPr>
        <p:spPr>
          <a:xfrm>
            <a:off x="2194560" y="4562856"/>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4" name="TextBox 73"/>
          <p:cNvSpPr txBox="1"/>
          <p:nvPr/>
        </p:nvSpPr>
        <p:spPr>
          <a:xfrm>
            <a:off x="25420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可能</a:t>
            </a:r>
          </a:p>
        </p:txBody>
      </p:sp>
      <p:sp>
        <p:nvSpPr>
          <p:cNvPr id="75" name="TextBox 74"/>
          <p:cNvSpPr txBox="1"/>
          <p:nvPr/>
        </p:nvSpPr>
        <p:spPr>
          <a:xfrm>
            <a:off x="4023360" y="4562856"/>
            <a:ext cx="365760" cy="274320"/>
          </a:xfrm>
          <a:prstGeom prst="rect">
            <a:avLst/>
          </a:prstGeom>
          <a:noFill/>
        </p:spPr>
        <p:txBody>
          <a:bodyPr wrap="square" anchor="ctr" lIns="36000" rIns="36000" tIns="18000" bIns="18000">
            <a:spAutoFit/>
          </a:bodyPr>
          <a:lstStyle/>
          <a:p>
            <a:pPr algn="l"/>
            <a:r>
              <a:rPr sz="1400" b="1" i="0">
                <a:solidFill>
                  <a:srgbClr val="9F7639"/>
                </a:solidFill>
                <a:latin typeface="Noto Sans JP"/>
              </a:rPr>
              <a:t>△</a:t>
            </a:r>
          </a:p>
        </p:txBody>
      </p:sp>
      <p:sp>
        <p:nvSpPr>
          <p:cNvPr id="76" name="TextBox 75"/>
          <p:cNvSpPr txBox="1"/>
          <p:nvPr/>
        </p:nvSpPr>
        <p:spPr>
          <a:xfrm>
            <a:off x="43708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限定的</a:t>
            </a:r>
          </a:p>
        </p:txBody>
      </p:sp>
      <p:sp>
        <p:nvSpPr>
          <p:cNvPr id="77" name="TextBox 76"/>
          <p:cNvSpPr txBox="1"/>
          <p:nvPr/>
        </p:nvSpPr>
        <p:spPr>
          <a:xfrm>
            <a:off x="5852160" y="4562856"/>
            <a:ext cx="365760" cy="274320"/>
          </a:xfrm>
          <a:prstGeom prst="rect">
            <a:avLst/>
          </a:prstGeom>
          <a:noFill/>
        </p:spPr>
        <p:txBody>
          <a:bodyPr wrap="square" anchor="ctr" lIns="36000" rIns="36000" tIns="18000" bIns="18000">
            <a:spAutoFit/>
          </a:bodyPr>
          <a:lstStyle/>
          <a:p>
            <a:pPr algn="l"/>
            <a:r>
              <a:rPr sz="1400" b="1" i="0">
                <a:solidFill>
                  <a:srgbClr val="A05656"/>
                </a:solidFill>
                <a:latin typeface="Noto Sans JP"/>
              </a:rPr>
              <a:t>×</a:t>
            </a:r>
          </a:p>
        </p:txBody>
      </p:sp>
      <p:sp>
        <p:nvSpPr>
          <p:cNvPr id="78" name="TextBox 77"/>
          <p:cNvSpPr txBox="1"/>
          <p:nvPr/>
        </p:nvSpPr>
        <p:spPr>
          <a:xfrm>
            <a:off x="6199632" y="4562856"/>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不可・課題</a:t>
            </a:r>
          </a:p>
        </p:txBody>
      </p:sp>
      <p:sp>
        <p:nvSpPr>
          <p:cNvPr id="79" name="TextBox 78"/>
          <p:cNvSpPr txBox="1"/>
          <p:nvPr/>
        </p:nvSpPr>
        <p:spPr>
          <a:xfrm>
            <a:off x="365760" y="4928616"/>
            <a:ext cx="11460175" cy="457200"/>
          </a:xfrm>
          <a:prstGeom prst="rect">
            <a:avLst/>
          </a:prstGeom>
          <a:noFill/>
        </p:spPr>
        <p:txBody>
          <a:bodyPr wrap="square" anchor="t" lIns="36000" rIns="36000" tIns="18000" bIns="18000">
            <a:spAutoFit/>
          </a:bodyPr>
          <a:lstStyle/>
          <a:p>
            <a:pPr algn="l"/>
            <a:r>
              <a:rPr sz="950" b="0" i="1">
                <a:solidFill>
                  <a:srgbClr val="64748B"/>
                </a:solidFill>
                <a:latin typeface="Noto Sans JP"/>
              </a:rPr>
              <a:t>※ 火炎保護・発泡の比較は本論文の実測（Fig. 3・4）に基づく。「劣化しにくい」：WEG は SI Fig. S7（455日実測）、AquaGel-K は本論文で経時試験未実施（△）</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研究の結論：核心メカニズムと4つの成果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TextBox 9"/>
          <p:cNvSpPr txBox="1"/>
          <p:nvPr/>
        </p:nvSpPr>
        <p:spPr>
          <a:xfrm>
            <a:off x="365760" y="85953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核心メカニズム：火炎接触でゲルが「自己変態」する</a:t>
            </a:r>
          </a:p>
        </p:txBody>
      </p:sp>
      <p:sp>
        <p:nvSpPr>
          <p:cNvPr id="11" name="Rounded Rectangle 10"/>
          <p:cNvSpPr/>
          <p:nvPr/>
        </p:nvSpPr>
        <p:spPr>
          <a:xfrm>
            <a:off x="365760"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243584"/>
            <a:ext cx="354573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71600"/>
            <a:ext cx="3216554" cy="237744"/>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530352"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水が急速に蒸発</a:t>
            </a:r>
          </a:p>
        </p:txBody>
      </p:sp>
      <p:sp>
        <p:nvSpPr>
          <p:cNvPr id="15" name="TextBox 14"/>
          <p:cNvSpPr txBox="1"/>
          <p:nvPr/>
        </p:nvSpPr>
        <p:spPr>
          <a:xfrm>
            <a:off x="530352"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火炎接触でゲル中の水が気化・吸熱</a:t>
            </a:r>
          </a:p>
          <a:p>
            <a:pPr algn="l"/>
            <a:r>
              <a:rPr sz="1100" b="0" i="0">
                <a:solidFill>
                  <a:srgbClr val="475569"/>
                </a:solidFill>
                <a:latin typeface="Noto Sans JP"/>
              </a:rPr>
              <a:t>→ 基材表面の温度上昇を抑制</a:t>
            </a:r>
          </a:p>
        </p:txBody>
      </p:sp>
      <p:sp>
        <p:nvSpPr>
          <p:cNvPr id="16" name="TextBox 15"/>
          <p:cNvSpPr txBox="1"/>
          <p:nvPr/>
        </p:nvSpPr>
        <p:spPr>
          <a:xfrm>
            <a:off x="3911498"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17" name="Rounded Rectangle 16"/>
          <p:cNvSpPr/>
          <p:nvPr/>
        </p:nvSpPr>
        <p:spPr>
          <a:xfrm>
            <a:off x="4322978"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243584"/>
            <a:ext cx="354573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7570" y="1371600"/>
            <a:ext cx="3216554" cy="237744"/>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20" name="TextBox 19"/>
          <p:cNvSpPr txBox="1"/>
          <p:nvPr/>
        </p:nvSpPr>
        <p:spPr>
          <a:xfrm>
            <a:off x="4487570"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CSP が焼結</a:t>
            </a:r>
          </a:p>
        </p:txBody>
      </p:sp>
      <p:sp>
        <p:nvSpPr>
          <p:cNvPr id="21" name="TextBox 20"/>
          <p:cNvSpPr txBox="1"/>
          <p:nvPr/>
        </p:nvSpPr>
        <p:spPr>
          <a:xfrm>
            <a:off x="4487570"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シリカ粒子が加熱で焼結し</a:t>
            </a:r>
          </a:p>
          <a:p>
            <a:pPr algn="l"/>
            <a:r>
              <a:rPr sz="1100" b="0" i="0">
                <a:solidFill>
                  <a:srgbClr val="475569"/>
                </a:solidFill>
                <a:latin typeface="Noto Sans JP"/>
              </a:rPr>
              <a:t>粒子間にネック（架橋）を形成</a:t>
            </a:r>
          </a:p>
        </p:txBody>
      </p:sp>
      <p:sp>
        <p:nvSpPr>
          <p:cNvPr id="22" name="TextBox 21"/>
          <p:cNvSpPr txBox="1"/>
          <p:nvPr/>
        </p:nvSpPr>
        <p:spPr>
          <a:xfrm>
            <a:off x="7868716"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23" name="Rounded Rectangle 22"/>
          <p:cNvSpPr/>
          <p:nvPr/>
        </p:nvSpPr>
        <p:spPr>
          <a:xfrm>
            <a:off x="8280196"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0196" y="1243584"/>
            <a:ext cx="354573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4788" y="1371600"/>
            <a:ext cx="3216554" cy="237744"/>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6" name="TextBox 25"/>
          <p:cNvSpPr txBox="1"/>
          <p:nvPr/>
        </p:nvSpPr>
        <p:spPr>
          <a:xfrm>
            <a:off x="8444788"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エアロゲル断熱層</a:t>
            </a:r>
          </a:p>
        </p:txBody>
      </p:sp>
      <p:sp>
        <p:nvSpPr>
          <p:cNvPr id="27" name="TextBox 26"/>
          <p:cNvSpPr txBox="1"/>
          <p:nvPr/>
        </p:nvSpPr>
        <p:spPr>
          <a:xfrm>
            <a:off x="8444788"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多孔質シリカエアロゲルが in situ で完成</a:t>
            </a:r>
          </a:p>
          <a:p>
            <a:pPr algn="l"/>
            <a:r>
              <a:rPr sz="1100" b="0" i="0">
                <a:solidFill>
                  <a:srgbClr val="475569"/>
                </a:solidFill>
                <a:latin typeface="Noto Sans JP"/>
              </a:rPr>
              <a:t>→ 乾燥後も基材を断熱保護</a:t>
            </a:r>
          </a:p>
        </p:txBody>
      </p:sp>
      <p:sp>
        <p:nvSpPr>
          <p:cNvPr id="28" name="TextBox 27"/>
          <p:cNvSpPr txBox="1"/>
          <p:nvPr/>
        </p:nvSpPr>
        <p:spPr>
          <a:xfrm>
            <a:off x="365760" y="300837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4つの主要成果</a:t>
            </a:r>
          </a:p>
        </p:txBody>
      </p:sp>
      <p:sp>
        <p:nvSpPr>
          <p:cNvPr id="29" name="Rounded Rectangle 28"/>
          <p:cNvSpPr/>
          <p:nvPr/>
        </p:nvSpPr>
        <p:spPr>
          <a:xfrm>
            <a:off x="365760"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374136"/>
            <a:ext cx="54864" cy="1188720"/>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20440"/>
            <a:ext cx="2458135" cy="457200"/>
          </a:xfrm>
          <a:prstGeom prst="rect">
            <a:avLst/>
          </a:prstGeom>
          <a:noFill/>
        </p:spPr>
        <p:txBody>
          <a:bodyPr wrap="square" anchor="t" lIns="36000" rIns="36000" tIns="18000" bIns="18000">
            <a:spAutoFit/>
          </a:bodyPr>
          <a:lstStyle/>
          <a:p>
            <a:pPr algn="l"/>
            <a:r>
              <a:rPr sz="2200" b="1" i="0">
                <a:solidFill>
                  <a:srgbClr val="5B8C5A"/>
                </a:solidFill>
                <a:latin typeface="Noto Sans JP"/>
              </a:rPr>
              <a:t>3–6×</a:t>
            </a:r>
          </a:p>
        </p:txBody>
      </p:sp>
      <p:sp>
        <p:nvSpPr>
          <p:cNvPr id="32" name="TextBox 31"/>
          <p:cNvSpPr txBox="1"/>
          <p:nvPr/>
        </p:nvSpPr>
        <p:spPr>
          <a:xfrm>
            <a:off x="548640"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市販品比の保護時間</a:t>
            </a:r>
          </a:p>
        </p:txBody>
      </p:sp>
      <p:sp>
        <p:nvSpPr>
          <p:cNvPr id="33" name="Rounded Rectangle 32"/>
          <p:cNvSpPr/>
          <p:nvPr/>
        </p:nvSpPr>
        <p:spPr>
          <a:xfrm>
            <a:off x="3262807"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62807" y="3374136"/>
            <a:ext cx="54864" cy="1188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5687" y="3520440"/>
            <a:ext cx="2458135" cy="457200"/>
          </a:xfrm>
          <a:prstGeom prst="rect">
            <a:avLst/>
          </a:prstGeom>
          <a:noFill/>
        </p:spPr>
        <p:txBody>
          <a:bodyPr wrap="square" anchor="t" lIns="36000" rIns="36000" tIns="18000" bIns="18000">
            <a:spAutoFit/>
          </a:bodyPr>
          <a:lstStyle/>
          <a:p>
            <a:pPr algn="l"/>
            <a:r>
              <a:rPr sz="2200" b="1" i="0">
                <a:solidFill>
                  <a:srgbClr val="3B5174"/>
                </a:solidFill>
                <a:latin typeface="Noto Sans JP"/>
              </a:rPr>
              <a:t>自己形成</a:t>
            </a:r>
          </a:p>
        </p:txBody>
      </p:sp>
      <p:sp>
        <p:nvSpPr>
          <p:cNvPr id="36" name="TextBox 35"/>
          <p:cNvSpPr txBox="1"/>
          <p:nvPr/>
        </p:nvSpPr>
        <p:spPr>
          <a:xfrm>
            <a:off x="3445687"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エアロゲル断熱層を in situ 生成</a:t>
            </a:r>
          </a:p>
        </p:txBody>
      </p:sp>
      <p:sp>
        <p:nvSpPr>
          <p:cNvPr id="37" name="Rounded Rectangle 36"/>
          <p:cNvSpPr/>
          <p:nvPr/>
        </p:nvSpPr>
        <p:spPr>
          <a:xfrm>
            <a:off x="6159855"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59855" y="3374136"/>
            <a:ext cx="54864" cy="1188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42735" y="3520440"/>
            <a:ext cx="2458135" cy="457200"/>
          </a:xfrm>
          <a:prstGeom prst="rect">
            <a:avLst/>
          </a:prstGeom>
          <a:noFill/>
        </p:spPr>
        <p:txBody>
          <a:bodyPr wrap="square" anchor="t" lIns="36000" rIns="36000" tIns="18000" bIns="18000">
            <a:spAutoFit/>
          </a:bodyPr>
          <a:lstStyle/>
          <a:p>
            <a:pPr algn="l"/>
            <a:r>
              <a:rPr sz="2200" b="1" i="0">
                <a:solidFill>
                  <a:srgbClr val="4A7C8C"/>
                </a:solidFill>
                <a:latin typeface="Noto Sans JP"/>
              </a:rPr>
              <a:t>噴霧可能</a:t>
            </a:r>
          </a:p>
        </p:txBody>
      </p:sp>
      <p:sp>
        <p:nvSpPr>
          <p:cNvPr id="40" name="TextBox 39"/>
          <p:cNvSpPr txBox="1"/>
          <p:nvPr/>
        </p:nvSpPr>
        <p:spPr>
          <a:xfrm>
            <a:off x="6342735"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既存散布インフラと互換</a:t>
            </a:r>
          </a:p>
        </p:txBody>
      </p:sp>
      <p:sp>
        <p:nvSpPr>
          <p:cNvPr id="41" name="Rounded Rectangle 40"/>
          <p:cNvSpPr/>
          <p:nvPr/>
        </p:nvSpPr>
        <p:spPr>
          <a:xfrm>
            <a:off x="9056903"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056903" y="3374136"/>
            <a:ext cx="54864" cy="1188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39783" y="3520440"/>
            <a:ext cx="2458135" cy="457200"/>
          </a:xfrm>
          <a:prstGeom prst="rect">
            <a:avLst/>
          </a:prstGeom>
          <a:noFill/>
        </p:spPr>
        <p:txBody>
          <a:bodyPr wrap="square" anchor="t" lIns="36000" rIns="36000" tIns="18000" bIns="18000">
            <a:spAutoFit/>
          </a:bodyPr>
          <a:lstStyle/>
          <a:p>
            <a:pPr algn="l"/>
            <a:r>
              <a:rPr sz="2200" b="1" i="0">
                <a:solidFill>
                  <a:srgbClr val="9F7639"/>
                </a:solidFill>
                <a:latin typeface="Noto Sans JP"/>
              </a:rPr>
              <a:t>持続可能</a:t>
            </a:r>
          </a:p>
        </p:txBody>
      </p:sp>
      <p:sp>
        <p:nvSpPr>
          <p:cNvPr id="44" name="TextBox 43"/>
          <p:cNvSpPr txBox="1"/>
          <p:nvPr/>
        </p:nvSpPr>
        <p:spPr>
          <a:xfrm>
            <a:off x="9239783"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セルロース系・安全な原料</a:t>
            </a:r>
          </a:p>
        </p:txBody>
      </p:sp>
      <p:sp>
        <p:nvSpPr>
          <p:cNvPr id="45" name="Rounded Rectangle 44"/>
          <p:cNvSpPr/>
          <p:nvPr/>
        </p:nvSpPr>
        <p:spPr>
          <a:xfrm>
            <a:off x="365760" y="4764024"/>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5760" y="4764024"/>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64024"/>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8" name="TextBox 47"/>
          <p:cNvSpPr txBox="1"/>
          <p:nvPr/>
        </p:nvSpPr>
        <p:spPr>
          <a:xfrm>
            <a:off x="960120" y="4764024"/>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 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