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463040"/>
            <a:ext cx="11338560" cy="2011680"/>
          </a:xfrm>
          <a:prstGeom prst="rect">
            <a:avLst/>
          </a:prstGeom>
          <a:noFill/>
        </p:spPr>
        <p:txBody>
          <a:bodyPr wrap="square">
            <a:spAutoFit/>
          </a:bodyPr>
          <a:lstStyle/>
          <a:p>
            <a:pPr algn="ctr"/>
            <a:r>
              <a:rPr sz="3400" b="1" i="0">
                <a:solidFill>
                  <a:srgbClr val="FFFFFF"/>
                </a:solidFill>
              </a:rPr>
              <a:t>山火事から守る 熱活性化シリカエアロゲル</a:t>
            </a:r>
          </a:p>
        </p:txBody>
      </p:sp>
      <p:sp>
        <p:nvSpPr>
          <p:cNvPr id="6" name="TextBox 5"/>
          <p:cNvSpPr txBox="1"/>
          <p:nvPr/>
        </p:nvSpPr>
        <p:spPr>
          <a:xfrm>
            <a:off x="731520" y="3566160"/>
            <a:ext cx="10789920" cy="1097280"/>
          </a:xfrm>
          <a:prstGeom prst="rect">
            <a:avLst/>
          </a:prstGeom>
          <a:noFill/>
        </p:spPr>
        <p:txBody>
          <a:bodyPr wrap="square">
            <a:spAutoFit/>
          </a:bodyPr>
          <a:lstStyle/>
          <a:p>
            <a:pPr algn="ctr"/>
            <a:r>
              <a:rPr sz="1600" b="0" i="0">
                <a:solidFill>
                  <a:srgbClr val="B8CCE2"/>
                </a:solidFill>
              </a:rPr>
              <a:t>セルロース系ポリマー × コロイダルシリカ粒子で実現した、 加熱時に自己発泡してエアロゲル層を形成する次世代難燃ゲル</a:t>
            </a:r>
          </a:p>
        </p:txBody>
      </p:sp>
      <p:sp>
        <p:nvSpPr>
          <p:cNvPr id="7" name="TextBox 6"/>
          <p:cNvSpPr txBox="1"/>
          <p:nvPr/>
        </p:nvSpPr>
        <p:spPr>
          <a:xfrm>
            <a:off x="731520" y="4754880"/>
            <a:ext cx="10789920" cy="457200"/>
          </a:xfrm>
          <a:prstGeom prst="rect">
            <a:avLst/>
          </a:prstGeom>
          <a:noFill/>
        </p:spPr>
        <p:txBody>
          <a:bodyPr wrap="square">
            <a:spAutoFit/>
          </a:bodyPr>
          <a:lstStyle/>
          <a:p>
            <a:pPr algn="ctr"/>
            <a:r>
              <a:rPr sz="1200" b="0" i="0">
                <a:solidFill>
                  <a:srgbClr val="778AA0"/>
                </a:solidFill>
              </a:rPr>
              <a:t>材料化学 / 防火工学  ·  Stanford University, Appel Lab  ·  Adv. Mater. 36, 2407375  ·  Dong et al., 2024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Contents</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発表の構成</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 / 36</a:t>
            </a:r>
          </a:p>
        </p:txBody>
      </p:sp>
      <p:sp>
        <p:nvSpPr>
          <p:cNvPr id="9" name="Rectangle 8"/>
          <p:cNvSpPr/>
          <p:nvPr/>
        </p:nvSpPr>
        <p:spPr>
          <a:xfrm>
            <a:off x="365760"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2586151" cy="292608"/>
          </a:xfrm>
          <a:prstGeom prst="rect">
            <a:avLst/>
          </a:prstGeom>
          <a:noFill/>
        </p:spPr>
        <p:txBody>
          <a:bodyPr wrap="square">
            <a:spAutoFit/>
          </a:bodyPr>
          <a:lstStyle/>
          <a:p>
            <a:pPr algn="l"/>
            <a:r>
              <a:rPr sz="1200" b="1" i="0">
                <a:solidFill>
                  <a:srgbClr val="1E293B"/>
                </a:solidFill>
              </a:rPr>
              <a:t>研究背景</a:t>
            </a:r>
          </a:p>
        </p:txBody>
      </p:sp>
      <p:sp>
        <p:nvSpPr>
          <p:cNvPr id="12" name="TextBox 11"/>
          <p:cNvSpPr txBox="1"/>
          <p:nvPr/>
        </p:nvSpPr>
        <p:spPr>
          <a:xfrm>
            <a:off x="475488" y="1261872"/>
            <a:ext cx="2586151" cy="4828032"/>
          </a:xfrm>
          <a:prstGeom prst="rect">
            <a:avLst/>
          </a:prstGeom>
          <a:noFill/>
        </p:spPr>
        <p:txBody>
          <a:bodyPr wrap="square">
            <a:spAutoFit/>
          </a:bodyPr>
          <a:lstStyle/>
          <a:p>
            <a:pPr algn="l"/>
            <a:r>
              <a:rPr sz="1000" b="0" i="0">
                <a:solidFill>
                  <a:srgbClr val="475569"/>
                </a:solidFill>
              </a:rPr>
              <a:t>山火事の現状、既存技術（Phos-Chek, AquaGel-K）の限界、本研究の革新点</a:t>
            </a:r>
          </a:p>
        </p:txBody>
      </p:sp>
      <p:sp>
        <p:nvSpPr>
          <p:cNvPr id="13" name="Rectangle 12"/>
          <p:cNvSpPr/>
          <p:nvPr/>
        </p:nvSpPr>
        <p:spPr>
          <a:xfrm>
            <a:off x="3262807"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62807"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72535" y="950976"/>
            <a:ext cx="2586151" cy="292608"/>
          </a:xfrm>
          <a:prstGeom prst="rect">
            <a:avLst/>
          </a:prstGeom>
          <a:noFill/>
        </p:spPr>
        <p:txBody>
          <a:bodyPr wrap="square">
            <a:spAutoFit/>
          </a:bodyPr>
          <a:lstStyle/>
          <a:p>
            <a:pPr algn="l"/>
            <a:r>
              <a:rPr sz="1200" b="1" i="0">
                <a:solidFill>
                  <a:srgbClr val="1E293B"/>
                </a:solidFill>
              </a:rPr>
              <a:t>材料・方法</a:t>
            </a:r>
          </a:p>
        </p:txBody>
      </p:sp>
      <p:sp>
        <p:nvSpPr>
          <p:cNvPr id="16" name="TextBox 15"/>
          <p:cNvSpPr txBox="1"/>
          <p:nvPr/>
        </p:nvSpPr>
        <p:spPr>
          <a:xfrm>
            <a:off x="3372535" y="1261872"/>
            <a:ext cx="2586151" cy="4828032"/>
          </a:xfrm>
          <a:prstGeom prst="rect">
            <a:avLst/>
          </a:prstGeom>
          <a:noFill/>
        </p:spPr>
        <p:txBody>
          <a:bodyPr wrap="square">
            <a:spAutoFit/>
          </a:bodyPr>
          <a:lstStyle/>
          <a:p>
            <a:pPr algn="l"/>
            <a:r>
              <a:rPr sz="1000" b="0" i="0">
                <a:solidFill>
                  <a:srgbClr val="475569"/>
                </a:solidFill>
              </a:rPr>
              <a:t>セルロース系ポリマー（MCの熱ゲル化特性含む）、CSP、配合系（5種）、評価手法</a:t>
            </a:r>
          </a:p>
        </p:txBody>
      </p:sp>
      <p:sp>
        <p:nvSpPr>
          <p:cNvPr id="17" name="Rectangle 16"/>
          <p:cNvSpPr/>
          <p:nvPr/>
        </p:nvSpPr>
        <p:spPr>
          <a:xfrm>
            <a:off x="6159855"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59855"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9583" y="950976"/>
            <a:ext cx="2586151" cy="292608"/>
          </a:xfrm>
          <a:prstGeom prst="rect">
            <a:avLst/>
          </a:prstGeom>
          <a:noFill/>
        </p:spPr>
        <p:txBody>
          <a:bodyPr wrap="square">
            <a:spAutoFit/>
          </a:bodyPr>
          <a:lstStyle/>
          <a:p>
            <a:pPr algn="l"/>
            <a:r>
              <a:rPr sz="1200" b="1" i="0">
                <a:solidFill>
                  <a:srgbClr val="1E293B"/>
                </a:solidFill>
              </a:rPr>
              <a:t>実験結果</a:t>
            </a:r>
          </a:p>
        </p:txBody>
      </p:sp>
      <p:sp>
        <p:nvSpPr>
          <p:cNvPr id="20" name="TextBox 19"/>
          <p:cNvSpPr txBox="1"/>
          <p:nvPr/>
        </p:nvSpPr>
        <p:spPr>
          <a:xfrm>
            <a:off x="6269583" y="1261872"/>
            <a:ext cx="2586151" cy="4828032"/>
          </a:xfrm>
          <a:prstGeom prst="rect">
            <a:avLst/>
          </a:prstGeom>
          <a:noFill/>
        </p:spPr>
        <p:txBody>
          <a:bodyPr wrap="square">
            <a:spAutoFit/>
          </a:bodyPr>
          <a:lstStyle/>
          <a:p>
            <a:pPr algn="l"/>
            <a:r>
              <a:rPr sz="1000" b="0" i="0">
                <a:solidFill>
                  <a:srgbClr val="475569"/>
                </a:solidFill>
              </a:rPr>
              <a:t>レオロジー（HB model含む）、燃焼試験、発泡指数、FT-IR/XPS/TGA、SEM、エアロゲル機構</a:t>
            </a:r>
          </a:p>
        </p:txBody>
      </p:sp>
      <p:sp>
        <p:nvSpPr>
          <p:cNvPr id="21" name="Rectangle 20"/>
          <p:cNvSpPr/>
          <p:nvPr/>
        </p:nvSpPr>
        <p:spPr>
          <a:xfrm>
            <a:off x="9056903"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56903"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66631" y="950976"/>
            <a:ext cx="2586151" cy="292608"/>
          </a:xfrm>
          <a:prstGeom prst="rect">
            <a:avLst/>
          </a:prstGeom>
          <a:noFill/>
        </p:spPr>
        <p:txBody>
          <a:bodyPr wrap="square">
            <a:spAutoFit/>
          </a:bodyPr>
          <a:lstStyle/>
          <a:p>
            <a:pPr algn="l"/>
            <a:r>
              <a:rPr sz="1200" b="1" i="0">
                <a:solidFill>
                  <a:srgbClr val="1E293B"/>
                </a:solidFill>
              </a:rPr>
              <a:t>考察・まとめ</a:t>
            </a:r>
          </a:p>
        </p:txBody>
      </p:sp>
      <p:sp>
        <p:nvSpPr>
          <p:cNvPr id="24" name="TextBox 23"/>
          <p:cNvSpPr txBox="1"/>
          <p:nvPr/>
        </p:nvSpPr>
        <p:spPr>
          <a:xfrm>
            <a:off x="9166631" y="1261872"/>
            <a:ext cx="2586151" cy="4828032"/>
          </a:xfrm>
          <a:prstGeom prst="rect">
            <a:avLst/>
          </a:prstGeom>
          <a:noFill/>
        </p:spPr>
        <p:txBody>
          <a:bodyPr wrap="square">
            <a:spAutoFit/>
          </a:bodyPr>
          <a:lstStyle/>
          <a:p>
            <a:pPr algn="l"/>
            <a:r>
              <a:rPr sz="1000" b="0" i="0">
                <a:solidFill>
                  <a:srgbClr val="475569"/>
                </a:solidFill>
              </a:rPr>
              <a:t>実装シナリオ、既存品との比較、結論と今後の展望</a:t>
            </a:r>
          </a:p>
        </p:txBody>
      </p:sp>
      <p:sp>
        <p:nvSpPr>
          <p:cNvPr id="25" name="Rectangle 24"/>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キーメッセージ：加熱時の発泡 + シリカ粒子の焼結 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9144000" cy="365760"/>
          </a:xfrm>
          <a:prstGeom prst="rect">
            <a:avLst/>
          </a:prstGeom>
          <a:noFill/>
        </p:spPr>
        <p:txBody>
          <a:bodyPr wrap="square">
            <a:spAutoFit/>
          </a:bodyPr>
          <a:lstStyle/>
          <a:p>
            <a:pPr algn="l"/>
            <a:r>
              <a:rPr sz="1200" b="0" i="0">
                <a:solidFill>
                  <a:srgbClr val="88A4C0"/>
                </a:solidFill>
              </a:rPr>
              <a:t>Part 1</a:t>
            </a:r>
          </a:p>
        </p:txBody>
      </p:sp>
      <p:sp>
        <p:nvSpPr>
          <p:cNvPr id="5" name="TextBox 4"/>
          <p:cNvSpPr txBox="1"/>
          <p:nvPr/>
        </p:nvSpPr>
        <p:spPr>
          <a:xfrm>
            <a:off x="914400" y="1783080"/>
            <a:ext cx="9144000" cy="1188720"/>
          </a:xfrm>
          <a:prstGeom prst="rect">
            <a:avLst/>
          </a:prstGeom>
          <a:noFill/>
        </p:spPr>
        <p:txBody>
          <a:bodyPr wrap="square">
            <a:spAutoFit/>
          </a:bodyPr>
          <a:lstStyle/>
          <a:p>
            <a:pPr algn="l"/>
            <a:r>
              <a:rPr sz="4600" b="1" i="0">
                <a:solidFill>
                  <a:srgbClr val="FFFFFF"/>
                </a:solidFill>
              </a:rPr>
              <a:t>研究背景</a:t>
            </a:r>
          </a:p>
        </p:txBody>
      </p:sp>
      <p:sp>
        <p:nvSpPr>
          <p:cNvPr id="6" name="TextBox 5"/>
          <p:cNvSpPr txBox="1"/>
          <p:nvPr/>
        </p:nvSpPr>
        <p:spPr>
          <a:xfrm>
            <a:off x="914400" y="3063240"/>
            <a:ext cx="9144000" cy="731520"/>
          </a:xfrm>
          <a:prstGeom prst="rect">
            <a:avLst/>
          </a:prstGeom>
          <a:noFill/>
        </p:spPr>
        <p:txBody>
          <a:bodyPr wrap="square">
            <a:spAutoFit/>
          </a:bodyPr>
          <a:lstStyle/>
          <a:p>
            <a:pPr algn="l"/>
            <a:r>
              <a:rPr sz="1700" b="0" i="0">
                <a:solidFill>
                  <a:srgbClr val="88A8C8"/>
                </a:solidFill>
              </a:rPr>
              <a:t>気候変動下の山火事被害と、既存難燃技術が抱える本質的な限界</a:t>
            </a:r>
          </a:p>
        </p:txBody>
      </p:sp>
      <p:sp>
        <p:nvSpPr>
          <p:cNvPr id="7" name="Rectangle 6"/>
          <p:cNvSpPr/>
          <p:nvPr/>
        </p:nvSpPr>
        <p:spPr>
          <a:xfrm>
            <a:off x="91440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078224"/>
            <a:ext cx="1097280" cy="256032"/>
          </a:xfrm>
          <a:prstGeom prst="rect">
            <a:avLst/>
          </a:prstGeom>
          <a:noFill/>
        </p:spPr>
        <p:txBody>
          <a:bodyPr wrap="square">
            <a:spAutoFit/>
          </a:bodyPr>
          <a:lstStyle/>
          <a:p>
            <a:pPr algn="l"/>
            <a:r>
              <a:rPr sz="1100" b="0" i="0">
                <a:solidFill>
                  <a:srgbClr val="BBCCDE"/>
                </a:solidFill>
              </a:rPr>
              <a:t>山火事の現状</a:t>
            </a:r>
          </a:p>
        </p:txBody>
      </p:sp>
      <p:sp>
        <p:nvSpPr>
          <p:cNvPr id="9" name="Rectangle 8"/>
          <p:cNvSpPr/>
          <p:nvPr/>
        </p:nvSpPr>
        <p:spPr>
          <a:xfrm>
            <a:off x="2377440" y="4023360"/>
            <a:ext cx="1307592"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4078224"/>
            <a:ext cx="1124712" cy="256032"/>
          </a:xfrm>
          <a:prstGeom prst="rect">
            <a:avLst/>
          </a:prstGeom>
          <a:noFill/>
        </p:spPr>
        <p:txBody>
          <a:bodyPr wrap="square">
            <a:spAutoFit/>
          </a:bodyPr>
          <a:lstStyle/>
          <a:p>
            <a:pPr algn="l"/>
            <a:r>
              <a:rPr sz="1100" b="0" i="0">
                <a:solidFill>
                  <a:srgbClr val="BBCCDE"/>
                </a:solidFill>
              </a:rPr>
              <a:t>既存WEG / 難燃剤</a:t>
            </a:r>
          </a:p>
        </p:txBody>
      </p:sp>
      <p:sp>
        <p:nvSpPr>
          <p:cNvPr id="11" name="Rectangle 10"/>
          <p:cNvSpPr/>
          <p:nvPr/>
        </p:nvSpPr>
        <p:spPr>
          <a:xfrm>
            <a:off x="3867912"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05072" y="4078224"/>
            <a:ext cx="1097280" cy="256032"/>
          </a:xfrm>
          <a:prstGeom prst="rect">
            <a:avLst/>
          </a:prstGeom>
          <a:noFill/>
        </p:spPr>
        <p:txBody>
          <a:bodyPr wrap="square">
            <a:spAutoFit/>
          </a:bodyPr>
          <a:lstStyle/>
          <a:p>
            <a:pPr algn="l"/>
            <a:r>
              <a:rPr sz="1100" b="0" i="0">
                <a:solidFill>
                  <a:srgbClr val="BBCCDE"/>
                </a:solidFill>
              </a:rPr>
              <a:t>本研究の革新</a:t>
            </a:r>
          </a:p>
        </p:txBody>
      </p:sp>
      <p:sp>
        <p:nvSpPr>
          <p:cNvPr id="13" name="TextBox 12"/>
          <p:cNvSpPr txBox="1"/>
          <p:nvPr/>
        </p:nvSpPr>
        <p:spPr>
          <a:xfrm>
            <a:off x="11002975" y="6537960"/>
            <a:ext cx="1005840" cy="237744"/>
          </a:xfrm>
          <a:prstGeom prst="rect">
            <a:avLst/>
          </a:prstGeom>
          <a:noFill/>
        </p:spPr>
        <p:txBody>
          <a:bodyPr wrap="square">
            <a:spAutoFit/>
          </a:bodyPr>
          <a:lstStyle/>
          <a:p>
            <a:pPr algn="r"/>
            <a:r>
              <a:rPr sz="900" b="0" i="0">
                <a:solidFill>
                  <a:srgbClr val="556677"/>
                </a:solidFill>
              </a:rPr>
              <a:t>3 /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背景 1/4</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山火事被害の深刻化とWUIリスク</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4 / 36</a:t>
            </a:r>
          </a:p>
        </p:txBody>
      </p:sp>
      <p:pic>
        <p:nvPicPr>
          <p:cNvPr id="9" name="Picture 8" descr="fig3c_timelapse.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924426" cy="3584448"/>
          </a:xfrm>
          <a:prstGeom prst="rect">
            <a:avLst/>
          </a:prstGeom>
          <a:noFill/>
        </p:spPr>
        <p:txBody>
          <a:bodyPr wrap="square">
            <a:spAutoFit/>
          </a:bodyPr>
          <a:lstStyle/>
          <a:p>
            <a:pPr algn="l"/>
            <a:r>
              <a:rPr sz="1000" b="0" i="0">
                <a:solidFill>
                  <a:srgbClr val="475569"/>
                </a:solidFill>
              </a:rPr>
              <a:t>5</a:t>
            </a:r>
          </a:p>
          <a:p>
            <a:pPr algn="l"/>
            <a:r>
              <a:rPr sz="1000" b="0" i="0">
                <a:solidFill>
                  <a:srgbClr val="475569"/>
                </a:solidFill>
              </a:rPr>
              <a:t>倍</a:t>
            </a:r>
          </a:p>
          <a:p>
            <a:pPr algn="l"/>
            <a:r>
              <a:rPr sz="1000" b="0" i="0">
                <a:solidFill>
                  <a:srgbClr val="475569"/>
                </a:solidFill>
              </a:rPr>
              <a:t>大規模山火事の増加</a:t>
            </a:r>
          </a:p>
          <a:p>
            <a:pPr algn="l"/>
            <a:r>
              <a:rPr sz="1000" b="0" i="0">
                <a:solidFill>
                  <a:srgbClr val="475569"/>
                </a:solidFill>
              </a:rPr>
              <a:t>過去30年で焼失面積拡大</a:t>
            </a:r>
          </a:p>
        </p:txBody>
      </p:sp>
      <p:sp>
        <p:nvSpPr>
          <p:cNvPr id="13" name="Rectangle 12"/>
          <p:cNvSpPr/>
          <p:nvPr/>
        </p:nvSpPr>
        <p:spPr>
          <a:xfrm>
            <a:off x="8247983"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47983"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7711" y="950976"/>
            <a:ext cx="924426" cy="3584448"/>
          </a:xfrm>
          <a:prstGeom prst="rect">
            <a:avLst/>
          </a:prstGeom>
          <a:noFill/>
        </p:spPr>
        <p:txBody>
          <a:bodyPr wrap="square">
            <a:spAutoFit/>
          </a:bodyPr>
          <a:lstStyle/>
          <a:p>
            <a:pPr algn="l"/>
            <a:r>
              <a:rPr sz="1000" b="0" i="0">
                <a:solidFill>
                  <a:srgbClr val="475569"/>
                </a:solidFill>
              </a:rPr>
              <a:t>400</a:t>
            </a:r>
          </a:p>
          <a:p>
            <a:pPr algn="l"/>
            <a:r>
              <a:rPr sz="1000" b="0" i="0">
                <a:solidFill>
                  <a:srgbClr val="475569"/>
                </a:solidFill>
              </a:rPr>
              <a:t>万km²</a:t>
            </a:r>
          </a:p>
          <a:p>
            <a:pPr algn="l"/>
            <a:r>
              <a:rPr sz="1000" b="0" i="0">
                <a:solidFill>
                  <a:srgbClr val="475569"/>
                </a:solidFill>
              </a:rPr>
              <a:t>年間焼失面積（世界）</a:t>
            </a:r>
          </a:p>
          <a:p>
            <a:pPr algn="l"/>
            <a:r>
              <a:rPr sz="1000" b="0" i="0">
                <a:solidFill>
                  <a:srgbClr val="475569"/>
                </a:solidFill>
              </a:rPr>
              <a:t>気候変動・干ばつが要因</a:t>
            </a:r>
          </a:p>
        </p:txBody>
      </p:sp>
      <p:sp>
        <p:nvSpPr>
          <p:cNvPr id="16" name="Rectangle 15"/>
          <p:cNvSpPr/>
          <p:nvPr/>
        </p:nvSpPr>
        <p:spPr>
          <a:xfrm>
            <a:off x="9483306"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483306"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93034" y="950976"/>
            <a:ext cx="924426" cy="3584448"/>
          </a:xfrm>
          <a:prstGeom prst="rect">
            <a:avLst/>
          </a:prstGeom>
          <a:noFill/>
        </p:spPr>
        <p:txBody>
          <a:bodyPr wrap="square">
            <a:spAutoFit/>
          </a:bodyPr>
          <a:lstStyle/>
          <a:p>
            <a:pPr algn="l"/>
            <a:r>
              <a:rPr sz="1000" b="0" i="0">
                <a:solidFill>
                  <a:srgbClr val="475569"/>
                </a:solidFill>
              </a:rPr>
              <a:t>4500</a:t>
            </a:r>
          </a:p>
          <a:p>
            <a:pPr algn="l"/>
            <a:r>
              <a:rPr sz="1000" b="0" i="0">
                <a:solidFill>
                  <a:srgbClr val="475569"/>
                </a:solidFill>
              </a:rPr>
              <a:t>万人</a:t>
            </a:r>
          </a:p>
          <a:p>
            <a:pPr algn="l"/>
            <a:r>
              <a:rPr sz="1000" b="0" i="0">
                <a:solidFill>
                  <a:srgbClr val="475569"/>
                </a:solidFill>
              </a:rPr>
              <a:t>米国WUI居住者</a:t>
            </a:r>
          </a:p>
          <a:p>
            <a:pPr algn="l"/>
            <a:r>
              <a:rPr sz="1000" b="0" i="0">
                <a:solidFill>
                  <a:srgbClr val="475569"/>
                </a:solidFill>
              </a:rPr>
              <a:t>境界帯のリスク層</a:t>
            </a:r>
          </a:p>
        </p:txBody>
      </p:sp>
      <p:sp>
        <p:nvSpPr>
          <p:cNvPr id="19" name="Rectangle 18"/>
          <p:cNvSpPr/>
          <p:nvPr/>
        </p:nvSpPr>
        <p:spPr>
          <a:xfrm>
            <a:off x="10718628"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718628"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28356" y="950976"/>
            <a:ext cx="924426" cy="3584448"/>
          </a:xfrm>
          <a:prstGeom prst="rect">
            <a:avLst/>
          </a:prstGeom>
          <a:noFill/>
        </p:spPr>
        <p:txBody>
          <a:bodyPr wrap="square">
            <a:spAutoFit/>
          </a:bodyPr>
          <a:lstStyle/>
          <a:p>
            <a:pPr algn="l"/>
            <a:r>
              <a:rPr sz="1000" b="0" i="0">
                <a:solidFill>
                  <a:srgbClr val="475569"/>
                </a:solidFill>
              </a:rPr>
              <a:t>用語</a:t>
            </a:r>
          </a:p>
          <a:p>
            <a:pPr algn="l"/>
            <a:r>
              <a:rPr sz="1000" b="0" i="0">
                <a:solidFill>
                  <a:srgbClr val="475569"/>
                </a:solidFill>
              </a:rPr>
              <a:t>WUI</a:t>
            </a:r>
          </a:p>
          <a:p>
            <a:pPr algn="l"/>
            <a:r>
              <a:rPr sz="1000" b="0" i="0">
                <a:solidFill>
                  <a:srgbClr val="475569"/>
                </a:solidFill>
              </a:rPr>
              <a:t>（Wildland-Urban Interface）：野生地と都市の境界帯。山火事被害が住宅に直接及ぶ高リスク領域</a:t>
            </a:r>
          </a:p>
        </p:txBody>
      </p:sp>
      <p:sp>
        <p:nvSpPr>
          <p:cNvPr id="22" name="Rectangle 21"/>
          <p:cNvSpPr/>
          <p:nvPr/>
        </p:nvSpPr>
        <p:spPr>
          <a:xfrm>
            <a:off x="365760"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 y="4901184"/>
            <a:ext cx="2586151" cy="1600200"/>
          </a:xfrm>
          <a:prstGeom prst="rect">
            <a:avLst/>
          </a:prstGeom>
          <a:noFill/>
        </p:spPr>
        <p:txBody>
          <a:bodyPr wrap="square">
            <a:spAutoFit/>
          </a:bodyPr>
          <a:lstStyle/>
          <a:p>
            <a:pPr algn="l"/>
            <a:r>
              <a:rPr sz="1000" b="0" i="0">
                <a:solidFill>
                  <a:srgbClr val="475569"/>
                </a:solidFill>
              </a:rPr>
              <a:t>5</a:t>
            </a:r>
          </a:p>
          <a:p>
            <a:pPr algn="l"/>
            <a:r>
              <a:rPr sz="1000" b="0" i="0">
                <a:solidFill>
                  <a:srgbClr val="475569"/>
                </a:solidFill>
              </a:rPr>
              <a:t>倍</a:t>
            </a:r>
          </a:p>
          <a:p>
            <a:pPr algn="l"/>
            <a:r>
              <a:rPr sz="1000" b="0" i="0">
                <a:solidFill>
                  <a:srgbClr val="475569"/>
                </a:solidFill>
              </a:rPr>
              <a:t>大規模山火事の増加</a:t>
            </a:r>
          </a:p>
          <a:p>
            <a:pPr algn="l"/>
            <a:r>
              <a:rPr sz="1000" b="0" i="0">
                <a:solidFill>
                  <a:srgbClr val="475569"/>
                </a:solidFill>
              </a:rPr>
              <a:t>過去30年で焼失面積拡大</a:t>
            </a:r>
          </a:p>
        </p:txBody>
      </p:sp>
      <p:sp>
        <p:nvSpPr>
          <p:cNvPr id="25" name="Rectangle 24"/>
          <p:cNvSpPr/>
          <p:nvPr/>
        </p:nvSpPr>
        <p:spPr>
          <a:xfrm>
            <a:off x="3262807"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62807"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72535" y="4901184"/>
            <a:ext cx="2586151" cy="1600200"/>
          </a:xfrm>
          <a:prstGeom prst="rect">
            <a:avLst/>
          </a:prstGeom>
          <a:noFill/>
        </p:spPr>
        <p:txBody>
          <a:bodyPr wrap="square">
            <a:spAutoFit/>
          </a:bodyPr>
          <a:lstStyle/>
          <a:p>
            <a:pPr algn="l"/>
            <a:r>
              <a:rPr sz="1000" b="0" i="0">
                <a:solidFill>
                  <a:srgbClr val="475569"/>
                </a:solidFill>
              </a:rPr>
              <a:t>400</a:t>
            </a:r>
          </a:p>
          <a:p>
            <a:pPr algn="l"/>
            <a:r>
              <a:rPr sz="1000" b="0" i="0">
                <a:solidFill>
                  <a:srgbClr val="475569"/>
                </a:solidFill>
              </a:rPr>
              <a:t>万km²</a:t>
            </a:r>
          </a:p>
          <a:p>
            <a:pPr algn="l"/>
            <a:r>
              <a:rPr sz="1000" b="0" i="0">
                <a:solidFill>
                  <a:srgbClr val="475569"/>
                </a:solidFill>
              </a:rPr>
              <a:t>年間焼失面積（世界）</a:t>
            </a:r>
          </a:p>
          <a:p>
            <a:pPr algn="l"/>
            <a:r>
              <a:rPr sz="1000" b="0" i="0">
                <a:solidFill>
                  <a:srgbClr val="475569"/>
                </a:solidFill>
              </a:rPr>
              <a:t>気候変動・干ばつが要因</a:t>
            </a:r>
          </a:p>
        </p:txBody>
      </p:sp>
      <p:sp>
        <p:nvSpPr>
          <p:cNvPr id="28" name="Rectangle 27"/>
          <p:cNvSpPr/>
          <p:nvPr/>
        </p:nvSpPr>
        <p:spPr>
          <a:xfrm>
            <a:off x="6159855"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59855"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9583" y="4901184"/>
            <a:ext cx="2586151" cy="1600200"/>
          </a:xfrm>
          <a:prstGeom prst="rect">
            <a:avLst/>
          </a:prstGeom>
          <a:noFill/>
        </p:spPr>
        <p:txBody>
          <a:bodyPr wrap="square">
            <a:spAutoFit/>
          </a:bodyPr>
          <a:lstStyle/>
          <a:p>
            <a:pPr algn="l"/>
            <a:r>
              <a:rPr sz="1000" b="0" i="0">
                <a:solidFill>
                  <a:srgbClr val="475569"/>
                </a:solidFill>
              </a:rPr>
              <a:t>4500</a:t>
            </a:r>
          </a:p>
          <a:p>
            <a:pPr algn="l"/>
            <a:r>
              <a:rPr sz="1000" b="0" i="0">
                <a:solidFill>
                  <a:srgbClr val="475569"/>
                </a:solidFill>
              </a:rPr>
              <a:t>万人</a:t>
            </a:r>
          </a:p>
          <a:p>
            <a:pPr algn="l"/>
            <a:r>
              <a:rPr sz="1000" b="0" i="0">
                <a:solidFill>
                  <a:srgbClr val="475569"/>
                </a:solidFill>
              </a:rPr>
              <a:t>米国WUI居住者</a:t>
            </a:r>
          </a:p>
          <a:p>
            <a:pPr algn="l"/>
            <a:r>
              <a:rPr sz="1000" b="0" i="0">
                <a:solidFill>
                  <a:srgbClr val="475569"/>
                </a:solidFill>
              </a:rPr>
              <a:t>境界帯のリスク層</a:t>
            </a:r>
          </a:p>
        </p:txBody>
      </p:sp>
      <p:sp>
        <p:nvSpPr>
          <p:cNvPr id="31" name="Rectangle 30"/>
          <p:cNvSpPr/>
          <p:nvPr/>
        </p:nvSpPr>
        <p:spPr>
          <a:xfrm>
            <a:off x="9056903"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66631" y="4901184"/>
            <a:ext cx="2586151" cy="1600200"/>
          </a:xfrm>
          <a:prstGeom prst="rect">
            <a:avLst/>
          </a:prstGeom>
          <a:noFill/>
        </p:spPr>
        <p:txBody>
          <a:bodyPr wrap="square">
            <a:spAutoFit/>
          </a:bodyPr>
          <a:lstStyle/>
          <a:p>
            <a:pPr algn="l"/>
            <a:r>
              <a:rPr sz="1000" b="0" i="0">
                <a:solidFill>
                  <a:srgbClr val="475569"/>
                </a:solidFill>
              </a:rPr>
              <a:t>用語</a:t>
            </a:r>
          </a:p>
          <a:p>
            <a:pPr algn="l"/>
            <a:r>
              <a:rPr sz="1000" b="0" i="0">
                <a:solidFill>
                  <a:srgbClr val="475569"/>
                </a:solidFill>
              </a:rPr>
              <a:t>WUI</a:t>
            </a:r>
          </a:p>
          <a:p>
            <a:pPr algn="l"/>
            <a:r>
              <a:rPr sz="1000" b="0" i="0">
                <a:solidFill>
                  <a:srgbClr val="475569"/>
                </a:solidFill>
              </a:rPr>
              <a:t>（Wildland-Urban Interface）：野生地と都市の境界帯。山火事被害が住宅に直接及ぶ高リスク領域</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背景 2/4</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本研究のアプローチ：4段階の保護プロセス</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5 / 36</a:t>
            </a:r>
          </a:p>
        </p:txBody>
      </p:sp>
      <p:pic>
        <p:nvPicPr>
          <p:cNvPr id="9" name="Picture 8" descr="fig1a_scheme.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924426" cy="292608"/>
          </a:xfrm>
          <a:prstGeom prst="rect">
            <a:avLst/>
          </a:prstGeom>
          <a:noFill/>
        </p:spPr>
        <p:txBody>
          <a:bodyPr wrap="square">
            <a:spAutoFit/>
          </a:bodyPr>
          <a:lstStyle/>
          <a:p>
            <a:pPr algn="l"/>
            <a:r>
              <a:rPr sz="1200" b="1" i="0">
                <a:solidFill>
                  <a:srgbClr val="1E293B"/>
                </a:solidFill>
              </a:rPr>
              <a:t>ゲル散布</a:t>
            </a:r>
          </a:p>
        </p:txBody>
      </p:sp>
      <p:sp>
        <p:nvSpPr>
          <p:cNvPr id="13" name="TextBox 12"/>
          <p:cNvSpPr txBox="1"/>
          <p:nvPr/>
        </p:nvSpPr>
        <p:spPr>
          <a:xfrm>
            <a:off x="7122389" y="1261872"/>
            <a:ext cx="924426" cy="3273552"/>
          </a:xfrm>
          <a:prstGeom prst="rect">
            <a:avLst/>
          </a:prstGeom>
          <a:noFill/>
        </p:spPr>
        <p:txBody>
          <a:bodyPr wrap="square">
            <a:spAutoFit/>
          </a:bodyPr>
          <a:lstStyle/>
          <a:p>
            <a:pPr algn="l"/>
            <a:r>
              <a:rPr sz="1000" b="0" i="0">
                <a:solidFill>
                  <a:srgbClr val="475569"/>
                </a:solidFill>
              </a:rPr>
              <a:t>セルロース系ゲルを建物・植生にスプレー塗布。降伏応力ゲルなので垂直な壁面でも垂れずに留まる</a:t>
            </a:r>
          </a:p>
        </p:txBody>
      </p:sp>
      <p:sp>
        <p:nvSpPr>
          <p:cNvPr id="14" name="Rectangle 13"/>
          <p:cNvSpPr/>
          <p:nvPr/>
        </p:nvSpPr>
        <p:spPr>
          <a:xfrm>
            <a:off x="8247983"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47983"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711" y="950976"/>
            <a:ext cx="924426" cy="292608"/>
          </a:xfrm>
          <a:prstGeom prst="rect">
            <a:avLst/>
          </a:prstGeom>
          <a:noFill/>
        </p:spPr>
        <p:txBody>
          <a:bodyPr wrap="square">
            <a:spAutoFit/>
          </a:bodyPr>
          <a:lstStyle/>
          <a:p>
            <a:pPr algn="l"/>
            <a:r>
              <a:rPr sz="1200" b="1" i="0">
                <a:solidFill>
                  <a:srgbClr val="1E293B"/>
                </a:solidFill>
              </a:rPr>
              <a:t>火炎接触</a:t>
            </a:r>
          </a:p>
        </p:txBody>
      </p:sp>
      <p:sp>
        <p:nvSpPr>
          <p:cNvPr id="17" name="TextBox 16"/>
          <p:cNvSpPr txBox="1"/>
          <p:nvPr/>
        </p:nvSpPr>
        <p:spPr>
          <a:xfrm>
            <a:off x="8357711" y="1261872"/>
            <a:ext cx="924426" cy="3273552"/>
          </a:xfrm>
          <a:prstGeom prst="rect">
            <a:avLst/>
          </a:prstGeom>
          <a:noFill/>
        </p:spPr>
        <p:txBody>
          <a:bodyPr wrap="square">
            <a:spAutoFit/>
          </a:bodyPr>
          <a:lstStyle/>
          <a:p>
            <a:pPr algn="l"/>
            <a:r>
              <a:rPr sz="1000" b="0" i="0">
                <a:solidFill>
                  <a:srgbClr val="475569"/>
                </a:solidFill>
              </a:rPr>
              <a:t>水分が蒸発し、ゲルが発泡しながら粒子が凝集</a:t>
            </a:r>
          </a:p>
        </p:txBody>
      </p:sp>
      <p:sp>
        <p:nvSpPr>
          <p:cNvPr id="18" name="Rectangle 17"/>
          <p:cNvSpPr/>
          <p:nvPr/>
        </p:nvSpPr>
        <p:spPr>
          <a:xfrm>
            <a:off x="9483306"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483306"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93034" y="950976"/>
            <a:ext cx="924426" cy="292608"/>
          </a:xfrm>
          <a:prstGeom prst="rect">
            <a:avLst/>
          </a:prstGeom>
          <a:noFill/>
        </p:spPr>
        <p:txBody>
          <a:bodyPr wrap="square">
            <a:spAutoFit/>
          </a:bodyPr>
          <a:lstStyle/>
          <a:p>
            <a:pPr algn="l"/>
            <a:r>
              <a:rPr sz="1200" b="1" i="0">
                <a:solidFill>
                  <a:srgbClr val="1E293B"/>
                </a:solidFill>
              </a:rPr>
              <a:t>エアロゲル形成</a:t>
            </a:r>
          </a:p>
        </p:txBody>
      </p:sp>
      <p:sp>
        <p:nvSpPr>
          <p:cNvPr id="21" name="TextBox 20"/>
          <p:cNvSpPr txBox="1"/>
          <p:nvPr/>
        </p:nvSpPr>
        <p:spPr>
          <a:xfrm>
            <a:off x="9593034" y="1261872"/>
            <a:ext cx="924426" cy="3273552"/>
          </a:xfrm>
          <a:prstGeom prst="rect">
            <a:avLst/>
          </a:prstGeom>
          <a:noFill/>
        </p:spPr>
        <p:txBody>
          <a:bodyPr wrap="square">
            <a:spAutoFit/>
          </a:bodyPr>
          <a:lstStyle/>
          <a:p>
            <a:pPr algn="l"/>
            <a:r>
              <a:rPr sz="1000" b="0" i="0">
                <a:solidFill>
                  <a:srgbClr val="475569"/>
                </a:solidFill>
              </a:rPr>
              <a:t>シリカ粒子が焼結（sintering）し多孔質エアロゲル層が生成</a:t>
            </a:r>
          </a:p>
        </p:txBody>
      </p:sp>
      <p:sp>
        <p:nvSpPr>
          <p:cNvPr id="22" name="Rectangle 21"/>
          <p:cNvSpPr/>
          <p:nvPr/>
        </p:nvSpPr>
        <p:spPr>
          <a:xfrm>
            <a:off x="10718628"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718628"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28356" y="950976"/>
            <a:ext cx="924426" cy="292608"/>
          </a:xfrm>
          <a:prstGeom prst="rect">
            <a:avLst/>
          </a:prstGeom>
          <a:noFill/>
        </p:spPr>
        <p:txBody>
          <a:bodyPr wrap="square">
            <a:spAutoFit/>
          </a:bodyPr>
          <a:lstStyle/>
          <a:p>
            <a:pPr algn="l"/>
            <a:r>
              <a:rPr sz="1200" b="1" i="0">
                <a:solidFill>
                  <a:srgbClr val="1E293B"/>
                </a:solidFill>
              </a:rPr>
              <a:t>継続保護</a:t>
            </a:r>
          </a:p>
        </p:txBody>
      </p:sp>
      <p:sp>
        <p:nvSpPr>
          <p:cNvPr id="25" name="TextBox 24"/>
          <p:cNvSpPr txBox="1"/>
          <p:nvPr/>
        </p:nvSpPr>
        <p:spPr>
          <a:xfrm>
            <a:off x="10828356" y="1261872"/>
            <a:ext cx="924426" cy="3273552"/>
          </a:xfrm>
          <a:prstGeom prst="rect">
            <a:avLst/>
          </a:prstGeom>
          <a:noFill/>
        </p:spPr>
        <p:txBody>
          <a:bodyPr wrap="square">
            <a:spAutoFit/>
          </a:bodyPr>
          <a:lstStyle/>
          <a:p>
            <a:pPr algn="l"/>
            <a:r>
              <a:rPr sz="1000" b="0" i="0">
                <a:solidFill>
                  <a:srgbClr val="475569"/>
                </a:solidFill>
              </a:rPr>
              <a:t>超低熱伝導率の断熱層が基材を継続的に守る</a:t>
            </a:r>
          </a:p>
        </p:txBody>
      </p:sp>
      <p:sp>
        <p:nvSpPr>
          <p:cNvPr id="26" name="Rectangle 25"/>
          <p:cNvSpPr/>
          <p:nvPr/>
        </p:nvSpPr>
        <p:spPr>
          <a:xfrm>
            <a:off x="365760"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5760"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488" y="4901184"/>
            <a:ext cx="2586151" cy="292608"/>
          </a:xfrm>
          <a:prstGeom prst="rect">
            <a:avLst/>
          </a:prstGeom>
          <a:noFill/>
        </p:spPr>
        <p:txBody>
          <a:bodyPr wrap="square">
            <a:spAutoFit/>
          </a:bodyPr>
          <a:lstStyle/>
          <a:p>
            <a:pPr algn="l"/>
            <a:r>
              <a:rPr sz="1200" b="1" i="0">
                <a:solidFill>
                  <a:srgbClr val="1E293B"/>
                </a:solidFill>
              </a:rPr>
              <a:t>ゲル散布</a:t>
            </a:r>
          </a:p>
        </p:txBody>
      </p:sp>
      <p:sp>
        <p:nvSpPr>
          <p:cNvPr id="29" name="TextBox 28"/>
          <p:cNvSpPr txBox="1"/>
          <p:nvPr/>
        </p:nvSpPr>
        <p:spPr>
          <a:xfrm>
            <a:off x="475488" y="5212080"/>
            <a:ext cx="2586151" cy="1289304"/>
          </a:xfrm>
          <a:prstGeom prst="rect">
            <a:avLst/>
          </a:prstGeom>
          <a:noFill/>
        </p:spPr>
        <p:txBody>
          <a:bodyPr wrap="square">
            <a:spAutoFit/>
          </a:bodyPr>
          <a:lstStyle/>
          <a:p>
            <a:pPr algn="l"/>
            <a:r>
              <a:rPr sz="1000" b="0" i="0">
                <a:solidFill>
                  <a:srgbClr val="475569"/>
                </a:solidFill>
              </a:rPr>
              <a:t>セルロース系ゲルを建物・植生にスプレー塗布。降伏応力ゲルなので垂直な壁面でも垂れずに留まる</a:t>
            </a:r>
          </a:p>
        </p:txBody>
      </p:sp>
      <p:sp>
        <p:nvSpPr>
          <p:cNvPr id="30" name="Rectangle 29"/>
          <p:cNvSpPr/>
          <p:nvPr/>
        </p:nvSpPr>
        <p:spPr>
          <a:xfrm>
            <a:off x="3262807"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62807"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72535" y="4901184"/>
            <a:ext cx="2586151" cy="292608"/>
          </a:xfrm>
          <a:prstGeom prst="rect">
            <a:avLst/>
          </a:prstGeom>
          <a:noFill/>
        </p:spPr>
        <p:txBody>
          <a:bodyPr wrap="square">
            <a:spAutoFit/>
          </a:bodyPr>
          <a:lstStyle/>
          <a:p>
            <a:pPr algn="l"/>
            <a:r>
              <a:rPr sz="1200" b="1" i="0">
                <a:solidFill>
                  <a:srgbClr val="1E293B"/>
                </a:solidFill>
              </a:rPr>
              <a:t>火炎接触</a:t>
            </a:r>
          </a:p>
        </p:txBody>
      </p:sp>
      <p:sp>
        <p:nvSpPr>
          <p:cNvPr id="33" name="TextBox 32"/>
          <p:cNvSpPr txBox="1"/>
          <p:nvPr/>
        </p:nvSpPr>
        <p:spPr>
          <a:xfrm>
            <a:off x="3372535" y="5212080"/>
            <a:ext cx="2586151" cy="1289304"/>
          </a:xfrm>
          <a:prstGeom prst="rect">
            <a:avLst/>
          </a:prstGeom>
          <a:noFill/>
        </p:spPr>
        <p:txBody>
          <a:bodyPr wrap="square">
            <a:spAutoFit/>
          </a:bodyPr>
          <a:lstStyle/>
          <a:p>
            <a:pPr algn="l"/>
            <a:r>
              <a:rPr sz="1000" b="0" i="0">
                <a:solidFill>
                  <a:srgbClr val="475569"/>
                </a:solidFill>
              </a:rPr>
              <a:t>水分が蒸発し、ゲルが発泡しながら粒子が凝集</a:t>
            </a:r>
          </a:p>
        </p:txBody>
      </p:sp>
      <p:sp>
        <p:nvSpPr>
          <p:cNvPr id="34" name="Rectangle 33"/>
          <p:cNvSpPr/>
          <p:nvPr/>
        </p:nvSpPr>
        <p:spPr>
          <a:xfrm>
            <a:off x="6159855"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9583" y="4901184"/>
            <a:ext cx="2586151" cy="292608"/>
          </a:xfrm>
          <a:prstGeom prst="rect">
            <a:avLst/>
          </a:prstGeom>
          <a:noFill/>
        </p:spPr>
        <p:txBody>
          <a:bodyPr wrap="square">
            <a:spAutoFit/>
          </a:bodyPr>
          <a:lstStyle/>
          <a:p>
            <a:pPr algn="l"/>
            <a:r>
              <a:rPr sz="1200" b="1" i="0">
                <a:solidFill>
                  <a:srgbClr val="1E293B"/>
                </a:solidFill>
              </a:rPr>
              <a:t>エアロゲル形成</a:t>
            </a:r>
          </a:p>
        </p:txBody>
      </p:sp>
      <p:sp>
        <p:nvSpPr>
          <p:cNvPr id="37" name="TextBox 36"/>
          <p:cNvSpPr txBox="1"/>
          <p:nvPr/>
        </p:nvSpPr>
        <p:spPr>
          <a:xfrm>
            <a:off x="6269583" y="5212080"/>
            <a:ext cx="2586151" cy="1289304"/>
          </a:xfrm>
          <a:prstGeom prst="rect">
            <a:avLst/>
          </a:prstGeom>
          <a:noFill/>
        </p:spPr>
        <p:txBody>
          <a:bodyPr wrap="square">
            <a:spAutoFit/>
          </a:bodyPr>
          <a:lstStyle/>
          <a:p>
            <a:pPr algn="l"/>
            <a:r>
              <a:rPr sz="1000" b="0" i="0">
                <a:solidFill>
                  <a:srgbClr val="475569"/>
                </a:solidFill>
              </a:rPr>
              <a:t>シリカ粒子が焼結（sintering）し多孔質エアロゲル層が生成</a:t>
            </a:r>
          </a:p>
        </p:txBody>
      </p:sp>
      <p:sp>
        <p:nvSpPr>
          <p:cNvPr id="38" name="Rectangle 37"/>
          <p:cNvSpPr/>
          <p:nvPr/>
        </p:nvSpPr>
        <p:spPr>
          <a:xfrm>
            <a:off x="9056903"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056903"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66631" y="4901184"/>
            <a:ext cx="2586151" cy="292608"/>
          </a:xfrm>
          <a:prstGeom prst="rect">
            <a:avLst/>
          </a:prstGeom>
          <a:noFill/>
        </p:spPr>
        <p:txBody>
          <a:bodyPr wrap="square">
            <a:spAutoFit/>
          </a:bodyPr>
          <a:lstStyle/>
          <a:p>
            <a:pPr algn="l"/>
            <a:r>
              <a:rPr sz="1200" b="1" i="0">
                <a:solidFill>
                  <a:srgbClr val="1E293B"/>
                </a:solidFill>
              </a:rPr>
              <a:t>継続保護</a:t>
            </a:r>
          </a:p>
        </p:txBody>
      </p:sp>
      <p:sp>
        <p:nvSpPr>
          <p:cNvPr id="41" name="TextBox 40"/>
          <p:cNvSpPr txBox="1"/>
          <p:nvPr/>
        </p:nvSpPr>
        <p:spPr>
          <a:xfrm>
            <a:off x="9166631" y="5212080"/>
            <a:ext cx="2586151" cy="1289304"/>
          </a:xfrm>
          <a:prstGeom prst="rect">
            <a:avLst/>
          </a:prstGeom>
          <a:noFill/>
        </p:spPr>
        <p:txBody>
          <a:bodyPr wrap="square">
            <a:spAutoFit/>
          </a:bodyPr>
          <a:lstStyle/>
          <a:p>
            <a:pPr algn="l"/>
            <a:r>
              <a:rPr sz="1000" b="0" i="0">
                <a:solidFill>
                  <a:srgbClr val="475569"/>
                </a:solidFill>
              </a:rPr>
              <a:t>超低熱伝導率の断熱層が基材を継続的に守る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背景 3/4</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既存の山火事対策と、その本質的な限界</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6 / 36</a:t>
            </a:r>
          </a:p>
        </p:txBody>
      </p:sp>
      <p:pic>
        <p:nvPicPr>
          <p:cNvPr id="9" name="Picture 8" descr="fig3d_photos.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365760" y="480974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4809744"/>
            <a:ext cx="11414455" cy="438912"/>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873752"/>
            <a:ext cx="11204143" cy="347472"/>
          </a:xfrm>
          <a:prstGeom prst="rect">
            <a:avLst/>
          </a:prstGeom>
          <a:noFill/>
        </p:spPr>
        <p:txBody>
          <a:bodyPr wrap="square">
            <a:spAutoFit/>
          </a:bodyPr>
          <a:lstStyle/>
          <a:p>
            <a:pPr algn="l"/>
            <a:r>
              <a:rPr sz="1100" b="0" i="0">
                <a:solidFill>
                  <a:srgbClr val="FFFFFF"/>
                </a:solidFill>
              </a:rPr>
              <a:t>課題：既存WEGは「水のキャリア」止まりで、水分喪失と同時に保護機能が失われる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背景 4/4</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本研究の核心：熱活性化エアロゲル形成</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7 / 36</a:t>
            </a:r>
          </a:p>
        </p:txBody>
      </p:sp>
      <p:pic>
        <p:nvPicPr>
          <p:cNvPr id="9" name="Picture 8" descr="fig5a_mechanism.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2342628"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2342628"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2159748" cy="3584448"/>
          </a:xfrm>
          <a:prstGeom prst="rect">
            <a:avLst/>
          </a:prstGeom>
          <a:noFill/>
        </p:spPr>
        <p:txBody>
          <a:bodyPr wrap="square">
            <a:spAutoFit/>
          </a:bodyPr>
          <a:lstStyle/>
          <a:p>
            <a:pPr algn="l"/>
            <a:r>
              <a:rPr sz="1000" b="0" i="0">
                <a:solidFill>
                  <a:srgbClr val="475569"/>
                </a:solidFill>
              </a:rPr>
              <a:t>• セルロースポリマー(HEC, MC, MHEC)が水溶性ゲル骨格を形成</a:t>
            </a:r>
          </a:p>
          <a:p>
            <a:pPr algn="l"/>
            <a:r>
              <a:rPr sz="1000" b="0" i="0">
                <a:solidFill>
                  <a:srgbClr val="475569"/>
                </a:solidFill>
              </a:rPr>
              <a:t>• コロイダルシリカ粒子(CSP)を均一分散</a:t>
            </a:r>
          </a:p>
          <a:p>
            <a:pPr algn="l"/>
            <a:r>
              <a:rPr sz="1000" b="0" i="0">
                <a:solidFill>
                  <a:srgbClr val="475569"/>
                </a:solidFill>
              </a:rPr>
              <a:t>• 加熱時に水が発泡 → 多孔構造を作る</a:t>
            </a:r>
          </a:p>
          <a:p>
            <a:pPr algn="l"/>
            <a:r>
              <a:rPr sz="1000" b="0" i="0">
                <a:solidFill>
                  <a:srgbClr val="475569"/>
                </a:solidFill>
              </a:rPr>
              <a:t>• シリカ粒子が焼結し silica aerogel 層に転換</a:t>
            </a:r>
          </a:p>
        </p:txBody>
      </p:sp>
      <p:sp>
        <p:nvSpPr>
          <p:cNvPr id="13" name="Rectangle 12"/>
          <p:cNvSpPr/>
          <p:nvPr/>
        </p:nvSpPr>
        <p:spPr>
          <a:xfrm>
            <a:off x="9483306" y="859536"/>
            <a:ext cx="2342628" cy="37490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483306" y="859536"/>
            <a:ext cx="2342628"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93034" y="950976"/>
            <a:ext cx="2159748" cy="3584448"/>
          </a:xfrm>
          <a:prstGeom prst="rect">
            <a:avLst/>
          </a:prstGeom>
          <a:noFill/>
        </p:spPr>
        <p:txBody>
          <a:bodyPr wrap="square">
            <a:spAutoFit/>
          </a:bodyPr>
          <a:lstStyle/>
          <a:p>
            <a:pPr algn="l"/>
            <a:r>
              <a:rPr sz="1000" b="0" i="0">
                <a:solidFill>
                  <a:srgbClr val="CCDDEE"/>
                </a:solidFill>
              </a:rPr>
              <a:t>• 水分依存からの脱却：熱でアクティブ化する固体保護層</a:t>
            </a:r>
          </a:p>
          <a:p>
            <a:pPr algn="l"/>
            <a:r>
              <a:rPr sz="1000" b="0" i="0">
                <a:solidFill>
                  <a:srgbClr val="CCDDEE"/>
                </a:solidFill>
              </a:rPr>
              <a:t>• 持続可能な原料：天然由来かつ食品添加物グレード</a:t>
            </a:r>
          </a:p>
          <a:p>
            <a:pPr algn="l"/>
            <a:r>
              <a:rPr sz="1000" b="0" i="0">
                <a:solidFill>
                  <a:srgbClr val="CCDDEE"/>
                </a:solidFill>
              </a:rPr>
              <a:t>• 既存散布インフラと互換：シアシニングで噴霧でき、自己修復性と降伏応力で垂直面に付着・滞留</a:t>
            </a:r>
          </a:p>
        </p:txBody>
      </p:sp>
      <p:sp>
        <p:nvSpPr>
          <p:cNvPr id="16" name="Rectangle 15"/>
          <p:cNvSpPr/>
          <p:nvPr/>
        </p:nvSpPr>
        <p:spPr>
          <a:xfrm>
            <a:off x="365760" y="4809744"/>
            <a:ext cx="5666079"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4809744"/>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 y="4901184"/>
            <a:ext cx="5483199" cy="1600200"/>
          </a:xfrm>
          <a:prstGeom prst="rect">
            <a:avLst/>
          </a:prstGeom>
          <a:noFill/>
        </p:spPr>
        <p:txBody>
          <a:bodyPr wrap="square">
            <a:spAutoFit/>
          </a:bodyPr>
          <a:lstStyle/>
          <a:p>
            <a:pPr algn="l"/>
            <a:r>
              <a:rPr sz="1000" b="0" i="0">
                <a:solidFill>
                  <a:srgbClr val="475569"/>
                </a:solidFill>
              </a:rPr>
              <a:t>• セルロースポリマー(HEC, MC, MHEC)が水溶性ゲル骨格を形成</a:t>
            </a:r>
          </a:p>
          <a:p>
            <a:pPr algn="l"/>
            <a:r>
              <a:rPr sz="1000" b="0" i="0">
                <a:solidFill>
                  <a:srgbClr val="475569"/>
                </a:solidFill>
              </a:rPr>
              <a:t>• コロイダルシリカ粒子(CSP)を均一分散</a:t>
            </a:r>
          </a:p>
          <a:p>
            <a:pPr algn="l"/>
            <a:r>
              <a:rPr sz="1000" b="0" i="0">
                <a:solidFill>
                  <a:srgbClr val="475569"/>
                </a:solidFill>
              </a:rPr>
              <a:t>• 加熱時に水が発泡 → 多孔構造を作る</a:t>
            </a:r>
          </a:p>
          <a:p>
            <a:pPr algn="l"/>
            <a:r>
              <a:rPr sz="1000" b="0" i="0">
                <a:solidFill>
                  <a:srgbClr val="475569"/>
                </a:solidFill>
              </a:rPr>
              <a:t>• シリカ粒子が焼結し silica aerogel 層に転換</a:t>
            </a:r>
          </a:p>
        </p:txBody>
      </p:sp>
      <p:sp>
        <p:nvSpPr>
          <p:cNvPr id="19" name="Rectangle 18"/>
          <p:cNvSpPr/>
          <p:nvPr/>
        </p:nvSpPr>
        <p:spPr>
          <a:xfrm>
            <a:off x="6159855" y="4809744"/>
            <a:ext cx="5666079" cy="1764792"/>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59855" y="4809744"/>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9583" y="4901184"/>
            <a:ext cx="5483199" cy="1600200"/>
          </a:xfrm>
          <a:prstGeom prst="rect">
            <a:avLst/>
          </a:prstGeom>
          <a:noFill/>
        </p:spPr>
        <p:txBody>
          <a:bodyPr wrap="square">
            <a:spAutoFit/>
          </a:bodyPr>
          <a:lstStyle/>
          <a:p>
            <a:pPr algn="l"/>
            <a:r>
              <a:rPr sz="1000" b="0" i="0">
                <a:solidFill>
                  <a:srgbClr val="CCDDEE"/>
                </a:solidFill>
              </a:rPr>
              <a:t>• 水分依存からの脱却：熱でアクティブ化する固体保護層</a:t>
            </a:r>
          </a:p>
          <a:p>
            <a:pPr algn="l"/>
            <a:r>
              <a:rPr sz="1000" b="0" i="0">
                <a:solidFill>
                  <a:srgbClr val="CCDDEE"/>
                </a:solidFill>
              </a:rPr>
              <a:t>• 持続可能な原料：天然由来かつ食品添加物グレード</a:t>
            </a:r>
          </a:p>
          <a:p>
            <a:pPr algn="l"/>
            <a:r>
              <a:rPr sz="1000" b="0" i="0">
                <a:solidFill>
                  <a:srgbClr val="CCDDEE"/>
                </a:solidFill>
              </a:rPr>
              <a:t>• 既存散布インフラと互換：シアシニングで噴霧でき、自己修復性と降伏応力で垂直面に付着・滞留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9144000" cy="365760"/>
          </a:xfrm>
          <a:prstGeom prst="rect">
            <a:avLst/>
          </a:prstGeom>
          <a:noFill/>
        </p:spPr>
        <p:txBody>
          <a:bodyPr wrap="square">
            <a:spAutoFit/>
          </a:bodyPr>
          <a:lstStyle/>
          <a:p>
            <a:pPr algn="l"/>
            <a:r>
              <a:rPr sz="1200" b="0" i="0">
                <a:solidFill>
                  <a:srgbClr val="88A4C0"/>
                </a:solidFill>
              </a:rPr>
              <a:t>Part 2</a:t>
            </a:r>
          </a:p>
        </p:txBody>
      </p:sp>
      <p:sp>
        <p:nvSpPr>
          <p:cNvPr id="5" name="TextBox 4"/>
          <p:cNvSpPr txBox="1"/>
          <p:nvPr/>
        </p:nvSpPr>
        <p:spPr>
          <a:xfrm>
            <a:off x="914400" y="1783080"/>
            <a:ext cx="9144000" cy="1188720"/>
          </a:xfrm>
          <a:prstGeom prst="rect">
            <a:avLst/>
          </a:prstGeom>
          <a:noFill/>
        </p:spPr>
        <p:txBody>
          <a:bodyPr wrap="square">
            <a:spAutoFit/>
          </a:bodyPr>
          <a:lstStyle/>
          <a:p>
            <a:pPr algn="l"/>
            <a:r>
              <a:rPr sz="4600" b="1" i="0">
                <a:solidFill>
                  <a:srgbClr val="FFFFFF"/>
                </a:solidFill>
              </a:rPr>
              <a:t>材料・実験方法</a:t>
            </a:r>
          </a:p>
        </p:txBody>
      </p:sp>
      <p:sp>
        <p:nvSpPr>
          <p:cNvPr id="6" name="TextBox 5"/>
          <p:cNvSpPr txBox="1"/>
          <p:nvPr/>
        </p:nvSpPr>
        <p:spPr>
          <a:xfrm>
            <a:off x="914400" y="3063240"/>
            <a:ext cx="9144000" cy="731520"/>
          </a:xfrm>
          <a:prstGeom prst="rect">
            <a:avLst/>
          </a:prstGeom>
          <a:noFill/>
        </p:spPr>
        <p:txBody>
          <a:bodyPr wrap="square">
            <a:spAutoFit/>
          </a:bodyPr>
          <a:lstStyle/>
          <a:p>
            <a:pPr algn="l"/>
            <a:r>
              <a:rPr sz="1700" b="0" i="0">
                <a:solidFill>
                  <a:srgbClr val="88A8C8"/>
                </a:solidFill>
              </a:rPr>
              <a:t>セルロース系ポリマーとコロイダルシリカの組み合わせによる新規ゲル設計</a:t>
            </a:r>
          </a:p>
        </p:txBody>
      </p:sp>
      <p:sp>
        <p:nvSpPr>
          <p:cNvPr id="7" name="Rectangle 6"/>
          <p:cNvSpPr/>
          <p:nvPr/>
        </p:nvSpPr>
        <p:spPr>
          <a:xfrm>
            <a:off x="91440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078224"/>
            <a:ext cx="1097280" cy="256032"/>
          </a:xfrm>
          <a:prstGeom prst="rect">
            <a:avLst/>
          </a:prstGeom>
          <a:noFill/>
        </p:spPr>
        <p:txBody>
          <a:bodyPr wrap="square">
            <a:spAutoFit/>
          </a:bodyPr>
          <a:lstStyle/>
          <a:p>
            <a:pPr algn="l"/>
            <a:r>
              <a:rPr sz="1100" b="0" i="0">
                <a:solidFill>
                  <a:srgbClr val="BBCCDE"/>
                </a:solidFill>
              </a:rPr>
              <a:t>ポリマー成分</a:t>
            </a:r>
          </a:p>
        </p:txBody>
      </p:sp>
      <p:sp>
        <p:nvSpPr>
          <p:cNvPr id="9" name="Rectangle 8"/>
          <p:cNvSpPr/>
          <p:nvPr/>
        </p:nvSpPr>
        <p:spPr>
          <a:xfrm>
            <a:off x="2377440" y="4023360"/>
            <a:ext cx="1307592"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4078224"/>
            <a:ext cx="1124712" cy="256032"/>
          </a:xfrm>
          <a:prstGeom prst="rect">
            <a:avLst/>
          </a:prstGeom>
          <a:noFill/>
        </p:spPr>
        <p:txBody>
          <a:bodyPr wrap="square">
            <a:spAutoFit/>
          </a:bodyPr>
          <a:lstStyle/>
          <a:p>
            <a:pPr algn="l"/>
            <a:r>
              <a:rPr sz="1100" b="0" i="0">
                <a:solidFill>
                  <a:srgbClr val="BBCCDE"/>
                </a:solidFill>
              </a:rPr>
              <a:t>シリカ粒子・界面活性剤</a:t>
            </a:r>
          </a:p>
        </p:txBody>
      </p:sp>
      <p:sp>
        <p:nvSpPr>
          <p:cNvPr id="11" name="Rectangle 10"/>
          <p:cNvSpPr/>
          <p:nvPr/>
        </p:nvSpPr>
        <p:spPr>
          <a:xfrm>
            <a:off x="3867912"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05072" y="4078224"/>
            <a:ext cx="1097280" cy="256032"/>
          </a:xfrm>
          <a:prstGeom prst="rect">
            <a:avLst/>
          </a:prstGeom>
          <a:noFill/>
        </p:spPr>
        <p:txBody>
          <a:bodyPr wrap="square">
            <a:spAutoFit/>
          </a:bodyPr>
          <a:lstStyle/>
          <a:p>
            <a:pPr algn="l"/>
            <a:r>
              <a:rPr sz="1100" b="0" i="0">
                <a:solidFill>
                  <a:srgbClr val="BBCCDE"/>
                </a:solidFill>
              </a:rPr>
              <a:t>配合系（5種）</a:t>
            </a:r>
          </a:p>
        </p:txBody>
      </p:sp>
      <p:sp>
        <p:nvSpPr>
          <p:cNvPr id="13" name="Rectangle 12"/>
          <p:cNvSpPr/>
          <p:nvPr/>
        </p:nvSpPr>
        <p:spPr>
          <a:xfrm>
            <a:off x="5330952"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68112" y="4078224"/>
            <a:ext cx="1097280" cy="256032"/>
          </a:xfrm>
          <a:prstGeom prst="rect">
            <a:avLst/>
          </a:prstGeom>
          <a:noFill/>
        </p:spPr>
        <p:txBody>
          <a:bodyPr wrap="square">
            <a:spAutoFit/>
          </a:bodyPr>
          <a:lstStyle/>
          <a:p>
            <a:pPr algn="l"/>
            <a:r>
              <a:rPr sz="1100" b="0" i="0">
                <a:solidFill>
                  <a:srgbClr val="BBCCDE"/>
                </a:solidFill>
              </a:rPr>
              <a:t>評価手法</a:t>
            </a:r>
          </a:p>
        </p:txBody>
      </p:sp>
      <p:sp>
        <p:nvSpPr>
          <p:cNvPr id="15" name="TextBox 14"/>
          <p:cNvSpPr txBox="1"/>
          <p:nvPr/>
        </p:nvSpPr>
        <p:spPr>
          <a:xfrm>
            <a:off x="11002975" y="6537960"/>
            <a:ext cx="1005840" cy="237744"/>
          </a:xfrm>
          <a:prstGeom prst="rect">
            <a:avLst/>
          </a:prstGeom>
          <a:noFill/>
        </p:spPr>
        <p:txBody>
          <a:bodyPr wrap="square">
            <a:spAutoFit/>
          </a:bodyPr>
          <a:lstStyle/>
          <a:p>
            <a:pPr algn="r"/>
            <a:r>
              <a:rPr sz="900" b="0" i="0">
                <a:solidFill>
                  <a:srgbClr val="556677"/>
                </a:solidFill>
              </a:rPr>
              <a:t>8 / 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1/4</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使用したセルロース系ポリマー</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9 / 36</a:t>
            </a:r>
          </a:p>
        </p:txBody>
      </p:sp>
      <p:pic>
        <p:nvPicPr>
          <p:cNvPr id="9" name="Picture 8" descr="fig1bc_chem.png"/>
          <p:cNvPicPr>
            <a:picLocks noChangeAspect="1"/>
          </p:cNvPicPr>
          <p:nvPr/>
        </p:nvPicPr>
        <p:blipFill>
          <a:blip r:embed="rId2"/>
          <a:stretch>
            <a:fillRect/>
          </a:stretch>
        </p:blipFill>
        <p:spPr>
          <a:xfrm>
            <a:off x="365760" y="859536"/>
            <a:ext cx="6303096" cy="38404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2/6</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メチルセルロース(MC)の熱ゲル化：火炎保護の鍵となる特性</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10 / 36</a:t>
            </a:r>
          </a:p>
        </p:txBody>
      </p:sp>
      <p:sp>
        <p:nvSpPr>
          <p:cNvPr id="9" name="Rectangle 8"/>
          <p:cNvSpPr/>
          <p:nvPr/>
        </p:nvSpPr>
        <p:spPr>
          <a:xfrm>
            <a:off x="365760"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5483199" cy="5138928"/>
          </a:xfrm>
          <a:prstGeom prst="rect">
            <a:avLst/>
          </a:prstGeom>
          <a:noFill/>
        </p:spPr>
        <p:txBody>
          <a:bodyPr wrap="square">
            <a:spAutoFit/>
          </a:bodyPr>
          <a:lstStyle/>
          <a:p>
            <a:pPr algn="l"/>
            <a:r>
              <a:rPr sz="1000" b="0" i="0">
                <a:solidFill>
                  <a:srgbClr val="475569"/>
                </a:solidFill>
              </a:rPr>
              <a:t>• MCは冷水（&lt;20°C）に溶解し低粘度溶液を形成</a:t>
            </a:r>
          </a:p>
          <a:p>
            <a:pPr algn="l"/>
            <a:r>
              <a:rPr sz="1000" b="0" i="0">
                <a:solidFill>
                  <a:srgbClr val="475569"/>
                </a:solidFill>
              </a:rPr>
              <a:t>• 加熱すると下限臨界溶液温度（LCST）を超えてゲル化</a:t>
            </a:r>
          </a:p>
          <a:p>
            <a:pPr algn="l"/>
            <a:r>
              <a:rPr sz="1000" b="0" i="0">
                <a:solidFill>
                  <a:srgbClr val="475569"/>
                </a:solidFill>
              </a:rPr>
              <a:t>• MCのゲル化開始温度：約 50–60°C （濃度依存）</a:t>
            </a:r>
          </a:p>
          <a:p>
            <a:pPr algn="l"/>
            <a:r>
              <a:rPr sz="1000" b="0" i="0">
                <a:solidFill>
                  <a:srgbClr val="475569"/>
                </a:solidFill>
              </a:rPr>
              <a:t>• 常温では液体 → 火炎接触で即座にゲル → 流れ落ちを防止</a:t>
            </a:r>
          </a:p>
        </p:txBody>
      </p:sp>
      <p:sp>
        <p:nvSpPr>
          <p:cNvPr id="12" name="Rectangle 11"/>
          <p:cNvSpPr/>
          <p:nvPr/>
        </p:nvSpPr>
        <p:spPr>
          <a:xfrm>
            <a:off x="6159855" y="859536"/>
            <a:ext cx="5666079" cy="53035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59855"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9583" y="950976"/>
            <a:ext cx="5483199" cy="5138928"/>
          </a:xfrm>
          <a:prstGeom prst="rect">
            <a:avLst/>
          </a:prstGeom>
          <a:noFill/>
        </p:spPr>
        <p:txBody>
          <a:bodyPr wrap="square">
            <a:spAutoFit/>
          </a:bodyPr>
          <a:lstStyle/>
          <a:p>
            <a:pPr algn="l"/>
            <a:r>
              <a:rPr sz="1000" b="0" i="0">
                <a:solidFill>
                  <a:srgbClr val="CCDDEE"/>
                </a:solidFill>
              </a:rPr>
              <a:t>温度別プロセス</a:t>
            </a:r>
          </a:p>
          <a:p>
            <a:pPr algn="l"/>
            <a:r>
              <a:rPr sz="1000" b="0" i="0">
                <a:solidFill>
                  <a:srgbClr val="CCDDEE"/>
                </a:solidFill>
              </a:rPr>
              <a:t>~55°C</a:t>
            </a:r>
          </a:p>
          <a:p>
            <a:pPr algn="l"/>
            <a:r>
              <a:rPr sz="1000" b="0" i="0">
                <a:solidFill>
                  <a:srgbClr val="CCDDEE"/>
                </a:solidFill>
              </a:rPr>
              <a:t>MCゲル化</a:t>
            </a:r>
          </a:p>
          <a:p>
            <a:pPr algn="l"/>
            <a:r>
              <a:rPr sz="1000" b="0" i="0">
                <a:solidFill>
                  <a:srgbClr val="CCDDEE"/>
                </a:solidFill>
              </a:rPr>
              <a:t>構造を固定</a:t>
            </a:r>
          </a:p>
          <a:p>
            <a:pPr algn="l"/>
            <a:r>
              <a:rPr sz="1000" b="0" i="0">
                <a:solidFill>
                  <a:srgbClr val="CCDDEE"/>
                </a:solidFill>
              </a:rPr>
              <a:t>~100°C</a:t>
            </a:r>
          </a:p>
          <a:p>
            <a:pPr algn="l"/>
            <a:r>
              <a:rPr sz="1000" b="0" i="0">
                <a:solidFill>
                  <a:srgbClr val="CCDDEE"/>
                </a:solidFill>
              </a:rPr>
              <a:t>水分蒸発</a:t>
            </a:r>
          </a:p>
        </p:txBody>
      </p:sp>
      <p:sp>
        <p:nvSpPr>
          <p:cNvPr id="15" name="Rectangle 14"/>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火炎接触初期にMCがゲル化 → CSPを固定したまま発泡構造を維持</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3/6</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コロイダルシリカ粒子(CSP)と界面活性剤(SDS)</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11 / 36</a:t>
            </a:r>
          </a:p>
        </p:txBody>
      </p:sp>
      <p:sp>
        <p:nvSpPr>
          <p:cNvPr id="9" name="Rectangle 8"/>
          <p:cNvSpPr/>
          <p:nvPr/>
        </p:nvSpPr>
        <p:spPr>
          <a:xfrm>
            <a:off x="365760"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5483199" cy="5138928"/>
          </a:xfrm>
          <a:prstGeom prst="rect">
            <a:avLst/>
          </a:prstGeom>
          <a:noFill/>
        </p:spPr>
        <p:txBody>
          <a:bodyPr wrap="square">
            <a:spAutoFit/>
          </a:bodyPr>
          <a:lstStyle/>
          <a:p>
            <a:pPr algn="l"/>
            <a:r>
              <a:rPr sz="1000" b="0" i="0">
                <a:solidFill>
                  <a:srgbClr val="475569"/>
                </a:solidFill>
              </a:rPr>
              <a:t>• 原液：水中で12 wt%濃度のコロイド分散液</a:t>
            </a:r>
          </a:p>
          <a:p>
            <a:pPr algn="l"/>
            <a:r>
              <a:rPr sz="1000" b="0" i="0">
                <a:solidFill>
                  <a:srgbClr val="475569"/>
                </a:solidFill>
              </a:rPr>
              <a:t>• 粒子サイズ：数十nmの単分散シリカ</a:t>
            </a:r>
          </a:p>
          <a:p>
            <a:pPr algn="l"/>
            <a:r>
              <a:rPr sz="1000" b="0" i="0">
                <a:solidFill>
                  <a:srgbClr val="475569"/>
                </a:solidFill>
              </a:rPr>
              <a:t>• 配合濃度：ゲル中 5 wt%</a:t>
            </a:r>
          </a:p>
          <a:p>
            <a:pPr algn="l"/>
            <a:r>
              <a:rPr sz="1000" b="0" i="0">
                <a:solidFill>
                  <a:srgbClr val="475569"/>
                </a:solidFill>
              </a:rPr>
              <a:t>• 加熱時に焼結 → silica aerogel に変態</a:t>
            </a:r>
          </a:p>
        </p:txBody>
      </p:sp>
      <p:sp>
        <p:nvSpPr>
          <p:cNvPr id="12" name="Rectangle 11"/>
          <p:cNvSpPr/>
          <p:nvPr/>
        </p:nvSpPr>
        <p:spPr>
          <a:xfrm>
            <a:off x="6159855"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59855"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9583" y="950976"/>
            <a:ext cx="5483199" cy="5138928"/>
          </a:xfrm>
          <a:prstGeom prst="rect">
            <a:avLst/>
          </a:prstGeom>
          <a:noFill/>
        </p:spPr>
        <p:txBody>
          <a:bodyPr wrap="square">
            <a:spAutoFit/>
          </a:bodyPr>
          <a:lstStyle/>
          <a:p>
            <a:pPr algn="l"/>
            <a:r>
              <a:rPr sz="1000" b="0" i="0">
                <a:solidFill>
                  <a:srgbClr val="475569"/>
                </a:solidFill>
              </a:rPr>
              <a:t>• 陰イオン性界面活性剤</a:t>
            </a:r>
          </a:p>
          <a:p>
            <a:pPr algn="l"/>
            <a:r>
              <a:rPr sz="1000" b="0" i="0">
                <a:solidFill>
                  <a:srgbClr val="475569"/>
                </a:solidFill>
              </a:rPr>
              <a:t>• 役割：発泡を促進し多孔構造を強化</a:t>
            </a:r>
          </a:p>
          <a:p>
            <a:pPr algn="l"/>
            <a:r>
              <a:rPr sz="1000" b="0" i="0">
                <a:solidFill>
                  <a:srgbClr val="475569"/>
                </a:solidFill>
              </a:rPr>
              <a:t>• 添加濃度： 0.1 wt%・0.5 wt% の2水準</a:t>
            </a:r>
          </a:p>
          <a:p>
            <a:pPr algn="l"/>
            <a:r>
              <a:rPr sz="1000" b="0" i="0">
                <a:solidFill>
                  <a:srgbClr val="475569"/>
                </a:solidFill>
              </a:rPr>
              <a:t>• SEMで気泡サイズ・分布を制御確認</a:t>
            </a:r>
          </a:p>
        </p:txBody>
      </p:sp>
      <p:sp>
        <p:nvSpPr>
          <p:cNvPr id="15" name="Rectangle 14"/>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CSPの焼結温度域とセルロースの熱分解温度が重なるため、熱応答が同期して断熱層を形成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4/6</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評価した5種類の配合系</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12 / 36</a:t>
            </a:r>
          </a:p>
        </p:txBody>
      </p:sp>
      <p:sp>
        <p:nvSpPr>
          <p:cNvPr id="9" name="Rectangle 8"/>
          <p:cNvSpPr/>
          <p:nvPr/>
        </p:nvSpPr>
        <p:spPr>
          <a:xfrm>
            <a:off x="365760" y="859536"/>
            <a:ext cx="5666079" cy="57150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5483199" cy="292608"/>
          </a:xfrm>
          <a:prstGeom prst="rect">
            <a:avLst/>
          </a:prstGeom>
          <a:noFill/>
        </p:spPr>
        <p:txBody>
          <a:bodyPr wrap="square">
            <a:spAutoFit/>
          </a:bodyPr>
          <a:lstStyle/>
          <a:p>
            <a:pPr algn="l"/>
            <a:r>
              <a:rPr sz="1200" b="1" i="0">
                <a:solidFill>
                  <a:srgbClr val="1E293B"/>
                </a:solidFill>
              </a:rPr>
              <a:t>配合設計の意図</a:t>
            </a:r>
          </a:p>
        </p:txBody>
      </p:sp>
      <p:sp>
        <p:nvSpPr>
          <p:cNvPr id="12" name="TextBox 11"/>
          <p:cNvSpPr txBox="1"/>
          <p:nvPr/>
        </p:nvSpPr>
        <p:spPr>
          <a:xfrm>
            <a:off x="475488" y="1261872"/>
            <a:ext cx="5483199" cy="5239512"/>
          </a:xfrm>
          <a:prstGeom prst="rect">
            <a:avLst/>
          </a:prstGeom>
          <a:noFill/>
        </p:spPr>
        <p:txBody>
          <a:bodyPr wrap="square">
            <a:spAutoFit/>
          </a:bodyPr>
          <a:lstStyle/>
          <a:p>
            <a:pPr algn="l"/>
            <a:r>
              <a:rPr sz="1000" b="0" i="0">
                <a:solidFill>
                  <a:srgbClr val="475569"/>
                </a:solidFill>
              </a:rPr>
              <a:t>• ポリマー種を変えて(HEC+MC vs MHEC)機能差を比較</a:t>
            </a:r>
          </a:p>
          <a:p>
            <a:pPr algn="l"/>
            <a:r>
              <a:rPr sz="1000" b="0" i="0">
                <a:solidFill>
                  <a:srgbClr val="475569"/>
                </a:solidFill>
              </a:rPr>
              <a:t>• SDS濃度を2水準で発泡構造への影響を検証</a:t>
            </a:r>
          </a:p>
          <a:p>
            <a:pPr algn="l"/>
            <a:r>
              <a:rPr sz="1000" b="0" i="0">
                <a:solidFill>
                  <a:srgbClr val="475569"/>
                </a:solidFill>
              </a:rPr>
              <a:t>• 市販品AquaGel-Kとの直接比較</a:t>
            </a:r>
          </a:p>
        </p:txBody>
      </p:sp>
      <p:sp>
        <p:nvSpPr>
          <p:cNvPr id="13" name="Rectangle 12"/>
          <p:cNvSpPr/>
          <p:nvPr/>
        </p:nvSpPr>
        <p:spPr>
          <a:xfrm>
            <a:off x="6159855" y="859536"/>
            <a:ext cx="5666079" cy="57150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59855"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9583" y="950976"/>
            <a:ext cx="5483199" cy="292608"/>
          </a:xfrm>
          <a:prstGeom prst="rect">
            <a:avLst/>
          </a:prstGeom>
          <a:noFill/>
        </p:spPr>
        <p:txBody>
          <a:bodyPr wrap="square">
            <a:spAutoFit/>
          </a:bodyPr>
          <a:lstStyle/>
          <a:p>
            <a:pPr algn="l"/>
            <a:r>
              <a:rPr sz="1200" b="1" i="0">
                <a:solidFill>
                  <a:srgbClr val="1E293B"/>
                </a:solidFill>
              </a:rPr>
              <a:t>記法の読み方</a:t>
            </a:r>
          </a:p>
        </p:txBody>
      </p:sp>
      <p:sp>
        <p:nvSpPr>
          <p:cNvPr id="16" name="TextBox 15"/>
          <p:cNvSpPr txBox="1"/>
          <p:nvPr/>
        </p:nvSpPr>
        <p:spPr>
          <a:xfrm>
            <a:off x="6269583" y="1261872"/>
            <a:ext cx="5483199" cy="5239512"/>
          </a:xfrm>
          <a:prstGeom prst="rect">
            <a:avLst/>
          </a:prstGeom>
          <a:noFill/>
        </p:spPr>
        <p:txBody>
          <a:bodyPr wrap="square">
            <a:spAutoFit/>
          </a:bodyPr>
          <a:lstStyle/>
          <a:p>
            <a:pPr algn="l"/>
            <a:r>
              <a:rPr sz="1000" b="0" i="0">
                <a:solidFill>
                  <a:srgbClr val="475569"/>
                </a:solidFill>
              </a:rPr>
              <a:t>HEC+MC/CSP/SDS 1-5-0.1</a:t>
            </a:r>
          </a:p>
          <a:p>
            <a:pPr algn="l"/>
            <a:r>
              <a:rPr sz="1000" b="0" i="0">
                <a:solidFill>
                  <a:srgbClr val="475569"/>
                </a:solidFill>
              </a:rPr>
              <a:t>→ HEC+MC</a:t>
            </a:r>
          </a:p>
          <a:p>
            <a:pPr algn="l"/>
            <a:r>
              <a:rPr sz="1000" b="0" i="0">
                <a:solidFill>
                  <a:srgbClr val="475569"/>
                </a:solidFill>
              </a:rPr>
              <a:t>1 wt%</a:t>
            </a:r>
          </a:p>
          <a:p>
            <a:pPr algn="l"/>
            <a:r>
              <a:rPr sz="1000" b="0" i="0">
                <a:solidFill>
                  <a:srgbClr val="475569"/>
                </a:solidFill>
              </a:rPr>
              <a:t>／ CSP</a:t>
            </a:r>
          </a:p>
          <a:p>
            <a:pPr algn="l"/>
            <a:r>
              <a:rPr sz="1000" b="0" i="0">
                <a:solidFill>
                  <a:srgbClr val="475569"/>
                </a:solidFill>
              </a:rPr>
              <a:t>5 wt%</a:t>
            </a:r>
          </a:p>
          <a:p>
            <a:pPr algn="l"/>
            <a:r>
              <a:rPr sz="1000" b="0" i="0">
                <a:solidFill>
                  <a:srgbClr val="475569"/>
                </a:solidFill>
              </a:rPr>
              <a:t>／ SDS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5/6</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評価手法の全体像</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13 / 36</a:t>
            </a:r>
          </a:p>
        </p:txBody>
      </p:sp>
      <p:sp>
        <p:nvSpPr>
          <p:cNvPr id="9" name="Rectangle 8"/>
          <p:cNvSpPr/>
          <p:nvPr/>
        </p:nvSpPr>
        <p:spPr>
          <a:xfrm>
            <a:off x="365760" y="859536"/>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2586151" cy="292608"/>
          </a:xfrm>
          <a:prstGeom prst="rect">
            <a:avLst/>
          </a:prstGeom>
          <a:noFill/>
        </p:spPr>
        <p:txBody>
          <a:bodyPr wrap="square">
            <a:spAutoFit/>
          </a:bodyPr>
          <a:lstStyle/>
          <a:p>
            <a:pPr algn="l"/>
            <a:r>
              <a:rPr sz="1200" b="1" i="0">
                <a:solidFill>
                  <a:srgbClr val="1E293B"/>
                </a:solidFill>
              </a:rPr>
              <a:t>レオロジー測定</a:t>
            </a:r>
          </a:p>
        </p:txBody>
      </p:sp>
      <p:sp>
        <p:nvSpPr>
          <p:cNvPr id="12" name="TextBox 11"/>
          <p:cNvSpPr txBox="1"/>
          <p:nvPr/>
        </p:nvSpPr>
        <p:spPr>
          <a:xfrm>
            <a:off x="475488" y="1261872"/>
            <a:ext cx="2586151" cy="2318004"/>
          </a:xfrm>
          <a:prstGeom prst="rect">
            <a:avLst/>
          </a:prstGeom>
          <a:noFill/>
        </p:spPr>
        <p:txBody>
          <a:bodyPr wrap="square">
            <a:spAutoFit/>
          </a:bodyPr>
          <a:lstStyle/>
          <a:p>
            <a:pPr algn="l"/>
            <a:r>
              <a:rPr sz="1000" b="0" i="0">
                <a:solidFill>
                  <a:srgbClr val="475569"/>
                </a:solidFill>
              </a:rPr>
              <a:t>• 振動周波数掃引（G', G''）</a:t>
            </a:r>
          </a:p>
          <a:p>
            <a:pPr algn="l"/>
            <a:r>
              <a:rPr sz="1000" b="0" i="0">
                <a:solidFill>
                  <a:srgbClr val="475569"/>
                </a:solidFill>
              </a:rPr>
              <a:t>• 定常流動掃引（粘度 vs 剪断速度）</a:t>
            </a:r>
          </a:p>
          <a:p>
            <a:pPr algn="l"/>
            <a:r>
              <a:rPr sz="1000" b="0" i="0">
                <a:solidFill>
                  <a:srgbClr val="475569"/>
                </a:solidFill>
              </a:rPr>
              <a:t>• Herschel-Bulkleyモデル適合</a:t>
            </a:r>
          </a:p>
        </p:txBody>
      </p:sp>
      <p:sp>
        <p:nvSpPr>
          <p:cNvPr id="13" name="Rectangle 12"/>
          <p:cNvSpPr/>
          <p:nvPr/>
        </p:nvSpPr>
        <p:spPr>
          <a:xfrm>
            <a:off x="3262807" y="859536"/>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62807"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72535" y="950976"/>
            <a:ext cx="2586151" cy="292608"/>
          </a:xfrm>
          <a:prstGeom prst="rect">
            <a:avLst/>
          </a:prstGeom>
          <a:noFill/>
        </p:spPr>
        <p:txBody>
          <a:bodyPr wrap="square">
            <a:spAutoFit/>
          </a:bodyPr>
          <a:lstStyle/>
          <a:p>
            <a:pPr algn="l"/>
            <a:r>
              <a:rPr sz="1200" b="1" i="0">
                <a:solidFill>
                  <a:srgbClr val="1E293B"/>
                </a:solidFill>
              </a:rPr>
              <a:t>燃焼試験（Time-to-char）</a:t>
            </a:r>
          </a:p>
        </p:txBody>
      </p:sp>
      <p:sp>
        <p:nvSpPr>
          <p:cNvPr id="16" name="TextBox 15"/>
          <p:cNvSpPr txBox="1"/>
          <p:nvPr/>
        </p:nvSpPr>
        <p:spPr>
          <a:xfrm>
            <a:off x="3372535" y="1261872"/>
            <a:ext cx="2586151" cy="2318004"/>
          </a:xfrm>
          <a:prstGeom prst="rect">
            <a:avLst/>
          </a:prstGeom>
          <a:noFill/>
        </p:spPr>
        <p:txBody>
          <a:bodyPr wrap="square">
            <a:spAutoFit/>
          </a:bodyPr>
          <a:lstStyle/>
          <a:p>
            <a:pPr algn="l"/>
            <a:r>
              <a:rPr sz="1000" b="0" i="0">
                <a:solidFill>
                  <a:srgbClr val="475569"/>
                </a:solidFill>
              </a:rPr>
              <a:t>• ブタンバーナーで木材を加熱</a:t>
            </a:r>
          </a:p>
          <a:p>
            <a:pPr algn="l"/>
            <a:r>
              <a:rPr sz="1000" b="0" i="0">
                <a:solidFill>
                  <a:srgbClr val="475569"/>
                </a:solidFill>
              </a:rPr>
              <a:t>• 炭化開始までの時間を計測</a:t>
            </a:r>
          </a:p>
          <a:p>
            <a:pPr algn="l"/>
            <a:r>
              <a:rPr sz="1000" b="0" i="0">
                <a:solidFill>
                  <a:srgbClr val="475569"/>
                </a:solidFill>
              </a:rPr>
              <a:t>• 120 s / 300 s時点を写真比較</a:t>
            </a:r>
          </a:p>
        </p:txBody>
      </p:sp>
      <p:sp>
        <p:nvSpPr>
          <p:cNvPr id="17" name="Rectangle 16"/>
          <p:cNvSpPr/>
          <p:nvPr/>
        </p:nvSpPr>
        <p:spPr>
          <a:xfrm>
            <a:off x="6159855" y="859536"/>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59855"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9583" y="950976"/>
            <a:ext cx="2586151" cy="292608"/>
          </a:xfrm>
          <a:prstGeom prst="rect">
            <a:avLst/>
          </a:prstGeom>
          <a:noFill/>
        </p:spPr>
        <p:txBody>
          <a:bodyPr wrap="square">
            <a:spAutoFit/>
          </a:bodyPr>
          <a:lstStyle/>
          <a:p>
            <a:pPr algn="l"/>
            <a:r>
              <a:rPr sz="1200" b="1" i="0">
                <a:solidFill>
                  <a:srgbClr val="1E293B"/>
                </a:solidFill>
              </a:rPr>
              <a:t>発泡指数測定</a:t>
            </a:r>
          </a:p>
        </p:txBody>
      </p:sp>
      <p:sp>
        <p:nvSpPr>
          <p:cNvPr id="20" name="TextBox 19"/>
          <p:cNvSpPr txBox="1"/>
          <p:nvPr/>
        </p:nvSpPr>
        <p:spPr>
          <a:xfrm>
            <a:off x="6269583" y="1261872"/>
            <a:ext cx="2586151" cy="2318004"/>
          </a:xfrm>
          <a:prstGeom prst="rect">
            <a:avLst/>
          </a:prstGeom>
          <a:noFill/>
        </p:spPr>
        <p:txBody>
          <a:bodyPr wrap="square">
            <a:spAutoFit/>
          </a:bodyPr>
          <a:lstStyle/>
          <a:p>
            <a:pPr algn="l"/>
            <a:r>
              <a:rPr sz="1000" b="0" i="0">
                <a:solidFill>
                  <a:srgbClr val="475569"/>
                </a:solidFill>
              </a:rPr>
              <a:t>• 燃焼後の発泡層厚さを計測</a:t>
            </a:r>
          </a:p>
          <a:p>
            <a:pPr algn="l"/>
            <a:r>
              <a:rPr sz="1000" b="0" i="0">
                <a:solidFill>
                  <a:srgbClr val="475569"/>
                </a:solidFill>
              </a:rPr>
              <a:t>• 初期厚さに対する比 = Foaming Index</a:t>
            </a:r>
          </a:p>
        </p:txBody>
      </p:sp>
      <p:sp>
        <p:nvSpPr>
          <p:cNvPr id="21" name="Rectangle 20"/>
          <p:cNvSpPr/>
          <p:nvPr/>
        </p:nvSpPr>
        <p:spPr>
          <a:xfrm>
            <a:off x="9056903" y="859536"/>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56903"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66631" y="950976"/>
            <a:ext cx="2586151" cy="292608"/>
          </a:xfrm>
          <a:prstGeom prst="rect">
            <a:avLst/>
          </a:prstGeom>
          <a:noFill/>
        </p:spPr>
        <p:txBody>
          <a:bodyPr wrap="square">
            <a:spAutoFit/>
          </a:bodyPr>
          <a:lstStyle/>
          <a:p>
            <a:pPr algn="l"/>
            <a:r>
              <a:rPr sz="1200" b="1" i="0">
                <a:solidFill>
                  <a:srgbClr val="1E293B"/>
                </a:solidFill>
              </a:rPr>
              <a:t>SEM形態観察</a:t>
            </a:r>
          </a:p>
        </p:txBody>
      </p:sp>
      <p:sp>
        <p:nvSpPr>
          <p:cNvPr id="24" name="TextBox 23"/>
          <p:cNvSpPr txBox="1"/>
          <p:nvPr/>
        </p:nvSpPr>
        <p:spPr>
          <a:xfrm>
            <a:off x="9166631" y="1261872"/>
            <a:ext cx="2586151" cy="2318004"/>
          </a:xfrm>
          <a:prstGeom prst="rect">
            <a:avLst/>
          </a:prstGeom>
          <a:noFill/>
        </p:spPr>
        <p:txBody>
          <a:bodyPr wrap="square">
            <a:spAutoFit/>
          </a:bodyPr>
          <a:lstStyle/>
          <a:p>
            <a:pPr algn="l"/>
            <a:r>
              <a:rPr sz="1000" b="0" i="0">
                <a:solidFill>
                  <a:srgbClr val="475569"/>
                </a:solidFill>
              </a:rPr>
              <a:t>• SDS濃度別の発泡構造</a:t>
            </a:r>
          </a:p>
          <a:p>
            <a:pPr algn="l"/>
            <a:r>
              <a:rPr sz="1000" b="0" i="0">
                <a:solidFill>
                  <a:srgbClr val="475569"/>
                </a:solidFill>
              </a:rPr>
              <a:t>• 燃焼時間別(0/1/2/4分)の焼結進行</a:t>
            </a:r>
          </a:p>
        </p:txBody>
      </p:sp>
      <p:sp>
        <p:nvSpPr>
          <p:cNvPr id="25" name="Rectangle 24"/>
          <p:cNvSpPr/>
          <p:nvPr/>
        </p:nvSpPr>
        <p:spPr>
          <a:xfrm>
            <a:off x="365760" y="3781044"/>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37810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8" y="3872484"/>
            <a:ext cx="2586151" cy="292608"/>
          </a:xfrm>
          <a:prstGeom prst="rect">
            <a:avLst/>
          </a:prstGeom>
          <a:noFill/>
        </p:spPr>
        <p:txBody>
          <a:bodyPr wrap="square">
            <a:spAutoFit/>
          </a:bodyPr>
          <a:lstStyle/>
          <a:p>
            <a:pPr algn="l"/>
            <a:r>
              <a:rPr sz="1200" b="1" i="0">
                <a:solidFill>
                  <a:srgbClr val="1E293B"/>
                </a:solidFill>
              </a:rPr>
              <a:t>分光分析</a:t>
            </a:r>
          </a:p>
        </p:txBody>
      </p:sp>
      <p:sp>
        <p:nvSpPr>
          <p:cNvPr id="28" name="TextBox 27"/>
          <p:cNvSpPr txBox="1"/>
          <p:nvPr/>
        </p:nvSpPr>
        <p:spPr>
          <a:xfrm>
            <a:off x="475488" y="4183380"/>
            <a:ext cx="2586151" cy="2318004"/>
          </a:xfrm>
          <a:prstGeom prst="rect">
            <a:avLst/>
          </a:prstGeom>
          <a:noFill/>
        </p:spPr>
        <p:txBody>
          <a:bodyPr wrap="square">
            <a:spAutoFit/>
          </a:bodyPr>
          <a:lstStyle/>
          <a:p>
            <a:pPr algn="l"/>
            <a:r>
              <a:rPr sz="1000" b="0" i="0">
                <a:solidFill>
                  <a:srgbClr val="475569"/>
                </a:solidFill>
              </a:rPr>
              <a:t>• FT-IR（化学結合）</a:t>
            </a:r>
          </a:p>
          <a:p>
            <a:pPr algn="l"/>
            <a:r>
              <a:rPr sz="1000" b="0" i="0">
                <a:solidFill>
                  <a:srgbClr val="475569"/>
                </a:solidFill>
              </a:rPr>
              <a:t>• XPS（表面組成）</a:t>
            </a:r>
          </a:p>
        </p:txBody>
      </p:sp>
      <p:sp>
        <p:nvSpPr>
          <p:cNvPr id="29" name="Rectangle 28"/>
          <p:cNvSpPr/>
          <p:nvPr/>
        </p:nvSpPr>
        <p:spPr>
          <a:xfrm>
            <a:off x="3262807" y="3781044"/>
            <a:ext cx="2769031" cy="27934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62807" y="37810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72535" y="3872484"/>
            <a:ext cx="2586151" cy="292608"/>
          </a:xfrm>
          <a:prstGeom prst="rect">
            <a:avLst/>
          </a:prstGeom>
          <a:noFill/>
        </p:spPr>
        <p:txBody>
          <a:bodyPr wrap="square">
            <a:spAutoFit/>
          </a:bodyPr>
          <a:lstStyle/>
          <a:p>
            <a:pPr algn="l"/>
            <a:r>
              <a:rPr sz="1200" b="1" i="0">
                <a:solidFill>
                  <a:srgbClr val="1E293B"/>
                </a:solidFill>
              </a:rPr>
              <a:t>熱分析</a:t>
            </a:r>
          </a:p>
        </p:txBody>
      </p:sp>
      <p:sp>
        <p:nvSpPr>
          <p:cNvPr id="32" name="TextBox 31"/>
          <p:cNvSpPr txBox="1"/>
          <p:nvPr/>
        </p:nvSpPr>
        <p:spPr>
          <a:xfrm>
            <a:off x="3372535" y="4183380"/>
            <a:ext cx="2586151" cy="2318004"/>
          </a:xfrm>
          <a:prstGeom prst="rect">
            <a:avLst/>
          </a:prstGeom>
          <a:noFill/>
        </p:spPr>
        <p:txBody>
          <a:bodyPr wrap="square">
            <a:spAutoFit/>
          </a:bodyPr>
          <a:lstStyle/>
          <a:p>
            <a:pPr algn="l"/>
            <a:r>
              <a:rPr sz="1000" b="0" i="0">
                <a:solidFill>
                  <a:srgbClr val="475569"/>
                </a:solidFill>
              </a:rPr>
              <a:t>• TGA（熱重量分析）</a:t>
            </a:r>
          </a:p>
          <a:p>
            <a:pPr algn="l"/>
            <a:r>
              <a:rPr sz="1000" b="0" i="0">
                <a:solidFill>
                  <a:srgbClr val="475569"/>
                </a:solidFill>
              </a:rPr>
              <a:t>• DSC（示差走査熱量）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材料 6/6</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付着性・表面濡れ性：実装に不可欠な特性</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14 / 36</a:t>
            </a:r>
          </a:p>
        </p:txBody>
      </p:sp>
      <p:sp>
        <p:nvSpPr>
          <p:cNvPr id="9" name="Rectangle 8"/>
          <p:cNvSpPr/>
          <p:nvPr/>
        </p:nvSpPr>
        <p:spPr>
          <a:xfrm>
            <a:off x="365760"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2586151" cy="292608"/>
          </a:xfrm>
          <a:prstGeom prst="rect">
            <a:avLst/>
          </a:prstGeom>
          <a:noFill/>
        </p:spPr>
        <p:txBody>
          <a:bodyPr wrap="square">
            <a:spAutoFit/>
          </a:bodyPr>
          <a:lstStyle/>
          <a:p>
            <a:pPr algn="l"/>
            <a:r>
              <a:rPr sz="1200" b="1" i="0">
                <a:solidFill>
                  <a:srgbClr val="1E293B"/>
                </a:solidFill>
              </a:rPr>
              <a:t>接触角測定</a:t>
            </a:r>
          </a:p>
        </p:txBody>
      </p:sp>
      <p:sp>
        <p:nvSpPr>
          <p:cNvPr id="12" name="TextBox 11"/>
          <p:cNvSpPr txBox="1"/>
          <p:nvPr/>
        </p:nvSpPr>
        <p:spPr>
          <a:xfrm>
            <a:off x="475488" y="1261872"/>
            <a:ext cx="2586151" cy="4828032"/>
          </a:xfrm>
          <a:prstGeom prst="rect">
            <a:avLst/>
          </a:prstGeom>
          <a:noFill/>
        </p:spPr>
        <p:txBody>
          <a:bodyPr wrap="square">
            <a:spAutoFit/>
          </a:bodyPr>
          <a:lstStyle/>
          <a:p>
            <a:pPr algn="l"/>
            <a:r>
              <a:rPr sz="1000" b="0" i="0">
                <a:solidFill>
                  <a:srgbClr val="475569"/>
                </a:solidFill>
              </a:rPr>
              <a:t>• 木材・コンクリート・金属板に対して接触角を評価</a:t>
            </a:r>
          </a:p>
          <a:p>
            <a:pPr algn="l"/>
            <a:r>
              <a:rPr sz="1000" b="0" i="0">
                <a:solidFill>
                  <a:srgbClr val="475569"/>
                </a:solidFill>
              </a:rPr>
              <a:t>• WEGは低接触角 → 高い濡れ性・広がり性</a:t>
            </a:r>
          </a:p>
          <a:p>
            <a:pPr algn="l"/>
            <a:r>
              <a:rPr sz="1000" b="0" i="0">
                <a:solidFill>
                  <a:srgbClr val="475569"/>
                </a:solidFill>
              </a:rPr>
              <a:t>• HEC+MCはセルロース-木材間で特に高い親和性</a:t>
            </a:r>
          </a:p>
        </p:txBody>
      </p:sp>
      <p:sp>
        <p:nvSpPr>
          <p:cNvPr id="13" name="Rectangle 12"/>
          <p:cNvSpPr/>
          <p:nvPr/>
        </p:nvSpPr>
        <p:spPr>
          <a:xfrm>
            <a:off x="3262807"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62807"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72535" y="950976"/>
            <a:ext cx="2586151" cy="292608"/>
          </a:xfrm>
          <a:prstGeom prst="rect">
            <a:avLst/>
          </a:prstGeom>
          <a:noFill/>
        </p:spPr>
        <p:txBody>
          <a:bodyPr wrap="square">
            <a:spAutoFit/>
          </a:bodyPr>
          <a:lstStyle/>
          <a:p>
            <a:pPr algn="l"/>
            <a:r>
              <a:rPr sz="1200" b="1" i="0">
                <a:solidFill>
                  <a:srgbClr val="1E293B"/>
                </a:solidFill>
              </a:rPr>
              <a:t>垂直面付着試験</a:t>
            </a:r>
          </a:p>
        </p:txBody>
      </p:sp>
      <p:sp>
        <p:nvSpPr>
          <p:cNvPr id="16" name="TextBox 15"/>
          <p:cNvSpPr txBox="1"/>
          <p:nvPr/>
        </p:nvSpPr>
        <p:spPr>
          <a:xfrm>
            <a:off x="3372535" y="1261872"/>
            <a:ext cx="2586151" cy="4828032"/>
          </a:xfrm>
          <a:prstGeom prst="rect">
            <a:avLst/>
          </a:prstGeom>
          <a:noFill/>
        </p:spPr>
        <p:txBody>
          <a:bodyPr wrap="square">
            <a:spAutoFit/>
          </a:bodyPr>
          <a:lstStyle/>
          <a:p>
            <a:pPr algn="l"/>
            <a:r>
              <a:rPr sz="1000" b="0" i="0">
                <a:solidFill>
                  <a:srgbClr val="475569"/>
                </a:solidFill>
              </a:rPr>
              <a:t>• 垂直に立てた基板にゲルを塗布</a:t>
            </a:r>
          </a:p>
          <a:p>
            <a:pPr algn="l"/>
            <a:r>
              <a:rPr sz="1000" b="0" i="0">
                <a:solidFill>
                  <a:srgbClr val="475569"/>
                </a:solidFill>
              </a:rPr>
              <a:t>• G' ≫ G'' → 重力に抵抗して流れ落ちない</a:t>
            </a:r>
          </a:p>
          <a:p>
            <a:pPr algn="l"/>
            <a:r>
              <a:rPr sz="1000" b="0" i="0">
                <a:solidFill>
                  <a:srgbClr val="475569"/>
                </a:solidFill>
              </a:rPr>
              <a:t>• AquaGel-Kと同等以上の垂直面保持性</a:t>
            </a:r>
          </a:p>
        </p:txBody>
      </p:sp>
      <p:sp>
        <p:nvSpPr>
          <p:cNvPr id="17" name="Rectangle 16"/>
          <p:cNvSpPr/>
          <p:nvPr/>
        </p:nvSpPr>
        <p:spPr>
          <a:xfrm>
            <a:off x="6159855"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59855"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9583" y="950976"/>
            <a:ext cx="2586151" cy="292608"/>
          </a:xfrm>
          <a:prstGeom prst="rect">
            <a:avLst/>
          </a:prstGeom>
          <a:noFill/>
        </p:spPr>
        <p:txBody>
          <a:bodyPr wrap="square">
            <a:spAutoFit/>
          </a:bodyPr>
          <a:lstStyle/>
          <a:p>
            <a:pPr algn="l"/>
            <a:r>
              <a:rPr sz="1200" b="1" i="0">
                <a:solidFill>
                  <a:srgbClr val="1E293B"/>
                </a:solidFill>
              </a:rPr>
              <a:t>スプレー散布適性</a:t>
            </a:r>
          </a:p>
        </p:txBody>
      </p:sp>
      <p:sp>
        <p:nvSpPr>
          <p:cNvPr id="20" name="TextBox 19"/>
          <p:cNvSpPr txBox="1"/>
          <p:nvPr/>
        </p:nvSpPr>
        <p:spPr>
          <a:xfrm>
            <a:off x="6269583" y="1261872"/>
            <a:ext cx="2586151" cy="4828032"/>
          </a:xfrm>
          <a:prstGeom prst="rect">
            <a:avLst/>
          </a:prstGeom>
          <a:noFill/>
        </p:spPr>
        <p:txBody>
          <a:bodyPr wrap="square">
            <a:spAutoFit/>
          </a:bodyPr>
          <a:lstStyle/>
          <a:p>
            <a:pPr algn="l"/>
            <a:r>
              <a:rPr sz="1000" b="0" i="0">
                <a:solidFill>
                  <a:srgbClr val="475569"/>
                </a:solidFill>
              </a:rPr>
              <a:t>• 高せん断下（スプレーノズル）で粘度が急低下</a:t>
            </a:r>
          </a:p>
          <a:p>
            <a:pPr algn="l"/>
            <a:r>
              <a:rPr sz="1000" b="0" i="0">
                <a:solidFill>
                  <a:srgbClr val="475569"/>
                </a:solidFill>
              </a:rPr>
              <a:t>• 基材到達後すぐに高粘度を回復 → 付着維持</a:t>
            </a:r>
          </a:p>
          <a:p>
            <a:pPr algn="l"/>
            <a:r>
              <a:rPr sz="1000" b="0" i="0">
                <a:solidFill>
                  <a:srgbClr val="475569"/>
                </a:solidFill>
              </a:rPr>
              <a:t>• 既存消防ホース・ノズルと完全互換</a:t>
            </a:r>
          </a:p>
        </p:txBody>
      </p:sp>
      <p:sp>
        <p:nvSpPr>
          <p:cNvPr id="21" name="Rectangle 20"/>
          <p:cNvSpPr/>
          <p:nvPr/>
        </p:nvSpPr>
        <p:spPr>
          <a:xfrm>
            <a:off x="9056903"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56903"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66631" y="950976"/>
            <a:ext cx="2586151" cy="5138928"/>
          </a:xfrm>
          <a:prstGeom prst="rect">
            <a:avLst/>
          </a:prstGeom>
          <a:noFill/>
        </p:spPr>
        <p:txBody>
          <a:bodyPr wrap="square">
            <a:spAutoFit/>
          </a:bodyPr>
          <a:lstStyle/>
          <a:p>
            <a:pPr algn="l"/>
            <a:r>
              <a:rPr sz="1000" b="0" i="0">
                <a:solidFill>
                  <a:srgbClr val="475569"/>
                </a:solidFill>
              </a:rPr>
              <a:t>木材表面への付着挙動</a:t>
            </a:r>
          </a:p>
          <a:p>
            <a:pPr algn="l"/>
            <a:r>
              <a:rPr sz="1000" b="0" i="0">
                <a:solidFill>
                  <a:srgbClr val="475569"/>
                </a:solidFill>
              </a:rPr>
              <a:t>水</a:t>
            </a:r>
          </a:p>
          <a:p>
            <a:pPr algn="l"/>
            <a:r>
              <a:rPr sz="1000" b="0" i="0">
                <a:solidFill>
                  <a:srgbClr val="475569"/>
                </a:solidFill>
              </a:rPr>
              <a:t>AquaGel-K</a:t>
            </a:r>
          </a:p>
          <a:p>
            <a:pPr algn="l"/>
            <a:r>
              <a:rPr sz="1000" b="0" i="0">
                <a:solidFill>
                  <a:srgbClr val="475569"/>
                </a:solidFill>
              </a:rPr>
              <a:t>本研究 WEG</a:t>
            </a:r>
          </a:p>
          <a:p>
            <a:pPr algn="l"/>
            <a:r>
              <a:rPr sz="1000" b="0" i="0">
                <a:solidFill>
                  <a:srgbClr val="475569"/>
                </a:solidFill>
              </a:rPr>
              <a:t>付着保持スコア（相対評価）</a:t>
            </a:r>
          </a:p>
        </p:txBody>
      </p:sp>
      <p:sp>
        <p:nvSpPr>
          <p:cNvPr id="24" name="Rectangle 23"/>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流動学的設計（低 n 、高 G'）により、散布適性と付着保持を同時に達成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9144000" cy="365760"/>
          </a:xfrm>
          <a:prstGeom prst="rect">
            <a:avLst/>
          </a:prstGeom>
          <a:noFill/>
        </p:spPr>
        <p:txBody>
          <a:bodyPr wrap="square">
            <a:spAutoFit/>
          </a:bodyPr>
          <a:lstStyle/>
          <a:p>
            <a:pPr algn="l"/>
            <a:r>
              <a:rPr sz="1200" b="0" i="0">
                <a:solidFill>
                  <a:srgbClr val="88A4C0"/>
                </a:solidFill>
              </a:rPr>
              <a:t>Part 3</a:t>
            </a:r>
          </a:p>
        </p:txBody>
      </p:sp>
      <p:sp>
        <p:nvSpPr>
          <p:cNvPr id="5" name="TextBox 4"/>
          <p:cNvSpPr txBox="1"/>
          <p:nvPr/>
        </p:nvSpPr>
        <p:spPr>
          <a:xfrm>
            <a:off x="914400" y="1783080"/>
            <a:ext cx="9144000" cy="1188720"/>
          </a:xfrm>
          <a:prstGeom prst="rect">
            <a:avLst/>
          </a:prstGeom>
          <a:noFill/>
        </p:spPr>
        <p:txBody>
          <a:bodyPr wrap="square">
            <a:spAutoFit/>
          </a:bodyPr>
          <a:lstStyle/>
          <a:p>
            <a:pPr algn="l"/>
            <a:r>
              <a:rPr sz="4600" b="1" i="0">
                <a:solidFill>
                  <a:srgbClr val="FFFFFF"/>
                </a:solidFill>
              </a:rPr>
              <a:t>実験結果</a:t>
            </a:r>
          </a:p>
        </p:txBody>
      </p:sp>
      <p:sp>
        <p:nvSpPr>
          <p:cNvPr id="6" name="TextBox 5"/>
          <p:cNvSpPr txBox="1"/>
          <p:nvPr/>
        </p:nvSpPr>
        <p:spPr>
          <a:xfrm>
            <a:off x="914400" y="3063240"/>
            <a:ext cx="9144000" cy="731520"/>
          </a:xfrm>
          <a:prstGeom prst="rect">
            <a:avLst/>
          </a:prstGeom>
          <a:noFill/>
        </p:spPr>
        <p:txBody>
          <a:bodyPr wrap="square">
            <a:spAutoFit/>
          </a:bodyPr>
          <a:lstStyle/>
          <a:p>
            <a:pPr algn="l"/>
            <a:r>
              <a:rPr sz="1700" b="0" i="0">
                <a:solidFill>
                  <a:srgbClr val="88A8C8"/>
                </a:solidFill>
              </a:rPr>
              <a:t>レオロジー特性、燃焼性能、発泡構造、エアロゲル形成メカニズムまで</a:t>
            </a:r>
          </a:p>
        </p:txBody>
      </p:sp>
      <p:sp>
        <p:nvSpPr>
          <p:cNvPr id="7" name="Rectangle 6"/>
          <p:cNvSpPr/>
          <p:nvPr/>
        </p:nvSpPr>
        <p:spPr>
          <a:xfrm>
            <a:off x="91440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078224"/>
            <a:ext cx="1097280" cy="256032"/>
          </a:xfrm>
          <a:prstGeom prst="rect">
            <a:avLst/>
          </a:prstGeom>
          <a:noFill/>
        </p:spPr>
        <p:txBody>
          <a:bodyPr wrap="square">
            <a:spAutoFit/>
          </a:bodyPr>
          <a:lstStyle/>
          <a:p>
            <a:pPr algn="l"/>
            <a:r>
              <a:rPr sz="1100" b="0" i="0">
                <a:solidFill>
                  <a:srgbClr val="BBCCDE"/>
                </a:solidFill>
              </a:rPr>
              <a:t>レオロジー</a:t>
            </a:r>
          </a:p>
        </p:txBody>
      </p:sp>
      <p:sp>
        <p:nvSpPr>
          <p:cNvPr id="9" name="Rectangle 8"/>
          <p:cNvSpPr/>
          <p:nvPr/>
        </p:nvSpPr>
        <p:spPr>
          <a:xfrm>
            <a:off x="237744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4078224"/>
            <a:ext cx="1097280" cy="256032"/>
          </a:xfrm>
          <a:prstGeom prst="rect">
            <a:avLst/>
          </a:prstGeom>
          <a:noFill/>
        </p:spPr>
        <p:txBody>
          <a:bodyPr wrap="square">
            <a:spAutoFit/>
          </a:bodyPr>
          <a:lstStyle/>
          <a:p>
            <a:pPr algn="l"/>
            <a:r>
              <a:rPr sz="1100" b="0" i="0">
                <a:solidFill>
                  <a:srgbClr val="BBCCDE"/>
                </a:solidFill>
              </a:rPr>
              <a:t>燃焼試験</a:t>
            </a:r>
          </a:p>
        </p:txBody>
      </p:sp>
      <p:sp>
        <p:nvSpPr>
          <p:cNvPr id="11" name="Rectangle 10"/>
          <p:cNvSpPr/>
          <p:nvPr/>
        </p:nvSpPr>
        <p:spPr>
          <a:xfrm>
            <a:off x="384048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40" y="4078224"/>
            <a:ext cx="1097280" cy="256032"/>
          </a:xfrm>
          <a:prstGeom prst="rect">
            <a:avLst/>
          </a:prstGeom>
          <a:noFill/>
        </p:spPr>
        <p:txBody>
          <a:bodyPr wrap="square">
            <a:spAutoFit/>
          </a:bodyPr>
          <a:lstStyle/>
          <a:p>
            <a:pPr algn="l"/>
            <a:r>
              <a:rPr sz="1100" b="0" i="0">
                <a:solidFill>
                  <a:srgbClr val="BBCCDE"/>
                </a:solidFill>
              </a:rPr>
              <a:t>発泡指数</a:t>
            </a:r>
          </a:p>
        </p:txBody>
      </p:sp>
      <p:sp>
        <p:nvSpPr>
          <p:cNvPr id="13" name="Rectangle 12"/>
          <p:cNvSpPr/>
          <p:nvPr/>
        </p:nvSpPr>
        <p:spPr>
          <a:xfrm>
            <a:off x="530352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40680" y="4078224"/>
            <a:ext cx="1097280" cy="256032"/>
          </a:xfrm>
          <a:prstGeom prst="rect">
            <a:avLst/>
          </a:prstGeom>
          <a:noFill/>
        </p:spPr>
        <p:txBody>
          <a:bodyPr wrap="square">
            <a:spAutoFit/>
          </a:bodyPr>
          <a:lstStyle/>
          <a:p>
            <a:pPr algn="l"/>
            <a:r>
              <a:rPr sz="1100" b="0" i="0">
                <a:solidFill>
                  <a:srgbClr val="BBCCDE"/>
                </a:solidFill>
              </a:rPr>
              <a:t>SEM観察</a:t>
            </a:r>
          </a:p>
        </p:txBody>
      </p:sp>
      <p:sp>
        <p:nvSpPr>
          <p:cNvPr id="15" name="TextBox 14"/>
          <p:cNvSpPr txBox="1"/>
          <p:nvPr/>
        </p:nvSpPr>
        <p:spPr>
          <a:xfrm>
            <a:off x="11002975" y="6537960"/>
            <a:ext cx="1005840" cy="237744"/>
          </a:xfrm>
          <a:prstGeom prst="rect">
            <a:avLst/>
          </a:prstGeom>
          <a:noFill/>
        </p:spPr>
        <p:txBody>
          <a:bodyPr wrap="square">
            <a:spAutoFit/>
          </a:bodyPr>
          <a:lstStyle/>
          <a:p>
            <a:pPr algn="r"/>
            <a:r>
              <a:rPr sz="900" b="0" i="0">
                <a:solidFill>
                  <a:srgbClr val="556677"/>
                </a:solidFill>
              </a:rPr>
              <a:t>15 / 36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1/11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レオロジー①：振動弾性率 G' / G''</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16 / 36</a:t>
            </a:r>
          </a:p>
        </p:txBody>
      </p:sp>
      <p:pic>
        <p:nvPicPr>
          <p:cNvPr id="9" name="Picture 8" descr="fig2ab.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4813273"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4813273"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4630393" cy="3584448"/>
          </a:xfrm>
          <a:prstGeom prst="rect">
            <a:avLst/>
          </a:prstGeom>
          <a:noFill/>
        </p:spPr>
        <p:txBody>
          <a:bodyPr wrap="square">
            <a:spAutoFit/>
          </a:bodyPr>
          <a:lstStyle/>
          <a:p>
            <a:pPr algn="l"/>
            <a:r>
              <a:rPr sz="1000" b="0" i="0">
                <a:solidFill>
                  <a:srgbClr val="475569"/>
                </a:solidFill>
              </a:rPr>
              <a:t>• 全配合系で G' &gt; G'' → 固体的（ゲル）挙動</a:t>
            </a:r>
          </a:p>
          <a:p>
            <a:pPr algn="l"/>
            <a:r>
              <a:rPr sz="1000" b="0" i="0">
                <a:solidFill>
                  <a:srgbClr val="475569"/>
                </a:solidFill>
              </a:rPr>
              <a:t>• 周波数依存性が小さい → 安定したネットワーク</a:t>
            </a:r>
          </a:p>
          <a:p>
            <a:pPr algn="l"/>
            <a:r>
              <a:rPr sz="1000" b="0" i="0">
                <a:solidFill>
                  <a:srgbClr val="475569"/>
                </a:solidFill>
              </a:rPr>
              <a:t>• AquaGel-Kよりも本研究WEGの方が高弾性</a:t>
            </a:r>
          </a:p>
        </p:txBody>
      </p:sp>
      <p:sp>
        <p:nvSpPr>
          <p:cNvPr id="13" name="Rectangle 12"/>
          <p:cNvSpPr/>
          <p:nvPr/>
        </p:nvSpPr>
        <p:spPr>
          <a:xfrm>
            <a:off x="365760" y="4809744"/>
            <a:ext cx="11460175"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4809744"/>
            <a:ext cx="11460175"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4901184"/>
            <a:ext cx="11277295" cy="1600200"/>
          </a:xfrm>
          <a:prstGeom prst="rect">
            <a:avLst/>
          </a:prstGeom>
          <a:noFill/>
        </p:spPr>
        <p:txBody>
          <a:bodyPr wrap="square">
            <a:spAutoFit/>
          </a:bodyPr>
          <a:lstStyle/>
          <a:p>
            <a:pPr algn="l"/>
            <a:r>
              <a:rPr sz="1000" b="0" i="0">
                <a:solidFill>
                  <a:srgbClr val="475569"/>
                </a:solidFill>
              </a:rPr>
              <a:t>• 全配合系で G' &gt; G'' → 固体的（ゲル）挙動</a:t>
            </a:r>
          </a:p>
          <a:p>
            <a:pPr algn="l"/>
            <a:r>
              <a:rPr sz="1000" b="0" i="0">
                <a:solidFill>
                  <a:srgbClr val="475569"/>
                </a:solidFill>
              </a:rPr>
              <a:t>• 周波数依存性が小さい → 安定したネットワーク</a:t>
            </a:r>
          </a:p>
          <a:p>
            <a:pPr algn="l"/>
            <a:r>
              <a:rPr sz="1000" b="0" i="0">
                <a:solidFill>
                  <a:srgbClr val="475569"/>
                </a:solidFill>
              </a:rPr>
              <a:t>• AquaGel-Kよりも本研究WEGの方が高弾性</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2/11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レオロジー②：剪断希薄化と Power-law 指数</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17 / 36</a:t>
            </a:r>
          </a:p>
        </p:txBody>
      </p:sp>
      <p:pic>
        <p:nvPicPr>
          <p:cNvPr id="9" name="Picture 8" descr="fig2cd.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4813273"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4813273"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4630393" cy="3584448"/>
          </a:xfrm>
          <a:prstGeom prst="rect">
            <a:avLst/>
          </a:prstGeom>
          <a:noFill/>
        </p:spPr>
        <p:txBody>
          <a:bodyPr wrap="square">
            <a:spAutoFit/>
          </a:bodyPr>
          <a:lstStyle/>
          <a:p>
            <a:pPr algn="l"/>
            <a:r>
              <a:rPr sz="1000" b="0" i="0">
                <a:solidFill>
                  <a:srgbClr val="475569"/>
                </a:solidFill>
              </a:rPr>
              <a:t>n</a:t>
            </a:r>
          </a:p>
          <a:p>
            <a:pPr algn="l"/>
            <a:r>
              <a:rPr sz="1000" b="0" i="0">
                <a:solidFill>
                  <a:srgbClr val="475569"/>
                </a:solidFill>
              </a:rPr>
              <a:t>&lt; 1 = 剪断希薄化（shear-thinning）</a:t>
            </a:r>
          </a:p>
          <a:p>
            <a:pPr algn="l"/>
            <a:r>
              <a:rPr sz="1000" b="0" i="0">
                <a:solidFill>
                  <a:srgbClr val="475569"/>
                </a:solidFill>
              </a:rPr>
              <a:t>低いほど高せん断でよく流れる → スプレー性◎</a:t>
            </a:r>
          </a:p>
        </p:txBody>
      </p:sp>
      <p:sp>
        <p:nvSpPr>
          <p:cNvPr id="13" name="Rectangle 12"/>
          <p:cNvSpPr/>
          <p:nvPr/>
        </p:nvSpPr>
        <p:spPr>
          <a:xfrm>
            <a:off x="365760" y="4809744"/>
            <a:ext cx="11460175"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4809744"/>
            <a:ext cx="11460175"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4901184"/>
            <a:ext cx="11277295" cy="1600200"/>
          </a:xfrm>
          <a:prstGeom prst="rect">
            <a:avLst/>
          </a:prstGeom>
          <a:noFill/>
        </p:spPr>
        <p:txBody>
          <a:bodyPr wrap="square">
            <a:spAutoFit/>
          </a:bodyPr>
          <a:lstStyle/>
          <a:p>
            <a:pPr algn="l"/>
            <a:r>
              <a:rPr sz="1000" b="0" i="0">
                <a:solidFill>
                  <a:srgbClr val="475569"/>
                </a:solidFill>
              </a:rPr>
              <a:t>n</a:t>
            </a:r>
          </a:p>
          <a:p>
            <a:pPr algn="l"/>
            <a:r>
              <a:rPr sz="1000" b="0" i="0">
                <a:solidFill>
                  <a:srgbClr val="475569"/>
                </a:solidFill>
              </a:rPr>
              <a:t>&lt; 1 = 剪断希薄化（shear-thinning）</a:t>
            </a:r>
          </a:p>
          <a:p>
            <a:pPr algn="l"/>
            <a:r>
              <a:rPr sz="1000" b="0" i="0">
                <a:solidFill>
                  <a:srgbClr val="475569"/>
                </a:solidFill>
              </a:rPr>
              <a:t>低いほど高せん断でよく流れる → スプレー性◎</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3/11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レオロジー③：Herschel-Bulkley モデルパラメータ</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18 / 36</a:t>
            </a:r>
          </a:p>
        </p:txBody>
      </p:sp>
      <p:sp>
        <p:nvSpPr>
          <p:cNvPr id="9" name="Rectangle 8"/>
          <p:cNvSpPr/>
          <p:nvPr/>
        </p:nvSpPr>
        <p:spPr>
          <a:xfrm>
            <a:off x="365760" y="859536"/>
            <a:ext cx="3734714"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3551834" cy="5138928"/>
          </a:xfrm>
          <a:prstGeom prst="rect">
            <a:avLst/>
          </a:prstGeom>
          <a:noFill/>
        </p:spPr>
        <p:txBody>
          <a:bodyPr wrap="square">
            <a:spAutoFit/>
          </a:bodyPr>
          <a:lstStyle/>
          <a:p>
            <a:pPr algn="l"/>
            <a:r>
              <a:rPr sz="1000" b="0" i="0">
                <a:solidFill>
                  <a:srgbClr val="475569"/>
                </a:solidFill>
              </a:rPr>
              <a:t>降伏応力 τ₀</a:t>
            </a:r>
          </a:p>
          <a:p>
            <a:pPr algn="l"/>
            <a:r>
              <a:rPr sz="1000" b="0" i="0">
                <a:solidFill>
                  <a:srgbClr val="475569"/>
                </a:solidFill>
              </a:rPr>
              <a:t>流れ始めるのに必要な最小応力。</a:t>
            </a:r>
          </a:p>
          <a:p>
            <a:pPr algn="l"/>
            <a:r>
              <a:rPr sz="1000" b="0" i="0">
                <a:solidFill>
                  <a:srgbClr val="475569"/>
                </a:solidFill>
              </a:rPr>
              <a:t>WEGは AquaGel-K の約2倍 → 垂直面での流れ落ち抵抗が高い</a:t>
            </a:r>
          </a:p>
        </p:txBody>
      </p:sp>
      <p:sp>
        <p:nvSpPr>
          <p:cNvPr id="12" name="Rectangle 11"/>
          <p:cNvSpPr/>
          <p:nvPr/>
        </p:nvSpPr>
        <p:spPr>
          <a:xfrm>
            <a:off x="4228490" y="859536"/>
            <a:ext cx="3734714"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28490" y="859536"/>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8218" y="950976"/>
            <a:ext cx="3551834" cy="5138928"/>
          </a:xfrm>
          <a:prstGeom prst="rect">
            <a:avLst/>
          </a:prstGeom>
          <a:noFill/>
        </p:spPr>
        <p:txBody>
          <a:bodyPr wrap="square">
            <a:spAutoFit/>
          </a:bodyPr>
          <a:lstStyle/>
          <a:p>
            <a:pPr algn="l"/>
            <a:r>
              <a:rPr sz="1000" b="0" i="0">
                <a:solidFill>
                  <a:srgbClr val="475569"/>
                </a:solidFill>
              </a:rPr>
              <a:t>流動指数 n （&lt;&lt; 1）</a:t>
            </a:r>
          </a:p>
          <a:p>
            <a:pPr algn="l"/>
            <a:r>
              <a:rPr sz="1000" b="0" i="0">
                <a:solidFill>
                  <a:srgbClr val="475569"/>
                </a:solidFill>
              </a:rPr>
              <a:t>HEC+MC/CSP の</a:t>
            </a:r>
          </a:p>
          <a:p>
            <a:pPr algn="l"/>
            <a:r>
              <a:rPr sz="1000" b="0" i="0">
                <a:solidFill>
                  <a:srgbClr val="475569"/>
                </a:solidFill>
              </a:rPr>
              <a:t>n</a:t>
            </a:r>
          </a:p>
          <a:p>
            <a:pPr algn="l"/>
            <a:r>
              <a:rPr sz="1000" b="0" i="0">
                <a:solidFill>
                  <a:srgbClr val="475569"/>
                </a:solidFill>
              </a:rPr>
              <a:t>=0.108 は強い剪断希薄化を示す。</a:t>
            </a:r>
          </a:p>
          <a:p>
            <a:pPr algn="l"/>
            <a:r>
              <a:rPr sz="1000" b="0" i="0">
                <a:solidFill>
                  <a:srgbClr val="475569"/>
                </a:solidFill>
              </a:rPr>
              <a:t>スプレー時の低粘度と静止時の高粘度を両立</a:t>
            </a:r>
          </a:p>
        </p:txBody>
      </p:sp>
      <p:sp>
        <p:nvSpPr>
          <p:cNvPr id="15" name="Rectangle 14"/>
          <p:cNvSpPr/>
          <p:nvPr/>
        </p:nvSpPr>
        <p:spPr>
          <a:xfrm>
            <a:off x="8091220" y="859536"/>
            <a:ext cx="3734714"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1220" y="859536"/>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00948" y="950976"/>
            <a:ext cx="3551834" cy="5138928"/>
          </a:xfrm>
          <a:prstGeom prst="rect">
            <a:avLst/>
          </a:prstGeom>
          <a:noFill/>
        </p:spPr>
        <p:txBody>
          <a:bodyPr wrap="square">
            <a:spAutoFit/>
          </a:bodyPr>
          <a:lstStyle/>
          <a:p>
            <a:pPr algn="l"/>
            <a:r>
              <a:rPr sz="1000" b="0" i="0">
                <a:solidFill>
                  <a:srgbClr val="475569"/>
                </a:solidFill>
              </a:rPr>
              <a:t>HEC+MC vs MHEC</a:t>
            </a:r>
          </a:p>
          <a:p>
            <a:pPr algn="l"/>
            <a:r>
              <a:rPr sz="1000" b="0" i="0">
                <a:solidFill>
                  <a:srgbClr val="475569"/>
                </a:solidFill>
              </a:rPr>
              <a:t>HEC+MC系はより低い</a:t>
            </a:r>
          </a:p>
          <a:p>
            <a:pPr algn="l"/>
            <a:r>
              <a:rPr sz="1000" b="0" i="0">
                <a:solidFill>
                  <a:srgbClr val="475569"/>
                </a:solidFill>
              </a:rPr>
              <a:t>n</a:t>
            </a:r>
          </a:p>
          <a:p>
            <a:pPr algn="l"/>
            <a:r>
              <a:rPr sz="1000" b="0" i="0">
                <a:solidFill>
                  <a:srgbClr val="475569"/>
                </a:solidFill>
              </a:rPr>
              <a:t>と高い K → より強い剪断希薄化。</a:t>
            </a:r>
          </a:p>
          <a:p>
            <a:pPr algn="l"/>
            <a:r>
              <a:rPr sz="1000" b="0" i="0">
                <a:solidFill>
                  <a:srgbClr val="475569"/>
                </a:solidFill>
              </a:rPr>
              <a:t>MHEC系は単一ポリマーで類似機能を実現</a:t>
            </a:r>
          </a:p>
        </p:txBody>
      </p:sp>
      <p:sp>
        <p:nvSpPr>
          <p:cNvPr id="18" name="Rectangle 17"/>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Herschel-Bulkley モデル： σ = τ₀ + K · γ̇ⁿ （τ₀：降伏応力, K：稠度係数, n：流動指数）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4/11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レオロジー④：動的降伏応力・粘弾性（tan δ）</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19 / 36</a:t>
            </a:r>
          </a:p>
        </p:txBody>
      </p:sp>
      <p:sp>
        <p:nvSpPr>
          <p:cNvPr id="9" name="Rectangle 8"/>
          <p:cNvSpPr/>
          <p:nvPr/>
        </p:nvSpPr>
        <p:spPr>
          <a:xfrm>
            <a:off x="365760" y="859536"/>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859536"/>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923544"/>
            <a:ext cx="11204143" cy="347472"/>
          </a:xfrm>
          <a:prstGeom prst="rect">
            <a:avLst/>
          </a:prstGeom>
          <a:noFill/>
        </p:spPr>
        <p:txBody>
          <a:bodyPr wrap="square">
            <a:spAutoFit/>
          </a:bodyPr>
          <a:lstStyle/>
          <a:p>
            <a:pPr algn="l"/>
            <a:r>
              <a:rPr sz="1100" b="0" i="0">
                <a:solidFill>
                  <a:srgbClr val="1E293B"/>
                </a:solidFill>
              </a:rPr>
              <a:t>G' = G'' クロスオーバー点での応力 = 動的降伏応力。WEG は AquaGel-K の約3倍の構造強度</a:t>
            </a:r>
          </a:p>
        </p:txBody>
      </p:sp>
      <p:sp>
        <p:nvSpPr>
          <p:cNvPr id="12" name="Rectangle 11"/>
          <p:cNvSpPr/>
          <p:nvPr/>
        </p:nvSpPr>
        <p:spPr>
          <a:xfrm>
            <a:off x="365760" y="1371600"/>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371600"/>
            <a:ext cx="11414455" cy="438912"/>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435608"/>
            <a:ext cx="11204143" cy="347472"/>
          </a:xfrm>
          <a:prstGeom prst="rect">
            <a:avLst/>
          </a:prstGeom>
          <a:noFill/>
        </p:spPr>
        <p:txBody>
          <a:bodyPr wrap="square">
            <a:spAutoFit/>
          </a:bodyPr>
          <a:lstStyle/>
          <a:p>
            <a:pPr algn="l"/>
            <a:r>
              <a:rPr sz="1100" b="0" i="0">
                <a:solidFill>
                  <a:srgbClr val="FFFFFF"/>
                </a:solidFill>
              </a:rPr>
              <a:t>tan δ &lt;&lt; 1 → 全配合系が明確なゲル挙動。弾性成分が圧倒的に支配的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5/11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HEC+MC vs MHEC：二系統の比較</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20 / 36</a:t>
            </a:r>
          </a:p>
        </p:txBody>
      </p:sp>
      <p:sp>
        <p:nvSpPr>
          <p:cNvPr id="9" name="Rectangle 8"/>
          <p:cNvSpPr/>
          <p:nvPr/>
        </p:nvSpPr>
        <p:spPr>
          <a:xfrm>
            <a:off x="365760"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5483199" cy="5138928"/>
          </a:xfrm>
          <a:prstGeom prst="rect">
            <a:avLst/>
          </a:prstGeom>
          <a:noFill/>
        </p:spPr>
        <p:txBody>
          <a:bodyPr wrap="square">
            <a:spAutoFit/>
          </a:bodyPr>
          <a:lstStyle/>
          <a:p>
            <a:pPr algn="l"/>
            <a:r>
              <a:rPr sz="1000" b="0" i="0">
                <a:solidFill>
                  <a:srgbClr val="475569"/>
                </a:solidFill>
              </a:rPr>
              <a:t>• HECで常温粘度・付着性を確保</a:t>
            </a:r>
          </a:p>
          <a:p>
            <a:pPr algn="l"/>
            <a:r>
              <a:rPr sz="1000" b="0" i="0">
                <a:solidFill>
                  <a:srgbClr val="475569"/>
                </a:solidFill>
              </a:rPr>
              <a:t>• MCで加熱時の構造維持を担当</a:t>
            </a:r>
          </a:p>
          <a:p>
            <a:pPr algn="l"/>
            <a:r>
              <a:rPr sz="1000" b="0" i="0">
                <a:solidFill>
                  <a:srgbClr val="475569"/>
                </a:solidFill>
              </a:rPr>
              <a:t>• より低い n =0.108 → 強い剪断希薄化</a:t>
            </a:r>
          </a:p>
          <a:p>
            <a:pPr algn="l"/>
            <a:r>
              <a:rPr sz="1000" b="0" i="0">
                <a:solidFill>
                  <a:srgbClr val="475569"/>
                </a:solidFill>
              </a:rPr>
              <a:t>• Time to char ≈ 9–10 min</a:t>
            </a:r>
          </a:p>
          <a:p>
            <a:pPr algn="l"/>
            <a:r>
              <a:rPr sz="1000" b="0" i="0">
                <a:solidFill>
                  <a:srgbClr val="475569"/>
                </a:solidFill>
              </a:rPr>
              <a:t>• Foaming Index ≈ 2.2–2.6</a:t>
            </a:r>
          </a:p>
        </p:txBody>
      </p:sp>
      <p:sp>
        <p:nvSpPr>
          <p:cNvPr id="12" name="Rectangle 11"/>
          <p:cNvSpPr/>
          <p:nvPr/>
        </p:nvSpPr>
        <p:spPr>
          <a:xfrm>
            <a:off x="6159855"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59855"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9583" y="950976"/>
            <a:ext cx="5483199" cy="5138928"/>
          </a:xfrm>
          <a:prstGeom prst="rect">
            <a:avLst/>
          </a:prstGeom>
          <a:noFill/>
        </p:spPr>
        <p:txBody>
          <a:bodyPr wrap="square">
            <a:spAutoFit/>
          </a:bodyPr>
          <a:lstStyle/>
          <a:p>
            <a:pPr algn="l"/>
            <a:r>
              <a:rPr sz="1000" b="0" i="0">
                <a:solidFill>
                  <a:srgbClr val="475569"/>
                </a:solidFill>
              </a:rPr>
              <a:t>• ヒドロキシエチル基（HEC由来）とメチル基（MC由来）を同一鎖上に有する</a:t>
            </a:r>
          </a:p>
          <a:p>
            <a:pPr algn="l"/>
            <a:r>
              <a:rPr sz="1000" b="0" i="0">
                <a:solidFill>
                  <a:srgbClr val="475569"/>
                </a:solidFill>
              </a:rPr>
              <a:t>• 単一ポリマーで同等の粘弾性・熱応答を実現</a:t>
            </a:r>
          </a:p>
          <a:p>
            <a:pPr algn="l"/>
            <a:r>
              <a:rPr sz="1000" b="0" i="0">
                <a:solidFill>
                  <a:srgbClr val="475569"/>
                </a:solidFill>
              </a:rPr>
              <a:t>• n =0.188（HEC+MC より若干高い）</a:t>
            </a:r>
          </a:p>
          <a:p>
            <a:pPr algn="l"/>
            <a:r>
              <a:rPr sz="1000" b="0" i="0">
                <a:solidFill>
                  <a:srgbClr val="475569"/>
                </a:solidFill>
              </a:rPr>
              <a:t>• Time to char ≈ 10 min</a:t>
            </a:r>
          </a:p>
          <a:p>
            <a:pPr algn="l"/>
            <a:r>
              <a:rPr sz="1000" b="0" i="0">
                <a:solidFill>
                  <a:srgbClr val="475569"/>
                </a:solidFill>
              </a:rPr>
              <a:t>• 配合・品質管理が単純化される利点</a:t>
            </a:r>
          </a:p>
        </p:txBody>
      </p:sp>
      <p:sp>
        <p:nvSpPr>
          <p:cNvPr id="15" name="Rectangle 14"/>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両系統とも市販AquaGel-Kを大幅に上回る性能。 HEC+MC系は発泡最適化に、MHEC系は製造簡便性に優れる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6/11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燃焼試験のセットアップ</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21 / 36</a:t>
            </a:r>
          </a:p>
        </p:txBody>
      </p:sp>
      <p:pic>
        <p:nvPicPr>
          <p:cNvPr id="9" name="Picture 8" descr="fig3a_setup.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4813273"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4813273"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4630393" cy="292608"/>
          </a:xfrm>
          <a:prstGeom prst="rect">
            <a:avLst/>
          </a:prstGeom>
          <a:noFill/>
        </p:spPr>
        <p:txBody>
          <a:bodyPr wrap="square">
            <a:spAutoFit/>
          </a:bodyPr>
          <a:lstStyle/>
          <a:p>
            <a:pPr algn="l"/>
            <a:r>
              <a:rPr sz="1200" b="1" i="0">
                <a:solidFill>
                  <a:srgbClr val="1E293B"/>
                </a:solidFill>
              </a:rPr>
              <a:t>試験条件</a:t>
            </a:r>
          </a:p>
        </p:txBody>
      </p:sp>
      <p:sp>
        <p:nvSpPr>
          <p:cNvPr id="13" name="TextBox 12"/>
          <p:cNvSpPr txBox="1"/>
          <p:nvPr/>
        </p:nvSpPr>
        <p:spPr>
          <a:xfrm>
            <a:off x="7122389" y="1261872"/>
            <a:ext cx="4630393" cy="3273552"/>
          </a:xfrm>
          <a:prstGeom prst="rect">
            <a:avLst/>
          </a:prstGeom>
          <a:noFill/>
        </p:spPr>
        <p:txBody>
          <a:bodyPr wrap="square">
            <a:spAutoFit/>
          </a:bodyPr>
          <a:lstStyle/>
          <a:p>
            <a:pPr algn="l"/>
            <a:r>
              <a:rPr sz="1000" b="0" i="0">
                <a:solidFill>
                  <a:srgbClr val="475569"/>
                </a:solidFill>
              </a:rPr>
              <a:t>• 基板：松材（pine wood）薄板</a:t>
            </a:r>
          </a:p>
          <a:p>
            <a:pPr algn="l"/>
            <a:r>
              <a:rPr sz="1000" b="0" i="0">
                <a:solidFill>
                  <a:srgbClr val="475569"/>
                </a:solidFill>
              </a:rPr>
              <a:t>• ゲル散布厚：均一に塗布</a:t>
            </a:r>
          </a:p>
          <a:p>
            <a:pPr algn="l"/>
            <a:r>
              <a:rPr sz="1000" b="0" i="0">
                <a:solidFill>
                  <a:srgbClr val="475569"/>
                </a:solidFill>
              </a:rPr>
              <a:t>• 火炎源：ブタン直炎</a:t>
            </a:r>
          </a:p>
          <a:p>
            <a:pPr algn="l"/>
            <a:r>
              <a:rPr sz="1000" b="0" i="0">
                <a:solidFill>
                  <a:srgbClr val="475569"/>
                </a:solidFill>
              </a:rPr>
              <a:t>• 計測：基材が炭化するまでの時間（Time to char）</a:t>
            </a:r>
          </a:p>
          <a:p>
            <a:pPr algn="l"/>
            <a:r>
              <a:rPr sz="1000" b="0" i="0">
                <a:solidFill>
                  <a:srgbClr val="475569"/>
                </a:solidFill>
              </a:rPr>
              <a:t>• 120 s時点・300 s時点で外観撮影</a:t>
            </a:r>
          </a:p>
        </p:txBody>
      </p:sp>
      <p:sp>
        <p:nvSpPr>
          <p:cNvPr id="14" name="Rectangle 13"/>
          <p:cNvSpPr/>
          <p:nvPr/>
        </p:nvSpPr>
        <p:spPr>
          <a:xfrm>
            <a:off x="365760" y="4809744"/>
            <a:ext cx="11460175"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4809744"/>
            <a:ext cx="11460175"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4901184"/>
            <a:ext cx="11277295" cy="292608"/>
          </a:xfrm>
          <a:prstGeom prst="rect">
            <a:avLst/>
          </a:prstGeom>
          <a:noFill/>
        </p:spPr>
        <p:txBody>
          <a:bodyPr wrap="square">
            <a:spAutoFit/>
          </a:bodyPr>
          <a:lstStyle/>
          <a:p>
            <a:pPr algn="l"/>
            <a:r>
              <a:rPr sz="1200" b="1" i="0">
                <a:solidFill>
                  <a:srgbClr val="1E293B"/>
                </a:solidFill>
              </a:rPr>
              <a:t>試験条件</a:t>
            </a:r>
          </a:p>
        </p:txBody>
      </p:sp>
      <p:sp>
        <p:nvSpPr>
          <p:cNvPr id="17" name="TextBox 16"/>
          <p:cNvSpPr txBox="1"/>
          <p:nvPr/>
        </p:nvSpPr>
        <p:spPr>
          <a:xfrm>
            <a:off x="475488" y="5212080"/>
            <a:ext cx="11277295" cy="1289304"/>
          </a:xfrm>
          <a:prstGeom prst="rect">
            <a:avLst/>
          </a:prstGeom>
          <a:noFill/>
        </p:spPr>
        <p:txBody>
          <a:bodyPr wrap="square">
            <a:spAutoFit/>
          </a:bodyPr>
          <a:lstStyle/>
          <a:p>
            <a:pPr algn="l"/>
            <a:r>
              <a:rPr sz="1000" b="0" i="0">
                <a:solidFill>
                  <a:srgbClr val="475569"/>
                </a:solidFill>
              </a:rPr>
              <a:t>• 基板：松材（pine wood）薄板</a:t>
            </a:r>
          </a:p>
          <a:p>
            <a:pPr algn="l"/>
            <a:r>
              <a:rPr sz="1000" b="0" i="0">
                <a:solidFill>
                  <a:srgbClr val="475569"/>
                </a:solidFill>
              </a:rPr>
              <a:t>• ゲル散布厚：均一に塗布</a:t>
            </a:r>
          </a:p>
          <a:p>
            <a:pPr algn="l"/>
            <a:r>
              <a:rPr sz="1000" b="0" i="0">
                <a:solidFill>
                  <a:srgbClr val="475569"/>
                </a:solidFill>
              </a:rPr>
              <a:t>• 火炎源：ブタン直炎</a:t>
            </a:r>
          </a:p>
          <a:p>
            <a:pPr algn="l"/>
            <a:r>
              <a:rPr sz="1000" b="0" i="0">
                <a:solidFill>
                  <a:srgbClr val="475569"/>
                </a:solidFill>
              </a:rPr>
              <a:t>• 計測：基材が炭化するまでの時間（Time to char）</a:t>
            </a:r>
          </a:p>
          <a:p>
            <a:pPr algn="l"/>
            <a:r>
              <a:rPr sz="1000" b="0" i="0">
                <a:solidFill>
                  <a:srgbClr val="475569"/>
                </a:solidFill>
              </a:rPr>
              <a:t>• 120 s時点・300 s時点で外観撮影</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7/11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Time to char：5配合系の定量比較</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22 / 36</a:t>
            </a:r>
          </a:p>
        </p:txBody>
      </p:sp>
      <p:pic>
        <p:nvPicPr>
          <p:cNvPr id="9" name="Picture 8" descr="fig3b_chart.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365760" y="480974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480974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873752"/>
            <a:ext cx="11204143" cy="347472"/>
          </a:xfrm>
          <a:prstGeom prst="rect">
            <a:avLst/>
          </a:prstGeom>
          <a:noFill/>
        </p:spPr>
        <p:txBody>
          <a:bodyPr wrap="square">
            <a:spAutoFit/>
          </a:bodyPr>
          <a:lstStyle/>
          <a:p>
            <a:pPr algn="l"/>
            <a:r>
              <a:rPr sz="1100" b="0" i="0">
                <a:solidFill>
                  <a:srgbClr val="1E293B"/>
                </a:solidFill>
              </a:rPr>
              <a:t>本研究WEG群はAquaGel-K比で 約40%延長 、水のみと比べて 約5倍 の保護時間</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8/11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燃焼過程の時系列観察</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23 / 36</a:t>
            </a:r>
          </a:p>
        </p:txBody>
      </p:sp>
      <p:pic>
        <p:nvPicPr>
          <p:cNvPr id="9" name="Picture 8" descr="fig3c_timelapse.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1336200" cy="3584448"/>
          </a:xfrm>
          <a:prstGeom prst="rect">
            <a:avLst/>
          </a:prstGeom>
          <a:noFill/>
        </p:spPr>
        <p:txBody>
          <a:bodyPr wrap="square">
            <a:spAutoFit/>
          </a:bodyPr>
          <a:lstStyle/>
          <a:p>
            <a:pPr algn="l"/>
            <a:r>
              <a:rPr sz="1000" b="0" i="0">
                <a:solidFill>
                  <a:srgbClr val="475569"/>
                </a:solidFill>
              </a:rPr>
              <a:t>• 直炎で即座に蒸発・流失</a:t>
            </a:r>
          </a:p>
          <a:p>
            <a:pPr algn="l"/>
            <a:r>
              <a:rPr sz="1000" b="0" i="0">
                <a:solidFill>
                  <a:srgbClr val="475569"/>
                </a:solidFill>
              </a:rPr>
              <a:t>• ~2分で木材表面が炭化</a:t>
            </a:r>
          </a:p>
          <a:p>
            <a:pPr algn="l"/>
            <a:r>
              <a:rPr sz="1000" b="0" i="0">
                <a:solidFill>
                  <a:srgbClr val="475569"/>
                </a:solidFill>
              </a:rPr>
              <a:t>• 保護層ゼロ</a:t>
            </a:r>
          </a:p>
        </p:txBody>
      </p:sp>
      <p:sp>
        <p:nvSpPr>
          <p:cNvPr id="13" name="Rectangle 12"/>
          <p:cNvSpPr/>
          <p:nvPr/>
        </p:nvSpPr>
        <p:spPr>
          <a:xfrm>
            <a:off x="8659758"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659758"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69486" y="950976"/>
            <a:ext cx="1336200" cy="3584448"/>
          </a:xfrm>
          <a:prstGeom prst="rect">
            <a:avLst/>
          </a:prstGeom>
          <a:noFill/>
        </p:spPr>
        <p:txBody>
          <a:bodyPr wrap="square">
            <a:spAutoFit/>
          </a:bodyPr>
          <a:lstStyle/>
          <a:p>
            <a:pPr algn="l"/>
            <a:r>
              <a:rPr sz="1000" b="0" i="0">
                <a:solidFill>
                  <a:srgbClr val="475569"/>
                </a:solidFill>
              </a:rPr>
              <a:t>• 水を保持するが水蒸発で終了</a:t>
            </a:r>
          </a:p>
          <a:p>
            <a:pPr algn="l"/>
            <a:r>
              <a:rPr sz="1000" b="0" i="0">
                <a:solidFill>
                  <a:srgbClr val="475569"/>
                </a:solidFill>
              </a:rPr>
              <a:t>• ~7分で炭化</a:t>
            </a:r>
          </a:p>
          <a:p>
            <a:pPr algn="l"/>
            <a:r>
              <a:rPr sz="1000" b="0" i="0">
                <a:solidFill>
                  <a:srgbClr val="475569"/>
                </a:solidFill>
              </a:rPr>
              <a:t>• 固体保護層を形成しない</a:t>
            </a:r>
          </a:p>
        </p:txBody>
      </p:sp>
      <p:sp>
        <p:nvSpPr>
          <p:cNvPr id="16" name="Rectangle 15"/>
          <p:cNvSpPr/>
          <p:nvPr/>
        </p:nvSpPr>
        <p:spPr>
          <a:xfrm>
            <a:off x="10306854"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306854"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16582" y="950976"/>
            <a:ext cx="1336200" cy="3584448"/>
          </a:xfrm>
          <a:prstGeom prst="rect">
            <a:avLst/>
          </a:prstGeom>
          <a:noFill/>
        </p:spPr>
        <p:txBody>
          <a:bodyPr wrap="square">
            <a:spAutoFit/>
          </a:bodyPr>
          <a:lstStyle/>
          <a:p>
            <a:pPr algn="l"/>
            <a:r>
              <a:rPr sz="1000" b="0" i="0">
                <a:solidFill>
                  <a:srgbClr val="475569"/>
                </a:solidFill>
              </a:rPr>
              <a:t>• 水蒸発と同時にゲルが発泡・膨張</a:t>
            </a:r>
          </a:p>
          <a:p>
            <a:pPr algn="l"/>
            <a:r>
              <a:rPr sz="1000" b="0" i="0">
                <a:solidFill>
                  <a:srgbClr val="475569"/>
                </a:solidFill>
              </a:rPr>
              <a:t>• 多孔質エアロゲル層が継続保護</a:t>
            </a:r>
          </a:p>
          <a:p>
            <a:pPr algn="l"/>
            <a:r>
              <a:rPr sz="1000" b="0" i="0">
                <a:solidFill>
                  <a:srgbClr val="475569"/>
                </a:solidFill>
              </a:rPr>
              <a:t>• ~10分間、炭化を阻止</a:t>
            </a:r>
          </a:p>
        </p:txBody>
      </p:sp>
      <p:sp>
        <p:nvSpPr>
          <p:cNvPr id="19" name="Rectangle 18"/>
          <p:cNvSpPr/>
          <p:nvPr/>
        </p:nvSpPr>
        <p:spPr>
          <a:xfrm>
            <a:off x="36576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4901184"/>
            <a:ext cx="3551834" cy="1600200"/>
          </a:xfrm>
          <a:prstGeom prst="rect">
            <a:avLst/>
          </a:prstGeom>
          <a:noFill/>
        </p:spPr>
        <p:txBody>
          <a:bodyPr wrap="square">
            <a:spAutoFit/>
          </a:bodyPr>
          <a:lstStyle/>
          <a:p>
            <a:pPr algn="l"/>
            <a:r>
              <a:rPr sz="1000" b="0" i="0">
                <a:solidFill>
                  <a:srgbClr val="475569"/>
                </a:solidFill>
              </a:rPr>
              <a:t>• 直炎で即座に蒸発・流失</a:t>
            </a:r>
          </a:p>
          <a:p>
            <a:pPr algn="l"/>
            <a:r>
              <a:rPr sz="1000" b="0" i="0">
                <a:solidFill>
                  <a:srgbClr val="475569"/>
                </a:solidFill>
              </a:rPr>
              <a:t>• ~2分で木材表面が炭化</a:t>
            </a:r>
          </a:p>
          <a:p>
            <a:pPr algn="l"/>
            <a:r>
              <a:rPr sz="1000" b="0" i="0">
                <a:solidFill>
                  <a:srgbClr val="475569"/>
                </a:solidFill>
              </a:rPr>
              <a:t>• 保護層ゼロ</a:t>
            </a:r>
          </a:p>
        </p:txBody>
      </p:sp>
      <p:sp>
        <p:nvSpPr>
          <p:cNvPr id="22" name="Rectangle 21"/>
          <p:cNvSpPr/>
          <p:nvPr/>
        </p:nvSpPr>
        <p:spPr>
          <a:xfrm>
            <a:off x="422849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2849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38218" y="4901184"/>
            <a:ext cx="3551834" cy="1600200"/>
          </a:xfrm>
          <a:prstGeom prst="rect">
            <a:avLst/>
          </a:prstGeom>
          <a:noFill/>
        </p:spPr>
        <p:txBody>
          <a:bodyPr wrap="square">
            <a:spAutoFit/>
          </a:bodyPr>
          <a:lstStyle/>
          <a:p>
            <a:pPr algn="l"/>
            <a:r>
              <a:rPr sz="1000" b="0" i="0">
                <a:solidFill>
                  <a:srgbClr val="475569"/>
                </a:solidFill>
              </a:rPr>
              <a:t>• 水を保持するが水蒸発で終了</a:t>
            </a:r>
          </a:p>
          <a:p>
            <a:pPr algn="l"/>
            <a:r>
              <a:rPr sz="1000" b="0" i="0">
                <a:solidFill>
                  <a:srgbClr val="475569"/>
                </a:solidFill>
              </a:rPr>
              <a:t>• ~7分で炭化</a:t>
            </a:r>
          </a:p>
          <a:p>
            <a:pPr algn="l"/>
            <a:r>
              <a:rPr sz="1000" b="0" i="0">
                <a:solidFill>
                  <a:srgbClr val="475569"/>
                </a:solidFill>
              </a:rPr>
              <a:t>• 固体保護層を形成しない</a:t>
            </a:r>
          </a:p>
        </p:txBody>
      </p:sp>
      <p:sp>
        <p:nvSpPr>
          <p:cNvPr id="25" name="Rectangle 24"/>
          <p:cNvSpPr/>
          <p:nvPr/>
        </p:nvSpPr>
        <p:spPr>
          <a:xfrm>
            <a:off x="809122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122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0948" y="4901184"/>
            <a:ext cx="3551834" cy="1600200"/>
          </a:xfrm>
          <a:prstGeom prst="rect">
            <a:avLst/>
          </a:prstGeom>
          <a:noFill/>
        </p:spPr>
        <p:txBody>
          <a:bodyPr wrap="square">
            <a:spAutoFit/>
          </a:bodyPr>
          <a:lstStyle/>
          <a:p>
            <a:pPr algn="l"/>
            <a:r>
              <a:rPr sz="1000" b="0" i="0">
                <a:solidFill>
                  <a:srgbClr val="475569"/>
                </a:solidFill>
              </a:rPr>
              <a:t>• 水蒸発と同時にゲルが発泡・膨張</a:t>
            </a:r>
          </a:p>
          <a:p>
            <a:pPr algn="l"/>
            <a:r>
              <a:rPr sz="1000" b="0" i="0">
                <a:solidFill>
                  <a:srgbClr val="475569"/>
                </a:solidFill>
              </a:rPr>
              <a:t>• 多孔質エアロゲル層が継続保護</a:t>
            </a:r>
          </a:p>
          <a:p>
            <a:pPr algn="l"/>
            <a:r>
              <a:rPr sz="1000" b="0" i="0">
                <a:solidFill>
                  <a:srgbClr val="475569"/>
                </a:solidFill>
              </a:rPr>
              <a:t>• ~10分間、炭化を阻止</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8/11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120秒 / 300秒時点の表面状態比較</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24 / 36</a:t>
            </a:r>
          </a:p>
        </p:txBody>
      </p:sp>
      <p:pic>
        <p:nvPicPr>
          <p:cNvPr id="9" name="Picture 8" descr="fig3d_photos.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1336200" cy="3584448"/>
          </a:xfrm>
          <a:prstGeom prst="rect">
            <a:avLst/>
          </a:prstGeom>
          <a:noFill/>
        </p:spPr>
        <p:txBody>
          <a:bodyPr wrap="square">
            <a:spAutoFit/>
          </a:bodyPr>
          <a:lstStyle/>
          <a:p>
            <a:pPr algn="l"/>
            <a:r>
              <a:rPr sz="1000" b="0" i="0">
                <a:solidFill>
                  <a:srgbClr val="475569"/>
                </a:solidFill>
              </a:rPr>
              <a:t>Water</a:t>
            </a:r>
          </a:p>
          <a:p>
            <a:pPr algn="l"/>
            <a:r>
              <a:rPr sz="1000" b="0" i="0">
                <a:solidFill>
                  <a:srgbClr val="475569"/>
                </a:solidFill>
              </a:rPr>
              <a:t>120 s：既に広範囲が炭化開始</a:t>
            </a:r>
          </a:p>
          <a:p>
            <a:pPr algn="l"/>
            <a:r>
              <a:rPr sz="1000" b="0" i="0">
                <a:solidFill>
                  <a:srgbClr val="475569"/>
                </a:solidFill>
              </a:rPr>
              <a:t>300 s：表面全体が黒化・損傷甚大</a:t>
            </a:r>
          </a:p>
          <a:p>
            <a:pPr algn="l"/>
            <a:r>
              <a:rPr sz="1000" b="0" i="0">
                <a:solidFill>
                  <a:srgbClr val="475569"/>
                </a:solidFill>
              </a:rPr>
              <a:t>Time to char：~2 min</a:t>
            </a:r>
          </a:p>
        </p:txBody>
      </p:sp>
      <p:sp>
        <p:nvSpPr>
          <p:cNvPr id="13" name="Rectangle 12"/>
          <p:cNvSpPr/>
          <p:nvPr/>
        </p:nvSpPr>
        <p:spPr>
          <a:xfrm>
            <a:off x="8659758"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659758"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69486" y="950976"/>
            <a:ext cx="1336200" cy="3584448"/>
          </a:xfrm>
          <a:prstGeom prst="rect">
            <a:avLst/>
          </a:prstGeom>
          <a:noFill/>
        </p:spPr>
        <p:txBody>
          <a:bodyPr wrap="square">
            <a:spAutoFit/>
          </a:bodyPr>
          <a:lstStyle/>
          <a:p>
            <a:pPr algn="l"/>
            <a:r>
              <a:rPr sz="1000" b="0" i="0">
                <a:solidFill>
                  <a:srgbClr val="475569"/>
                </a:solidFill>
              </a:rPr>
              <a:t>AquaGel-K（市販品）</a:t>
            </a:r>
          </a:p>
          <a:p>
            <a:pPr algn="l"/>
            <a:r>
              <a:rPr sz="1000" b="0" i="0">
                <a:solidFill>
                  <a:srgbClr val="475569"/>
                </a:solidFill>
              </a:rPr>
              <a:t>120 s：ゲルが乾燥し一部炭化</a:t>
            </a:r>
          </a:p>
          <a:p>
            <a:pPr algn="l"/>
            <a:r>
              <a:rPr sz="1000" b="0" i="0">
                <a:solidFill>
                  <a:srgbClr val="475569"/>
                </a:solidFill>
              </a:rPr>
              <a:t>300 s：保護層なし、部分炭化</a:t>
            </a:r>
          </a:p>
          <a:p>
            <a:pPr algn="l"/>
            <a:r>
              <a:rPr sz="1000" b="0" i="0">
                <a:solidFill>
                  <a:srgbClr val="475569"/>
                </a:solidFill>
              </a:rPr>
              <a:t>Time to char：~7 min</a:t>
            </a:r>
          </a:p>
        </p:txBody>
      </p:sp>
      <p:sp>
        <p:nvSpPr>
          <p:cNvPr id="16" name="Rectangle 15"/>
          <p:cNvSpPr/>
          <p:nvPr/>
        </p:nvSpPr>
        <p:spPr>
          <a:xfrm>
            <a:off x="10306854"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306854"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16582" y="950976"/>
            <a:ext cx="1336200" cy="3584448"/>
          </a:xfrm>
          <a:prstGeom prst="rect">
            <a:avLst/>
          </a:prstGeom>
          <a:noFill/>
        </p:spPr>
        <p:txBody>
          <a:bodyPr wrap="square">
            <a:spAutoFit/>
          </a:bodyPr>
          <a:lstStyle/>
          <a:p>
            <a:pPr algn="l"/>
            <a:r>
              <a:rPr sz="1000" b="0" i="0">
                <a:solidFill>
                  <a:srgbClr val="475569"/>
                </a:solidFill>
              </a:rPr>
              <a:t>本研究 WEG（HEC+MC/CSP）</a:t>
            </a:r>
          </a:p>
          <a:p>
            <a:pPr algn="l"/>
            <a:r>
              <a:rPr sz="1000" b="0" i="0">
                <a:solidFill>
                  <a:srgbClr val="475569"/>
                </a:solidFill>
              </a:rPr>
              <a:t>120 s：エアロゲル層が形成・膨張中</a:t>
            </a:r>
          </a:p>
          <a:p>
            <a:pPr algn="l"/>
            <a:r>
              <a:rPr sz="1000" b="0" i="0">
                <a:solidFill>
                  <a:srgbClr val="475569"/>
                </a:solidFill>
              </a:rPr>
              <a:t>300 s：表面ほぼ無傷、層が残存</a:t>
            </a:r>
          </a:p>
          <a:p>
            <a:pPr algn="l"/>
            <a:r>
              <a:rPr sz="1000" b="0" i="0">
                <a:solidFill>
                  <a:srgbClr val="475569"/>
                </a:solidFill>
              </a:rPr>
              <a:t>Time to char：~10 min</a:t>
            </a:r>
          </a:p>
        </p:txBody>
      </p:sp>
      <p:sp>
        <p:nvSpPr>
          <p:cNvPr id="19" name="Rectangle 18"/>
          <p:cNvSpPr/>
          <p:nvPr/>
        </p:nvSpPr>
        <p:spPr>
          <a:xfrm>
            <a:off x="36576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4901184"/>
            <a:ext cx="3551834" cy="1600200"/>
          </a:xfrm>
          <a:prstGeom prst="rect">
            <a:avLst/>
          </a:prstGeom>
          <a:noFill/>
        </p:spPr>
        <p:txBody>
          <a:bodyPr wrap="square">
            <a:spAutoFit/>
          </a:bodyPr>
          <a:lstStyle/>
          <a:p>
            <a:pPr algn="l"/>
            <a:r>
              <a:rPr sz="1000" b="0" i="0">
                <a:solidFill>
                  <a:srgbClr val="475569"/>
                </a:solidFill>
              </a:rPr>
              <a:t>Water</a:t>
            </a:r>
          </a:p>
          <a:p>
            <a:pPr algn="l"/>
            <a:r>
              <a:rPr sz="1000" b="0" i="0">
                <a:solidFill>
                  <a:srgbClr val="475569"/>
                </a:solidFill>
              </a:rPr>
              <a:t>120 s：既に広範囲が炭化開始</a:t>
            </a:r>
          </a:p>
          <a:p>
            <a:pPr algn="l"/>
            <a:r>
              <a:rPr sz="1000" b="0" i="0">
                <a:solidFill>
                  <a:srgbClr val="475569"/>
                </a:solidFill>
              </a:rPr>
              <a:t>300 s：表面全体が黒化・損傷甚大</a:t>
            </a:r>
          </a:p>
          <a:p>
            <a:pPr algn="l"/>
            <a:r>
              <a:rPr sz="1000" b="0" i="0">
                <a:solidFill>
                  <a:srgbClr val="475569"/>
                </a:solidFill>
              </a:rPr>
              <a:t>Time to char：~2 min</a:t>
            </a:r>
          </a:p>
        </p:txBody>
      </p:sp>
      <p:sp>
        <p:nvSpPr>
          <p:cNvPr id="22" name="Rectangle 21"/>
          <p:cNvSpPr/>
          <p:nvPr/>
        </p:nvSpPr>
        <p:spPr>
          <a:xfrm>
            <a:off x="422849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2849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38218" y="4901184"/>
            <a:ext cx="3551834" cy="1600200"/>
          </a:xfrm>
          <a:prstGeom prst="rect">
            <a:avLst/>
          </a:prstGeom>
          <a:noFill/>
        </p:spPr>
        <p:txBody>
          <a:bodyPr wrap="square">
            <a:spAutoFit/>
          </a:bodyPr>
          <a:lstStyle/>
          <a:p>
            <a:pPr algn="l"/>
            <a:r>
              <a:rPr sz="1000" b="0" i="0">
                <a:solidFill>
                  <a:srgbClr val="475569"/>
                </a:solidFill>
              </a:rPr>
              <a:t>AquaGel-K（市販品）</a:t>
            </a:r>
          </a:p>
          <a:p>
            <a:pPr algn="l"/>
            <a:r>
              <a:rPr sz="1000" b="0" i="0">
                <a:solidFill>
                  <a:srgbClr val="475569"/>
                </a:solidFill>
              </a:rPr>
              <a:t>120 s：ゲルが乾燥し一部炭化</a:t>
            </a:r>
          </a:p>
          <a:p>
            <a:pPr algn="l"/>
            <a:r>
              <a:rPr sz="1000" b="0" i="0">
                <a:solidFill>
                  <a:srgbClr val="475569"/>
                </a:solidFill>
              </a:rPr>
              <a:t>300 s：保護層なし、部分炭化</a:t>
            </a:r>
          </a:p>
          <a:p>
            <a:pPr algn="l"/>
            <a:r>
              <a:rPr sz="1000" b="0" i="0">
                <a:solidFill>
                  <a:srgbClr val="475569"/>
                </a:solidFill>
              </a:rPr>
              <a:t>Time to char：~7 min</a:t>
            </a:r>
          </a:p>
        </p:txBody>
      </p:sp>
      <p:sp>
        <p:nvSpPr>
          <p:cNvPr id="25" name="Rectangle 24"/>
          <p:cNvSpPr/>
          <p:nvPr/>
        </p:nvSpPr>
        <p:spPr>
          <a:xfrm>
            <a:off x="809122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122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0948" y="4901184"/>
            <a:ext cx="3551834" cy="1600200"/>
          </a:xfrm>
          <a:prstGeom prst="rect">
            <a:avLst/>
          </a:prstGeom>
          <a:noFill/>
        </p:spPr>
        <p:txBody>
          <a:bodyPr wrap="square">
            <a:spAutoFit/>
          </a:bodyPr>
          <a:lstStyle/>
          <a:p>
            <a:pPr algn="l"/>
            <a:r>
              <a:rPr sz="1000" b="0" i="0">
                <a:solidFill>
                  <a:srgbClr val="475569"/>
                </a:solidFill>
              </a:rPr>
              <a:t>本研究 WEG（HEC+MC/CSP）</a:t>
            </a:r>
          </a:p>
          <a:p>
            <a:pPr algn="l"/>
            <a:r>
              <a:rPr sz="1000" b="0" i="0">
                <a:solidFill>
                  <a:srgbClr val="475569"/>
                </a:solidFill>
              </a:rPr>
              <a:t>120 s：エアロゲル層が形成・膨張中</a:t>
            </a:r>
          </a:p>
          <a:p>
            <a:pPr algn="l"/>
            <a:r>
              <a:rPr sz="1000" b="0" i="0">
                <a:solidFill>
                  <a:srgbClr val="475569"/>
                </a:solidFill>
              </a:rPr>
              <a:t>300 s：表面ほぼ無傷、層が残存</a:t>
            </a:r>
          </a:p>
          <a:p>
            <a:pPr algn="l"/>
            <a:r>
              <a:rPr sz="1000" b="0" i="0">
                <a:solidFill>
                  <a:srgbClr val="475569"/>
                </a:solidFill>
              </a:rPr>
              <a:t>Time to char：~10 min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731520"/>
            <a:ext cx="9418320" cy="365760"/>
          </a:xfrm>
          <a:prstGeom prst="rect">
            <a:avLst/>
          </a:prstGeom>
          <a:noFill/>
        </p:spPr>
        <p:txBody>
          <a:bodyPr wrap="square">
            <a:spAutoFit/>
          </a:bodyPr>
          <a:lstStyle/>
          <a:p>
            <a:pPr algn="ctr"/>
            <a:r>
              <a:rPr sz="1200" b="0" i="0">
                <a:solidFill>
                  <a:srgbClr val="88A4C0"/>
                </a:solidFill>
              </a:rPr>
              <a:t>Key Result</a:t>
            </a:r>
          </a:p>
        </p:txBody>
      </p:sp>
      <p:sp>
        <p:nvSpPr>
          <p:cNvPr id="4" name="TextBox 3"/>
          <p:cNvSpPr txBox="1"/>
          <p:nvPr/>
        </p:nvSpPr>
        <p:spPr>
          <a:xfrm>
            <a:off x="1371600" y="1143000"/>
            <a:ext cx="9418320" cy="1645920"/>
          </a:xfrm>
          <a:prstGeom prst="rect">
            <a:avLst/>
          </a:prstGeom>
          <a:noFill/>
        </p:spPr>
        <p:txBody>
          <a:bodyPr wrap="square">
            <a:spAutoFit/>
          </a:bodyPr>
          <a:lstStyle/>
          <a:p>
            <a:pPr algn="ctr"/>
            <a:r>
              <a:rPr sz="7200" b="1" i="0">
                <a:solidFill>
                  <a:srgbClr val="D4A574"/>
                </a:solidFill>
              </a:rPr>
              <a:t>~10 min</a:t>
            </a:r>
          </a:p>
        </p:txBody>
      </p:sp>
      <p:sp>
        <p:nvSpPr>
          <p:cNvPr id="5" name="TextBox 4"/>
          <p:cNvSpPr txBox="1"/>
          <p:nvPr/>
        </p:nvSpPr>
        <p:spPr>
          <a:xfrm>
            <a:off x="1371600" y="2834640"/>
            <a:ext cx="9418320" cy="548640"/>
          </a:xfrm>
          <a:prstGeom prst="rect">
            <a:avLst/>
          </a:prstGeom>
          <a:noFill/>
        </p:spPr>
        <p:txBody>
          <a:bodyPr wrap="square">
            <a:spAutoFit/>
          </a:bodyPr>
          <a:lstStyle/>
          <a:p>
            <a:pPr algn="ctr"/>
            <a:r>
              <a:rPr sz="2200" b="1" i="0">
                <a:solidFill>
                  <a:srgbClr val="FFFFFF"/>
                </a:solidFill>
              </a:rPr>
              <a:t>本研究WEGの Time to char</a:t>
            </a:r>
          </a:p>
        </p:txBody>
      </p:sp>
      <p:sp>
        <p:nvSpPr>
          <p:cNvPr id="6" name="TextBox 5"/>
          <p:cNvSpPr txBox="1"/>
          <p:nvPr/>
        </p:nvSpPr>
        <p:spPr>
          <a:xfrm>
            <a:off x="1828800" y="3456432"/>
            <a:ext cx="8503920" cy="640080"/>
          </a:xfrm>
          <a:prstGeom prst="rect">
            <a:avLst/>
          </a:prstGeom>
          <a:noFill/>
        </p:spPr>
        <p:txBody>
          <a:bodyPr wrap="square">
            <a:spAutoFit/>
          </a:bodyPr>
          <a:lstStyle/>
          <a:p>
            <a:pPr algn="ctr"/>
            <a:r>
              <a:rPr sz="1400" b="0" i="0">
                <a:solidFill>
                  <a:srgbClr val="88A4C0"/>
                </a:solidFill>
              </a:rPr>
              <a:t>水のみ（~2分）の約5倍、市販AquaGel-K（~7分）の約1.4倍の保護時間を達成</a:t>
            </a:r>
          </a:p>
        </p:txBody>
      </p:sp>
      <p:sp>
        <p:nvSpPr>
          <p:cNvPr id="7" name="Rectangle 6"/>
          <p:cNvSpPr/>
          <p:nvPr/>
        </p:nvSpPr>
        <p:spPr>
          <a:xfrm>
            <a:off x="1828800" y="4187952"/>
            <a:ext cx="8503920" cy="36576"/>
          </a:xfrm>
          <a:prstGeom prst="rect">
            <a:avLst/>
          </a:prstGeom>
          <a:solidFill>
            <a:srgbClr val="44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4297680"/>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20240" y="4343400"/>
            <a:ext cx="1645920" cy="201168"/>
          </a:xfrm>
          <a:prstGeom prst="rect">
            <a:avLst/>
          </a:prstGeom>
          <a:noFill/>
        </p:spPr>
        <p:txBody>
          <a:bodyPr wrap="square">
            <a:spAutoFit/>
          </a:bodyPr>
          <a:lstStyle/>
          <a:p>
            <a:pPr algn="r"/>
            <a:r>
              <a:rPr sz="1000" b="0" i="0">
                <a:solidFill>
                  <a:srgbClr val="AABCCC"/>
                </a:solidFill>
              </a:rPr>
              <a:t>Water</a:t>
            </a:r>
          </a:p>
        </p:txBody>
      </p:sp>
      <p:sp>
        <p:nvSpPr>
          <p:cNvPr id="10" name="TextBox 9"/>
          <p:cNvSpPr txBox="1"/>
          <p:nvPr/>
        </p:nvSpPr>
        <p:spPr>
          <a:xfrm>
            <a:off x="9144000" y="4343400"/>
            <a:ext cx="1097280" cy="201168"/>
          </a:xfrm>
          <a:prstGeom prst="rect">
            <a:avLst/>
          </a:prstGeom>
          <a:noFill/>
        </p:spPr>
        <p:txBody>
          <a:bodyPr wrap="square">
            <a:spAutoFit/>
          </a:bodyPr>
          <a:lstStyle/>
          <a:p>
            <a:pPr algn="l"/>
            <a:r>
              <a:rPr sz="1000" b="0" i="0">
                <a:solidFill>
                  <a:srgbClr val="AABCCC"/>
                </a:solidFill>
              </a:rPr>
              <a:t>~2 min</a:t>
            </a:r>
          </a:p>
        </p:txBody>
      </p:sp>
      <p:sp>
        <p:nvSpPr>
          <p:cNvPr id="11" name="Rectangle 10"/>
          <p:cNvSpPr/>
          <p:nvPr/>
        </p:nvSpPr>
        <p:spPr>
          <a:xfrm>
            <a:off x="1828800" y="4645152"/>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20240" y="4690872"/>
            <a:ext cx="1645920" cy="201168"/>
          </a:xfrm>
          <a:prstGeom prst="rect">
            <a:avLst/>
          </a:prstGeom>
          <a:noFill/>
        </p:spPr>
        <p:txBody>
          <a:bodyPr wrap="square">
            <a:spAutoFit/>
          </a:bodyPr>
          <a:lstStyle/>
          <a:p>
            <a:pPr algn="r"/>
            <a:r>
              <a:rPr sz="1000" b="0" i="0">
                <a:solidFill>
                  <a:srgbClr val="AABCCC"/>
                </a:solidFill>
              </a:rPr>
              <a:t>AquaGel-K</a:t>
            </a:r>
          </a:p>
        </p:txBody>
      </p:sp>
      <p:sp>
        <p:nvSpPr>
          <p:cNvPr id="13" name="TextBox 12"/>
          <p:cNvSpPr txBox="1"/>
          <p:nvPr/>
        </p:nvSpPr>
        <p:spPr>
          <a:xfrm>
            <a:off x="9144000" y="4690872"/>
            <a:ext cx="1097280" cy="201168"/>
          </a:xfrm>
          <a:prstGeom prst="rect">
            <a:avLst/>
          </a:prstGeom>
          <a:noFill/>
        </p:spPr>
        <p:txBody>
          <a:bodyPr wrap="square">
            <a:spAutoFit/>
          </a:bodyPr>
          <a:lstStyle/>
          <a:p>
            <a:pPr algn="l"/>
            <a:r>
              <a:rPr sz="1000" b="0" i="0">
                <a:solidFill>
                  <a:srgbClr val="AABCCC"/>
                </a:solidFill>
              </a:rPr>
              <a:t>~7 min</a:t>
            </a:r>
          </a:p>
        </p:txBody>
      </p:sp>
      <p:sp>
        <p:nvSpPr>
          <p:cNvPr id="14" name="Rectangle 13"/>
          <p:cNvSpPr/>
          <p:nvPr/>
        </p:nvSpPr>
        <p:spPr>
          <a:xfrm>
            <a:off x="1828800" y="4992624"/>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20240" y="5038344"/>
            <a:ext cx="1645920" cy="201168"/>
          </a:xfrm>
          <a:prstGeom prst="rect">
            <a:avLst/>
          </a:prstGeom>
          <a:noFill/>
        </p:spPr>
        <p:txBody>
          <a:bodyPr wrap="square">
            <a:spAutoFit/>
          </a:bodyPr>
          <a:lstStyle/>
          <a:p>
            <a:pPr algn="r"/>
            <a:r>
              <a:rPr sz="1000" b="0" i="0">
                <a:solidFill>
                  <a:srgbClr val="AABCCC"/>
                </a:solidFill>
              </a:rPr>
              <a:t>本研究 WEG</a:t>
            </a:r>
          </a:p>
        </p:txBody>
      </p:sp>
      <p:sp>
        <p:nvSpPr>
          <p:cNvPr id="16" name="TextBox 15"/>
          <p:cNvSpPr txBox="1"/>
          <p:nvPr/>
        </p:nvSpPr>
        <p:spPr>
          <a:xfrm>
            <a:off x="9144000" y="5038344"/>
            <a:ext cx="1097280" cy="201168"/>
          </a:xfrm>
          <a:prstGeom prst="rect">
            <a:avLst/>
          </a:prstGeom>
          <a:noFill/>
        </p:spPr>
        <p:txBody>
          <a:bodyPr wrap="square">
            <a:spAutoFit/>
          </a:bodyPr>
          <a:lstStyle/>
          <a:p>
            <a:pPr algn="l"/>
            <a:r>
              <a:rPr sz="1000" b="0" i="0">
                <a:solidFill>
                  <a:srgbClr val="AABCCC"/>
                </a:solidFill>
              </a:rPr>
              <a:t>~10 min</a:t>
            </a:r>
          </a:p>
        </p:txBody>
      </p:sp>
      <p:sp>
        <p:nvSpPr>
          <p:cNvPr id="17" name="TextBox 16"/>
          <p:cNvSpPr txBox="1"/>
          <p:nvPr/>
        </p:nvSpPr>
        <p:spPr>
          <a:xfrm>
            <a:off x="11002975" y="6537960"/>
            <a:ext cx="1005840" cy="237744"/>
          </a:xfrm>
          <a:prstGeom prst="rect">
            <a:avLst/>
          </a:prstGeom>
          <a:noFill/>
        </p:spPr>
        <p:txBody>
          <a:bodyPr wrap="square">
            <a:spAutoFit/>
          </a:bodyPr>
          <a:lstStyle/>
          <a:p>
            <a:pPr algn="r"/>
            <a:r>
              <a:rPr sz="900" b="0" i="0">
                <a:solidFill>
                  <a:srgbClr val="64748B"/>
                </a:solidFill>
              </a:rPr>
              <a:t>25 / 36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9/11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発泡指数（Foaming Index）の比較</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26 / 36</a:t>
            </a:r>
          </a:p>
        </p:txBody>
      </p:sp>
      <p:pic>
        <p:nvPicPr>
          <p:cNvPr id="9" name="Picture 8" descr="fig4a_foam.png"/>
          <p:cNvPicPr>
            <a:picLocks noChangeAspect="1"/>
          </p:cNvPicPr>
          <p:nvPr/>
        </p:nvPicPr>
        <p:blipFill>
          <a:blip r:embed="rId2"/>
          <a:stretch>
            <a:fillRect/>
          </a:stretch>
        </p:blipFill>
        <p:spPr>
          <a:xfrm>
            <a:off x="365760" y="859536"/>
            <a:ext cx="5666079" cy="2743200"/>
          </a:xfrm>
          <a:prstGeom prst="rect">
            <a:avLst/>
          </a:prstGeom>
        </p:spPr>
      </p:pic>
      <p:pic>
        <p:nvPicPr>
          <p:cNvPr id="10" name="Picture 9" descr="fig4b_index.png"/>
          <p:cNvPicPr>
            <a:picLocks noChangeAspect="1"/>
          </p:cNvPicPr>
          <p:nvPr/>
        </p:nvPicPr>
        <p:blipFill>
          <a:blip r:embed="rId3"/>
          <a:stretch>
            <a:fillRect/>
          </a:stretch>
        </p:blipFill>
        <p:spPr>
          <a:xfrm>
            <a:off x="6159855" y="859536"/>
            <a:ext cx="5666079" cy="2743200"/>
          </a:xfrm>
          <a:prstGeom prst="rect">
            <a:avLst/>
          </a:prstGeom>
        </p:spPr>
      </p:pic>
      <p:sp>
        <p:nvSpPr>
          <p:cNvPr id="11" name="Rectangle 10"/>
          <p:cNvSpPr/>
          <p:nvPr/>
        </p:nvSpPr>
        <p:spPr>
          <a:xfrm>
            <a:off x="365760" y="371246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71246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776472"/>
            <a:ext cx="11204143" cy="347472"/>
          </a:xfrm>
          <a:prstGeom prst="rect">
            <a:avLst/>
          </a:prstGeom>
          <a:noFill/>
        </p:spPr>
        <p:txBody>
          <a:bodyPr wrap="square">
            <a:spAutoFit/>
          </a:bodyPr>
          <a:lstStyle/>
          <a:p>
            <a:pPr algn="l"/>
            <a:r>
              <a:rPr sz="1100" b="0" i="0">
                <a:solidFill>
                  <a:srgbClr val="1E293B"/>
                </a:solidFill>
              </a:rPr>
              <a:t>発泡指数が高いほど Time to char が延長する傾向</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9/11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SDS濃度がエアロゲル微細構造に与える影響</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27 / 36</a:t>
            </a:r>
          </a:p>
        </p:txBody>
      </p:sp>
      <p:pic>
        <p:nvPicPr>
          <p:cNvPr id="9" name="Picture 8" descr="fig4c_sem.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1336200" cy="3584448"/>
          </a:xfrm>
          <a:prstGeom prst="rect">
            <a:avLst/>
          </a:prstGeom>
          <a:noFill/>
        </p:spPr>
        <p:txBody>
          <a:bodyPr wrap="square">
            <a:spAutoFit/>
          </a:bodyPr>
          <a:lstStyle/>
          <a:p>
            <a:pPr algn="l"/>
            <a:r>
              <a:rPr sz="1000" b="0" i="0">
                <a:solidFill>
                  <a:srgbClr val="475569"/>
                </a:solidFill>
              </a:rPr>
              <a:t>0% SDS</a:t>
            </a:r>
          </a:p>
          <a:p>
            <a:pPr algn="l"/>
            <a:r>
              <a:rPr sz="1000" b="0" i="0">
                <a:solidFill>
                  <a:srgbClr val="475569"/>
                </a:solidFill>
              </a:rPr>
              <a:t>緻密なシリカネットワーク。気孔少。</a:t>
            </a:r>
          </a:p>
        </p:txBody>
      </p:sp>
      <p:sp>
        <p:nvSpPr>
          <p:cNvPr id="13" name="Rectangle 12"/>
          <p:cNvSpPr/>
          <p:nvPr/>
        </p:nvSpPr>
        <p:spPr>
          <a:xfrm>
            <a:off x="8659758"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659758"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69486" y="950976"/>
            <a:ext cx="1336200" cy="3584448"/>
          </a:xfrm>
          <a:prstGeom prst="rect">
            <a:avLst/>
          </a:prstGeom>
          <a:noFill/>
        </p:spPr>
        <p:txBody>
          <a:bodyPr wrap="square">
            <a:spAutoFit/>
          </a:bodyPr>
          <a:lstStyle/>
          <a:p>
            <a:pPr algn="l"/>
            <a:r>
              <a:rPr sz="1000" b="0" i="0">
                <a:solidFill>
                  <a:srgbClr val="475569"/>
                </a:solidFill>
              </a:rPr>
              <a:t>0.1% SDS（最適）</a:t>
            </a:r>
          </a:p>
          <a:p>
            <a:pPr algn="l"/>
            <a:r>
              <a:rPr sz="1000" b="0" i="0">
                <a:solidFill>
                  <a:srgbClr val="475569"/>
                </a:solidFill>
              </a:rPr>
              <a:t>均一な微細気泡。最高の発泡指数。</a:t>
            </a:r>
          </a:p>
        </p:txBody>
      </p:sp>
      <p:sp>
        <p:nvSpPr>
          <p:cNvPr id="16" name="Rectangle 15"/>
          <p:cNvSpPr/>
          <p:nvPr/>
        </p:nvSpPr>
        <p:spPr>
          <a:xfrm>
            <a:off x="10306854"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306854"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16582" y="950976"/>
            <a:ext cx="1336200" cy="3584448"/>
          </a:xfrm>
          <a:prstGeom prst="rect">
            <a:avLst/>
          </a:prstGeom>
          <a:noFill/>
        </p:spPr>
        <p:txBody>
          <a:bodyPr wrap="square">
            <a:spAutoFit/>
          </a:bodyPr>
          <a:lstStyle/>
          <a:p>
            <a:pPr algn="l"/>
            <a:r>
              <a:rPr sz="1000" b="0" i="0">
                <a:solidFill>
                  <a:srgbClr val="475569"/>
                </a:solidFill>
              </a:rPr>
              <a:t>0.5% SDS（過剰）</a:t>
            </a:r>
          </a:p>
          <a:p>
            <a:pPr algn="l"/>
            <a:r>
              <a:rPr sz="1000" b="0" i="0">
                <a:solidFill>
                  <a:srgbClr val="475569"/>
                </a:solidFill>
              </a:rPr>
              <a:t>気泡サイズ不均一・粗大化。</a:t>
            </a:r>
          </a:p>
        </p:txBody>
      </p:sp>
      <p:sp>
        <p:nvSpPr>
          <p:cNvPr id="19" name="Rectangle 18"/>
          <p:cNvSpPr/>
          <p:nvPr/>
        </p:nvSpPr>
        <p:spPr>
          <a:xfrm>
            <a:off x="36576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 y="4901184"/>
            <a:ext cx="3551834" cy="1600200"/>
          </a:xfrm>
          <a:prstGeom prst="rect">
            <a:avLst/>
          </a:prstGeom>
          <a:noFill/>
        </p:spPr>
        <p:txBody>
          <a:bodyPr wrap="square">
            <a:spAutoFit/>
          </a:bodyPr>
          <a:lstStyle/>
          <a:p>
            <a:pPr algn="l"/>
            <a:r>
              <a:rPr sz="1000" b="0" i="0">
                <a:solidFill>
                  <a:srgbClr val="475569"/>
                </a:solidFill>
              </a:rPr>
              <a:t>0% SDS</a:t>
            </a:r>
          </a:p>
          <a:p>
            <a:pPr algn="l"/>
            <a:r>
              <a:rPr sz="1000" b="0" i="0">
                <a:solidFill>
                  <a:srgbClr val="475569"/>
                </a:solidFill>
              </a:rPr>
              <a:t>緻密なシリカネットワーク。気孔少。</a:t>
            </a:r>
          </a:p>
        </p:txBody>
      </p:sp>
      <p:sp>
        <p:nvSpPr>
          <p:cNvPr id="22" name="Rectangle 21"/>
          <p:cNvSpPr/>
          <p:nvPr/>
        </p:nvSpPr>
        <p:spPr>
          <a:xfrm>
            <a:off x="422849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2849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38218" y="4901184"/>
            <a:ext cx="3551834" cy="1600200"/>
          </a:xfrm>
          <a:prstGeom prst="rect">
            <a:avLst/>
          </a:prstGeom>
          <a:noFill/>
        </p:spPr>
        <p:txBody>
          <a:bodyPr wrap="square">
            <a:spAutoFit/>
          </a:bodyPr>
          <a:lstStyle/>
          <a:p>
            <a:pPr algn="l"/>
            <a:r>
              <a:rPr sz="1000" b="0" i="0">
                <a:solidFill>
                  <a:srgbClr val="475569"/>
                </a:solidFill>
              </a:rPr>
              <a:t>0.1% SDS（最適）</a:t>
            </a:r>
          </a:p>
          <a:p>
            <a:pPr algn="l"/>
            <a:r>
              <a:rPr sz="1000" b="0" i="0">
                <a:solidFill>
                  <a:srgbClr val="475569"/>
                </a:solidFill>
              </a:rPr>
              <a:t>均一な微細気泡。最高の発泡指数。</a:t>
            </a:r>
          </a:p>
        </p:txBody>
      </p:sp>
      <p:sp>
        <p:nvSpPr>
          <p:cNvPr id="25" name="Rectangle 24"/>
          <p:cNvSpPr/>
          <p:nvPr/>
        </p:nvSpPr>
        <p:spPr>
          <a:xfrm>
            <a:off x="809122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122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0948" y="4901184"/>
            <a:ext cx="3551834" cy="1600200"/>
          </a:xfrm>
          <a:prstGeom prst="rect">
            <a:avLst/>
          </a:prstGeom>
          <a:noFill/>
        </p:spPr>
        <p:txBody>
          <a:bodyPr wrap="square">
            <a:spAutoFit/>
          </a:bodyPr>
          <a:lstStyle/>
          <a:p>
            <a:pPr algn="l"/>
            <a:r>
              <a:rPr sz="1000" b="0" i="0">
                <a:solidFill>
                  <a:srgbClr val="475569"/>
                </a:solidFill>
              </a:rPr>
              <a:t>0.5% SDS（過剰）</a:t>
            </a:r>
          </a:p>
          <a:p>
            <a:pPr algn="l"/>
            <a:r>
              <a:rPr sz="1000" b="0" i="0">
                <a:solidFill>
                  <a:srgbClr val="475569"/>
                </a:solidFill>
              </a:rPr>
              <a:t>気泡サイズ不均一・粗大化。</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10/11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FT-IR・XPS：化学組成の変化（燃焼前後）</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28 / 36</a:t>
            </a:r>
          </a:p>
        </p:txBody>
      </p:sp>
      <p:sp>
        <p:nvSpPr>
          <p:cNvPr id="9" name="Rectangle 8"/>
          <p:cNvSpPr/>
          <p:nvPr/>
        </p:nvSpPr>
        <p:spPr>
          <a:xfrm>
            <a:off x="365760" y="859536"/>
            <a:ext cx="11460175"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11460175"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11277295" cy="5138928"/>
          </a:xfrm>
          <a:prstGeom prst="rect">
            <a:avLst/>
          </a:prstGeom>
          <a:noFill/>
        </p:spPr>
        <p:txBody>
          <a:bodyPr wrap="square">
            <a:spAutoFit/>
          </a:bodyPr>
          <a:lstStyle/>
          <a:p>
            <a:pPr algn="l"/>
            <a:r>
              <a:rPr sz="1000" b="0" i="0">
                <a:solidFill>
                  <a:srgbClr val="475569"/>
                </a:solidFill>
              </a:rPr>
              <a:t>Si 2p ピーク位置：</a:t>
            </a:r>
          </a:p>
          <a:p>
            <a:pPr algn="l"/>
            <a:r>
              <a:rPr sz="1000" b="0" i="0">
                <a:solidFill>
                  <a:srgbClr val="475569"/>
                </a:solidFill>
              </a:rPr>
              <a:t>~103.5 eV</a:t>
            </a:r>
          </a:p>
          <a:p>
            <a:pPr algn="l"/>
            <a:r>
              <a:rPr sz="1000" b="0" i="0">
                <a:solidFill>
                  <a:srgbClr val="475569"/>
                </a:solidFill>
              </a:rPr>
              <a:t>（SiO₂と一致）</a:t>
            </a:r>
          </a:p>
          <a:p>
            <a:pPr algn="l"/>
            <a:r>
              <a:rPr sz="1000" b="0" i="0">
                <a:solidFill>
                  <a:srgbClr val="475569"/>
                </a:solidFill>
              </a:rPr>
              <a:t>O 1s ピーク：</a:t>
            </a:r>
          </a:p>
          <a:p>
            <a:pPr algn="l"/>
            <a:r>
              <a:rPr sz="1000" b="0" i="0">
                <a:solidFill>
                  <a:srgbClr val="475569"/>
                </a:solidFill>
              </a:rPr>
              <a:t>~533 eV</a:t>
            </a:r>
          </a:p>
          <a:p>
            <a:pPr algn="l"/>
            <a:r>
              <a:rPr sz="1000" b="0" i="0">
                <a:solidFill>
                  <a:srgbClr val="475569"/>
                </a:solidFill>
              </a:rPr>
              <a:t>（シリカ骨格酸素）</a:t>
            </a:r>
          </a:p>
        </p:txBody>
      </p:sp>
      <p:sp>
        <p:nvSpPr>
          <p:cNvPr id="12" name="Rectangle 11"/>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燃焼後のスペクトルは純シリカ（SiO₂）と一致 → エアロゲル化を化学的に確認</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結果 11/11</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TGA/DSC：熱分解プロファイルと各成分の役割</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29 / 36</a:t>
            </a:r>
          </a:p>
        </p:txBody>
      </p:sp>
      <p:sp>
        <p:nvSpPr>
          <p:cNvPr id="9" name="Rectangle 8"/>
          <p:cNvSpPr/>
          <p:nvPr/>
        </p:nvSpPr>
        <p:spPr>
          <a:xfrm>
            <a:off x="365760" y="859536"/>
            <a:ext cx="11460175" cy="365760"/>
          </a:xfrm>
          <a:prstGeom prst="rect">
            <a:avLst/>
          </a:prstGeom>
          <a:solidFill>
            <a:srgbClr val="1E293B"/>
          </a:solidFill>
          <a:ln w="381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905256"/>
            <a:ext cx="3710330" cy="310896"/>
          </a:xfrm>
          <a:prstGeom prst="rect">
            <a:avLst/>
          </a:prstGeom>
          <a:noFill/>
        </p:spPr>
        <p:txBody>
          <a:bodyPr wrap="square">
            <a:spAutoFit/>
          </a:bodyPr>
          <a:lstStyle/>
          <a:p>
            <a:pPr algn="l"/>
            <a:r>
              <a:rPr sz="1000" b="1" i="0">
                <a:solidFill>
                  <a:srgbClr val="FFFFFF"/>
                </a:solidFill>
              </a:rPr>
              <a:t>温度域</a:t>
            </a:r>
          </a:p>
        </p:txBody>
      </p:sp>
      <p:sp>
        <p:nvSpPr>
          <p:cNvPr id="11" name="TextBox 10"/>
          <p:cNvSpPr txBox="1"/>
          <p:nvPr/>
        </p:nvSpPr>
        <p:spPr>
          <a:xfrm>
            <a:off x="4277258" y="905256"/>
            <a:ext cx="3710330" cy="310896"/>
          </a:xfrm>
          <a:prstGeom prst="rect">
            <a:avLst/>
          </a:prstGeom>
          <a:noFill/>
        </p:spPr>
        <p:txBody>
          <a:bodyPr wrap="square">
            <a:spAutoFit/>
          </a:bodyPr>
          <a:lstStyle/>
          <a:p>
            <a:pPr algn="l"/>
            <a:r>
              <a:rPr sz="1000" b="1" i="0">
                <a:solidFill>
                  <a:srgbClr val="FFFFFF"/>
                </a:solidFill>
              </a:rPr>
              <a:t>イベント</a:t>
            </a:r>
          </a:p>
        </p:txBody>
      </p:sp>
      <p:sp>
        <p:nvSpPr>
          <p:cNvPr id="12" name="TextBox 11"/>
          <p:cNvSpPr txBox="1"/>
          <p:nvPr/>
        </p:nvSpPr>
        <p:spPr>
          <a:xfrm>
            <a:off x="8097316" y="905256"/>
            <a:ext cx="3710330" cy="310896"/>
          </a:xfrm>
          <a:prstGeom prst="rect">
            <a:avLst/>
          </a:prstGeom>
          <a:noFill/>
        </p:spPr>
        <p:txBody>
          <a:bodyPr wrap="square">
            <a:spAutoFit/>
          </a:bodyPr>
          <a:lstStyle/>
          <a:p>
            <a:pPr algn="l"/>
            <a:r>
              <a:rPr sz="1000" b="1" i="0">
                <a:solidFill>
                  <a:srgbClr val="FFFFFF"/>
                </a:solidFill>
              </a:rPr>
              <a:t>ΔH</a:t>
            </a:r>
          </a:p>
        </p:txBody>
      </p:sp>
      <p:sp>
        <p:nvSpPr>
          <p:cNvPr id="13" name="Rectangle 12"/>
          <p:cNvSpPr/>
          <p:nvPr/>
        </p:nvSpPr>
        <p:spPr>
          <a:xfrm>
            <a:off x="365760" y="1225296"/>
            <a:ext cx="11460175" cy="365760"/>
          </a:xfrm>
          <a:prstGeom prst="rect">
            <a:avLst/>
          </a:prstGeom>
          <a:solidFill>
            <a:srgbClr val="FFFFFF"/>
          </a:solidFill>
          <a:ln w="381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271016"/>
            <a:ext cx="3710330" cy="310896"/>
          </a:xfrm>
          <a:prstGeom prst="rect">
            <a:avLst/>
          </a:prstGeom>
          <a:noFill/>
        </p:spPr>
        <p:txBody>
          <a:bodyPr wrap="square">
            <a:spAutoFit/>
          </a:bodyPr>
          <a:lstStyle/>
          <a:p>
            <a:pPr algn="l"/>
            <a:r>
              <a:rPr sz="1000" b="0" i="0">
                <a:solidFill>
                  <a:srgbClr val="334155"/>
                </a:solidFill>
              </a:rPr>
              <a:t>~100°C</a:t>
            </a:r>
          </a:p>
        </p:txBody>
      </p:sp>
      <p:sp>
        <p:nvSpPr>
          <p:cNvPr id="15" name="TextBox 14"/>
          <p:cNvSpPr txBox="1"/>
          <p:nvPr/>
        </p:nvSpPr>
        <p:spPr>
          <a:xfrm>
            <a:off x="4277258" y="1271016"/>
            <a:ext cx="3710330" cy="310896"/>
          </a:xfrm>
          <a:prstGeom prst="rect">
            <a:avLst/>
          </a:prstGeom>
          <a:noFill/>
        </p:spPr>
        <p:txBody>
          <a:bodyPr wrap="square">
            <a:spAutoFit/>
          </a:bodyPr>
          <a:lstStyle/>
          <a:p>
            <a:pPr algn="l"/>
            <a:r>
              <a:rPr sz="1000" b="0" i="0">
                <a:solidFill>
                  <a:srgbClr val="334155"/>
                </a:solidFill>
              </a:rPr>
              <a:t>吸熱：水の蒸発</a:t>
            </a:r>
          </a:p>
        </p:txBody>
      </p:sp>
      <p:sp>
        <p:nvSpPr>
          <p:cNvPr id="16" name="TextBox 15"/>
          <p:cNvSpPr txBox="1"/>
          <p:nvPr/>
        </p:nvSpPr>
        <p:spPr>
          <a:xfrm>
            <a:off x="8097316" y="1271016"/>
            <a:ext cx="3710330" cy="310896"/>
          </a:xfrm>
          <a:prstGeom prst="rect">
            <a:avLst/>
          </a:prstGeom>
          <a:noFill/>
        </p:spPr>
        <p:txBody>
          <a:bodyPr wrap="square">
            <a:spAutoFit/>
          </a:bodyPr>
          <a:lstStyle/>
          <a:p>
            <a:pPr algn="l"/>
            <a:r>
              <a:rPr sz="1000" b="0" i="0">
                <a:solidFill>
                  <a:srgbClr val="334155"/>
                </a:solidFill>
              </a:rPr>
              <a:t>吸熱</a:t>
            </a:r>
          </a:p>
        </p:txBody>
      </p:sp>
      <p:sp>
        <p:nvSpPr>
          <p:cNvPr id="17" name="Rectangle 16"/>
          <p:cNvSpPr/>
          <p:nvPr/>
        </p:nvSpPr>
        <p:spPr>
          <a:xfrm>
            <a:off x="365760" y="1591056"/>
            <a:ext cx="11460175" cy="365760"/>
          </a:xfrm>
          <a:prstGeom prst="rect">
            <a:avLst/>
          </a:prstGeom>
          <a:solidFill>
            <a:srgbClr val="F8FAFC"/>
          </a:solidFill>
          <a:ln w="381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1636776"/>
            <a:ext cx="3710330" cy="310896"/>
          </a:xfrm>
          <a:prstGeom prst="rect">
            <a:avLst/>
          </a:prstGeom>
          <a:noFill/>
        </p:spPr>
        <p:txBody>
          <a:bodyPr wrap="square">
            <a:spAutoFit/>
          </a:bodyPr>
          <a:lstStyle/>
          <a:p>
            <a:pPr algn="l"/>
            <a:r>
              <a:rPr sz="1000" b="0" i="0">
                <a:solidFill>
                  <a:srgbClr val="334155"/>
                </a:solidFill>
              </a:rPr>
              <a:t>~55–80°C</a:t>
            </a:r>
          </a:p>
        </p:txBody>
      </p:sp>
      <p:sp>
        <p:nvSpPr>
          <p:cNvPr id="19" name="TextBox 18"/>
          <p:cNvSpPr txBox="1"/>
          <p:nvPr/>
        </p:nvSpPr>
        <p:spPr>
          <a:xfrm>
            <a:off x="4277258" y="1636776"/>
            <a:ext cx="3710330" cy="310896"/>
          </a:xfrm>
          <a:prstGeom prst="rect">
            <a:avLst/>
          </a:prstGeom>
          <a:noFill/>
        </p:spPr>
        <p:txBody>
          <a:bodyPr wrap="square">
            <a:spAutoFit/>
          </a:bodyPr>
          <a:lstStyle/>
          <a:p>
            <a:pPr algn="l"/>
            <a:r>
              <a:rPr sz="1000" b="0" i="0">
                <a:solidFill>
                  <a:srgbClr val="334155"/>
                </a:solidFill>
              </a:rPr>
              <a:t>発熱：MCゲル化転移</a:t>
            </a:r>
          </a:p>
        </p:txBody>
      </p:sp>
      <p:sp>
        <p:nvSpPr>
          <p:cNvPr id="20" name="TextBox 19"/>
          <p:cNvSpPr txBox="1"/>
          <p:nvPr/>
        </p:nvSpPr>
        <p:spPr>
          <a:xfrm>
            <a:off x="8097316" y="1636776"/>
            <a:ext cx="3710330" cy="310896"/>
          </a:xfrm>
          <a:prstGeom prst="rect">
            <a:avLst/>
          </a:prstGeom>
          <a:noFill/>
        </p:spPr>
        <p:txBody>
          <a:bodyPr wrap="square">
            <a:spAutoFit/>
          </a:bodyPr>
          <a:lstStyle/>
          <a:p>
            <a:pPr algn="l"/>
            <a:r>
              <a:rPr sz="1000" b="0" i="0">
                <a:solidFill>
                  <a:srgbClr val="334155"/>
                </a:solidFill>
              </a:rPr>
              <a:t>微発熱</a:t>
            </a:r>
          </a:p>
        </p:txBody>
      </p:sp>
      <p:sp>
        <p:nvSpPr>
          <p:cNvPr id="21" name="Rectangle 20"/>
          <p:cNvSpPr/>
          <p:nvPr/>
        </p:nvSpPr>
        <p:spPr>
          <a:xfrm>
            <a:off x="365760" y="1956816"/>
            <a:ext cx="11460175" cy="365760"/>
          </a:xfrm>
          <a:prstGeom prst="rect">
            <a:avLst/>
          </a:prstGeom>
          <a:solidFill>
            <a:srgbClr val="FFFFFF"/>
          </a:solidFill>
          <a:ln w="381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02536"/>
            <a:ext cx="3710330" cy="310896"/>
          </a:xfrm>
          <a:prstGeom prst="rect">
            <a:avLst/>
          </a:prstGeom>
          <a:noFill/>
        </p:spPr>
        <p:txBody>
          <a:bodyPr wrap="square">
            <a:spAutoFit/>
          </a:bodyPr>
          <a:lstStyle/>
          <a:p>
            <a:pPr algn="l"/>
            <a:r>
              <a:rPr sz="1000" b="0" i="0">
                <a:solidFill>
                  <a:srgbClr val="334155"/>
                </a:solidFill>
              </a:rPr>
              <a:t>~250–300°C</a:t>
            </a:r>
          </a:p>
        </p:txBody>
      </p:sp>
      <p:sp>
        <p:nvSpPr>
          <p:cNvPr id="23" name="TextBox 22"/>
          <p:cNvSpPr txBox="1"/>
          <p:nvPr/>
        </p:nvSpPr>
        <p:spPr>
          <a:xfrm>
            <a:off x="4277258" y="2002536"/>
            <a:ext cx="3710330" cy="310896"/>
          </a:xfrm>
          <a:prstGeom prst="rect">
            <a:avLst/>
          </a:prstGeom>
          <a:noFill/>
        </p:spPr>
        <p:txBody>
          <a:bodyPr wrap="square">
            <a:spAutoFit/>
          </a:bodyPr>
          <a:lstStyle/>
          <a:p>
            <a:pPr algn="l"/>
            <a:r>
              <a:rPr sz="1000" b="0" i="0">
                <a:solidFill>
                  <a:srgbClr val="334155"/>
                </a:solidFill>
              </a:rPr>
              <a:t>発熱：有機鎖の酸化分解</a:t>
            </a:r>
          </a:p>
        </p:txBody>
      </p:sp>
      <p:sp>
        <p:nvSpPr>
          <p:cNvPr id="24" name="TextBox 23"/>
          <p:cNvSpPr txBox="1"/>
          <p:nvPr/>
        </p:nvSpPr>
        <p:spPr>
          <a:xfrm>
            <a:off x="8097316" y="2002536"/>
            <a:ext cx="3710330" cy="310896"/>
          </a:xfrm>
          <a:prstGeom prst="rect">
            <a:avLst/>
          </a:prstGeom>
          <a:noFill/>
        </p:spPr>
        <p:txBody>
          <a:bodyPr wrap="square">
            <a:spAutoFit/>
          </a:bodyPr>
          <a:lstStyle/>
          <a:p>
            <a:pPr algn="l"/>
            <a:r>
              <a:rPr sz="1000" b="0" i="0">
                <a:solidFill>
                  <a:srgbClr val="334155"/>
                </a:solidFill>
              </a:rPr>
              <a:t>発熱</a:t>
            </a:r>
          </a:p>
        </p:txBody>
      </p:sp>
      <p:sp>
        <p:nvSpPr>
          <p:cNvPr id="25" name="Rectangle 24"/>
          <p:cNvSpPr/>
          <p:nvPr/>
        </p:nvSpPr>
        <p:spPr>
          <a:xfrm>
            <a:off x="365760" y="416966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6966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233672"/>
            <a:ext cx="11204143" cy="347472"/>
          </a:xfrm>
          <a:prstGeom prst="rect">
            <a:avLst/>
          </a:prstGeom>
          <a:noFill/>
        </p:spPr>
        <p:txBody>
          <a:bodyPr wrap="square">
            <a:spAutoFit/>
          </a:bodyPr>
          <a:lstStyle/>
          <a:p>
            <a:pPr algn="l"/>
            <a:r>
              <a:rPr sz="1100" b="0" i="0">
                <a:solidFill>
                  <a:srgbClr val="1E293B"/>
                </a:solidFill>
              </a:rPr>
              <a:t>CSP焼結（~200°C〜）とセルロース分解（~280°C〜）が温度的に重複 → エアロゲル化が同期して進行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補足 1/2</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シリカエアロゲル形成のメカニズム</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30 / 36</a:t>
            </a:r>
          </a:p>
        </p:txBody>
      </p:sp>
      <p:pic>
        <p:nvPicPr>
          <p:cNvPr id="9" name="Picture 8" descr="fig5a_mechanism.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1336200" cy="292608"/>
          </a:xfrm>
          <a:prstGeom prst="rect">
            <a:avLst/>
          </a:prstGeom>
          <a:noFill/>
        </p:spPr>
        <p:txBody>
          <a:bodyPr wrap="square">
            <a:spAutoFit/>
          </a:bodyPr>
          <a:lstStyle/>
          <a:p>
            <a:pPr algn="l"/>
            <a:r>
              <a:rPr sz="1200" b="1" i="0">
                <a:solidFill>
                  <a:srgbClr val="1E293B"/>
                </a:solidFill>
              </a:rPr>
              <a:t>Unsintered</a:t>
            </a:r>
          </a:p>
        </p:txBody>
      </p:sp>
      <p:sp>
        <p:nvSpPr>
          <p:cNvPr id="13" name="TextBox 12"/>
          <p:cNvSpPr txBox="1"/>
          <p:nvPr/>
        </p:nvSpPr>
        <p:spPr>
          <a:xfrm>
            <a:off x="7122389" y="1261872"/>
            <a:ext cx="1336200" cy="3273552"/>
          </a:xfrm>
          <a:prstGeom prst="rect">
            <a:avLst/>
          </a:prstGeom>
          <a:noFill/>
        </p:spPr>
        <p:txBody>
          <a:bodyPr wrap="square">
            <a:spAutoFit/>
          </a:bodyPr>
          <a:lstStyle/>
          <a:p>
            <a:pPr algn="l"/>
            <a:r>
              <a:rPr sz="1000" b="0" i="0">
                <a:solidFill>
                  <a:srgbClr val="475569"/>
                </a:solidFill>
              </a:rPr>
              <a:t>• シリカ粒子が独立分散</a:t>
            </a:r>
          </a:p>
          <a:p>
            <a:pPr algn="l"/>
            <a:r>
              <a:rPr sz="1000" b="0" i="0">
                <a:solidFill>
                  <a:srgbClr val="475569"/>
                </a:solidFill>
              </a:rPr>
              <a:t>• 間隙に水が満たされている</a:t>
            </a:r>
          </a:p>
          <a:p>
            <a:pPr algn="l"/>
            <a:r>
              <a:rPr sz="1000" b="0" i="0">
                <a:solidFill>
                  <a:srgbClr val="475569"/>
                </a:solidFill>
              </a:rPr>
              <a:t>• 粒子間結合なし</a:t>
            </a:r>
          </a:p>
        </p:txBody>
      </p:sp>
      <p:sp>
        <p:nvSpPr>
          <p:cNvPr id="14" name="Rectangle 13"/>
          <p:cNvSpPr/>
          <p:nvPr/>
        </p:nvSpPr>
        <p:spPr>
          <a:xfrm>
            <a:off x="8659758"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59758"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9486" y="950976"/>
            <a:ext cx="1336200" cy="292608"/>
          </a:xfrm>
          <a:prstGeom prst="rect">
            <a:avLst/>
          </a:prstGeom>
          <a:noFill/>
        </p:spPr>
        <p:txBody>
          <a:bodyPr wrap="square">
            <a:spAutoFit/>
          </a:bodyPr>
          <a:lstStyle/>
          <a:p>
            <a:pPr algn="l"/>
            <a:r>
              <a:rPr sz="1200" b="1" i="0">
                <a:solidFill>
                  <a:srgbClr val="1E293B"/>
                </a:solidFill>
              </a:rPr>
              <a:t>Grain boundary</a:t>
            </a:r>
          </a:p>
        </p:txBody>
      </p:sp>
      <p:sp>
        <p:nvSpPr>
          <p:cNvPr id="17" name="TextBox 16"/>
          <p:cNvSpPr txBox="1"/>
          <p:nvPr/>
        </p:nvSpPr>
        <p:spPr>
          <a:xfrm>
            <a:off x="8769486" y="1261872"/>
            <a:ext cx="1336200" cy="3273552"/>
          </a:xfrm>
          <a:prstGeom prst="rect">
            <a:avLst/>
          </a:prstGeom>
          <a:noFill/>
        </p:spPr>
        <p:txBody>
          <a:bodyPr wrap="square">
            <a:spAutoFit/>
          </a:bodyPr>
          <a:lstStyle/>
          <a:p>
            <a:pPr algn="l"/>
            <a:r>
              <a:rPr sz="1000" b="0" i="0">
                <a:solidFill>
                  <a:srgbClr val="475569"/>
                </a:solidFill>
              </a:rPr>
              <a:t>• 脱水・加熱で粒子が近接</a:t>
            </a:r>
          </a:p>
          <a:p>
            <a:pPr algn="l"/>
            <a:r>
              <a:rPr sz="1000" b="0" i="0">
                <a:solidFill>
                  <a:srgbClr val="475569"/>
                </a:solidFill>
              </a:rPr>
              <a:t>• 粒界（grain boundary）形成</a:t>
            </a:r>
          </a:p>
          <a:p>
            <a:pPr algn="l"/>
            <a:r>
              <a:rPr sz="1000" b="0" i="0">
                <a:solidFill>
                  <a:srgbClr val="475569"/>
                </a:solidFill>
              </a:rPr>
              <a:t>• 初期ネック形成開始</a:t>
            </a:r>
          </a:p>
        </p:txBody>
      </p:sp>
      <p:sp>
        <p:nvSpPr>
          <p:cNvPr id="18" name="Rectangle 17"/>
          <p:cNvSpPr/>
          <p:nvPr/>
        </p:nvSpPr>
        <p:spPr>
          <a:xfrm>
            <a:off x="10306854" y="859536"/>
            <a:ext cx="1519080"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306854" y="859536"/>
            <a:ext cx="1519080"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16582" y="950976"/>
            <a:ext cx="1336200" cy="292608"/>
          </a:xfrm>
          <a:prstGeom prst="rect">
            <a:avLst/>
          </a:prstGeom>
          <a:noFill/>
        </p:spPr>
        <p:txBody>
          <a:bodyPr wrap="square">
            <a:spAutoFit/>
          </a:bodyPr>
          <a:lstStyle/>
          <a:p>
            <a:pPr algn="l"/>
            <a:r>
              <a:rPr sz="1200" b="1" i="0">
                <a:solidFill>
                  <a:srgbClr val="1E293B"/>
                </a:solidFill>
              </a:rPr>
              <a:t>Necking &amp; porosity</a:t>
            </a:r>
          </a:p>
        </p:txBody>
      </p:sp>
      <p:sp>
        <p:nvSpPr>
          <p:cNvPr id="21" name="TextBox 20"/>
          <p:cNvSpPr txBox="1"/>
          <p:nvPr/>
        </p:nvSpPr>
        <p:spPr>
          <a:xfrm>
            <a:off x="10416582" y="1261872"/>
            <a:ext cx="1336200" cy="3273552"/>
          </a:xfrm>
          <a:prstGeom prst="rect">
            <a:avLst/>
          </a:prstGeom>
          <a:noFill/>
        </p:spPr>
        <p:txBody>
          <a:bodyPr wrap="square">
            <a:spAutoFit/>
          </a:bodyPr>
          <a:lstStyle/>
          <a:p>
            <a:pPr algn="l"/>
            <a:r>
              <a:rPr sz="1000" b="0" i="0">
                <a:solidFill>
                  <a:srgbClr val="475569"/>
                </a:solidFill>
              </a:rPr>
              <a:t>• ネックが拡大・強化</a:t>
            </a:r>
          </a:p>
          <a:p>
            <a:pPr algn="l"/>
            <a:r>
              <a:rPr sz="1000" b="0" i="0">
                <a:solidFill>
                  <a:srgbClr val="475569"/>
                </a:solidFill>
              </a:rPr>
              <a:t>• 空隙率低下し骨格が完成</a:t>
            </a:r>
          </a:p>
          <a:p>
            <a:pPr algn="l"/>
            <a:r>
              <a:rPr sz="1000" b="0" i="0">
                <a:solidFill>
                  <a:srgbClr val="475569"/>
                </a:solidFill>
              </a:rPr>
              <a:t>• SiO₂エアロゲル層が確立</a:t>
            </a:r>
          </a:p>
        </p:txBody>
      </p:sp>
      <p:sp>
        <p:nvSpPr>
          <p:cNvPr id="22" name="Rectangle 21"/>
          <p:cNvSpPr/>
          <p:nvPr/>
        </p:nvSpPr>
        <p:spPr>
          <a:xfrm>
            <a:off x="36576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 y="4901184"/>
            <a:ext cx="3551834" cy="292608"/>
          </a:xfrm>
          <a:prstGeom prst="rect">
            <a:avLst/>
          </a:prstGeom>
          <a:noFill/>
        </p:spPr>
        <p:txBody>
          <a:bodyPr wrap="square">
            <a:spAutoFit/>
          </a:bodyPr>
          <a:lstStyle/>
          <a:p>
            <a:pPr algn="l"/>
            <a:r>
              <a:rPr sz="1200" b="1" i="0">
                <a:solidFill>
                  <a:srgbClr val="1E293B"/>
                </a:solidFill>
              </a:rPr>
              <a:t>Unsintered</a:t>
            </a:r>
          </a:p>
        </p:txBody>
      </p:sp>
      <p:sp>
        <p:nvSpPr>
          <p:cNvPr id="25" name="TextBox 24"/>
          <p:cNvSpPr txBox="1"/>
          <p:nvPr/>
        </p:nvSpPr>
        <p:spPr>
          <a:xfrm>
            <a:off x="475488" y="5212080"/>
            <a:ext cx="3551834" cy="1289304"/>
          </a:xfrm>
          <a:prstGeom prst="rect">
            <a:avLst/>
          </a:prstGeom>
          <a:noFill/>
        </p:spPr>
        <p:txBody>
          <a:bodyPr wrap="square">
            <a:spAutoFit/>
          </a:bodyPr>
          <a:lstStyle/>
          <a:p>
            <a:pPr algn="l"/>
            <a:r>
              <a:rPr sz="1000" b="0" i="0">
                <a:solidFill>
                  <a:srgbClr val="475569"/>
                </a:solidFill>
              </a:rPr>
              <a:t>• シリカ粒子が独立分散</a:t>
            </a:r>
          </a:p>
          <a:p>
            <a:pPr algn="l"/>
            <a:r>
              <a:rPr sz="1000" b="0" i="0">
                <a:solidFill>
                  <a:srgbClr val="475569"/>
                </a:solidFill>
              </a:rPr>
              <a:t>• 間隙に水が満たされている</a:t>
            </a:r>
          </a:p>
          <a:p>
            <a:pPr algn="l"/>
            <a:r>
              <a:rPr sz="1000" b="0" i="0">
                <a:solidFill>
                  <a:srgbClr val="475569"/>
                </a:solidFill>
              </a:rPr>
              <a:t>• 粒子間結合なし</a:t>
            </a:r>
          </a:p>
        </p:txBody>
      </p:sp>
      <p:sp>
        <p:nvSpPr>
          <p:cNvPr id="26" name="Rectangle 25"/>
          <p:cNvSpPr/>
          <p:nvPr/>
        </p:nvSpPr>
        <p:spPr>
          <a:xfrm>
            <a:off x="422849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2849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38218" y="4901184"/>
            <a:ext cx="3551834" cy="292608"/>
          </a:xfrm>
          <a:prstGeom prst="rect">
            <a:avLst/>
          </a:prstGeom>
          <a:noFill/>
        </p:spPr>
        <p:txBody>
          <a:bodyPr wrap="square">
            <a:spAutoFit/>
          </a:bodyPr>
          <a:lstStyle/>
          <a:p>
            <a:pPr algn="l"/>
            <a:r>
              <a:rPr sz="1200" b="1" i="0">
                <a:solidFill>
                  <a:srgbClr val="1E293B"/>
                </a:solidFill>
              </a:rPr>
              <a:t>Grain boundary</a:t>
            </a:r>
          </a:p>
        </p:txBody>
      </p:sp>
      <p:sp>
        <p:nvSpPr>
          <p:cNvPr id="29" name="TextBox 28"/>
          <p:cNvSpPr txBox="1"/>
          <p:nvPr/>
        </p:nvSpPr>
        <p:spPr>
          <a:xfrm>
            <a:off x="4338218" y="5212080"/>
            <a:ext cx="3551834" cy="1289304"/>
          </a:xfrm>
          <a:prstGeom prst="rect">
            <a:avLst/>
          </a:prstGeom>
          <a:noFill/>
        </p:spPr>
        <p:txBody>
          <a:bodyPr wrap="square">
            <a:spAutoFit/>
          </a:bodyPr>
          <a:lstStyle/>
          <a:p>
            <a:pPr algn="l"/>
            <a:r>
              <a:rPr sz="1000" b="0" i="0">
                <a:solidFill>
                  <a:srgbClr val="475569"/>
                </a:solidFill>
              </a:rPr>
              <a:t>• 脱水・加熱で粒子が近接</a:t>
            </a:r>
          </a:p>
          <a:p>
            <a:pPr algn="l"/>
            <a:r>
              <a:rPr sz="1000" b="0" i="0">
                <a:solidFill>
                  <a:srgbClr val="475569"/>
                </a:solidFill>
              </a:rPr>
              <a:t>• 粒界（grain boundary）形成</a:t>
            </a:r>
          </a:p>
          <a:p>
            <a:pPr algn="l"/>
            <a:r>
              <a:rPr sz="1000" b="0" i="0">
                <a:solidFill>
                  <a:srgbClr val="475569"/>
                </a:solidFill>
              </a:rPr>
              <a:t>• 初期ネック形成開始</a:t>
            </a:r>
          </a:p>
        </p:txBody>
      </p:sp>
      <p:sp>
        <p:nvSpPr>
          <p:cNvPr id="30" name="Rectangle 29"/>
          <p:cNvSpPr/>
          <p:nvPr/>
        </p:nvSpPr>
        <p:spPr>
          <a:xfrm>
            <a:off x="8091220" y="4809744"/>
            <a:ext cx="3734714"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4809744"/>
            <a:ext cx="3734714"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00948" y="4901184"/>
            <a:ext cx="3551834" cy="292608"/>
          </a:xfrm>
          <a:prstGeom prst="rect">
            <a:avLst/>
          </a:prstGeom>
          <a:noFill/>
        </p:spPr>
        <p:txBody>
          <a:bodyPr wrap="square">
            <a:spAutoFit/>
          </a:bodyPr>
          <a:lstStyle/>
          <a:p>
            <a:pPr algn="l"/>
            <a:r>
              <a:rPr sz="1200" b="1" i="0">
                <a:solidFill>
                  <a:srgbClr val="1E293B"/>
                </a:solidFill>
              </a:rPr>
              <a:t>Necking &amp; porosity</a:t>
            </a:r>
          </a:p>
        </p:txBody>
      </p:sp>
      <p:sp>
        <p:nvSpPr>
          <p:cNvPr id="33" name="TextBox 32"/>
          <p:cNvSpPr txBox="1"/>
          <p:nvPr/>
        </p:nvSpPr>
        <p:spPr>
          <a:xfrm>
            <a:off x="8200948" y="5212080"/>
            <a:ext cx="3551834" cy="1289304"/>
          </a:xfrm>
          <a:prstGeom prst="rect">
            <a:avLst/>
          </a:prstGeom>
          <a:noFill/>
        </p:spPr>
        <p:txBody>
          <a:bodyPr wrap="square">
            <a:spAutoFit/>
          </a:bodyPr>
          <a:lstStyle/>
          <a:p>
            <a:pPr algn="l"/>
            <a:r>
              <a:rPr sz="1000" b="0" i="0">
                <a:solidFill>
                  <a:srgbClr val="475569"/>
                </a:solidFill>
              </a:rPr>
              <a:t>• ネックが拡大・強化</a:t>
            </a:r>
          </a:p>
          <a:p>
            <a:pPr algn="l"/>
            <a:r>
              <a:rPr sz="1000" b="0" i="0">
                <a:solidFill>
                  <a:srgbClr val="475569"/>
                </a:solidFill>
              </a:rPr>
              <a:t>• 空隙率低下し骨格が完成</a:t>
            </a:r>
          </a:p>
          <a:p>
            <a:pPr algn="l"/>
            <a:r>
              <a:rPr sz="1000" b="0" i="0">
                <a:solidFill>
                  <a:srgbClr val="475569"/>
                </a:solidFill>
              </a:rPr>
              <a:t>• SiO₂エアロゲル層が確立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補足 2/2</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燃焼時間に伴う焼結進行（SEM）</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31 / 36</a:t>
            </a:r>
          </a:p>
        </p:txBody>
      </p:sp>
      <p:pic>
        <p:nvPicPr>
          <p:cNvPr id="9" name="Picture 8" descr="fig5b_burnsem.png"/>
          <p:cNvPicPr>
            <a:picLocks noChangeAspect="1"/>
          </p:cNvPicPr>
          <p:nvPr/>
        </p:nvPicPr>
        <p:blipFill>
          <a:blip r:embed="rId2"/>
          <a:stretch>
            <a:fillRect/>
          </a:stretch>
        </p:blipFill>
        <p:spPr>
          <a:xfrm>
            <a:off x="365760" y="859536"/>
            <a:ext cx="6303096" cy="3840480"/>
          </a:xfrm>
          <a:prstGeom prst="rect">
            <a:avLst/>
          </a:prstGeom>
        </p:spPr>
      </p:pic>
      <p:sp>
        <p:nvSpPr>
          <p:cNvPr id="10" name="Rectangle 9"/>
          <p:cNvSpPr/>
          <p:nvPr/>
        </p:nvSpPr>
        <p:spPr>
          <a:xfrm>
            <a:off x="7012661"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12661"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22389" y="950976"/>
            <a:ext cx="924426" cy="3584448"/>
          </a:xfrm>
          <a:prstGeom prst="rect">
            <a:avLst/>
          </a:prstGeom>
          <a:noFill/>
        </p:spPr>
        <p:txBody>
          <a:bodyPr wrap="square">
            <a:spAutoFit/>
          </a:bodyPr>
          <a:lstStyle/>
          <a:p>
            <a:pPr algn="l"/>
            <a:r>
              <a:rPr sz="1000" b="0" i="0">
                <a:solidFill>
                  <a:srgbClr val="475569"/>
                </a:solidFill>
              </a:rPr>
              <a:t>• 球状粒子が独立分散</a:t>
            </a:r>
          </a:p>
          <a:p>
            <a:pPr algn="l"/>
            <a:r>
              <a:rPr sz="1000" b="0" i="0">
                <a:solidFill>
                  <a:srgbClr val="475569"/>
                </a:solidFill>
              </a:rPr>
              <a:t>• 粒子間結合なし</a:t>
            </a:r>
          </a:p>
          <a:p>
            <a:pPr algn="l"/>
            <a:r>
              <a:rPr sz="1000" b="0" i="0">
                <a:solidFill>
                  <a:srgbClr val="475569"/>
                </a:solidFill>
              </a:rPr>
              <a:t>• 水がマトリクスを充填</a:t>
            </a:r>
          </a:p>
        </p:txBody>
      </p:sp>
      <p:sp>
        <p:nvSpPr>
          <p:cNvPr id="13" name="Rectangle 12"/>
          <p:cNvSpPr/>
          <p:nvPr/>
        </p:nvSpPr>
        <p:spPr>
          <a:xfrm>
            <a:off x="8247983"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47983"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7711" y="950976"/>
            <a:ext cx="924426" cy="3584448"/>
          </a:xfrm>
          <a:prstGeom prst="rect">
            <a:avLst/>
          </a:prstGeom>
          <a:noFill/>
        </p:spPr>
        <p:txBody>
          <a:bodyPr wrap="square">
            <a:spAutoFit/>
          </a:bodyPr>
          <a:lstStyle/>
          <a:p>
            <a:pPr algn="l"/>
            <a:r>
              <a:rPr sz="1000" b="0" i="0">
                <a:solidFill>
                  <a:srgbClr val="475569"/>
                </a:solidFill>
              </a:rPr>
              <a:t>• 粒子間で粒界が出現</a:t>
            </a:r>
          </a:p>
          <a:p>
            <a:pPr algn="l"/>
            <a:r>
              <a:rPr sz="1000" b="0" i="0">
                <a:solidFill>
                  <a:srgbClr val="475569"/>
                </a:solidFill>
              </a:rPr>
              <a:t>• 初期ネックが形成</a:t>
            </a:r>
          </a:p>
          <a:p>
            <a:pPr algn="l"/>
            <a:r>
              <a:rPr sz="1000" b="0" i="0">
                <a:solidFill>
                  <a:srgbClr val="475569"/>
                </a:solidFill>
              </a:rPr>
              <a:t>• 水分の大半が蒸発済み</a:t>
            </a:r>
          </a:p>
        </p:txBody>
      </p:sp>
      <p:sp>
        <p:nvSpPr>
          <p:cNvPr id="16" name="Rectangle 15"/>
          <p:cNvSpPr/>
          <p:nvPr/>
        </p:nvSpPr>
        <p:spPr>
          <a:xfrm>
            <a:off x="9483306"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483306"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93034" y="950976"/>
            <a:ext cx="924426" cy="3584448"/>
          </a:xfrm>
          <a:prstGeom prst="rect">
            <a:avLst/>
          </a:prstGeom>
          <a:noFill/>
        </p:spPr>
        <p:txBody>
          <a:bodyPr wrap="square">
            <a:spAutoFit/>
          </a:bodyPr>
          <a:lstStyle/>
          <a:p>
            <a:pPr algn="l"/>
            <a:r>
              <a:rPr sz="1000" b="0" i="0">
                <a:solidFill>
                  <a:srgbClr val="475569"/>
                </a:solidFill>
              </a:rPr>
              <a:t>• ネック領域が拡大</a:t>
            </a:r>
          </a:p>
          <a:p>
            <a:pPr algn="l"/>
            <a:r>
              <a:rPr sz="1000" b="0" i="0">
                <a:solidFill>
                  <a:srgbClr val="475569"/>
                </a:solidFill>
              </a:rPr>
              <a:t>• 連続ネットワーク形成</a:t>
            </a:r>
          </a:p>
          <a:p>
            <a:pPr algn="l"/>
            <a:r>
              <a:rPr sz="1000" b="0" i="0">
                <a:solidFill>
                  <a:srgbClr val="475569"/>
                </a:solidFill>
              </a:rPr>
              <a:t>• 空隙率が低下</a:t>
            </a:r>
          </a:p>
        </p:txBody>
      </p:sp>
      <p:sp>
        <p:nvSpPr>
          <p:cNvPr id="19" name="Rectangle 18"/>
          <p:cNvSpPr/>
          <p:nvPr/>
        </p:nvSpPr>
        <p:spPr>
          <a:xfrm>
            <a:off x="10718628" y="859536"/>
            <a:ext cx="1107306" cy="3749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718628" y="859536"/>
            <a:ext cx="1107306"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28356" y="950976"/>
            <a:ext cx="924426" cy="3584448"/>
          </a:xfrm>
          <a:prstGeom prst="rect">
            <a:avLst/>
          </a:prstGeom>
          <a:noFill/>
        </p:spPr>
        <p:txBody>
          <a:bodyPr wrap="square">
            <a:spAutoFit/>
          </a:bodyPr>
          <a:lstStyle/>
          <a:p>
            <a:pPr algn="l"/>
            <a:r>
              <a:rPr sz="1000" b="0" i="0">
                <a:solidFill>
                  <a:srgbClr val="475569"/>
                </a:solidFill>
              </a:rPr>
              <a:t>• 緻密なSiO₂骨格完成</a:t>
            </a:r>
          </a:p>
          <a:p>
            <a:pPr algn="l"/>
            <a:r>
              <a:rPr sz="1000" b="0" i="0">
                <a:solidFill>
                  <a:srgbClr val="475569"/>
                </a:solidFill>
              </a:rPr>
              <a:t>• 高い機械的強度</a:t>
            </a:r>
          </a:p>
          <a:p>
            <a:pPr algn="l"/>
            <a:r>
              <a:rPr sz="1000" b="0" i="0">
                <a:solidFill>
                  <a:srgbClr val="475569"/>
                </a:solidFill>
              </a:rPr>
              <a:t>• 断熱層として機能</a:t>
            </a:r>
          </a:p>
        </p:txBody>
      </p:sp>
      <p:sp>
        <p:nvSpPr>
          <p:cNvPr id="22" name="Rectangle 21"/>
          <p:cNvSpPr/>
          <p:nvPr/>
        </p:nvSpPr>
        <p:spPr>
          <a:xfrm>
            <a:off x="365760"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 y="4901184"/>
            <a:ext cx="2586151" cy="1600200"/>
          </a:xfrm>
          <a:prstGeom prst="rect">
            <a:avLst/>
          </a:prstGeom>
          <a:noFill/>
        </p:spPr>
        <p:txBody>
          <a:bodyPr wrap="square">
            <a:spAutoFit/>
          </a:bodyPr>
          <a:lstStyle/>
          <a:p>
            <a:pPr algn="l"/>
            <a:r>
              <a:rPr sz="1000" b="0" i="0">
                <a:solidFill>
                  <a:srgbClr val="475569"/>
                </a:solidFill>
              </a:rPr>
              <a:t>• 球状粒子が独立分散</a:t>
            </a:r>
          </a:p>
          <a:p>
            <a:pPr algn="l"/>
            <a:r>
              <a:rPr sz="1000" b="0" i="0">
                <a:solidFill>
                  <a:srgbClr val="475569"/>
                </a:solidFill>
              </a:rPr>
              <a:t>• 粒子間結合なし</a:t>
            </a:r>
          </a:p>
          <a:p>
            <a:pPr algn="l"/>
            <a:r>
              <a:rPr sz="1000" b="0" i="0">
                <a:solidFill>
                  <a:srgbClr val="475569"/>
                </a:solidFill>
              </a:rPr>
              <a:t>• 水がマトリクスを充填</a:t>
            </a:r>
          </a:p>
        </p:txBody>
      </p:sp>
      <p:sp>
        <p:nvSpPr>
          <p:cNvPr id="25" name="Rectangle 24"/>
          <p:cNvSpPr/>
          <p:nvPr/>
        </p:nvSpPr>
        <p:spPr>
          <a:xfrm>
            <a:off x="3262807"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62807"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72535" y="4901184"/>
            <a:ext cx="2586151" cy="1600200"/>
          </a:xfrm>
          <a:prstGeom prst="rect">
            <a:avLst/>
          </a:prstGeom>
          <a:noFill/>
        </p:spPr>
        <p:txBody>
          <a:bodyPr wrap="square">
            <a:spAutoFit/>
          </a:bodyPr>
          <a:lstStyle/>
          <a:p>
            <a:pPr algn="l"/>
            <a:r>
              <a:rPr sz="1000" b="0" i="0">
                <a:solidFill>
                  <a:srgbClr val="475569"/>
                </a:solidFill>
              </a:rPr>
              <a:t>• 粒子間で粒界が出現</a:t>
            </a:r>
          </a:p>
          <a:p>
            <a:pPr algn="l"/>
            <a:r>
              <a:rPr sz="1000" b="0" i="0">
                <a:solidFill>
                  <a:srgbClr val="475569"/>
                </a:solidFill>
              </a:rPr>
              <a:t>• 初期ネックが形成</a:t>
            </a:r>
          </a:p>
          <a:p>
            <a:pPr algn="l"/>
            <a:r>
              <a:rPr sz="1000" b="0" i="0">
                <a:solidFill>
                  <a:srgbClr val="475569"/>
                </a:solidFill>
              </a:rPr>
              <a:t>• 水分の大半が蒸発済み</a:t>
            </a:r>
          </a:p>
        </p:txBody>
      </p:sp>
      <p:sp>
        <p:nvSpPr>
          <p:cNvPr id="28" name="Rectangle 27"/>
          <p:cNvSpPr/>
          <p:nvPr/>
        </p:nvSpPr>
        <p:spPr>
          <a:xfrm>
            <a:off x="6159855"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59855"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9583" y="4901184"/>
            <a:ext cx="2586151" cy="1600200"/>
          </a:xfrm>
          <a:prstGeom prst="rect">
            <a:avLst/>
          </a:prstGeom>
          <a:noFill/>
        </p:spPr>
        <p:txBody>
          <a:bodyPr wrap="square">
            <a:spAutoFit/>
          </a:bodyPr>
          <a:lstStyle/>
          <a:p>
            <a:pPr algn="l"/>
            <a:r>
              <a:rPr sz="1000" b="0" i="0">
                <a:solidFill>
                  <a:srgbClr val="475569"/>
                </a:solidFill>
              </a:rPr>
              <a:t>• ネック領域が拡大</a:t>
            </a:r>
          </a:p>
          <a:p>
            <a:pPr algn="l"/>
            <a:r>
              <a:rPr sz="1000" b="0" i="0">
                <a:solidFill>
                  <a:srgbClr val="475569"/>
                </a:solidFill>
              </a:rPr>
              <a:t>• 連続ネットワーク形成</a:t>
            </a:r>
          </a:p>
          <a:p>
            <a:pPr algn="l"/>
            <a:r>
              <a:rPr sz="1000" b="0" i="0">
                <a:solidFill>
                  <a:srgbClr val="475569"/>
                </a:solidFill>
              </a:rPr>
              <a:t>• 空隙率が低下</a:t>
            </a:r>
          </a:p>
        </p:txBody>
      </p:sp>
      <p:sp>
        <p:nvSpPr>
          <p:cNvPr id="31" name="Rectangle 30"/>
          <p:cNvSpPr/>
          <p:nvPr/>
        </p:nvSpPr>
        <p:spPr>
          <a:xfrm>
            <a:off x="9056903" y="4809744"/>
            <a:ext cx="2769031" cy="17647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4809744"/>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66631" y="4901184"/>
            <a:ext cx="2586151" cy="1600200"/>
          </a:xfrm>
          <a:prstGeom prst="rect">
            <a:avLst/>
          </a:prstGeom>
          <a:noFill/>
        </p:spPr>
        <p:txBody>
          <a:bodyPr wrap="square">
            <a:spAutoFit/>
          </a:bodyPr>
          <a:lstStyle/>
          <a:p>
            <a:pPr algn="l"/>
            <a:r>
              <a:rPr sz="1000" b="0" i="0">
                <a:solidFill>
                  <a:srgbClr val="475569"/>
                </a:solidFill>
              </a:rPr>
              <a:t>• 緻密なSiO₂骨格完成</a:t>
            </a:r>
          </a:p>
          <a:p>
            <a:pPr algn="l"/>
            <a:r>
              <a:rPr sz="1000" b="0" i="0">
                <a:solidFill>
                  <a:srgbClr val="475569"/>
                </a:solidFill>
              </a:rPr>
              <a:t>• 高い機械的強度</a:t>
            </a:r>
          </a:p>
          <a:p>
            <a:pPr algn="l"/>
            <a:r>
              <a:rPr sz="1000" b="0" i="0">
                <a:solidFill>
                  <a:srgbClr val="475569"/>
                </a:solidFill>
              </a:rPr>
              <a:t>• 断熱層として機能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9144000" cy="365760"/>
          </a:xfrm>
          <a:prstGeom prst="rect">
            <a:avLst/>
          </a:prstGeom>
          <a:noFill/>
        </p:spPr>
        <p:txBody>
          <a:bodyPr wrap="square">
            <a:spAutoFit/>
          </a:bodyPr>
          <a:lstStyle/>
          <a:p>
            <a:pPr algn="l"/>
            <a:r>
              <a:rPr sz="1200" b="0" i="0">
                <a:solidFill>
                  <a:srgbClr val="88A4C0"/>
                </a:solidFill>
              </a:rPr>
              <a:t>Part 4</a:t>
            </a:r>
          </a:p>
        </p:txBody>
      </p:sp>
      <p:sp>
        <p:nvSpPr>
          <p:cNvPr id="5" name="TextBox 4"/>
          <p:cNvSpPr txBox="1"/>
          <p:nvPr/>
        </p:nvSpPr>
        <p:spPr>
          <a:xfrm>
            <a:off x="914400" y="1783080"/>
            <a:ext cx="9144000" cy="1188720"/>
          </a:xfrm>
          <a:prstGeom prst="rect">
            <a:avLst/>
          </a:prstGeom>
          <a:noFill/>
        </p:spPr>
        <p:txBody>
          <a:bodyPr wrap="square">
            <a:spAutoFit/>
          </a:bodyPr>
          <a:lstStyle/>
          <a:p>
            <a:pPr algn="l"/>
            <a:r>
              <a:rPr sz="4600" b="1" i="0">
                <a:solidFill>
                  <a:srgbClr val="FFFFFF"/>
                </a:solidFill>
              </a:rPr>
              <a:t>考察・まとめ</a:t>
            </a:r>
          </a:p>
        </p:txBody>
      </p:sp>
      <p:sp>
        <p:nvSpPr>
          <p:cNvPr id="6" name="TextBox 5"/>
          <p:cNvSpPr txBox="1"/>
          <p:nvPr/>
        </p:nvSpPr>
        <p:spPr>
          <a:xfrm>
            <a:off x="914400" y="3063240"/>
            <a:ext cx="9144000" cy="731520"/>
          </a:xfrm>
          <a:prstGeom prst="rect">
            <a:avLst/>
          </a:prstGeom>
          <a:noFill/>
        </p:spPr>
        <p:txBody>
          <a:bodyPr wrap="square">
            <a:spAutoFit/>
          </a:bodyPr>
          <a:lstStyle/>
          <a:p>
            <a:pPr algn="l"/>
            <a:r>
              <a:rPr sz="1700" b="0" i="0">
                <a:solidFill>
                  <a:srgbClr val="88A8C8"/>
                </a:solidFill>
              </a:rPr>
              <a:t>実装シナリオ、既存品との総合比較、研究の意義と今後の展望</a:t>
            </a:r>
          </a:p>
        </p:txBody>
      </p:sp>
      <p:sp>
        <p:nvSpPr>
          <p:cNvPr id="7" name="Rectangle 6"/>
          <p:cNvSpPr/>
          <p:nvPr/>
        </p:nvSpPr>
        <p:spPr>
          <a:xfrm>
            <a:off x="91440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4078224"/>
            <a:ext cx="1097280" cy="256032"/>
          </a:xfrm>
          <a:prstGeom prst="rect">
            <a:avLst/>
          </a:prstGeom>
          <a:noFill/>
        </p:spPr>
        <p:txBody>
          <a:bodyPr wrap="square">
            <a:spAutoFit/>
          </a:bodyPr>
          <a:lstStyle/>
          <a:p>
            <a:pPr algn="l"/>
            <a:r>
              <a:rPr sz="1100" b="0" i="0">
                <a:solidFill>
                  <a:srgbClr val="BBCCDE"/>
                </a:solidFill>
              </a:rPr>
              <a:t>実装シナリオ</a:t>
            </a:r>
          </a:p>
        </p:txBody>
      </p:sp>
      <p:sp>
        <p:nvSpPr>
          <p:cNvPr id="9" name="Rectangle 8"/>
          <p:cNvSpPr/>
          <p:nvPr/>
        </p:nvSpPr>
        <p:spPr>
          <a:xfrm>
            <a:off x="237744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4600" y="4078224"/>
            <a:ext cx="1097280" cy="256032"/>
          </a:xfrm>
          <a:prstGeom prst="rect">
            <a:avLst/>
          </a:prstGeom>
          <a:noFill/>
        </p:spPr>
        <p:txBody>
          <a:bodyPr wrap="square">
            <a:spAutoFit/>
          </a:bodyPr>
          <a:lstStyle/>
          <a:p>
            <a:pPr algn="l"/>
            <a:r>
              <a:rPr sz="1100" b="0" i="0">
                <a:solidFill>
                  <a:srgbClr val="BBCCDE"/>
                </a:solidFill>
              </a:rPr>
              <a:t>性能比較</a:t>
            </a:r>
          </a:p>
        </p:txBody>
      </p:sp>
      <p:sp>
        <p:nvSpPr>
          <p:cNvPr id="11" name="Rectangle 10"/>
          <p:cNvSpPr/>
          <p:nvPr/>
        </p:nvSpPr>
        <p:spPr>
          <a:xfrm>
            <a:off x="3840480" y="4023360"/>
            <a:ext cx="1280160" cy="347472"/>
          </a:xfrm>
          <a:prstGeom prst="rect">
            <a:avLst/>
          </a:prstGeom>
          <a:solidFill>
            <a:srgbClr val="2A3850"/>
          </a:solidFill>
          <a:ln w="9525">
            <a:solidFill>
              <a:srgbClr val="4458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40" y="4078224"/>
            <a:ext cx="1097280" cy="256032"/>
          </a:xfrm>
          <a:prstGeom prst="rect">
            <a:avLst/>
          </a:prstGeom>
          <a:noFill/>
        </p:spPr>
        <p:txBody>
          <a:bodyPr wrap="square">
            <a:spAutoFit/>
          </a:bodyPr>
          <a:lstStyle/>
          <a:p>
            <a:pPr algn="l"/>
            <a:r>
              <a:rPr sz="1100" b="0" i="0">
                <a:solidFill>
                  <a:srgbClr val="BBCCDE"/>
                </a:solidFill>
              </a:rPr>
              <a:t>まとめ</a:t>
            </a:r>
          </a:p>
        </p:txBody>
      </p:sp>
      <p:sp>
        <p:nvSpPr>
          <p:cNvPr id="13" name="TextBox 12"/>
          <p:cNvSpPr txBox="1"/>
          <p:nvPr/>
        </p:nvSpPr>
        <p:spPr>
          <a:xfrm>
            <a:off x="11002975" y="6537960"/>
            <a:ext cx="1005840" cy="237744"/>
          </a:xfrm>
          <a:prstGeom prst="rect">
            <a:avLst/>
          </a:prstGeom>
          <a:noFill/>
        </p:spPr>
        <p:txBody>
          <a:bodyPr wrap="square">
            <a:spAutoFit/>
          </a:bodyPr>
          <a:lstStyle/>
          <a:p>
            <a:pPr algn="r"/>
            <a:r>
              <a:rPr sz="900" b="0" i="0">
                <a:solidFill>
                  <a:srgbClr val="556677"/>
                </a:solidFill>
              </a:rPr>
              <a:t>32 / 36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考察 1/3</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実装シナリオ：WEGの展開戦略</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33 / 36</a:t>
            </a:r>
          </a:p>
        </p:txBody>
      </p:sp>
      <p:sp>
        <p:nvSpPr>
          <p:cNvPr id="9" name="Rectangle 8"/>
          <p:cNvSpPr/>
          <p:nvPr/>
        </p:nvSpPr>
        <p:spPr>
          <a:xfrm>
            <a:off x="365760"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2586151" cy="292608"/>
          </a:xfrm>
          <a:prstGeom prst="rect">
            <a:avLst/>
          </a:prstGeom>
          <a:noFill/>
        </p:spPr>
        <p:txBody>
          <a:bodyPr wrap="square">
            <a:spAutoFit/>
          </a:bodyPr>
          <a:lstStyle/>
          <a:p>
            <a:pPr algn="l"/>
            <a:r>
              <a:rPr sz="1200" b="1" i="0">
                <a:solidFill>
                  <a:srgbClr val="1E293B"/>
                </a:solidFill>
              </a:rPr>
              <a:t>WUI住宅の事前保護</a:t>
            </a:r>
          </a:p>
        </p:txBody>
      </p:sp>
      <p:sp>
        <p:nvSpPr>
          <p:cNvPr id="12" name="TextBox 11"/>
          <p:cNvSpPr txBox="1"/>
          <p:nvPr/>
        </p:nvSpPr>
        <p:spPr>
          <a:xfrm>
            <a:off x="475488" y="1261872"/>
            <a:ext cx="2586151" cy="4828032"/>
          </a:xfrm>
          <a:prstGeom prst="rect">
            <a:avLst/>
          </a:prstGeom>
          <a:noFill/>
        </p:spPr>
        <p:txBody>
          <a:bodyPr wrap="square">
            <a:spAutoFit/>
          </a:bodyPr>
          <a:lstStyle/>
          <a:p>
            <a:pPr algn="l"/>
            <a:r>
              <a:rPr sz="1000" b="0" i="0">
                <a:solidFill>
                  <a:srgbClr val="475569"/>
                </a:solidFill>
              </a:rPr>
              <a:t>• 山火事シーズン前に建物外壁・屋根に散布</a:t>
            </a:r>
          </a:p>
          <a:p>
            <a:pPr algn="l"/>
            <a:r>
              <a:rPr sz="1000" b="0" i="0">
                <a:solidFill>
                  <a:srgbClr val="475569"/>
                </a:solidFill>
              </a:rPr>
              <a:t>• ヘリコプター・地上ホース双方で対応可能</a:t>
            </a:r>
          </a:p>
          <a:p>
            <a:pPr algn="l"/>
            <a:r>
              <a:rPr sz="1000" b="0" i="0">
                <a:solidFill>
                  <a:srgbClr val="475569"/>
                </a:solidFill>
              </a:rPr>
              <a:t>• 乾燥しても保護機能が残る（従来WEGとの差異）</a:t>
            </a:r>
          </a:p>
        </p:txBody>
      </p:sp>
      <p:sp>
        <p:nvSpPr>
          <p:cNvPr id="13" name="Rectangle 12"/>
          <p:cNvSpPr/>
          <p:nvPr/>
        </p:nvSpPr>
        <p:spPr>
          <a:xfrm>
            <a:off x="3262807"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62807"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72535" y="950976"/>
            <a:ext cx="2586151" cy="292608"/>
          </a:xfrm>
          <a:prstGeom prst="rect">
            <a:avLst/>
          </a:prstGeom>
          <a:noFill/>
        </p:spPr>
        <p:txBody>
          <a:bodyPr wrap="square">
            <a:spAutoFit/>
          </a:bodyPr>
          <a:lstStyle/>
          <a:p>
            <a:pPr algn="l"/>
            <a:r>
              <a:rPr sz="1200" b="1" i="0">
                <a:solidFill>
                  <a:srgbClr val="1E293B"/>
                </a:solidFill>
              </a:rPr>
              <a:t>重要インフラの保護</a:t>
            </a:r>
          </a:p>
        </p:txBody>
      </p:sp>
      <p:sp>
        <p:nvSpPr>
          <p:cNvPr id="16" name="TextBox 15"/>
          <p:cNvSpPr txBox="1"/>
          <p:nvPr/>
        </p:nvSpPr>
        <p:spPr>
          <a:xfrm>
            <a:off x="3372535" y="1261872"/>
            <a:ext cx="2586151" cy="4828032"/>
          </a:xfrm>
          <a:prstGeom prst="rect">
            <a:avLst/>
          </a:prstGeom>
          <a:noFill/>
        </p:spPr>
        <p:txBody>
          <a:bodyPr wrap="square">
            <a:spAutoFit/>
          </a:bodyPr>
          <a:lstStyle/>
          <a:p>
            <a:pPr algn="l"/>
            <a:r>
              <a:rPr sz="1000" b="0" i="0">
                <a:solidFill>
                  <a:srgbClr val="475569"/>
                </a:solidFill>
              </a:rPr>
              <a:t>• 送電塔・変電所・通信基地局</a:t>
            </a:r>
          </a:p>
          <a:p>
            <a:pPr algn="l"/>
            <a:r>
              <a:rPr sz="1000" b="0" i="0">
                <a:solidFill>
                  <a:srgbClr val="475569"/>
                </a:solidFill>
              </a:rPr>
              <a:t>• 金属構造物にも強固に付着</a:t>
            </a:r>
          </a:p>
          <a:p>
            <a:pPr algn="l"/>
            <a:r>
              <a:rPr sz="1000" b="0" i="0">
                <a:solidFill>
                  <a:srgbClr val="475569"/>
                </a:solidFill>
              </a:rPr>
              <a:t>• 断電・通信遮断を予防し災害対応を支援</a:t>
            </a:r>
          </a:p>
        </p:txBody>
      </p:sp>
      <p:sp>
        <p:nvSpPr>
          <p:cNvPr id="17" name="Rectangle 16"/>
          <p:cNvSpPr/>
          <p:nvPr/>
        </p:nvSpPr>
        <p:spPr>
          <a:xfrm>
            <a:off x="6159855"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59855"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9583" y="950976"/>
            <a:ext cx="2586151" cy="292608"/>
          </a:xfrm>
          <a:prstGeom prst="rect">
            <a:avLst/>
          </a:prstGeom>
          <a:noFill/>
        </p:spPr>
        <p:txBody>
          <a:bodyPr wrap="square">
            <a:spAutoFit/>
          </a:bodyPr>
          <a:lstStyle/>
          <a:p>
            <a:pPr algn="l"/>
            <a:r>
              <a:rPr sz="1200" b="1" i="0">
                <a:solidFill>
                  <a:srgbClr val="1E293B"/>
                </a:solidFill>
              </a:rPr>
              <a:t>防火線（Fire Break）形成</a:t>
            </a:r>
          </a:p>
        </p:txBody>
      </p:sp>
      <p:sp>
        <p:nvSpPr>
          <p:cNvPr id="20" name="TextBox 19"/>
          <p:cNvSpPr txBox="1"/>
          <p:nvPr/>
        </p:nvSpPr>
        <p:spPr>
          <a:xfrm>
            <a:off x="6269583" y="1261872"/>
            <a:ext cx="2586151" cy="4828032"/>
          </a:xfrm>
          <a:prstGeom prst="rect">
            <a:avLst/>
          </a:prstGeom>
          <a:noFill/>
        </p:spPr>
        <p:txBody>
          <a:bodyPr wrap="square">
            <a:spAutoFit/>
          </a:bodyPr>
          <a:lstStyle/>
          <a:p>
            <a:pPr algn="l"/>
            <a:r>
              <a:rPr sz="1000" b="0" i="0">
                <a:solidFill>
                  <a:srgbClr val="475569"/>
                </a:solidFill>
              </a:rPr>
              <a:t>• 延焼経路となる植生帯に事前散布</a:t>
            </a:r>
          </a:p>
          <a:p>
            <a:pPr algn="l"/>
            <a:r>
              <a:rPr sz="1000" b="0" i="0">
                <a:solidFill>
                  <a:srgbClr val="475569"/>
                </a:solidFill>
              </a:rPr>
              <a:t>• Phos-Chek（リン酸系）の環境負荷なし</a:t>
            </a:r>
          </a:p>
          <a:p>
            <a:pPr algn="l"/>
            <a:r>
              <a:rPr sz="1000" b="0" i="0">
                <a:solidFill>
                  <a:srgbClr val="475569"/>
                </a:solidFill>
              </a:rPr>
              <a:t>• セルロース・シリカは生態系への残留性が低い</a:t>
            </a:r>
          </a:p>
        </p:txBody>
      </p:sp>
      <p:sp>
        <p:nvSpPr>
          <p:cNvPr id="21" name="Rectangle 20"/>
          <p:cNvSpPr/>
          <p:nvPr/>
        </p:nvSpPr>
        <p:spPr>
          <a:xfrm>
            <a:off x="9056903" y="859536"/>
            <a:ext cx="2769031"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56903" y="859536"/>
            <a:ext cx="2769031"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66631" y="950976"/>
            <a:ext cx="2586151" cy="5138928"/>
          </a:xfrm>
          <a:prstGeom prst="rect">
            <a:avLst/>
          </a:prstGeom>
          <a:noFill/>
        </p:spPr>
        <p:txBody>
          <a:bodyPr wrap="square">
            <a:spAutoFit/>
          </a:bodyPr>
          <a:lstStyle/>
          <a:p>
            <a:pPr algn="l"/>
            <a:r>
              <a:rPr sz="1000" b="0" i="0">
                <a:solidFill>
                  <a:srgbClr val="475569"/>
                </a:solidFill>
              </a:rPr>
              <a:t>既存手法との優位点</a:t>
            </a:r>
          </a:p>
          <a:p>
            <a:pPr algn="l"/>
            <a:r>
              <a:rPr sz="1000" b="0" i="0">
                <a:solidFill>
                  <a:srgbClr val="475569"/>
                </a:solidFill>
              </a:rPr>
              <a:t>vs 水</a:t>
            </a:r>
          </a:p>
          <a:p>
            <a:pPr algn="l"/>
            <a:r>
              <a:rPr sz="1000" b="0" i="0">
                <a:solidFill>
                  <a:srgbClr val="475569"/>
                </a:solidFill>
              </a:rPr>
              <a:t>保護時間 5× 向上</a:t>
            </a:r>
          </a:p>
          <a:p>
            <a:pPr algn="l"/>
            <a:r>
              <a:rPr sz="1000" b="0" i="0">
                <a:solidFill>
                  <a:srgbClr val="475569"/>
                </a:solidFill>
              </a:rPr>
              <a:t>vs AquaGel-K</a:t>
            </a:r>
          </a:p>
          <a:p>
            <a:pPr algn="l"/>
            <a:r>
              <a:rPr sz="1000" b="0" i="0">
                <a:solidFill>
                  <a:srgbClr val="475569"/>
                </a:solidFill>
              </a:rPr>
              <a:t>水蒸発後も継続保護</a:t>
            </a:r>
          </a:p>
          <a:p>
            <a:pPr algn="l"/>
            <a:r>
              <a:rPr sz="1000" b="0" i="0">
                <a:solidFill>
                  <a:srgbClr val="475569"/>
                </a:solidFill>
              </a:rPr>
              <a:t>vs Phos-Chek</a:t>
            </a:r>
          </a:p>
        </p:txBody>
      </p:sp>
      <p:sp>
        <p:nvSpPr>
          <p:cNvPr id="24" name="Rectangle 23"/>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627278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336792"/>
            <a:ext cx="11204143" cy="347472"/>
          </a:xfrm>
          <a:prstGeom prst="rect">
            <a:avLst/>
          </a:prstGeom>
          <a:noFill/>
        </p:spPr>
        <p:txBody>
          <a:bodyPr wrap="square">
            <a:spAutoFit/>
          </a:bodyPr>
          <a:lstStyle/>
          <a:p>
            <a:pPr algn="l"/>
            <a:r>
              <a:rPr sz="1100" b="0" i="0">
                <a:solidFill>
                  <a:srgbClr val="1E293B"/>
                </a:solidFill>
              </a:rPr>
              <a:t>航空散布・地上散布ともに対応可能な流動特性（剪断希薄化）が実用化の鍵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考察 2/3</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現状の課題と今後の研究展望</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34 / 36</a:t>
            </a:r>
          </a:p>
        </p:txBody>
      </p:sp>
      <p:sp>
        <p:nvSpPr>
          <p:cNvPr id="9" name="TextBox 8"/>
          <p:cNvSpPr txBox="1"/>
          <p:nvPr/>
        </p:nvSpPr>
        <p:spPr>
          <a:xfrm>
            <a:off x="365760" y="859536"/>
            <a:ext cx="11460175" cy="2743200"/>
          </a:xfrm>
          <a:prstGeom prst="rect">
            <a:avLst/>
          </a:prstGeom>
          <a:noFill/>
        </p:spPr>
        <p:txBody>
          <a:bodyPr wrap="square">
            <a:spAutoFit/>
          </a:bodyPr>
          <a:lstStyle/>
          <a:p>
            <a:pPr algn="l"/>
            <a:r>
              <a:rPr sz="1200" b="0" i="0">
                <a:solidFill>
                  <a:srgbClr val="334155"/>
                </a:solidFill>
              </a:rPr>
              <a:t>• 大規模燃焼炉・野外模擬試験による性能検証</a:t>
            </a:r>
          </a:p>
          <a:p>
            <a:pPr algn="l"/>
            <a:r>
              <a:rPr sz="1200" b="0" i="0">
                <a:solidFill>
                  <a:srgbClr val="334155"/>
                </a:solidFill>
              </a:rPr>
              <a:t>• 異なる基材（コンクリート・金属・植生）での付着性評価</a:t>
            </a:r>
          </a:p>
          <a:p>
            <a:pPr algn="l"/>
            <a:r>
              <a:rPr sz="1200" b="0" i="0">
                <a:solidFill>
                  <a:srgbClr val="334155"/>
                </a:solidFill>
              </a:rPr>
              <a:t>• エアロゲル熱伝導率の直接測定（λ = 0.015–0.040 W/m·K 想定）</a:t>
            </a:r>
          </a:p>
          <a:p>
            <a:pPr algn="l"/>
            <a:r>
              <a:rPr sz="1200" b="0" i="0">
                <a:solidFill>
                  <a:srgbClr val="334155"/>
                </a:solidFill>
              </a:rPr>
              <a:t>• SDS代替界面活性剤の探索（生分解性向上）</a:t>
            </a:r>
          </a:p>
          <a:p>
            <a:pPr algn="l"/>
            <a:r>
              <a:rPr sz="1200" b="0" i="0">
                <a:solidFill>
                  <a:srgbClr val="334155"/>
                </a:solidFill>
              </a:rPr>
              <a:t>• MC/HEC 濃度最適化・CSP粒径効果の系統的研究</a:t>
            </a:r>
          </a:p>
          <a:p>
            <a:pPr algn="l"/>
            <a:r>
              <a:rPr sz="1200" b="0" i="0">
                <a:solidFill>
                  <a:srgbClr val="334155"/>
                </a:solidFill>
              </a:rPr>
              <a:t>• 降水後の再塗布不要な耐水化改良</a:t>
            </a:r>
          </a:p>
        </p:txBody>
      </p:sp>
      <p:sp>
        <p:nvSpPr>
          <p:cNvPr id="10" name="Rectangle 9"/>
          <p:cNvSpPr/>
          <p:nvPr/>
        </p:nvSpPr>
        <p:spPr>
          <a:xfrm>
            <a:off x="365760" y="371246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3712464"/>
            <a:ext cx="11414455" cy="4389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776472"/>
            <a:ext cx="11204143" cy="347472"/>
          </a:xfrm>
          <a:prstGeom prst="rect">
            <a:avLst/>
          </a:prstGeom>
          <a:noFill/>
        </p:spPr>
        <p:txBody>
          <a:bodyPr wrap="square">
            <a:spAutoFit/>
          </a:bodyPr>
          <a:lstStyle/>
          <a:p>
            <a:pPr algn="l"/>
            <a:r>
              <a:rPr sz="1100" b="0" i="0">
                <a:solidFill>
                  <a:srgbClr val="1E293B"/>
                </a:solidFill>
              </a:rPr>
              <a:t>実地での風・乾燥・温度勾配下での挙動は未評価</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12648"/>
            <a:ext cx="12191695" cy="45720"/>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46304"/>
            <a:ext cx="2011680" cy="384048"/>
          </a:xfrm>
          <a:prstGeom prst="rect">
            <a:avLst/>
          </a:prstGeom>
          <a:noFill/>
        </p:spPr>
        <p:txBody>
          <a:bodyPr wrap="square">
            <a:spAutoFit/>
          </a:bodyPr>
          <a:lstStyle/>
          <a:p>
            <a:pPr algn="l"/>
            <a:r>
              <a:rPr sz="900" b="0" i="0">
                <a:solidFill>
                  <a:srgbClr val="88A4C4"/>
                </a:solidFill>
              </a:rPr>
              <a:t>考察 3/3</a:t>
            </a:r>
          </a:p>
        </p:txBody>
      </p:sp>
      <p:sp>
        <p:nvSpPr>
          <p:cNvPr id="6" name="TextBox 5"/>
          <p:cNvSpPr txBox="1"/>
          <p:nvPr/>
        </p:nvSpPr>
        <p:spPr>
          <a:xfrm>
            <a:off x="2560320" y="91440"/>
            <a:ext cx="9357055" cy="512064"/>
          </a:xfrm>
          <a:prstGeom prst="rect">
            <a:avLst/>
          </a:prstGeom>
          <a:noFill/>
        </p:spPr>
        <p:txBody>
          <a:bodyPr wrap="square">
            <a:spAutoFit/>
          </a:bodyPr>
          <a:lstStyle/>
          <a:p>
            <a:pPr algn="l"/>
            <a:r>
              <a:rPr sz="2200" b="1" i="0">
                <a:solidFill>
                  <a:srgbClr val="FFFFFF"/>
                </a:solidFill>
              </a:rPr>
              <a:t>研究成果のまとめと展望</a:t>
            </a:r>
          </a:p>
        </p:txBody>
      </p:sp>
      <p:sp>
        <p:nvSpPr>
          <p:cNvPr id="7" name="Rectangle 6"/>
          <p:cNvSpPr/>
          <p:nvPr/>
        </p:nvSpPr>
        <p:spPr>
          <a:xfrm>
            <a:off x="0" y="6784848"/>
            <a:ext cx="12191695" cy="7315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02975" y="6583680"/>
            <a:ext cx="1097280" cy="219456"/>
          </a:xfrm>
          <a:prstGeom prst="rect">
            <a:avLst/>
          </a:prstGeom>
          <a:noFill/>
        </p:spPr>
        <p:txBody>
          <a:bodyPr wrap="square">
            <a:spAutoFit/>
          </a:bodyPr>
          <a:lstStyle/>
          <a:p>
            <a:pPr algn="r"/>
            <a:r>
              <a:rPr sz="900" b="0" i="0">
                <a:solidFill>
                  <a:srgbClr val="64748B"/>
                </a:solidFill>
              </a:rPr>
              <a:t>35 / 36</a:t>
            </a:r>
          </a:p>
        </p:txBody>
      </p:sp>
      <p:sp>
        <p:nvSpPr>
          <p:cNvPr id="9" name="Rectangle 8"/>
          <p:cNvSpPr/>
          <p:nvPr/>
        </p:nvSpPr>
        <p:spPr>
          <a:xfrm>
            <a:off x="365760"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 y="950976"/>
            <a:ext cx="5483199" cy="5138928"/>
          </a:xfrm>
          <a:prstGeom prst="rect">
            <a:avLst/>
          </a:prstGeom>
          <a:noFill/>
        </p:spPr>
        <p:txBody>
          <a:bodyPr wrap="square">
            <a:spAutoFit/>
          </a:bodyPr>
          <a:lstStyle/>
          <a:p>
            <a:pPr algn="l"/>
            <a:r>
              <a:rPr sz="1000" b="0" i="0">
                <a:solidFill>
                  <a:srgbClr val="475569"/>
                </a:solidFill>
              </a:rPr>
              <a:t>• WUI住宅・重要インフラの事前保護散布</a:t>
            </a:r>
          </a:p>
          <a:p>
            <a:pPr algn="l"/>
            <a:r>
              <a:rPr sz="1000" b="0" i="0">
                <a:solidFill>
                  <a:srgbClr val="475569"/>
                </a:solidFill>
              </a:rPr>
              <a:t>• 延焼経路の防火線(fire break)形成</a:t>
            </a:r>
          </a:p>
          <a:p>
            <a:pPr algn="l"/>
            <a:r>
              <a:rPr sz="1000" b="0" i="0">
                <a:solidFill>
                  <a:srgbClr val="475569"/>
                </a:solidFill>
              </a:rPr>
              <a:t>• 送電線・通信塔など金属構造物の被覆</a:t>
            </a:r>
          </a:p>
        </p:txBody>
      </p:sp>
      <p:sp>
        <p:nvSpPr>
          <p:cNvPr id="12" name="Rectangle 11"/>
          <p:cNvSpPr/>
          <p:nvPr/>
        </p:nvSpPr>
        <p:spPr>
          <a:xfrm>
            <a:off x="6159855" y="859536"/>
            <a:ext cx="5666079" cy="530352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59855" y="859536"/>
            <a:ext cx="5666079" cy="36576"/>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9583" y="950976"/>
            <a:ext cx="5483199" cy="5138928"/>
          </a:xfrm>
          <a:prstGeom prst="rect">
            <a:avLst/>
          </a:prstGeom>
          <a:noFill/>
        </p:spPr>
        <p:txBody>
          <a:bodyPr wrap="square">
            <a:spAutoFit/>
          </a:bodyPr>
          <a:lstStyle/>
          <a:p>
            <a:pPr algn="l"/>
            <a:r>
              <a:rPr sz="1000" b="0" i="0">
                <a:solidFill>
                  <a:srgbClr val="475569"/>
                </a:solidFill>
              </a:rPr>
              <a:t>• 大規模散布試験（実地ベンチマーク）</a:t>
            </a:r>
          </a:p>
          <a:p>
            <a:pPr algn="l"/>
            <a:r>
              <a:rPr sz="1000" b="0" i="0">
                <a:solidFill>
                  <a:srgbClr val="475569"/>
                </a:solidFill>
              </a:rPr>
              <a:t>• 長期保存安定性・コスト評価</a:t>
            </a:r>
          </a:p>
          <a:p>
            <a:pPr algn="l"/>
            <a:r>
              <a:rPr sz="1000" b="0" i="0">
                <a:solidFill>
                  <a:srgbClr val="475569"/>
                </a:solidFill>
              </a:rPr>
              <a:t>• 環境への影響評価（生分解性試験）</a:t>
            </a:r>
          </a:p>
        </p:txBody>
      </p:sp>
      <p:sp>
        <p:nvSpPr>
          <p:cNvPr id="15" name="Rectangle 14"/>
          <p:cNvSpPr/>
          <p:nvPr/>
        </p:nvSpPr>
        <p:spPr>
          <a:xfrm>
            <a:off x="365760" y="6272784"/>
            <a:ext cx="45720" cy="438912"/>
          </a:xfrm>
          <a:prstGeom prst="rect">
            <a:avLst/>
          </a:prstGeom>
          <a:solidFill>
            <a:srgbClr val="3B51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6272784"/>
            <a:ext cx="11414455" cy="438912"/>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36792"/>
            <a:ext cx="11204143" cy="347472"/>
          </a:xfrm>
          <a:prstGeom prst="rect">
            <a:avLst/>
          </a:prstGeom>
          <a:noFill/>
        </p:spPr>
        <p:txBody>
          <a:bodyPr wrap="square">
            <a:spAutoFit/>
          </a:bodyPr>
          <a:lstStyle/>
          <a:p>
            <a:pPr algn="l"/>
            <a:r>
              <a:rPr sz="1100" b="0" i="0">
                <a:solidFill>
                  <a:srgbClr val="FFFFFF"/>
                </a:solidFill>
              </a:rPr>
              <a:t>「水のキャリア」から「自己変態する難燃材料」へ ― WEGの新しい設計パラダイム</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731520"/>
            <a:ext cx="9418320" cy="365760"/>
          </a:xfrm>
          <a:prstGeom prst="rect">
            <a:avLst/>
          </a:prstGeom>
          <a:noFill/>
        </p:spPr>
        <p:txBody>
          <a:bodyPr wrap="square">
            <a:spAutoFit/>
          </a:bodyPr>
          <a:lstStyle/>
          <a:p>
            <a:pPr algn="ctr"/>
            <a:r>
              <a:rPr sz="1200" b="0" i="0">
                <a:solidFill>
                  <a:srgbClr val="88A4C0"/>
                </a:solidFill>
              </a:rPr>
              <a:t>Research Impact</a:t>
            </a:r>
          </a:p>
        </p:txBody>
      </p:sp>
      <p:sp>
        <p:nvSpPr>
          <p:cNvPr id="4" name="TextBox 3"/>
          <p:cNvSpPr txBox="1"/>
          <p:nvPr/>
        </p:nvSpPr>
        <p:spPr>
          <a:xfrm>
            <a:off x="1371600" y="1143000"/>
            <a:ext cx="9418320" cy="1645920"/>
          </a:xfrm>
          <a:prstGeom prst="rect">
            <a:avLst/>
          </a:prstGeom>
          <a:noFill/>
        </p:spPr>
        <p:txBody>
          <a:bodyPr wrap="square">
            <a:spAutoFit/>
          </a:bodyPr>
          <a:lstStyle/>
          <a:p>
            <a:pPr algn="ctr"/>
            <a:r>
              <a:rPr sz="7200" b="1" i="0">
                <a:solidFill>
                  <a:srgbClr val="D4A574"/>
                </a:solidFill>
              </a:rPr>
              <a:t>5 ×</a:t>
            </a:r>
          </a:p>
        </p:txBody>
      </p:sp>
      <p:sp>
        <p:nvSpPr>
          <p:cNvPr id="5" name="TextBox 4"/>
          <p:cNvSpPr txBox="1"/>
          <p:nvPr/>
        </p:nvSpPr>
        <p:spPr>
          <a:xfrm>
            <a:off x="1371600" y="2834640"/>
            <a:ext cx="9418320" cy="548640"/>
          </a:xfrm>
          <a:prstGeom prst="rect">
            <a:avLst/>
          </a:prstGeom>
          <a:noFill/>
        </p:spPr>
        <p:txBody>
          <a:bodyPr wrap="square">
            <a:spAutoFit/>
          </a:bodyPr>
          <a:lstStyle/>
          <a:p>
            <a:pPr algn="ctr"/>
            <a:r>
              <a:rPr sz="2200" b="1" i="0">
                <a:solidFill>
                  <a:srgbClr val="FFFFFF"/>
                </a:solidFill>
              </a:rPr>
              <a:t>従来品（水）比 Time to char 向上率</a:t>
            </a:r>
          </a:p>
        </p:txBody>
      </p:sp>
      <p:sp>
        <p:nvSpPr>
          <p:cNvPr id="6" name="TextBox 5"/>
          <p:cNvSpPr txBox="1"/>
          <p:nvPr/>
        </p:nvSpPr>
        <p:spPr>
          <a:xfrm>
            <a:off x="1828800" y="3456432"/>
            <a:ext cx="8503920" cy="640080"/>
          </a:xfrm>
          <a:prstGeom prst="rect">
            <a:avLst/>
          </a:prstGeom>
          <a:noFill/>
        </p:spPr>
        <p:txBody>
          <a:bodyPr wrap="square">
            <a:spAutoFit/>
          </a:bodyPr>
          <a:lstStyle/>
          <a:p>
            <a:pPr algn="ctr"/>
            <a:r>
              <a:rPr sz="1400" b="0" i="0">
                <a:solidFill>
                  <a:srgbClr val="88A4C0"/>
                </a:solidFill>
              </a:rPr>
              <a:t>「水のキャリア」から「 自己変態する難燃材料 」へ ― WEGの新しい設計パラダイムは山火事から重要インフラを守る実用技術への道を開く</a:t>
            </a:r>
          </a:p>
        </p:txBody>
      </p:sp>
      <p:sp>
        <p:nvSpPr>
          <p:cNvPr id="7" name="Rectangle 6"/>
          <p:cNvSpPr/>
          <p:nvPr/>
        </p:nvSpPr>
        <p:spPr>
          <a:xfrm>
            <a:off x="1828800" y="4187952"/>
            <a:ext cx="8503920" cy="36576"/>
          </a:xfrm>
          <a:prstGeom prst="rect">
            <a:avLst/>
          </a:prstGeom>
          <a:solidFill>
            <a:srgbClr val="44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4297680"/>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20240" y="4343400"/>
            <a:ext cx="1645920" cy="201168"/>
          </a:xfrm>
          <a:prstGeom prst="rect">
            <a:avLst/>
          </a:prstGeom>
          <a:noFill/>
        </p:spPr>
        <p:txBody>
          <a:bodyPr wrap="square">
            <a:spAutoFit/>
          </a:bodyPr>
          <a:lstStyle/>
          <a:p>
            <a:pPr algn="r"/>
            <a:r>
              <a:rPr sz="1000" b="0" i="0">
                <a:solidFill>
                  <a:srgbClr val="AABCCC"/>
                </a:solidFill>
              </a:rPr>
              <a:t>Time to char</a:t>
            </a:r>
          </a:p>
        </p:txBody>
      </p:sp>
      <p:sp>
        <p:nvSpPr>
          <p:cNvPr id="10" name="TextBox 9"/>
          <p:cNvSpPr txBox="1"/>
          <p:nvPr/>
        </p:nvSpPr>
        <p:spPr>
          <a:xfrm>
            <a:off x="9144000" y="4343400"/>
            <a:ext cx="1097280" cy="201168"/>
          </a:xfrm>
          <a:prstGeom prst="rect">
            <a:avLst/>
          </a:prstGeom>
          <a:noFill/>
        </p:spPr>
        <p:txBody>
          <a:bodyPr wrap="square">
            <a:spAutoFit/>
          </a:bodyPr>
          <a:lstStyle/>
          <a:p>
            <a:pPr algn="l"/>
            <a:r>
              <a:rPr sz="1000" b="0" i="0">
                <a:solidFill>
                  <a:srgbClr val="AABCCC"/>
                </a:solidFill>
              </a:rPr>
              <a:t>~10 min</a:t>
            </a:r>
          </a:p>
        </p:txBody>
      </p:sp>
      <p:sp>
        <p:nvSpPr>
          <p:cNvPr id="11" name="Rectangle 10"/>
          <p:cNvSpPr/>
          <p:nvPr/>
        </p:nvSpPr>
        <p:spPr>
          <a:xfrm>
            <a:off x="1828800" y="4645152"/>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20240" y="4690872"/>
            <a:ext cx="1645920" cy="201168"/>
          </a:xfrm>
          <a:prstGeom prst="rect">
            <a:avLst/>
          </a:prstGeom>
          <a:noFill/>
        </p:spPr>
        <p:txBody>
          <a:bodyPr wrap="square">
            <a:spAutoFit/>
          </a:bodyPr>
          <a:lstStyle/>
          <a:p>
            <a:pPr algn="r"/>
            <a:r>
              <a:rPr sz="1000" b="0" i="0">
                <a:solidFill>
                  <a:srgbClr val="AABCCC"/>
                </a:solidFill>
              </a:rPr>
              <a:t>Foaming Index</a:t>
            </a:r>
          </a:p>
        </p:txBody>
      </p:sp>
      <p:sp>
        <p:nvSpPr>
          <p:cNvPr id="13" name="TextBox 12"/>
          <p:cNvSpPr txBox="1"/>
          <p:nvPr/>
        </p:nvSpPr>
        <p:spPr>
          <a:xfrm>
            <a:off x="9144000" y="4690872"/>
            <a:ext cx="1097280" cy="201168"/>
          </a:xfrm>
          <a:prstGeom prst="rect">
            <a:avLst/>
          </a:prstGeom>
          <a:noFill/>
        </p:spPr>
        <p:txBody>
          <a:bodyPr wrap="square">
            <a:spAutoFit/>
          </a:bodyPr>
          <a:lstStyle/>
          <a:p>
            <a:pPr algn="l"/>
            <a:r>
              <a:rPr sz="1000" b="0" i="0">
                <a:solidFill>
                  <a:srgbClr val="AABCCC"/>
                </a:solidFill>
              </a:rPr>
              <a:t>~2.6×</a:t>
            </a:r>
          </a:p>
        </p:txBody>
      </p:sp>
      <p:sp>
        <p:nvSpPr>
          <p:cNvPr id="14" name="Rectangle 13"/>
          <p:cNvSpPr/>
          <p:nvPr/>
        </p:nvSpPr>
        <p:spPr>
          <a:xfrm>
            <a:off x="1828800" y="4992624"/>
            <a:ext cx="8503920" cy="274320"/>
          </a:xfrm>
          <a:prstGeom prst="rect">
            <a:avLst/>
          </a:prstGeom>
          <a:solidFill>
            <a:srgbClr val="2836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20240" y="5038344"/>
            <a:ext cx="1645920" cy="201168"/>
          </a:xfrm>
          <a:prstGeom prst="rect">
            <a:avLst/>
          </a:prstGeom>
          <a:noFill/>
        </p:spPr>
        <p:txBody>
          <a:bodyPr wrap="square">
            <a:spAutoFit/>
          </a:bodyPr>
          <a:lstStyle/>
          <a:p>
            <a:pPr algn="r"/>
            <a:r>
              <a:rPr sz="1000" b="0" i="0">
                <a:solidFill>
                  <a:srgbClr val="AABCCC"/>
                </a:solidFill>
              </a:rPr>
              <a:t>Power-law n</a:t>
            </a:r>
          </a:p>
        </p:txBody>
      </p:sp>
      <p:sp>
        <p:nvSpPr>
          <p:cNvPr id="16" name="TextBox 15"/>
          <p:cNvSpPr txBox="1"/>
          <p:nvPr/>
        </p:nvSpPr>
        <p:spPr>
          <a:xfrm>
            <a:off x="9144000" y="5038344"/>
            <a:ext cx="1097280" cy="201168"/>
          </a:xfrm>
          <a:prstGeom prst="rect">
            <a:avLst/>
          </a:prstGeom>
          <a:noFill/>
        </p:spPr>
        <p:txBody>
          <a:bodyPr wrap="square">
            <a:spAutoFit/>
          </a:bodyPr>
          <a:lstStyle/>
          <a:p>
            <a:pPr algn="l"/>
            <a:r>
              <a:rPr sz="1000" b="0" i="0">
                <a:solidFill>
                  <a:srgbClr val="AABCCC"/>
                </a:solidFill>
              </a:rPr>
              <a:t>0.108</a:t>
            </a:r>
          </a:p>
        </p:txBody>
      </p:sp>
      <p:sp>
        <p:nvSpPr>
          <p:cNvPr id="17" name="TextBox 16"/>
          <p:cNvSpPr txBox="1"/>
          <p:nvPr/>
        </p:nvSpPr>
        <p:spPr>
          <a:xfrm>
            <a:off x="11002975" y="6537960"/>
            <a:ext cx="1005840" cy="237744"/>
          </a:xfrm>
          <a:prstGeom prst="rect">
            <a:avLst/>
          </a:prstGeom>
          <a:noFill/>
        </p:spPr>
        <p:txBody>
          <a:bodyPr wrap="square">
            <a:spAutoFit/>
          </a:bodyPr>
          <a:lstStyle/>
          <a:p>
            <a:pPr algn="r"/>
            <a:r>
              <a:rPr sz="900" b="0" i="0">
                <a:solidFill>
                  <a:srgbClr val="64748B"/>
                </a:solidFill>
              </a:rPr>
              <a:t>36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