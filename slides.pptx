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41</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41</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41</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41</a:t>
            </a:r>
          </a:p>
        </p:txBody>
      </p:sp>
      <p:sp>
        <p:nvSpPr>
          <p:cNvPr id="10" name="Rounded Rectangle 9"/>
          <p:cNvSpPr/>
          <p:nvPr/>
        </p:nvSpPr>
        <p:spPr>
          <a:xfrm>
            <a:off x="365760"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024128"/>
            <a:ext cx="3320186" cy="1078992"/>
          </a:xfrm>
          <a:prstGeom prst="roundRect">
            <a:avLst>
              <a:gd name="adj" fmla="val 3000"/>
            </a:avLst>
          </a:prstGeom>
          <a:solidFill>
            <a:srgbClr val="A8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865741"/>
            <a:ext cx="3320186" cy="237378"/>
          </a:xfrm>
          <a:prstGeom prst="rect">
            <a:avLst/>
          </a:prstGeom>
          <a:solidFill>
            <a:srgbClr val="6AA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1865741"/>
            <a:ext cx="3320186" cy="16459"/>
          </a:xfrm>
          <a:prstGeom prst="rect">
            <a:avLst/>
          </a:prstGeom>
          <a:solidFill>
            <a:srgbClr val="4E8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0658" y="1261506"/>
            <a:ext cx="996055" cy="8631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59554" y="1175186"/>
            <a:ext cx="332018" cy="237378"/>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3860" y="1153607"/>
            <a:ext cx="132807" cy="12947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710705" y="1498884"/>
            <a:ext cx="132807" cy="9495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09521" y="1595993"/>
            <a:ext cx="119526" cy="8416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5136" y="1520464"/>
            <a:ext cx="126167" cy="8847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943118" y="1725472"/>
            <a:ext cx="106245" cy="75529"/>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474348" y="1649943"/>
            <a:ext cx="112886" cy="79845"/>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8733" y="1779422"/>
            <a:ext cx="99605" cy="71213"/>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607155" y="1563624"/>
            <a:ext cx="92965" cy="6689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長期遅延剤</a:t>
            </a:r>
          </a:p>
        </p:txBody>
      </p:sp>
      <p:sp>
        <p:nvSpPr>
          <p:cNvPr id="26" name="TextBox 25"/>
          <p:cNvSpPr txBox="1"/>
          <p:nvPr/>
        </p:nvSpPr>
        <p:spPr>
          <a:xfrm>
            <a:off x="548640"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Long-term retardant</a:t>
            </a:r>
          </a:p>
        </p:txBody>
      </p:sp>
      <p:sp>
        <p:nvSpPr>
          <p:cNvPr id="27" name="Rectangle 26"/>
          <p:cNvSpPr/>
          <p:nvPr/>
        </p:nvSpPr>
        <p:spPr>
          <a:xfrm>
            <a:off x="548640"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29" name="TextBox 28"/>
          <p:cNvSpPr txBox="1"/>
          <p:nvPr/>
        </p:nvSpPr>
        <p:spPr>
          <a:xfrm>
            <a:off x="548640"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Phos-Chek（リン酸塩系スラリー）</a:t>
            </a:r>
          </a:p>
        </p:txBody>
      </p:sp>
      <p:sp>
        <p:nvSpPr>
          <p:cNvPr id="30" name="TextBox 29"/>
          <p:cNvSpPr txBox="1"/>
          <p:nvPr/>
        </p:nvSpPr>
        <p:spPr>
          <a:xfrm>
            <a:off x="548640"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31" name="TextBox 30"/>
          <p:cNvSpPr txBox="1"/>
          <p:nvPr/>
        </p:nvSpPr>
        <p:spPr>
          <a:xfrm>
            <a:off x="548640"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リン酸アンモニウム等の化学物質</a:t>
            </a:r>
          </a:p>
        </p:txBody>
      </p:sp>
      <p:sp>
        <p:nvSpPr>
          <p:cNvPr id="32" name="TextBox 31"/>
          <p:cNvSpPr txBox="1"/>
          <p:nvPr/>
        </p:nvSpPr>
        <p:spPr>
          <a:xfrm>
            <a:off x="548640"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33" name="TextBox 32"/>
          <p:cNvSpPr txBox="1"/>
          <p:nvPr/>
        </p:nvSpPr>
        <p:spPr>
          <a:xfrm>
            <a:off x="548640"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残留物がある限り効果が持続</a:t>
            </a:r>
          </a:p>
        </p:txBody>
      </p:sp>
      <p:sp>
        <p:nvSpPr>
          <p:cNvPr id="34" name="TextBox 33"/>
          <p:cNvSpPr txBox="1"/>
          <p:nvPr/>
        </p:nvSpPr>
        <p:spPr>
          <a:xfrm>
            <a:off x="548640"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35" name="TextBox 34"/>
          <p:cNvSpPr txBox="1"/>
          <p:nvPr/>
        </p:nvSpPr>
        <p:spPr>
          <a:xfrm>
            <a:off x="548640"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化学物質が対象物に残留する</a:t>
            </a:r>
          </a:p>
        </p:txBody>
      </p:sp>
      <p:sp>
        <p:nvSpPr>
          <p:cNvPr id="36" name="Rounded Rectangle 35"/>
          <p:cNvSpPr/>
          <p:nvPr/>
        </p:nvSpPr>
        <p:spPr>
          <a:xfrm>
            <a:off x="4252874"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435754" y="1024128"/>
            <a:ext cx="3320186" cy="1078992"/>
          </a:xfrm>
          <a:prstGeom prst="roundRect">
            <a:avLst>
              <a:gd name="adj" fmla="val 3000"/>
            </a:avLst>
          </a:prstGeom>
          <a:solidFill>
            <a:srgbClr val="BEE0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02158" y="1563624"/>
            <a:ext cx="232413" cy="431596"/>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01763" y="1412565"/>
            <a:ext cx="332018" cy="302117"/>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867378" y="1488094"/>
            <a:ext cx="132807" cy="151058"/>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033387" y="1261506"/>
            <a:ext cx="464826"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65406" y="1175186"/>
            <a:ext cx="531229" cy="34527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763828" y="122913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9049" y="1175186"/>
            <a:ext cx="498027"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494269" y="1239926"/>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26288" y="119676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158307" y="1283086"/>
            <a:ext cx="398422" cy="25895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199397" y="1498884"/>
            <a:ext cx="498027" cy="32369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564617" y="1434144"/>
            <a:ext cx="531229" cy="34527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63040" y="1498884"/>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328260" y="1434144"/>
            <a:ext cx="464826" cy="30211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693481" y="1498884"/>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058701" y="1412565"/>
            <a:ext cx="398422" cy="258958"/>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357518" y="1347825"/>
            <a:ext cx="332018" cy="21579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35754"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泡消火剤</a:t>
            </a:r>
          </a:p>
        </p:txBody>
      </p:sp>
      <p:sp>
        <p:nvSpPr>
          <p:cNvPr id="57" name="TextBox 56"/>
          <p:cNvSpPr txBox="1"/>
          <p:nvPr/>
        </p:nvSpPr>
        <p:spPr>
          <a:xfrm>
            <a:off x="4435754"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Foam suppressant</a:t>
            </a:r>
          </a:p>
        </p:txBody>
      </p:sp>
      <p:sp>
        <p:nvSpPr>
          <p:cNvPr id="58" name="Rectangle 57"/>
          <p:cNvSpPr/>
          <p:nvPr/>
        </p:nvSpPr>
        <p:spPr>
          <a:xfrm>
            <a:off x="4435754"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35754"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60" name="TextBox 59"/>
          <p:cNvSpPr txBox="1"/>
          <p:nvPr/>
        </p:nvSpPr>
        <p:spPr>
          <a:xfrm>
            <a:off x="4435754"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Class A フォーム／旧 AFFF</a:t>
            </a:r>
          </a:p>
        </p:txBody>
      </p:sp>
      <p:sp>
        <p:nvSpPr>
          <p:cNvPr id="61" name="TextBox 60"/>
          <p:cNvSpPr txBox="1"/>
          <p:nvPr/>
        </p:nvSpPr>
        <p:spPr>
          <a:xfrm>
            <a:off x="4435754"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62" name="TextBox 61"/>
          <p:cNvSpPr txBox="1"/>
          <p:nvPr/>
        </p:nvSpPr>
        <p:spPr>
          <a:xfrm>
            <a:off x="4435754"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界面活性剤（旧来はフッ素系）</a:t>
            </a:r>
          </a:p>
        </p:txBody>
      </p:sp>
      <p:sp>
        <p:nvSpPr>
          <p:cNvPr id="63" name="TextBox 62"/>
          <p:cNvSpPr txBox="1"/>
          <p:nvPr/>
        </p:nvSpPr>
        <p:spPr>
          <a:xfrm>
            <a:off x="4435754"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64" name="TextBox 63"/>
          <p:cNvSpPr txBox="1"/>
          <p:nvPr/>
        </p:nvSpPr>
        <p:spPr>
          <a:xfrm>
            <a:off x="4435754"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水分保持 15〜30分（短期的）</a:t>
            </a:r>
          </a:p>
        </p:txBody>
      </p:sp>
      <p:sp>
        <p:nvSpPr>
          <p:cNvPr id="65" name="TextBox 64"/>
          <p:cNvSpPr txBox="1"/>
          <p:nvPr/>
        </p:nvSpPr>
        <p:spPr>
          <a:xfrm>
            <a:off x="4435754"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66" name="TextBox 65"/>
          <p:cNvSpPr txBox="1"/>
          <p:nvPr/>
        </p:nvSpPr>
        <p:spPr>
          <a:xfrm>
            <a:off x="4435754"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乾燥で効果消失／フッ素系は生体蓄積・環境毒性</a:t>
            </a:r>
          </a:p>
        </p:txBody>
      </p:sp>
      <p:sp>
        <p:nvSpPr>
          <p:cNvPr id="67" name="Rounded Rectangle 66"/>
          <p:cNvSpPr/>
          <p:nvPr/>
        </p:nvSpPr>
        <p:spPr>
          <a:xfrm>
            <a:off x="8139988" y="859536"/>
            <a:ext cx="3685946" cy="504748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322868" y="1024128"/>
            <a:ext cx="3320186" cy="1078992"/>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2868" y="1973640"/>
            <a:ext cx="3320186" cy="129479"/>
          </a:xfrm>
          <a:prstGeom prst="rect">
            <a:avLst/>
          </a:prstGeom>
          <a:solidFill>
            <a:srgbClr val="2E4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352126" y="1477304"/>
            <a:ext cx="1261670" cy="561075"/>
          </a:xfrm>
          <a:prstGeom prst="ellipse">
            <a:avLst/>
          </a:prstGeom>
          <a:solidFill>
            <a:srgbClr val="4AAA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51732" y="1542044"/>
            <a:ext cx="1062459" cy="431596"/>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sosceles Triangle 72"/>
          <p:cNvSpPr/>
          <p:nvPr/>
        </p:nvSpPr>
        <p:spPr>
          <a:xfrm>
            <a:off x="9385328" y="1218346"/>
            <a:ext cx="1195267" cy="345277"/>
          </a:xfrm>
          <a:prstGeom prst="triangle">
            <a:avLst/>
          </a:prstGeom>
          <a:solidFill>
            <a:srgbClr val="CC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55797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08920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834217" y="1792370"/>
            <a:ext cx="297488" cy="181270"/>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654887" y="1239926"/>
            <a:ext cx="92965" cy="8200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820896" y="1477304"/>
            <a:ext cx="79684" cy="6905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986905" y="1347825"/>
            <a:ext cx="86324"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979017" y="1261506"/>
            <a:ext cx="86324" cy="7984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111825" y="1477304"/>
            <a:ext cx="79684" cy="7121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846210" y="1606783"/>
            <a:ext cx="92965"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322868" y="2212848"/>
            <a:ext cx="3320186" cy="329184"/>
          </a:xfrm>
          <a:prstGeom prst="rect">
            <a:avLst/>
          </a:prstGeom>
          <a:noFill/>
        </p:spPr>
        <p:txBody>
          <a:bodyPr wrap="square" anchor="t" lIns="36000" rIns="36000" tIns="18000" bIns="18000">
            <a:spAutoFit/>
          </a:bodyPr>
          <a:lstStyle/>
          <a:p>
            <a:pPr algn="l"/>
            <a:r>
              <a:rPr sz="1600" b="1" i="0">
                <a:solidFill>
                  <a:srgbClr val="FFFFFF"/>
                </a:solidFill>
                <a:latin typeface="Noto Sans JP"/>
              </a:rPr>
              <a:t>水強化ゲル（WEG）</a:t>
            </a:r>
          </a:p>
        </p:txBody>
      </p:sp>
      <p:sp>
        <p:nvSpPr>
          <p:cNvPr id="84" name="TextBox 83"/>
          <p:cNvSpPr txBox="1"/>
          <p:nvPr/>
        </p:nvSpPr>
        <p:spPr>
          <a:xfrm>
            <a:off x="8322868" y="2542032"/>
            <a:ext cx="3320186" cy="201168"/>
          </a:xfrm>
          <a:prstGeom prst="rect">
            <a:avLst/>
          </a:prstGeom>
          <a:noFill/>
        </p:spPr>
        <p:txBody>
          <a:bodyPr wrap="square" anchor="t" lIns="36000" rIns="36000" tIns="18000" bIns="18000">
            <a:spAutoFit/>
          </a:bodyPr>
          <a:lstStyle/>
          <a:p>
            <a:pPr algn="l"/>
            <a:r>
              <a:rPr sz="900" b="0" i="1">
                <a:solidFill>
                  <a:srgbClr val="A0B8D0"/>
                </a:solidFill>
                <a:latin typeface="Noto Sans JP"/>
              </a:rPr>
              <a:t>Water-enhancing gel</a:t>
            </a:r>
          </a:p>
        </p:txBody>
      </p:sp>
      <p:sp>
        <p:nvSpPr>
          <p:cNvPr id="85" name="Rectangle 84"/>
          <p:cNvSpPr/>
          <p:nvPr/>
        </p:nvSpPr>
        <p:spPr>
          <a:xfrm>
            <a:off x="8322868" y="2798064"/>
            <a:ext cx="3320186" cy="10972"/>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322868" y="2889504"/>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例</a:t>
            </a:r>
          </a:p>
        </p:txBody>
      </p:sp>
      <p:sp>
        <p:nvSpPr>
          <p:cNvPr id="87" name="TextBox 86"/>
          <p:cNvSpPr txBox="1"/>
          <p:nvPr/>
        </p:nvSpPr>
        <p:spPr>
          <a:xfrm>
            <a:off x="8322868" y="3072384"/>
            <a:ext cx="3320186" cy="365760"/>
          </a:xfrm>
          <a:prstGeom prst="rect">
            <a:avLst/>
          </a:prstGeom>
          <a:noFill/>
        </p:spPr>
        <p:txBody>
          <a:bodyPr wrap="square" anchor="t" lIns="36000" rIns="36000" tIns="18000" bIns="18000">
            <a:spAutoFit/>
          </a:bodyPr>
          <a:lstStyle/>
          <a:p>
            <a:pPr algn="l"/>
            <a:r>
              <a:rPr sz="1100" b="1" i="0">
                <a:solidFill>
                  <a:srgbClr val="D8E2EE"/>
                </a:solidFill>
                <a:latin typeface="Noto Sans JP"/>
              </a:rPr>
              <a:t>Barricade／Thermo-Gel／AquaGel-K</a:t>
            </a:r>
          </a:p>
        </p:txBody>
      </p:sp>
      <p:sp>
        <p:nvSpPr>
          <p:cNvPr id="88" name="TextBox 87"/>
          <p:cNvSpPr txBox="1"/>
          <p:nvPr/>
        </p:nvSpPr>
        <p:spPr>
          <a:xfrm>
            <a:off x="8322868" y="3493008"/>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主成分</a:t>
            </a:r>
          </a:p>
        </p:txBody>
      </p:sp>
      <p:sp>
        <p:nvSpPr>
          <p:cNvPr id="89" name="TextBox 88"/>
          <p:cNvSpPr txBox="1"/>
          <p:nvPr/>
        </p:nvSpPr>
        <p:spPr>
          <a:xfrm>
            <a:off x="8322868" y="3675888"/>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高吸水性ポリマー（環境配慮型）</a:t>
            </a:r>
          </a:p>
        </p:txBody>
      </p:sp>
      <p:sp>
        <p:nvSpPr>
          <p:cNvPr id="90" name="TextBox 89"/>
          <p:cNvSpPr txBox="1"/>
          <p:nvPr/>
        </p:nvSpPr>
        <p:spPr>
          <a:xfrm>
            <a:off x="8322868" y="4096512"/>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効果・保持</a:t>
            </a:r>
          </a:p>
        </p:txBody>
      </p:sp>
      <p:sp>
        <p:nvSpPr>
          <p:cNvPr id="91" name="TextBox 90"/>
          <p:cNvSpPr txBox="1"/>
          <p:nvPr/>
        </p:nvSpPr>
        <p:spPr>
          <a:xfrm>
            <a:off x="8322868" y="4279391"/>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水分保持 30〜60分・建物保護に有効</a:t>
            </a:r>
          </a:p>
        </p:txBody>
      </p:sp>
      <p:sp>
        <p:nvSpPr>
          <p:cNvPr id="92" name="TextBox 91"/>
          <p:cNvSpPr txBox="1"/>
          <p:nvPr/>
        </p:nvSpPr>
        <p:spPr>
          <a:xfrm>
            <a:off x="8322868" y="4700016"/>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課題</a:t>
            </a:r>
          </a:p>
        </p:txBody>
      </p:sp>
      <p:sp>
        <p:nvSpPr>
          <p:cNvPr id="93" name="TextBox 92"/>
          <p:cNvSpPr txBox="1"/>
          <p:nvPr/>
        </p:nvSpPr>
        <p:spPr>
          <a:xfrm>
            <a:off x="8322868" y="4882896"/>
            <a:ext cx="3320186" cy="859536"/>
          </a:xfrm>
          <a:prstGeom prst="rect">
            <a:avLst/>
          </a:prstGeom>
          <a:noFill/>
        </p:spPr>
        <p:txBody>
          <a:bodyPr wrap="square" anchor="t" lIns="36000" rIns="36000" tIns="18000" bIns="18000">
            <a:spAutoFit/>
          </a:bodyPr>
          <a:lstStyle/>
          <a:p>
            <a:pPr algn="l"/>
            <a:r>
              <a:rPr sz="1100" b="1" i="0">
                <a:solidFill>
                  <a:srgbClr val="FFFFFF"/>
                </a:solidFill>
                <a:latin typeface="Noto Sans JP"/>
              </a:rPr>
              <a:t>高温・強風で乾燥すると効果を完全に喪失</a:t>
            </a:r>
          </a:p>
        </p:txBody>
      </p:sp>
      <p:sp>
        <p:nvSpPr>
          <p:cNvPr id="94" name="Rounded Rectangle 93"/>
          <p:cNvSpPr/>
          <p:nvPr/>
        </p:nvSpPr>
        <p:spPr>
          <a:xfrm>
            <a:off x="365760" y="6053328"/>
            <a:ext cx="11460175" cy="4572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65760" y="6053328"/>
            <a:ext cx="54864" cy="4572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8640" y="6053328"/>
            <a:ext cx="365760" cy="4572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97" name="TextBox 96"/>
          <p:cNvSpPr txBox="1"/>
          <p:nvPr/>
        </p:nvSpPr>
        <p:spPr>
          <a:xfrm>
            <a:off x="960120" y="6053328"/>
            <a:ext cx="10774375" cy="45720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先行研究：PNP ゲル基盤の確立（Yu et al., PNAS 2016）</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41</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同じ HEC+MC/CSP プラットフォームは、リン酸アンモニウム剤（Phos-Chek LC95A）の 「キャリア」として 2016 年に確立済み — 本研究はこの基盤の上に立つ</a:t>
            </a:r>
          </a:p>
        </p:txBody>
      </p:sp>
      <p:sp>
        <p:nvSpPr>
          <p:cNvPr id="14" name="Rounded Rectangle 13"/>
          <p:cNvSpPr/>
          <p:nvPr/>
        </p:nvSpPr>
        <p:spPr>
          <a:xfrm>
            <a:off x="365760" y="1572768"/>
            <a:ext cx="5592927"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572768"/>
            <a:ext cx="5592927"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 y="1737360"/>
            <a:ext cx="5154015"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Yu et al., PNAS 2016 で確立済み</a:t>
            </a:r>
          </a:p>
        </p:txBody>
      </p:sp>
      <p:sp>
        <p:nvSpPr>
          <p:cNvPr id="17" name="TextBox 16"/>
          <p:cNvSpPr txBox="1"/>
          <p:nvPr/>
        </p:nvSpPr>
        <p:spPr>
          <a:xfrm>
            <a:off x="585216" y="2029968"/>
            <a:ext cx="5154015"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PNP ゲル（HEC+MC + CSP）の基盤特性</a:t>
            </a:r>
          </a:p>
        </p:txBody>
      </p:sp>
      <p:sp>
        <p:nvSpPr>
          <p:cNvPr id="18" name="Rounded Rectangle 17"/>
          <p:cNvSpPr/>
          <p:nvPr/>
        </p:nvSpPr>
        <p:spPr>
          <a:xfrm>
            <a:off x="585216" y="2578608"/>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2578608"/>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PP 相互作用</a:t>
            </a:r>
          </a:p>
        </p:txBody>
      </p:sp>
      <p:sp>
        <p:nvSpPr>
          <p:cNvPr id="20" name="TextBox 19"/>
          <p:cNvSpPr txBox="1"/>
          <p:nvPr/>
        </p:nvSpPr>
        <p:spPr>
          <a:xfrm>
            <a:off x="2084832" y="2532888"/>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セルロース鎖が CSP 表面に選択吸着（非共有・多価）</a:t>
            </a:r>
          </a:p>
        </p:txBody>
      </p:sp>
      <p:sp>
        <p:nvSpPr>
          <p:cNvPr id="21" name="Rounded Rectangle 20"/>
          <p:cNvSpPr/>
          <p:nvPr/>
        </p:nvSpPr>
        <p:spPr>
          <a:xfrm>
            <a:off x="585216" y="3090672"/>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090672"/>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剪断希薄化</a:t>
            </a:r>
          </a:p>
        </p:txBody>
      </p:sp>
      <p:sp>
        <p:nvSpPr>
          <p:cNvPr id="23" name="TextBox 22"/>
          <p:cNvSpPr txBox="1"/>
          <p:nvPr/>
        </p:nvSpPr>
        <p:spPr>
          <a:xfrm>
            <a:off x="2084832" y="3044952"/>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n &lt; 1 の Power-law 挙動（噴霧・パイプ送液に適合）</a:t>
            </a:r>
          </a:p>
        </p:txBody>
      </p:sp>
      <p:sp>
        <p:nvSpPr>
          <p:cNvPr id="24" name="Rounded Rectangle 23"/>
          <p:cNvSpPr/>
          <p:nvPr/>
        </p:nvSpPr>
        <p:spPr>
          <a:xfrm>
            <a:off x="585216" y="3602736"/>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3602736"/>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自己修復性</a:t>
            </a:r>
          </a:p>
        </p:txBody>
      </p:sp>
      <p:sp>
        <p:nvSpPr>
          <p:cNvPr id="26" name="TextBox 25"/>
          <p:cNvSpPr txBox="1"/>
          <p:nvPr/>
        </p:nvSpPr>
        <p:spPr>
          <a:xfrm>
            <a:off x="2084832" y="3557016"/>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応力解放で即座にゲル構造を回復</a:t>
            </a:r>
          </a:p>
        </p:txBody>
      </p:sp>
      <p:sp>
        <p:nvSpPr>
          <p:cNvPr id="27" name="Rounded Rectangle 26"/>
          <p:cNvSpPr/>
          <p:nvPr/>
        </p:nvSpPr>
        <p:spPr>
          <a:xfrm>
            <a:off x="585216" y="4114800"/>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 y="4114800"/>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スケーラビリティ</a:t>
            </a:r>
          </a:p>
        </p:txBody>
      </p:sp>
      <p:sp>
        <p:nvSpPr>
          <p:cNvPr id="29" name="TextBox 28"/>
          <p:cNvSpPr txBox="1"/>
          <p:nvPr/>
        </p:nvSpPr>
        <p:spPr>
          <a:xfrm>
            <a:off x="2084832" y="4069080"/>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0.5 mL → 15 L まで線形にスケール</a:t>
            </a:r>
          </a:p>
        </p:txBody>
      </p:sp>
      <p:sp>
        <p:nvSpPr>
          <p:cNvPr id="30" name="Rounded Rectangle 29"/>
          <p:cNvSpPr/>
          <p:nvPr/>
        </p:nvSpPr>
        <p:spPr>
          <a:xfrm>
            <a:off x="585216" y="4626864"/>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 y="4626864"/>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APP キャリア用途</a:t>
            </a:r>
          </a:p>
        </p:txBody>
      </p:sp>
      <p:sp>
        <p:nvSpPr>
          <p:cNvPr id="32" name="TextBox 31"/>
          <p:cNvSpPr txBox="1"/>
          <p:nvPr/>
        </p:nvSpPr>
        <p:spPr>
          <a:xfrm>
            <a:off x="2084832" y="4581144"/>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Phos-Chek LC95A を担持し、付着・耐降雨性を向上</a:t>
            </a:r>
          </a:p>
        </p:txBody>
      </p:sp>
      <p:sp>
        <p:nvSpPr>
          <p:cNvPr id="33" name="Rounded Rectangle 32"/>
          <p:cNvSpPr/>
          <p:nvPr/>
        </p:nvSpPr>
        <p:spPr>
          <a:xfrm>
            <a:off x="6233007" y="1572768"/>
            <a:ext cx="5592927" cy="38404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3007" y="1572768"/>
            <a:ext cx="5592927"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52463" y="1737360"/>
            <a:ext cx="5154015"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本研究で新たに獲得した機能</a:t>
            </a:r>
          </a:p>
        </p:txBody>
      </p:sp>
      <p:sp>
        <p:nvSpPr>
          <p:cNvPr id="36" name="TextBox 35"/>
          <p:cNvSpPr txBox="1"/>
          <p:nvPr/>
        </p:nvSpPr>
        <p:spPr>
          <a:xfrm>
            <a:off x="6452463" y="2029968"/>
            <a:ext cx="5154015" cy="365760"/>
          </a:xfrm>
          <a:prstGeom prst="rect">
            <a:avLst/>
          </a:prstGeom>
          <a:noFill/>
        </p:spPr>
        <p:txBody>
          <a:bodyPr wrap="square" anchor="t" lIns="36000" rIns="36000" tIns="18000" bIns="18000">
            <a:spAutoFit/>
          </a:bodyPr>
          <a:lstStyle/>
          <a:p>
            <a:pPr algn="l"/>
            <a:r>
              <a:rPr sz="1500" b="1" i="0">
                <a:solidFill>
                  <a:srgbClr val="FFFFFF"/>
                </a:solidFill>
                <a:latin typeface="Noto Sans JP"/>
              </a:rPr>
              <a:t>ゲル自体が「断熱層」へと変態する</a:t>
            </a:r>
          </a:p>
        </p:txBody>
      </p:sp>
      <p:sp>
        <p:nvSpPr>
          <p:cNvPr id="37" name="Rounded Rectangle 36"/>
          <p:cNvSpPr/>
          <p:nvPr/>
        </p:nvSpPr>
        <p:spPr>
          <a:xfrm>
            <a:off x="6452463" y="2578608"/>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52463" y="2578608"/>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自立型保護</a:t>
            </a:r>
          </a:p>
        </p:txBody>
      </p:sp>
      <p:sp>
        <p:nvSpPr>
          <p:cNvPr id="39" name="TextBox 38"/>
          <p:cNvSpPr txBox="1"/>
          <p:nvPr/>
        </p:nvSpPr>
        <p:spPr>
          <a:xfrm>
            <a:off x="7952079" y="2532888"/>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APP に依存せず、ゲル単独で延焼を抑制</a:t>
            </a:r>
          </a:p>
        </p:txBody>
      </p:sp>
      <p:sp>
        <p:nvSpPr>
          <p:cNvPr id="40" name="Rounded Rectangle 39"/>
          <p:cNvSpPr/>
          <p:nvPr/>
        </p:nvSpPr>
        <p:spPr>
          <a:xfrm>
            <a:off x="6452463" y="3090672"/>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52463" y="3090672"/>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熱活性化</a:t>
            </a:r>
          </a:p>
        </p:txBody>
      </p:sp>
      <p:sp>
        <p:nvSpPr>
          <p:cNvPr id="42" name="TextBox 41"/>
          <p:cNvSpPr txBox="1"/>
          <p:nvPr/>
        </p:nvSpPr>
        <p:spPr>
          <a:xfrm>
            <a:off x="7952079" y="3044952"/>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炎接触で水分蒸発 → CSP 焼結 → 多孔質シリカ</a:t>
            </a:r>
          </a:p>
        </p:txBody>
      </p:sp>
      <p:sp>
        <p:nvSpPr>
          <p:cNvPr id="43" name="Rounded Rectangle 42"/>
          <p:cNvSpPr/>
          <p:nvPr/>
        </p:nvSpPr>
        <p:spPr>
          <a:xfrm>
            <a:off x="6452463" y="3602736"/>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52463" y="3602736"/>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エアロゲル化</a:t>
            </a:r>
          </a:p>
        </p:txBody>
      </p:sp>
      <p:sp>
        <p:nvSpPr>
          <p:cNvPr id="45" name="TextBox 44"/>
          <p:cNvSpPr txBox="1"/>
          <p:nvPr/>
        </p:nvSpPr>
        <p:spPr>
          <a:xfrm>
            <a:off x="7952079" y="3557016"/>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断熱性の高い多孔質シリカ層を in situ で形成</a:t>
            </a:r>
          </a:p>
        </p:txBody>
      </p:sp>
      <p:sp>
        <p:nvSpPr>
          <p:cNvPr id="46" name="Rounded Rectangle 45"/>
          <p:cNvSpPr/>
          <p:nvPr/>
        </p:nvSpPr>
        <p:spPr>
          <a:xfrm>
            <a:off x="6452463" y="4114800"/>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52463" y="4114800"/>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乾燥耐性</a:t>
            </a:r>
          </a:p>
        </p:txBody>
      </p:sp>
      <p:sp>
        <p:nvSpPr>
          <p:cNvPr id="48" name="TextBox 47"/>
          <p:cNvSpPr txBox="1"/>
          <p:nvPr/>
        </p:nvSpPr>
        <p:spPr>
          <a:xfrm>
            <a:off x="7952079" y="4069080"/>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従来 WEG の致命的弱点「乾けば無効」を克服</a:t>
            </a:r>
          </a:p>
        </p:txBody>
      </p:sp>
      <p:sp>
        <p:nvSpPr>
          <p:cNvPr id="49" name="Rounded Rectangle 48"/>
          <p:cNvSpPr/>
          <p:nvPr/>
        </p:nvSpPr>
        <p:spPr>
          <a:xfrm>
            <a:off x="6452463" y="4626864"/>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52463" y="4626864"/>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長期安定性</a:t>
            </a:r>
          </a:p>
        </p:txBody>
      </p:sp>
      <p:sp>
        <p:nvSpPr>
          <p:cNvPr id="51" name="TextBox 50"/>
          <p:cNvSpPr txBox="1"/>
          <p:nvPr/>
        </p:nvSpPr>
        <p:spPr>
          <a:xfrm>
            <a:off x="7952079" y="4581144"/>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455 日後も降伏応力を維持（補足 3/3 参照）</a:t>
            </a:r>
          </a:p>
        </p:txBody>
      </p:sp>
      <p:sp>
        <p:nvSpPr>
          <p:cNvPr id="52" name="Rounded Rectangle 51"/>
          <p:cNvSpPr/>
          <p:nvPr/>
        </p:nvSpPr>
        <p:spPr>
          <a:xfrm>
            <a:off x="365760" y="5577840"/>
            <a:ext cx="11460175" cy="1060704"/>
          </a:xfrm>
          <a:prstGeom prst="roundRect">
            <a:avLst>
              <a:gd name="adj" fmla="val 5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65760" y="5577840"/>
            <a:ext cx="73152" cy="106070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5577840"/>
            <a:ext cx="2194560" cy="1060704"/>
          </a:xfrm>
          <a:prstGeom prst="rect">
            <a:avLst/>
          </a:prstGeom>
          <a:noFill/>
        </p:spPr>
        <p:txBody>
          <a:bodyPr wrap="square" anchor="ctr" lIns="36000" rIns="36000" tIns="18000" bIns="18000">
            <a:spAutoFit/>
          </a:bodyPr>
          <a:lstStyle/>
          <a:p>
            <a:pPr algn="l"/>
            <a:r>
              <a:rPr sz="1300" b="1" i="0">
                <a:solidFill>
                  <a:srgbClr val="3B5174"/>
                </a:solidFill>
                <a:latin typeface="Noto Sans JP"/>
              </a:rPr>
              <a:t>POINT</a:t>
            </a:r>
          </a:p>
        </p:txBody>
      </p:sp>
      <p:sp>
        <p:nvSpPr>
          <p:cNvPr id="55" name="TextBox 54"/>
          <p:cNvSpPr txBox="1"/>
          <p:nvPr/>
        </p:nvSpPr>
        <p:spPr>
          <a:xfrm>
            <a:off x="2194560" y="5577840"/>
            <a:ext cx="9357055" cy="1060704"/>
          </a:xfrm>
          <a:prstGeom prst="rect">
            <a:avLst/>
          </a:prstGeom>
          <a:noFill/>
        </p:spPr>
        <p:txBody>
          <a:bodyPr wrap="square" anchor="ctr" lIns="36000" rIns="36000" tIns="18000" bIns="18000">
            <a:spAutoFit/>
          </a:bodyPr>
          <a:lstStyle/>
          <a:p>
            <a:pPr algn="l"/>
            <a:r>
              <a:rPr sz="1300" b="0" i="0">
                <a:solidFill>
                  <a:srgbClr val="334155"/>
                </a:solidFill>
                <a:latin typeface="Noto Sans JP"/>
              </a:rPr>
              <a:t>本研究の革新点：「化学物質を運ぶ容器」から「自ら断熱層になる材料」へ — PP ゲルの再定義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5/5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8 / 41</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9 / 41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41</a:t>
            </a:r>
          </a:p>
        </p:txBody>
      </p:sp>
      <p:sp>
        <p:nvSpPr>
          <p:cNvPr id="10" name="TextBox 9"/>
          <p:cNvSpPr txBox="1"/>
          <p:nvPr/>
        </p:nvSpPr>
        <p:spPr>
          <a:xfrm>
            <a:off x="365760" y="859536"/>
            <a:ext cx="11460175" cy="457200"/>
          </a:xfrm>
          <a:prstGeom prst="rect">
            <a:avLst/>
          </a:prstGeom>
          <a:noFill/>
        </p:spPr>
        <p:txBody>
          <a:bodyPr wrap="square" anchor="ctr" lIns="36000" rIns="36000" tIns="18000" bIns="18000">
            <a:spAutoFit/>
          </a:bodyPr>
          <a:lstStyle/>
          <a:p>
            <a:pPr algn="l"/>
            <a:r>
              <a:rPr sz="1400" b="0" i="0">
                <a:solidFill>
                  <a:srgbClr val="334155"/>
                </a:solidFill>
                <a:latin typeface="Noto Sans JP"/>
              </a:rPr>
              <a:t>本ゲルは「骨格・機能・結合」を担う3要素で構成され、生分解性と高性能を両立します。</a:t>
            </a:r>
          </a:p>
        </p:txBody>
      </p:sp>
      <p:sp>
        <p:nvSpPr>
          <p:cNvPr id="11" name="Rounded Rectangle 10"/>
          <p:cNvSpPr/>
          <p:nvPr/>
        </p:nvSpPr>
        <p:spPr>
          <a:xfrm>
            <a:off x="365760"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44752"/>
            <a:ext cx="3637178"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19072"/>
            <a:ext cx="3637178" cy="512064"/>
          </a:xfrm>
          <a:prstGeom prst="rect">
            <a:avLst/>
          </a:prstGeom>
          <a:noFill/>
        </p:spPr>
        <p:txBody>
          <a:bodyPr wrap="square" anchor="ctr" lIns="36000" rIns="36000" tIns="18000" bIns="18000">
            <a:spAutoFit/>
          </a:bodyPr>
          <a:lstStyle/>
          <a:p>
            <a:pPr algn="ctr"/>
            <a:r>
              <a:rPr sz="3000" b="0" i="0">
                <a:solidFill>
                  <a:srgbClr val="3B5174"/>
                </a:solidFill>
                <a:latin typeface="Noto Sans JP"/>
              </a:rPr>
              <a:t>🌿</a:t>
            </a:r>
          </a:p>
        </p:txBody>
      </p:sp>
      <p:sp>
        <p:nvSpPr>
          <p:cNvPr id="14" name="TextBox 13"/>
          <p:cNvSpPr txBox="1"/>
          <p:nvPr/>
        </p:nvSpPr>
        <p:spPr>
          <a:xfrm>
            <a:off x="585216"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5" name="TextBox 14"/>
          <p:cNvSpPr txBox="1"/>
          <p:nvPr/>
        </p:nvSpPr>
        <p:spPr>
          <a:xfrm>
            <a:off x="585216"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Cellulose derivatives</a:t>
            </a:r>
          </a:p>
        </p:txBody>
      </p:sp>
      <p:sp>
        <p:nvSpPr>
          <p:cNvPr id="16" name="Rectangle 15"/>
          <p:cNvSpPr/>
          <p:nvPr/>
        </p:nvSpPr>
        <p:spPr>
          <a:xfrm>
            <a:off x="658368"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植物由来のバイオポリマー。ゲルネットワークの骨格を形成します。</a:t>
            </a:r>
          </a:p>
        </p:txBody>
      </p:sp>
      <p:sp>
        <p:nvSpPr>
          <p:cNvPr id="18" name="Rounded Rectangle 17"/>
          <p:cNvSpPr/>
          <p:nvPr/>
        </p:nvSpPr>
        <p:spPr>
          <a:xfrm>
            <a:off x="585216" y="4279392"/>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4279392"/>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3種</a:t>
            </a:r>
          </a:p>
        </p:txBody>
      </p:sp>
      <p:sp>
        <p:nvSpPr>
          <p:cNvPr id="20" name="TextBox 19"/>
          <p:cNvSpPr txBox="1"/>
          <p:nvPr/>
        </p:nvSpPr>
        <p:spPr>
          <a:xfrm>
            <a:off x="1517904"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HEC・MC・MHEC を使用</a:t>
            </a:r>
          </a:p>
        </p:txBody>
      </p:sp>
      <p:sp>
        <p:nvSpPr>
          <p:cNvPr id="21" name="Rounded Rectangle 20"/>
          <p:cNvSpPr/>
          <p:nvPr/>
        </p:nvSpPr>
        <p:spPr>
          <a:xfrm>
            <a:off x="585216" y="4956048"/>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956048"/>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生分解性</a:t>
            </a:r>
          </a:p>
        </p:txBody>
      </p:sp>
      <p:sp>
        <p:nvSpPr>
          <p:cNvPr id="23" name="TextBox 22"/>
          <p:cNvSpPr txBox="1"/>
          <p:nvPr/>
        </p:nvSpPr>
        <p:spPr>
          <a:xfrm>
            <a:off x="1517904"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環境負荷が低い</a:t>
            </a:r>
          </a:p>
        </p:txBody>
      </p:sp>
      <p:sp>
        <p:nvSpPr>
          <p:cNvPr id="24" name="Rounded Rectangle 23"/>
          <p:cNvSpPr/>
          <p:nvPr/>
        </p:nvSpPr>
        <p:spPr>
          <a:xfrm>
            <a:off x="585216" y="5632704"/>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32704"/>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役割</a:t>
            </a:r>
          </a:p>
        </p:txBody>
      </p:sp>
      <p:sp>
        <p:nvSpPr>
          <p:cNvPr id="26" name="TextBox 25"/>
          <p:cNvSpPr txBox="1"/>
          <p:nvPr/>
        </p:nvSpPr>
        <p:spPr>
          <a:xfrm>
            <a:off x="1517904"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粘性・構造の土台</a:t>
            </a:r>
          </a:p>
        </p:txBody>
      </p:sp>
      <p:sp>
        <p:nvSpPr>
          <p:cNvPr id="27" name="Rounded Rectangle 26"/>
          <p:cNvSpPr/>
          <p:nvPr/>
        </p:nvSpPr>
        <p:spPr>
          <a:xfrm>
            <a:off x="4277258"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7258" y="1444752"/>
            <a:ext cx="3637178"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7258" y="1719072"/>
            <a:ext cx="3637178" cy="512064"/>
          </a:xfrm>
          <a:prstGeom prst="rect">
            <a:avLst/>
          </a:prstGeom>
          <a:noFill/>
        </p:spPr>
        <p:txBody>
          <a:bodyPr wrap="square" anchor="ctr" lIns="36000" rIns="36000" tIns="18000" bIns="18000">
            <a:spAutoFit/>
          </a:bodyPr>
          <a:lstStyle/>
          <a:p>
            <a:pPr algn="ctr"/>
            <a:r>
              <a:rPr sz="3000" b="0" i="0">
                <a:solidFill>
                  <a:srgbClr val="4A7C8C"/>
                </a:solidFill>
                <a:latin typeface="Noto Sans JP"/>
              </a:rPr>
              <a:t>◎</a:t>
            </a:r>
          </a:p>
        </p:txBody>
      </p:sp>
      <p:sp>
        <p:nvSpPr>
          <p:cNvPr id="30" name="TextBox 29"/>
          <p:cNvSpPr txBox="1"/>
          <p:nvPr/>
        </p:nvSpPr>
        <p:spPr>
          <a:xfrm>
            <a:off x="4496714"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31" name="TextBox 30"/>
          <p:cNvSpPr txBox="1"/>
          <p:nvPr/>
        </p:nvSpPr>
        <p:spPr>
          <a:xfrm>
            <a:off x="4496714"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Colloidal Silica Particles</a:t>
            </a:r>
          </a:p>
        </p:txBody>
      </p:sp>
      <p:sp>
        <p:nvSpPr>
          <p:cNvPr id="32" name="Rectangle 31"/>
          <p:cNvSpPr/>
          <p:nvPr/>
        </p:nvSpPr>
        <p:spPr>
          <a:xfrm>
            <a:off x="4569866"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6714"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ポリマーと動的に相互作用し、熱でエアロゲルを形成する主役成分です。</a:t>
            </a:r>
          </a:p>
        </p:txBody>
      </p:sp>
      <p:sp>
        <p:nvSpPr>
          <p:cNvPr id="34" name="Rounded Rectangle 33"/>
          <p:cNvSpPr/>
          <p:nvPr/>
        </p:nvSpPr>
        <p:spPr>
          <a:xfrm>
            <a:off x="4496714" y="4279392"/>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6714" y="4279392"/>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直径</a:t>
            </a:r>
          </a:p>
        </p:txBody>
      </p:sp>
      <p:sp>
        <p:nvSpPr>
          <p:cNvPr id="36" name="TextBox 35"/>
          <p:cNvSpPr txBox="1"/>
          <p:nvPr/>
        </p:nvSpPr>
        <p:spPr>
          <a:xfrm>
            <a:off x="5429402"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約 22 nm の単分散粒子</a:t>
            </a:r>
          </a:p>
        </p:txBody>
      </p:sp>
      <p:sp>
        <p:nvSpPr>
          <p:cNvPr id="37" name="Rounded Rectangle 36"/>
          <p:cNvSpPr/>
          <p:nvPr/>
        </p:nvSpPr>
        <p:spPr>
          <a:xfrm>
            <a:off x="4496714" y="4956048"/>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6714" y="4956048"/>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焼結</a:t>
            </a:r>
          </a:p>
        </p:txBody>
      </p:sp>
      <p:sp>
        <p:nvSpPr>
          <p:cNvPr id="39" name="TextBox 38"/>
          <p:cNvSpPr txBox="1"/>
          <p:nvPr/>
        </p:nvSpPr>
        <p:spPr>
          <a:xfrm>
            <a:off x="5429402"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加熱でシリカ骨格を形成</a:t>
            </a:r>
          </a:p>
        </p:txBody>
      </p:sp>
      <p:sp>
        <p:nvSpPr>
          <p:cNvPr id="40" name="Rounded Rectangle 39"/>
          <p:cNvSpPr/>
          <p:nvPr/>
        </p:nvSpPr>
        <p:spPr>
          <a:xfrm>
            <a:off x="4496714" y="5632704"/>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6714" y="5632704"/>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役割</a:t>
            </a:r>
          </a:p>
        </p:txBody>
      </p:sp>
      <p:sp>
        <p:nvSpPr>
          <p:cNvPr id="42" name="TextBox 41"/>
          <p:cNvSpPr txBox="1"/>
          <p:nvPr/>
        </p:nvSpPr>
        <p:spPr>
          <a:xfrm>
            <a:off x="5429402"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断熱エアロゲルの源</a:t>
            </a:r>
          </a:p>
        </p:txBody>
      </p:sp>
      <p:sp>
        <p:nvSpPr>
          <p:cNvPr id="43" name="Rounded Rectangle 42"/>
          <p:cNvSpPr/>
          <p:nvPr/>
        </p:nvSpPr>
        <p:spPr>
          <a:xfrm>
            <a:off x="8188756"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88756" y="1444752"/>
            <a:ext cx="3637178"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8756" y="1719072"/>
            <a:ext cx="3637178" cy="512064"/>
          </a:xfrm>
          <a:prstGeom prst="rect">
            <a:avLst/>
          </a:prstGeom>
          <a:noFill/>
        </p:spPr>
        <p:txBody>
          <a:bodyPr wrap="square" anchor="ctr" lIns="36000" rIns="36000" tIns="18000" bIns="18000">
            <a:spAutoFit/>
          </a:bodyPr>
          <a:lstStyle/>
          <a:p>
            <a:pPr algn="ctr"/>
            <a:r>
              <a:rPr sz="3000" b="0" i="0">
                <a:solidFill>
                  <a:srgbClr val="9F7639"/>
                </a:solidFill>
                <a:latin typeface="Noto Sans JP"/>
              </a:rPr>
              <a:t>⬡</a:t>
            </a:r>
          </a:p>
        </p:txBody>
      </p:sp>
      <p:sp>
        <p:nvSpPr>
          <p:cNvPr id="46" name="TextBox 45"/>
          <p:cNvSpPr txBox="1"/>
          <p:nvPr/>
        </p:nvSpPr>
        <p:spPr>
          <a:xfrm>
            <a:off x="8408212"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PP 相互作用</a:t>
            </a:r>
          </a:p>
        </p:txBody>
      </p:sp>
      <p:sp>
        <p:nvSpPr>
          <p:cNvPr id="47" name="TextBox 46"/>
          <p:cNvSpPr txBox="1"/>
          <p:nvPr/>
        </p:nvSpPr>
        <p:spPr>
          <a:xfrm>
            <a:off x="8408212"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Polymer–Particle Interaction</a:t>
            </a:r>
          </a:p>
        </p:txBody>
      </p:sp>
      <p:sp>
        <p:nvSpPr>
          <p:cNvPr id="48" name="Rectangle 47"/>
          <p:cNvSpPr/>
          <p:nvPr/>
        </p:nvSpPr>
        <p:spPr>
          <a:xfrm>
            <a:off x="8481364"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08212"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動的な多価水素結合でネットワークを構築。共有結合に依存しません。</a:t>
            </a:r>
          </a:p>
        </p:txBody>
      </p:sp>
      <p:sp>
        <p:nvSpPr>
          <p:cNvPr id="50" name="Rounded Rectangle 49"/>
          <p:cNvSpPr/>
          <p:nvPr/>
        </p:nvSpPr>
        <p:spPr>
          <a:xfrm>
            <a:off x="8408212" y="4279392"/>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08212" y="4279392"/>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結合</a:t>
            </a:r>
          </a:p>
        </p:txBody>
      </p:sp>
      <p:sp>
        <p:nvSpPr>
          <p:cNvPr id="52" name="TextBox 51"/>
          <p:cNvSpPr txBox="1"/>
          <p:nvPr/>
        </p:nvSpPr>
        <p:spPr>
          <a:xfrm>
            <a:off x="9340900"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動的・多価の水素結合</a:t>
            </a:r>
          </a:p>
        </p:txBody>
      </p:sp>
      <p:sp>
        <p:nvSpPr>
          <p:cNvPr id="53" name="Rounded Rectangle 52"/>
          <p:cNvSpPr/>
          <p:nvPr/>
        </p:nvSpPr>
        <p:spPr>
          <a:xfrm>
            <a:off x="8408212" y="4956048"/>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8212" y="4956048"/>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自己修復</a:t>
            </a:r>
          </a:p>
        </p:txBody>
      </p:sp>
      <p:sp>
        <p:nvSpPr>
          <p:cNvPr id="55" name="TextBox 54"/>
          <p:cNvSpPr txBox="1"/>
          <p:nvPr/>
        </p:nvSpPr>
        <p:spPr>
          <a:xfrm>
            <a:off x="9340900"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ひずみ後にゲルが回復</a:t>
            </a:r>
          </a:p>
        </p:txBody>
      </p:sp>
      <p:sp>
        <p:nvSpPr>
          <p:cNvPr id="56" name="Rounded Rectangle 55"/>
          <p:cNvSpPr/>
          <p:nvPr/>
        </p:nvSpPr>
        <p:spPr>
          <a:xfrm>
            <a:off x="8408212" y="5632704"/>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08212" y="5632704"/>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噴霧適性</a:t>
            </a:r>
          </a:p>
        </p:txBody>
      </p:sp>
      <p:sp>
        <p:nvSpPr>
          <p:cNvPr id="58" name="TextBox 57"/>
          <p:cNvSpPr txBox="1"/>
          <p:nvPr/>
        </p:nvSpPr>
        <p:spPr>
          <a:xfrm>
            <a:off x="9340900"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スプレー塗布が容易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41</a:t>
            </a:r>
          </a:p>
        </p:txBody>
      </p:sp>
      <p:sp>
        <p:nvSpPr>
          <p:cNvPr id="10" name="TextBox 9"/>
          <p:cNvSpPr txBox="1"/>
          <p:nvPr/>
        </p:nvSpPr>
        <p:spPr>
          <a:xfrm>
            <a:off x="365760" y="859536"/>
            <a:ext cx="11460175" cy="475488"/>
          </a:xfrm>
          <a:prstGeom prst="rect">
            <a:avLst/>
          </a:prstGeom>
          <a:noFill/>
        </p:spPr>
        <p:txBody>
          <a:bodyPr wrap="square" anchor="ctr" lIns="36000" rIns="36000" tIns="18000" bIns="18000">
            <a:spAutoFit/>
          </a:bodyPr>
          <a:lstStyle/>
          <a:p>
            <a:pPr algn="l"/>
            <a:r>
              <a:rPr sz="1500" b="1" i="0">
                <a:solidFill>
                  <a:srgbClr val="1E293B"/>
                </a:solidFill>
                <a:latin typeface="Noto Sans JP"/>
              </a:rPr>
              <a:t>温度ではなく「せん断力」と「自己修復性」が、噴霧から付着までを支配します。</a:t>
            </a:r>
          </a:p>
        </p:txBody>
      </p:sp>
      <p:sp>
        <p:nvSpPr>
          <p:cNvPr id="11" name="Rounded Rectangle 10"/>
          <p:cNvSpPr/>
          <p:nvPr/>
        </p:nvSpPr>
        <p:spPr>
          <a:xfrm>
            <a:off x="365760"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9303"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27632"/>
            <a:ext cx="2293543" cy="310896"/>
          </a:xfrm>
          <a:prstGeom prst="rect">
            <a:avLst/>
          </a:prstGeom>
          <a:noFill/>
        </p:spPr>
        <p:txBody>
          <a:bodyPr wrap="square" anchor="t" lIns="36000" rIns="36000" tIns="18000" bIns="18000">
            <a:spAutoFit/>
          </a:bodyPr>
          <a:lstStyle/>
          <a:p>
            <a:pPr algn="l"/>
            <a:r>
              <a:rPr sz="1300" b="1" i="0">
                <a:solidFill>
                  <a:srgbClr val="3B5174"/>
                </a:solidFill>
                <a:latin typeface="Noto Sans JP"/>
              </a:rPr>
              <a:t>01</a:t>
            </a:r>
          </a:p>
        </p:txBody>
      </p:sp>
      <p:sp>
        <p:nvSpPr>
          <p:cNvPr id="14" name="TextBox 13"/>
          <p:cNvSpPr txBox="1"/>
          <p:nvPr/>
        </p:nvSpPr>
        <p:spPr>
          <a:xfrm>
            <a:off x="548640"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静止時</a:t>
            </a:r>
          </a:p>
        </p:txBody>
      </p:sp>
      <p:sp>
        <p:nvSpPr>
          <p:cNvPr id="15" name="TextBox 14"/>
          <p:cNvSpPr txBox="1"/>
          <p:nvPr/>
        </p:nvSpPr>
        <p:spPr>
          <a:xfrm>
            <a:off x="548640"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ゲル</a:t>
            </a:r>
          </a:p>
        </p:txBody>
      </p:sp>
      <p:sp>
        <p:nvSpPr>
          <p:cNvPr id="16" name="Rectangle 15"/>
          <p:cNvSpPr/>
          <p:nvPr/>
        </p:nvSpPr>
        <p:spPr>
          <a:xfrm>
            <a:off x="548640"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高粘度の弾性ゲル。G′ &gt; G″ で構造を保持。</a:t>
            </a:r>
          </a:p>
        </p:txBody>
      </p:sp>
      <p:sp>
        <p:nvSpPr>
          <p:cNvPr id="18" name="Rounded Rectangle 17"/>
          <p:cNvSpPr/>
          <p:nvPr/>
        </p:nvSpPr>
        <p:spPr>
          <a:xfrm>
            <a:off x="548640" y="4078224"/>
            <a:ext cx="2293543" cy="420624"/>
          </a:xfrm>
          <a:prstGeom prst="roundRect">
            <a:avLst>
              <a:gd name="adj" fmla="val 6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78224"/>
            <a:ext cx="2293543" cy="420624"/>
          </a:xfrm>
          <a:prstGeom prst="rect">
            <a:avLst/>
          </a:prstGeom>
          <a:noFill/>
        </p:spPr>
        <p:txBody>
          <a:bodyPr wrap="square" anchor="ctr" lIns="36000" rIns="36000" tIns="18000" bIns="18000">
            <a:spAutoFit/>
          </a:bodyPr>
          <a:lstStyle/>
          <a:p>
            <a:pPr algn="ctr"/>
            <a:r>
              <a:rPr sz="1100" b="1" i="0">
                <a:solidFill>
                  <a:srgbClr val="3B5174"/>
                </a:solidFill>
                <a:latin typeface="Noto Sans JP"/>
              </a:rPr>
              <a:t>降伏応力 ~33 Pa</a:t>
            </a:r>
          </a:p>
        </p:txBody>
      </p:sp>
      <p:sp>
        <p:nvSpPr>
          <p:cNvPr id="20" name="TextBox 19"/>
          <p:cNvSpPr txBox="1"/>
          <p:nvPr/>
        </p:nvSpPr>
        <p:spPr>
          <a:xfrm>
            <a:off x="3025063"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21" name="Rounded Rectangle 20"/>
          <p:cNvSpPr/>
          <p:nvPr/>
        </p:nvSpPr>
        <p:spPr>
          <a:xfrm>
            <a:off x="3299383"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99383" y="1463040"/>
            <a:ext cx="2659303"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2263" y="1627632"/>
            <a:ext cx="2293543" cy="310896"/>
          </a:xfrm>
          <a:prstGeom prst="rect">
            <a:avLst/>
          </a:prstGeom>
          <a:noFill/>
        </p:spPr>
        <p:txBody>
          <a:bodyPr wrap="square" anchor="t" lIns="36000" rIns="36000" tIns="18000" bIns="18000">
            <a:spAutoFit/>
          </a:bodyPr>
          <a:lstStyle/>
          <a:p>
            <a:pPr algn="l"/>
            <a:r>
              <a:rPr sz="1300" b="1" i="0">
                <a:solidFill>
                  <a:srgbClr val="4A7C8C"/>
                </a:solidFill>
                <a:latin typeface="Noto Sans JP"/>
              </a:rPr>
              <a:t>02</a:t>
            </a:r>
          </a:p>
        </p:txBody>
      </p:sp>
      <p:sp>
        <p:nvSpPr>
          <p:cNvPr id="24" name="TextBox 23"/>
          <p:cNvSpPr txBox="1"/>
          <p:nvPr/>
        </p:nvSpPr>
        <p:spPr>
          <a:xfrm>
            <a:off x="3482263"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噴霧時</a:t>
            </a:r>
          </a:p>
        </p:txBody>
      </p:sp>
      <p:sp>
        <p:nvSpPr>
          <p:cNvPr id="25" name="TextBox 24"/>
          <p:cNvSpPr txBox="1"/>
          <p:nvPr/>
        </p:nvSpPr>
        <p:spPr>
          <a:xfrm>
            <a:off x="3482263"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ゾル様</a:t>
            </a:r>
          </a:p>
        </p:txBody>
      </p:sp>
      <p:sp>
        <p:nvSpPr>
          <p:cNvPr id="26" name="Rectangle 25"/>
          <p:cNvSpPr/>
          <p:nvPr/>
        </p:nvSpPr>
        <p:spPr>
          <a:xfrm>
            <a:off x="3482263"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2263"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せん断ひずみで粘度が低下し、流動化。</a:t>
            </a:r>
          </a:p>
        </p:txBody>
      </p:sp>
      <p:sp>
        <p:nvSpPr>
          <p:cNvPr id="28" name="Rounded Rectangle 27"/>
          <p:cNvSpPr/>
          <p:nvPr/>
        </p:nvSpPr>
        <p:spPr>
          <a:xfrm>
            <a:off x="3482263" y="4078224"/>
            <a:ext cx="2293543" cy="420624"/>
          </a:xfrm>
          <a:prstGeom prst="roundRect">
            <a:avLst>
              <a:gd name="adj" fmla="val 6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263" y="4078224"/>
            <a:ext cx="2293543" cy="420624"/>
          </a:xfrm>
          <a:prstGeom prst="rect">
            <a:avLst/>
          </a:prstGeom>
          <a:noFill/>
        </p:spPr>
        <p:txBody>
          <a:bodyPr wrap="square" anchor="ctr" lIns="36000" rIns="36000" tIns="18000" bIns="18000">
            <a:spAutoFit/>
          </a:bodyPr>
          <a:lstStyle/>
          <a:p>
            <a:pPr algn="ctr"/>
            <a:r>
              <a:rPr sz="1100" b="1" i="0">
                <a:solidFill>
                  <a:srgbClr val="4A7C8C"/>
                </a:solidFill>
                <a:latin typeface="Noto Sans JP"/>
              </a:rPr>
              <a:t>せん断希薄化 n &lt; 1</a:t>
            </a:r>
          </a:p>
        </p:txBody>
      </p:sp>
      <p:sp>
        <p:nvSpPr>
          <p:cNvPr id="30" name="TextBox 29"/>
          <p:cNvSpPr txBox="1"/>
          <p:nvPr/>
        </p:nvSpPr>
        <p:spPr>
          <a:xfrm>
            <a:off x="5958687"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31" name="Rounded Rectangle 30"/>
          <p:cNvSpPr/>
          <p:nvPr/>
        </p:nvSpPr>
        <p:spPr>
          <a:xfrm>
            <a:off x="6233007"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1463040"/>
            <a:ext cx="2659303" cy="5486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5887" y="1627632"/>
            <a:ext cx="2293543" cy="310896"/>
          </a:xfrm>
          <a:prstGeom prst="rect">
            <a:avLst/>
          </a:prstGeom>
          <a:noFill/>
        </p:spPr>
        <p:txBody>
          <a:bodyPr wrap="square" anchor="t" lIns="36000" rIns="36000" tIns="18000" bIns="18000">
            <a:spAutoFit/>
          </a:bodyPr>
          <a:lstStyle/>
          <a:p>
            <a:pPr algn="l"/>
            <a:r>
              <a:rPr sz="1300" b="1" i="0">
                <a:solidFill>
                  <a:srgbClr val="5B8C5A"/>
                </a:solidFill>
                <a:latin typeface="Noto Sans JP"/>
              </a:rPr>
              <a:t>03</a:t>
            </a:r>
          </a:p>
        </p:txBody>
      </p:sp>
      <p:sp>
        <p:nvSpPr>
          <p:cNvPr id="34" name="TextBox 33"/>
          <p:cNvSpPr txBox="1"/>
          <p:nvPr/>
        </p:nvSpPr>
        <p:spPr>
          <a:xfrm>
            <a:off x="6415887"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付着後</a:t>
            </a:r>
          </a:p>
        </p:txBody>
      </p:sp>
      <p:sp>
        <p:nvSpPr>
          <p:cNvPr id="35" name="TextBox 34"/>
          <p:cNvSpPr txBox="1"/>
          <p:nvPr/>
        </p:nvSpPr>
        <p:spPr>
          <a:xfrm>
            <a:off x="6415887"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自己修復ゲル</a:t>
            </a:r>
          </a:p>
        </p:txBody>
      </p:sp>
      <p:sp>
        <p:nvSpPr>
          <p:cNvPr id="36" name="Rectangle 35"/>
          <p:cNvSpPr/>
          <p:nvPr/>
        </p:nvSpPr>
        <p:spPr>
          <a:xfrm>
            <a:off x="6415887"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5887"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ひずみ解放で即座にゲル構造を回復。</a:t>
            </a:r>
          </a:p>
        </p:txBody>
      </p:sp>
      <p:sp>
        <p:nvSpPr>
          <p:cNvPr id="38" name="Rounded Rectangle 37"/>
          <p:cNvSpPr/>
          <p:nvPr/>
        </p:nvSpPr>
        <p:spPr>
          <a:xfrm>
            <a:off x="6415887" y="4078224"/>
            <a:ext cx="2293543" cy="420624"/>
          </a:xfrm>
          <a:prstGeom prst="roundRect">
            <a:avLst>
              <a:gd name="adj" fmla="val 6000"/>
            </a:avLst>
          </a:prstGeom>
          <a:solidFill>
            <a:srgbClr val="FFFFFF"/>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5887" y="4078224"/>
            <a:ext cx="2293543" cy="420624"/>
          </a:xfrm>
          <a:prstGeom prst="rect">
            <a:avLst/>
          </a:prstGeom>
          <a:noFill/>
        </p:spPr>
        <p:txBody>
          <a:bodyPr wrap="square" anchor="ctr" lIns="36000" rIns="36000" tIns="18000" bIns="18000">
            <a:spAutoFit/>
          </a:bodyPr>
          <a:lstStyle/>
          <a:p>
            <a:pPr algn="ctr"/>
            <a:r>
              <a:rPr sz="1100" b="1" i="0">
                <a:solidFill>
                  <a:srgbClr val="5B8C5A"/>
                </a:solidFill>
                <a:latin typeface="Noto Sans JP"/>
              </a:rPr>
              <a:t>G′ 回復率 ~90%</a:t>
            </a:r>
          </a:p>
        </p:txBody>
      </p:sp>
      <p:sp>
        <p:nvSpPr>
          <p:cNvPr id="40" name="TextBox 39"/>
          <p:cNvSpPr txBox="1"/>
          <p:nvPr/>
        </p:nvSpPr>
        <p:spPr>
          <a:xfrm>
            <a:off x="8892311"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41" name="Rounded Rectangle 40"/>
          <p:cNvSpPr/>
          <p:nvPr/>
        </p:nvSpPr>
        <p:spPr>
          <a:xfrm>
            <a:off x="9166631"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66631" y="1463040"/>
            <a:ext cx="2659303"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9511" y="1627632"/>
            <a:ext cx="2293543" cy="310896"/>
          </a:xfrm>
          <a:prstGeom prst="rect">
            <a:avLst/>
          </a:prstGeom>
          <a:noFill/>
        </p:spPr>
        <p:txBody>
          <a:bodyPr wrap="square" anchor="t" lIns="36000" rIns="36000" tIns="18000" bIns="18000">
            <a:spAutoFit/>
          </a:bodyPr>
          <a:lstStyle/>
          <a:p>
            <a:pPr algn="l"/>
            <a:r>
              <a:rPr sz="1300" b="1" i="0">
                <a:solidFill>
                  <a:srgbClr val="9F7639"/>
                </a:solidFill>
                <a:latin typeface="Noto Sans JP"/>
              </a:rPr>
              <a:t>04</a:t>
            </a:r>
          </a:p>
        </p:txBody>
      </p:sp>
      <p:sp>
        <p:nvSpPr>
          <p:cNvPr id="44" name="TextBox 43"/>
          <p:cNvSpPr txBox="1"/>
          <p:nvPr/>
        </p:nvSpPr>
        <p:spPr>
          <a:xfrm>
            <a:off x="9349511"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炎接触</a:t>
            </a:r>
          </a:p>
        </p:txBody>
      </p:sp>
      <p:sp>
        <p:nvSpPr>
          <p:cNvPr id="45" name="TextBox 44"/>
          <p:cNvSpPr txBox="1"/>
          <p:nvPr/>
        </p:nvSpPr>
        <p:spPr>
          <a:xfrm>
            <a:off x="9349511"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エアロゲル</a:t>
            </a:r>
          </a:p>
        </p:txBody>
      </p:sp>
      <p:sp>
        <p:nvSpPr>
          <p:cNvPr id="46" name="Rectangle 45"/>
          <p:cNvSpPr/>
          <p:nvPr/>
        </p:nvSpPr>
        <p:spPr>
          <a:xfrm>
            <a:off x="9349511"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49511"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CSP が焼結し多孔質シリカ層を形成。</a:t>
            </a:r>
          </a:p>
        </p:txBody>
      </p:sp>
      <p:sp>
        <p:nvSpPr>
          <p:cNvPr id="48" name="Rounded Rectangle 47"/>
          <p:cNvSpPr/>
          <p:nvPr/>
        </p:nvSpPr>
        <p:spPr>
          <a:xfrm>
            <a:off x="9349511" y="4078224"/>
            <a:ext cx="2293543" cy="420624"/>
          </a:xfrm>
          <a:prstGeom prst="roundRect">
            <a:avLst>
              <a:gd name="adj" fmla="val 6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49511" y="4078224"/>
            <a:ext cx="2293543" cy="420624"/>
          </a:xfrm>
          <a:prstGeom prst="rect">
            <a:avLst/>
          </a:prstGeom>
          <a:noFill/>
        </p:spPr>
        <p:txBody>
          <a:bodyPr wrap="square" anchor="ctr" lIns="36000" rIns="36000" tIns="18000" bIns="18000">
            <a:spAutoFit/>
          </a:bodyPr>
          <a:lstStyle/>
          <a:p>
            <a:pPr algn="ctr"/>
            <a:r>
              <a:rPr sz="1100" b="1" i="0">
                <a:solidFill>
                  <a:srgbClr val="9F7639"/>
                </a:solidFill>
                <a:latin typeface="Noto Sans JP"/>
              </a:rPr>
              <a:t>断熱バリアとして機能</a:t>
            </a:r>
          </a:p>
        </p:txBody>
      </p:sp>
      <p:sp>
        <p:nvSpPr>
          <p:cNvPr id="50" name="Rounded Rectangle 49"/>
          <p:cNvSpPr/>
          <p:nvPr/>
        </p:nvSpPr>
        <p:spPr>
          <a:xfrm>
            <a:off x="365760" y="4846320"/>
            <a:ext cx="11460175" cy="175564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4846320"/>
            <a:ext cx="73152" cy="175564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846320"/>
            <a:ext cx="2194560" cy="1755648"/>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53" name="TextBox 52"/>
          <p:cNvSpPr txBox="1"/>
          <p:nvPr/>
        </p:nvSpPr>
        <p:spPr>
          <a:xfrm>
            <a:off x="2194560" y="4846320"/>
            <a:ext cx="9357055" cy="1755648"/>
          </a:xfrm>
          <a:prstGeom prst="rect">
            <a:avLst/>
          </a:prstGeom>
          <a:noFill/>
        </p:spPr>
        <p:txBody>
          <a:bodyPr wrap="square" anchor="ctr" lIns="36000" rIns="36000" tIns="18000" bIns="18000">
            <a:spAutoFit/>
          </a:bodyPr>
          <a:lstStyle/>
          <a:p>
            <a:pPr algn="l"/>
            <a:r>
              <a:rPr sz="1300" b="0" i="0">
                <a:solidFill>
                  <a:srgbClr val="FFFFFF"/>
                </a:solidFill>
                <a:latin typeface="Noto Sans JP"/>
              </a:rPr>
              <a:t>MC の温度応答性（LCST）に頼らず、レオロジー特性だけで「飛ばす→留める→固める」を実現する点が本材料の核心です。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41</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41</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流動指数 n &lt; 1（噴霧時に低粘度化）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&lt; 1</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強いせん断希薄化</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静的降伏応力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41</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41</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41</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41</a:t>
            </a:r>
          </a:p>
        </p:txBody>
      </p:sp>
      <p:sp>
        <p:nvSpPr>
          <p:cNvPr id="10" name="Rounded Rectangle 9"/>
          <p:cNvSpPr/>
          <p:nvPr/>
        </p:nvSpPr>
        <p:spPr>
          <a:xfrm>
            <a:off x="36576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木材上での接触角</a:t>
            </a:r>
          </a:p>
        </p:txBody>
      </p:sp>
      <p:sp>
        <p:nvSpPr>
          <p:cNvPr id="15" name="TextBox 14"/>
          <p:cNvSpPr txBox="1"/>
          <p:nvPr/>
        </p:nvSpPr>
        <p:spPr>
          <a:xfrm>
            <a:off x="36576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6" name="TextBox 15"/>
          <p:cNvSpPr txBox="1"/>
          <p:nvPr/>
        </p:nvSpPr>
        <p:spPr>
          <a:xfrm>
            <a:off x="36576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接触角測定</a:t>
            </a:r>
          </a:p>
        </p:txBody>
      </p:sp>
      <p:sp>
        <p:nvSpPr>
          <p:cNvPr id="17" name="TextBox 16"/>
          <p:cNvSpPr txBox="1"/>
          <p:nvPr/>
        </p:nvSpPr>
        <p:spPr>
          <a:xfrm>
            <a:off x="36576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8" name="TextBox 17"/>
          <p:cNvSpPr txBox="1"/>
          <p:nvPr/>
        </p:nvSpPr>
        <p:spPr>
          <a:xfrm>
            <a:off x="56692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木材・コンクリート・金属で評価</a:t>
            </a:r>
          </a:p>
        </p:txBody>
      </p:sp>
      <p:sp>
        <p:nvSpPr>
          <p:cNvPr id="19" name="TextBox 18"/>
          <p:cNvSpPr txBox="1"/>
          <p:nvPr/>
        </p:nvSpPr>
        <p:spPr>
          <a:xfrm>
            <a:off x="36576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0" name="TextBox 19"/>
          <p:cNvSpPr txBox="1"/>
          <p:nvPr/>
        </p:nvSpPr>
        <p:spPr>
          <a:xfrm>
            <a:off x="56692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WEGは低接触角 → 高い濡れ性</a:t>
            </a:r>
          </a:p>
        </p:txBody>
      </p:sp>
      <p:sp>
        <p:nvSpPr>
          <p:cNvPr id="21" name="TextBox 20"/>
          <p:cNvSpPr txBox="1"/>
          <p:nvPr/>
        </p:nvSpPr>
        <p:spPr>
          <a:xfrm>
            <a:off x="36576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2" name="TextBox 21"/>
          <p:cNvSpPr txBox="1"/>
          <p:nvPr/>
        </p:nvSpPr>
        <p:spPr>
          <a:xfrm>
            <a:off x="56692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HEC+MCは木材との親和性が高い</a:t>
            </a:r>
          </a:p>
        </p:txBody>
      </p:sp>
      <p:sp>
        <p:nvSpPr>
          <p:cNvPr id="23" name="Rounded Rectangle 22"/>
          <p:cNvSpPr/>
          <p:nvPr/>
        </p:nvSpPr>
        <p:spPr>
          <a:xfrm>
            <a:off x="422849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821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821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26" name="TextBox 25"/>
          <p:cNvSpPr txBox="1"/>
          <p:nvPr/>
        </p:nvSpPr>
        <p:spPr>
          <a:xfrm>
            <a:off x="422849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422849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垂直基板でのゲル保持</a:t>
            </a:r>
          </a:p>
        </p:txBody>
      </p:sp>
      <p:sp>
        <p:nvSpPr>
          <p:cNvPr id="28" name="TextBox 27"/>
          <p:cNvSpPr txBox="1"/>
          <p:nvPr/>
        </p:nvSpPr>
        <p:spPr>
          <a:xfrm>
            <a:off x="422849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9" name="TextBox 28"/>
          <p:cNvSpPr txBox="1"/>
          <p:nvPr/>
        </p:nvSpPr>
        <p:spPr>
          <a:xfrm>
            <a:off x="422849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垂直面付着試験</a:t>
            </a:r>
          </a:p>
        </p:txBody>
      </p:sp>
      <p:sp>
        <p:nvSpPr>
          <p:cNvPr id="30" name="TextBox 29"/>
          <p:cNvSpPr txBox="1"/>
          <p:nvPr/>
        </p:nvSpPr>
        <p:spPr>
          <a:xfrm>
            <a:off x="422849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442965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垂直基板に塗布し保持性を評価</a:t>
            </a:r>
          </a:p>
        </p:txBody>
      </p:sp>
      <p:sp>
        <p:nvSpPr>
          <p:cNvPr id="32" name="TextBox 31"/>
          <p:cNvSpPr txBox="1"/>
          <p:nvPr/>
        </p:nvSpPr>
        <p:spPr>
          <a:xfrm>
            <a:off x="422849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442965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G' ≫ G'' → 流れ落ちない</a:t>
            </a:r>
          </a:p>
        </p:txBody>
      </p:sp>
      <p:sp>
        <p:nvSpPr>
          <p:cNvPr id="34" name="TextBox 33"/>
          <p:cNvSpPr txBox="1"/>
          <p:nvPr/>
        </p:nvSpPr>
        <p:spPr>
          <a:xfrm>
            <a:off x="422849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442965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AquaGel-K同等以上の保持性</a:t>
            </a:r>
          </a:p>
        </p:txBody>
      </p:sp>
      <p:sp>
        <p:nvSpPr>
          <p:cNvPr id="36" name="Rounded Rectangle 35"/>
          <p:cNvSpPr/>
          <p:nvPr/>
        </p:nvSpPr>
        <p:spPr>
          <a:xfrm>
            <a:off x="809122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0094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0094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39" name="TextBox 38"/>
          <p:cNvSpPr txBox="1"/>
          <p:nvPr/>
        </p:nvSpPr>
        <p:spPr>
          <a:xfrm>
            <a:off x="809122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0" name="TextBox 39"/>
          <p:cNvSpPr txBox="1"/>
          <p:nvPr/>
        </p:nvSpPr>
        <p:spPr>
          <a:xfrm>
            <a:off x="809122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ノズル噴霧の様子</a:t>
            </a:r>
          </a:p>
        </p:txBody>
      </p:sp>
      <p:sp>
        <p:nvSpPr>
          <p:cNvPr id="41" name="TextBox 40"/>
          <p:cNvSpPr txBox="1"/>
          <p:nvPr/>
        </p:nvSpPr>
        <p:spPr>
          <a:xfrm>
            <a:off x="809122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42" name="TextBox 41"/>
          <p:cNvSpPr txBox="1"/>
          <p:nvPr/>
        </p:nvSpPr>
        <p:spPr>
          <a:xfrm>
            <a:off x="809122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スプレー散布適性</a:t>
            </a:r>
          </a:p>
        </p:txBody>
      </p:sp>
      <p:sp>
        <p:nvSpPr>
          <p:cNvPr id="43" name="TextBox 42"/>
          <p:cNvSpPr txBox="1"/>
          <p:nvPr/>
        </p:nvSpPr>
        <p:spPr>
          <a:xfrm>
            <a:off x="809122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4" name="TextBox 43"/>
          <p:cNvSpPr txBox="1"/>
          <p:nvPr/>
        </p:nvSpPr>
        <p:spPr>
          <a:xfrm>
            <a:off x="829238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高せん断で粘度が急低下</a:t>
            </a:r>
          </a:p>
        </p:txBody>
      </p:sp>
      <p:sp>
        <p:nvSpPr>
          <p:cNvPr id="45" name="TextBox 44"/>
          <p:cNvSpPr txBox="1"/>
          <p:nvPr/>
        </p:nvSpPr>
        <p:spPr>
          <a:xfrm>
            <a:off x="809122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6" name="TextBox 45"/>
          <p:cNvSpPr txBox="1"/>
          <p:nvPr/>
        </p:nvSpPr>
        <p:spPr>
          <a:xfrm>
            <a:off x="829238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到達後すぐ高粘度を回復</a:t>
            </a:r>
          </a:p>
        </p:txBody>
      </p:sp>
      <p:sp>
        <p:nvSpPr>
          <p:cNvPr id="47" name="TextBox 46"/>
          <p:cNvSpPr txBox="1"/>
          <p:nvPr/>
        </p:nvSpPr>
        <p:spPr>
          <a:xfrm>
            <a:off x="809122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8" name="TextBox 47"/>
          <p:cNvSpPr txBox="1"/>
          <p:nvPr/>
        </p:nvSpPr>
        <p:spPr>
          <a:xfrm>
            <a:off x="829238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既存ホース・ノズルと互換</a:t>
            </a:r>
          </a:p>
        </p:txBody>
      </p:sp>
      <p:sp>
        <p:nvSpPr>
          <p:cNvPr id="49" name="Rounded Rectangle 48"/>
          <p:cNvSpPr/>
          <p:nvPr/>
        </p:nvSpPr>
        <p:spPr>
          <a:xfrm>
            <a:off x="365760" y="5980176"/>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65760" y="5980176"/>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5980176"/>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2" name="TextBox 51"/>
          <p:cNvSpPr txBox="1"/>
          <p:nvPr/>
        </p:nvSpPr>
        <p:spPr>
          <a:xfrm>
            <a:off x="960120" y="5980176"/>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18 / 41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41</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41</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41</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41</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41</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添加によるレオロジー調整（Fig. 2e–h）</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41</a:t>
            </a:r>
          </a:p>
        </p:txBody>
      </p:sp>
      <p:sp>
        <p:nvSpPr>
          <p:cNvPr id="10" name="Rounded Rectangle 9"/>
          <p:cNvSpPr/>
          <p:nvPr/>
        </p:nvSpPr>
        <p:spPr>
          <a:xfrm>
            <a:off x="365760" y="859536"/>
            <a:ext cx="11460175" cy="47548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4754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47548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475488"/>
          </a:xfrm>
          <a:prstGeom prst="rect">
            <a:avLst/>
          </a:prstGeom>
          <a:noFill/>
        </p:spPr>
        <p:txBody>
          <a:bodyPr wrap="square" anchor="ctr" lIns="36000" rIns="36000" tIns="18000" bIns="18000">
            <a:spAutoFit/>
          </a:bodyPr>
          <a:lstStyle/>
          <a:p>
            <a:pPr algn="l"/>
            <a:r>
              <a:rPr sz="1300" b="1" i="0">
                <a:solidFill>
                  <a:srgbClr val="1E293B"/>
                </a:solidFill>
                <a:latin typeface="Noto Sans JP"/>
              </a:rPr>
              <a:t>HEC+MC/CSP 系に SDS を添加すると濃度依存的にゲル特性が変化 — 0.1 wt% で剛性最大化（G'=58.2 Pa）、0.5 wt% で軟化（G'=33.8 Pa）</a:t>
            </a:r>
          </a:p>
        </p:txBody>
      </p:sp>
      <p:sp>
        <p:nvSpPr>
          <p:cNvPr id="14" name="Rounded Rectangle 13"/>
          <p:cNvSpPr/>
          <p:nvPr/>
        </p:nvSpPr>
        <p:spPr>
          <a:xfrm>
            <a:off x="365760" y="148132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159105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159105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2e</a:t>
            </a:r>
          </a:p>
        </p:txBody>
      </p:sp>
      <p:sp>
        <p:nvSpPr>
          <p:cNvPr id="17" name="TextBox 16"/>
          <p:cNvSpPr txBox="1"/>
          <p:nvPr/>
        </p:nvSpPr>
        <p:spPr>
          <a:xfrm>
            <a:off x="365760" y="148132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8" name="TextBox 17"/>
          <p:cNvSpPr txBox="1"/>
          <p:nvPr/>
        </p:nvSpPr>
        <p:spPr>
          <a:xfrm>
            <a:off x="365760" y="373075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 G'' vs 角周波数（SDS 3濃度の SAOS）</a:t>
            </a:r>
          </a:p>
        </p:txBody>
      </p:sp>
      <p:sp>
        <p:nvSpPr>
          <p:cNvPr id="19" name="Rounded Rectangle 18"/>
          <p:cNvSpPr/>
          <p:nvPr/>
        </p:nvSpPr>
        <p:spPr>
          <a:xfrm>
            <a:off x="6178143" y="148132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87871" y="159105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7871" y="159105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2f</a:t>
            </a:r>
          </a:p>
        </p:txBody>
      </p:sp>
      <p:sp>
        <p:nvSpPr>
          <p:cNvPr id="22" name="TextBox 21"/>
          <p:cNvSpPr txBox="1"/>
          <p:nvPr/>
        </p:nvSpPr>
        <p:spPr>
          <a:xfrm>
            <a:off x="6178143" y="148132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3" name="TextBox 22"/>
          <p:cNvSpPr txBox="1"/>
          <p:nvPr/>
        </p:nvSpPr>
        <p:spPr>
          <a:xfrm>
            <a:off x="6178143" y="373075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と tan δ（棒グラフ、1 rad/s）</a:t>
            </a:r>
          </a:p>
        </p:txBody>
      </p:sp>
      <p:sp>
        <p:nvSpPr>
          <p:cNvPr id="24" name="Rounded Rectangle 23"/>
          <p:cNvSpPr/>
          <p:nvPr/>
        </p:nvSpPr>
        <p:spPr>
          <a:xfrm>
            <a:off x="365760" y="385876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5488" y="39684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 y="39684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2g</a:t>
            </a:r>
          </a:p>
        </p:txBody>
      </p:sp>
      <p:sp>
        <p:nvSpPr>
          <p:cNvPr id="27" name="TextBox 26"/>
          <p:cNvSpPr txBox="1"/>
          <p:nvPr/>
        </p:nvSpPr>
        <p:spPr>
          <a:xfrm>
            <a:off x="365760" y="385876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365760" y="610819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せん断速度（HB モデル fit）</a:t>
            </a:r>
          </a:p>
        </p:txBody>
      </p:sp>
      <p:sp>
        <p:nvSpPr>
          <p:cNvPr id="29" name="Rounded Rectangle 28"/>
          <p:cNvSpPr/>
          <p:nvPr/>
        </p:nvSpPr>
        <p:spPr>
          <a:xfrm>
            <a:off x="6178143" y="385876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87871" y="39684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87871" y="39684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2h</a:t>
            </a:r>
          </a:p>
        </p:txBody>
      </p:sp>
      <p:sp>
        <p:nvSpPr>
          <p:cNvPr id="32" name="TextBox 31"/>
          <p:cNvSpPr txBox="1"/>
          <p:nvPr/>
        </p:nvSpPr>
        <p:spPr>
          <a:xfrm>
            <a:off x="6178143" y="385876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3" name="TextBox 32"/>
          <p:cNvSpPr txBox="1"/>
          <p:nvPr/>
        </p:nvSpPr>
        <p:spPr>
          <a:xfrm>
            <a:off x="6178143" y="610819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動的降伏応力（SDS 濃度別、0.05 Pa 基準線）</a:t>
            </a:r>
          </a:p>
        </p:txBody>
      </p:sp>
      <p:sp>
        <p:nvSpPr>
          <p:cNvPr id="34" name="Rounded Rectangle 33"/>
          <p:cNvSpPr/>
          <p:nvPr/>
        </p:nvSpPr>
        <p:spPr>
          <a:xfrm>
            <a:off x="365760" y="6236208"/>
            <a:ext cx="11460175" cy="402336"/>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6236208"/>
            <a:ext cx="73152" cy="402336"/>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236208"/>
            <a:ext cx="2194560" cy="402336"/>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37" name="TextBox 36"/>
          <p:cNvSpPr txBox="1"/>
          <p:nvPr/>
        </p:nvSpPr>
        <p:spPr>
          <a:xfrm>
            <a:off x="2194560" y="6236208"/>
            <a:ext cx="9357055" cy="402336"/>
          </a:xfrm>
          <a:prstGeom prst="rect">
            <a:avLst/>
          </a:prstGeom>
          <a:noFill/>
        </p:spPr>
        <p:txBody>
          <a:bodyPr wrap="square" anchor="ctr" lIns="36000" rIns="36000" tIns="18000" bIns="18000">
            <a:spAutoFit/>
          </a:bodyPr>
          <a:lstStyle/>
          <a:p>
            <a:pPr algn="l"/>
            <a:r>
              <a:rPr sz="1300" b="0" i="0">
                <a:solidFill>
                  <a:srgbClr val="FFFFFF"/>
                </a:solidFill>
                <a:latin typeface="Noto Sans JP"/>
              </a:rPr>
              <a:t>SDS 0.1 wt% が最適点：G' 最大（58.2 Pa）・tan δ 最小（0.193）・せん断希薄化を維持 — 発泡構造の制御と付着性の最適化に直結</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41</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41</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41</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41</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29 / 41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30 / 41</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65574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≈2.1×</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1874428"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2124352"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SDS無しのHEC+MC/CSPが最高発泡指数（≈2.6）を達成</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41</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41</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12/12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41</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41</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41</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41</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7261360"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S5/S7</a:t>
            </a:r>
          </a:p>
        </p:txBody>
      </p:sp>
      <p:sp>
        <p:nvSpPr>
          <p:cNvPr id="30" name="TextBox 29"/>
          <p:cNvSpPr txBox="1"/>
          <p:nvPr/>
        </p:nvSpPr>
        <p:spPr>
          <a:xfrm>
            <a:off x="4564575" y="2487168"/>
            <a:ext cx="7261360"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726136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熟成に伴う弾性率・粘度の変化（Day 1 vs Day 455）</a:t>
            </a:r>
          </a:p>
        </p:txBody>
      </p:sp>
      <p:sp>
        <p:nvSpPr>
          <p:cNvPr id="32" name="Rounded Rectangle 31"/>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5" name="TextBox 34"/>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37 / 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41</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39 / 41</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40 / 41</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40 /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