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43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43</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9–16</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18–34</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36–39</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43</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気候変動・可燃物の蓄積が主要因（米・欧・豪）</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経済・インフラ・自然資源・WUI住民に甚大な被害 ─</a:t>
            </a:r>
          </a:p>
          <a:p>
            <a:pPr algn="l"/>
            <a:r>
              <a:rPr sz="1200" b="0" i="1">
                <a:solidFill>
                  <a:srgbClr val="475569"/>
                </a:solidFill>
                <a:latin typeface="Noto Sans JP"/>
              </a:rPr>
              <a:t>環境に優しい新たな火災遅延剤の開発が急務</a:t>
            </a:r>
          </a:p>
        </p:txBody>
      </p:sp>
      <p:sp>
        <p:nvSpPr>
          <p:cNvPr id="21" name="Rounded Rectangle 20"/>
          <p:cNvSpPr/>
          <p:nvPr/>
        </p:nvSpPr>
        <p:spPr>
          <a:xfrm>
            <a:off x="5252185" y="859536"/>
            <a:ext cx="6573749" cy="29260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29260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382219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
        <p:nvSpPr>
          <p:cNvPr id="26" name="Rounded Rectangle 25"/>
          <p:cNvSpPr/>
          <p:nvPr/>
        </p:nvSpPr>
        <p:spPr>
          <a:xfrm>
            <a:off x="5252185" y="4206240"/>
            <a:ext cx="6573749"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1913" y="431596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1913" y="431596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29" name="TextBox 28"/>
          <p:cNvSpPr txBox="1"/>
          <p:nvPr/>
        </p:nvSpPr>
        <p:spPr>
          <a:xfrm>
            <a:off x="5252185" y="4206240"/>
            <a:ext cx="6573749"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0" name="TextBox 29"/>
          <p:cNvSpPr txBox="1"/>
          <p:nvPr/>
        </p:nvSpPr>
        <p:spPr>
          <a:xfrm>
            <a:off x="5361913" y="5687568"/>
            <a:ext cx="6354293"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1" name="TextBox 30"/>
          <p:cNvSpPr txBox="1"/>
          <p:nvPr/>
        </p:nvSpPr>
        <p:spPr>
          <a:xfrm>
            <a:off x="5252185" y="6071616"/>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山火事の大規模化・年間焼失面積の経年トレンド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43</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既存の山火事用消火剤と、その限界（米国森林局の3分類）</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43</a:t>
            </a:r>
          </a:p>
        </p:txBody>
      </p:sp>
      <p:sp>
        <p:nvSpPr>
          <p:cNvPr id="10" name="Rounded Rectangle 9"/>
          <p:cNvSpPr/>
          <p:nvPr/>
        </p:nvSpPr>
        <p:spPr>
          <a:xfrm>
            <a:off x="365760"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024128"/>
            <a:ext cx="3320186" cy="1078992"/>
          </a:xfrm>
          <a:prstGeom prst="roundRect">
            <a:avLst>
              <a:gd name="adj" fmla="val 3000"/>
            </a:avLst>
          </a:prstGeom>
          <a:solidFill>
            <a:srgbClr val="A8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865741"/>
            <a:ext cx="3320186" cy="237378"/>
          </a:xfrm>
          <a:prstGeom prst="rect">
            <a:avLst/>
          </a:prstGeom>
          <a:solidFill>
            <a:srgbClr val="6AA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1865741"/>
            <a:ext cx="3320186" cy="16459"/>
          </a:xfrm>
          <a:prstGeom prst="rect">
            <a:avLst/>
          </a:prstGeom>
          <a:solidFill>
            <a:srgbClr val="4E8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0658" y="1261506"/>
            <a:ext cx="996055" cy="8631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159554" y="1175186"/>
            <a:ext cx="332018" cy="237378"/>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13860" y="1153607"/>
            <a:ext cx="132807" cy="12947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710705" y="1498884"/>
            <a:ext cx="132807" cy="9495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009521" y="1595993"/>
            <a:ext cx="119526" cy="8416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275136" y="1520464"/>
            <a:ext cx="126167" cy="8847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943118" y="1725472"/>
            <a:ext cx="106245" cy="75529"/>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474348" y="1649943"/>
            <a:ext cx="112886" cy="79845"/>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08733" y="1779422"/>
            <a:ext cx="99605" cy="71213"/>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607155" y="1563624"/>
            <a:ext cx="92965" cy="6689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長期遅延剤</a:t>
            </a:r>
          </a:p>
        </p:txBody>
      </p:sp>
      <p:sp>
        <p:nvSpPr>
          <p:cNvPr id="26" name="TextBox 25"/>
          <p:cNvSpPr txBox="1"/>
          <p:nvPr/>
        </p:nvSpPr>
        <p:spPr>
          <a:xfrm>
            <a:off x="548640"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Long-term retardant</a:t>
            </a:r>
          </a:p>
        </p:txBody>
      </p:sp>
      <p:sp>
        <p:nvSpPr>
          <p:cNvPr id="27" name="Rectangle 26"/>
          <p:cNvSpPr/>
          <p:nvPr/>
        </p:nvSpPr>
        <p:spPr>
          <a:xfrm>
            <a:off x="548640"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29" name="TextBox 28"/>
          <p:cNvSpPr txBox="1"/>
          <p:nvPr/>
        </p:nvSpPr>
        <p:spPr>
          <a:xfrm>
            <a:off x="548640"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Phos-Chek（リン酸塩系スラリー）</a:t>
            </a:r>
          </a:p>
        </p:txBody>
      </p:sp>
      <p:sp>
        <p:nvSpPr>
          <p:cNvPr id="30" name="TextBox 29"/>
          <p:cNvSpPr txBox="1"/>
          <p:nvPr/>
        </p:nvSpPr>
        <p:spPr>
          <a:xfrm>
            <a:off x="548640"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31" name="TextBox 30"/>
          <p:cNvSpPr txBox="1"/>
          <p:nvPr/>
        </p:nvSpPr>
        <p:spPr>
          <a:xfrm>
            <a:off x="548640"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リン酸アンモニウム等の化学物質</a:t>
            </a:r>
          </a:p>
        </p:txBody>
      </p:sp>
      <p:sp>
        <p:nvSpPr>
          <p:cNvPr id="32" name="TextBox 31"/>
          <p:cNvSpPr txBox="1"/>
          <p:nvPr/>
        </p:nvSpPr>
        <p:spPr>
          <a:xfrm>
            <a:off x="548640"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33" name="TextBox 32"/>
          <p:cNvSpPr txBox="1"/>
          <p:nvPr/>
        </p:nvSpPr>
        <p:spPr>
          <a:xfrm>
            <a:off x="548640"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残留物がある限り効果が持続</a:t>
            </a:r>
          </a:p>
        </p:txBody>
      </p:sp>
      <p:sp>
        <p:nvSpPr>
          <p:cNvPr id="34" name="TextBox 33"/>
          <p:cNvSpPr txBox="1"/>
          <p:nvPr/>
        </p:nvSpPr>
        <p:spPr>
          <a:xfrm>
            <a:off x="548640"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35" name="TextBox 34"/>
          <p:cNvSpPr txBox="1"/>
          <p:nvPr/>
        </p:nvSpPr>
        <p:spPr>
          <a:xfrm>
            <a:off x="548640"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化学物質が対象物に残留する</a:t>
            </a:r>
          </a:p>
        </p:txBody>
      </p:sp>
      <p:sp>
        <p:nvSpPr>
          <p:cNvPr id="36" name="Rounded Rectangle 35"/>
          <p:cNvSpPr/>
          <p:nvPr/>
        </p:nvSpPr>
        <p:spPr>
          <a:xfrm>
            <a:off x="4252874"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52874"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435754" y="1024128"/>
            <a:ext cx="3320186" cy="1078992"/>
          </a:xfrm>
          <a:prstGeom prst="roundRect">
            <a:avLst>
              <a:gd name="adj" fmla="val 3000"/>
            </a:avLst>
          </a:prstGeom>
          <a:solidFill>
            <a:srgbClr val="BEE0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02158" y="1563624"/>
            <a:ext cx="232413" cy="431596"/>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01763" y="1412565"/>
            <a:ext cx="332018" cy="302117"/>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867378" y="1488094"/>
            <a:ext cx="132807" cy="151058"/>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033387" y="1261506"/>
            <a:ext cx="464826"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65406" y="1175186"/>
            <a:ext cx="531229" cy="34527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763828" y="122913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9049" y="1175186"/>
            <a:ext cx="498027"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494269" y="1239926"/>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26288" y="119676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158307" y="1283086"/>
            <a:ext cx="398422" cy="25895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199397" y="1498884"/>
            <a:ext cx="498027" cy="32369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564617" y="1434144"/>
            <a:ext cx="531229" cy="34527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63040" y="1498884"/>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328260" y="1434144"/>
            <a:ext cx="464826" cy="30211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693481" y="1498884"/>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058701" y="1412565"/>
            <a:ext cx="398422" cy="258958"/>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357518" y="1347825"/>
            <a:ext cx="332018" cy="21579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435754"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泡消火剤</a:t>
            </a:r>
          </a:p>
        </p:txBody>
      </p:sp>
      <p:sp>
        <p:nvSpPr>
          <p:cNvPr id="57" name="TextBox 56"/>
          <p:cNvSpPr txBox="1"/>
          <p:nvPr/>
        </p:nvSpPr>
        <p:spPr>
          <a:xfrm>
            <a:off x="4435754"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Foam suppressant</a:t>
            </a:r>
          </a:p>
        </p:txBody>
      </p:sp>
      <p:sp>
        <p:nvSpPr>
          <p:cNvPr id="58" name="Rectangle 57"/>
          <p:cNvSpPr/>
          <p:nvPr/>
        </p:nvSpPr>
        <p:spPr>
          <a:xfrm>
            <a:off x="4435754"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35754"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60" name="TextBox 59"/>
          <p:cNvSpPr txBox="1"/>
          <p:nvPr/>
        </p:nvSpPr>
        <p:spPr>
          <a:xfrm>
            <a:off x="4435754"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Class A フォーム／旧 AFFF</a:t>
            </a:r>
          </a:p>
        </p:txBody>
      </p:sp>
      <p:sp>
        <p:nvSpPr>
          <p:cNvPr id="61" name="TextBox 60"/>
          <p:cNvSpPr txBox="1"/>
          <p:nvPr/>
        </p:nvSpPr>
        <p:spPr>
          <a:xfrm>
            <a:off x="4435754"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62" name="TextBox 61"/>
          <p:cNvSpPr txBox="1"/>
          <p:nvPr/>
        </p:nvSpPr>
        <p:spPr>
          <a:xfrm>
            <a:off x="4435754"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界面活性剤（旧来はフッ素系）</a:t>
            </a:r>
          </a:p>
        </p:txBody>
      </p:sp>
      <p:sp>
        <p:nvSpPr>
          <p:cNvPr id="63" name="TextBox 62"/>
          <p:cNvSpPr txBox="1"/>
          <p:nvPr/>
        </p:nvSpPr>
        <p:spPr>
          <a:xfrm>
            <a:off x="4435754"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64" name="TextBox 63"/>
          <p:cNvSpPr txBox="1"/>
          <p:nvPr/>
        </p:nvSpPr>
        <p:spPr>
          <a:xfrm>
            <a:off x="4435754"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水分保持 15〜30分（短期的）</a:t>
            </a:r>
          </a:p>
        </p:txBody>
      </p:sp>
      <p:sp>
        <p:nvSpPr>
          <p:cNvPr id="65" name="TextBox 64"/>
          <p:cNvSpPr txBox="1"/>
          <p:nvPr/>
        </p:nvSpPr>
        <p:spPr>
          <a:xfrm>
            <a:off x="4435754"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66" name="TextBox 65"/>
          <p:cNvSpPr txBox="1"/>
          <p:nvPr/>
        </p:nvSpPr>
        <p:spPr>
          <a:xfrm>
            <a:off x="4435754"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乾燥で効果消失／フッ素系は生体蓄積・環境毒性</a:t>
            </a:r>
          </a:p>
        </p:txBody>
      </p:sp>
      <p:sp>
        <p:nvSpPr>
          <p:cNvPr id="67" name="Rounded Rectangle 66"/>
          <p:cNvSpPr/>
          <p:nvPr/>
        </p:nvSpPr>
        <p:spPr>
          <a:xfrm>
            <a:off x="8139988" y="859536"/>
            <a:ext cx="3685946" cy="504748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139988" y="859536"/>
            <a:ext cx="3685946"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8322868" y="1024128"/>
            <a:ext cx="3320186" cy="1078992"/>
          </a:xfrm>
          <a:prstGeom prst="roundRect">
            <a:avLst>
              <a:gd name="adj" fmla="val 3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322868" y="1973640"/>
            <a:ext cx="3320186" cy="129479"/>
          </a:xfrm>
          <a:prstGeom prst="rect">
            <a:avLst/>
          </a:prstGeom>
          <a:solidFill>
            <a:srgbClr val="2E4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352126" y="1477304"/>
            <a:ext cx="1261670" cy="561075"/>
          </a:xfrm>
          <a:prstGeom prst="ellipse">
            <a:avLst/>
          </a:prstGeom>
          <a:solidFill>
            <a:srgbClr val="4AAA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51732" y="1542044"/>
            <a:ext cx="1062459" cy="431596"/>
          </a:xfrm>
          <a:prstGeom prst="rect">
            <a:avLst/>
          </a:prstGeom>
          <a:solidFill>
            <a:srgbClr val="E8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sosceles Triangle 72"/>
          <p:cNvSpPr/>
          <p:nvPr/>
        </p:nvSpPr>
        <p:spPr>
          <a:xfrm>
            <a:off x="9385328" y="1218346"/>
            <a:ext cx="1195267" cy="345277"/>
          </a:xfrm>
          <a:prstGeom prst="triangle">
            <a:avLst/>
          </a:prstGeom>
          <a:solidFill>
            <a:srgbClr val="CC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55797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08920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834217" y="1792370"/>
            <a:ext cx="297488" cy="181270"/>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8654887" y="1239926"/>
            <a:ext cx="92965" cy="8200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820896" y="1477304"/>
            <a:ext cx="79684" cy="6905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8986905" y="1347825"/>
            <a:ext cx="86324"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0979017" y="1261506"/>
            <a:ext cx="86324" cy="7984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111825" y="1477304"/>
            <a:ext cx="79684" cy="7121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846210" y="1606783"/>
            <a:ext cx="92965"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322868" y="2212848"/>
            <a:ext cx="3320186" cy="329184"/>
          </a:xfrm>
          <a:prstGeom prst="rect">
            <a:avLst/>
          </a:prstGeom>
          <a:noFill/>
        </p:spPr>
        <p:txBody>
          <a:bodyPr wrap="square" anchor="t" lIns="36000" rIns="36000" tIns="18000" bIns="18000">
            <a:spAutoFit/>
          </a:bodyPr>
          <a:lstStyle/>
          <a:p>
            <a:pPr algn="l"/>
            <a:r>
              <a:rPr sz="1600" b="1" i="0">
                <a:solidFill>
                  <a:srgbClr val="FFFFFF"/>
                </a:solidFill>
                <a:latin typeface="Noto Sans JP"/>
              </a:rPr>
              <a:t>水強化ゲル（WEG）</a:t>
            </a:r>
          </a:p>
        </p:txBody>
      </p:sp>
      <p:sp>
        <p:nvSpPr>
          <p:cNvPr id="84" name="TextBox 83"/>
          <p:cNvSpPr txBox="1"/>
          <p:nvPr/>
        </p:nvSpPr>
        <p:spPr>
          <a:xfrm>
            <a:off x="8322868" y="2542032"/>
            <a:ext cx="3320186" cy="201168"/>
          </a:xfrm>
          <a:prstGeom prst="rect">
            <a:avLst/>
          </a:prstGeom>
          <a:noFill/>
        </p:spPr>
        <p:txBody>
          <a:bodyPr wrap="square" anchor="t" lIns="36000" rIns="36000" tIns="18000" bIns="18000">
            <a:spAutoFit/>
          </a:bodyPr>
          <a:lstStyle/>
          <a:p>
            <a:pPr algn="l"/>
            <a:r>
              <a:rPr sz="900" b="0" i="1">
                <a:solidFill>
                  <a:srgbClr val="A0B8D0"/>
                </a:solidFill>
                <a:latin typeface="Noto Sans JP"/>
              </a:rPr>
              <a:t>Water-enhancing gel</a:t>
            </a:r>
          </a:p>
        </p:txBody>
      </p:sp>
      <p:sp>
        <p:nvSpPr>
          <p:cNvPr id="85" name="Rectangle 84"/>
          <p:cNvSpPr/>
          <p:nvPr/>
        </p:nvSpPr>
        <p:spPr>
          <a:xfrm>
            <a:off x="8322868" y="2798064"/>
            <a:ext cx="3320186" cy="10972"/>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322868" y="2889504"/>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例</a:t>
            </a:r>
          </a:p>
        </p:txBody>
      </p:sp>
      <p:sp>
        <p:nvSpPr>
          <p:cNvPr id="87" name="TextBox 86"/>
          <p:cNvSpPr txBox="1"/>
          <p:nvPr/>
        </p:nvSpPr>
        <p:spPr>
          <a:xfrm>
            <a:off x="8322868" y="3072384"/>
            <a:ext cx="3320186" cy="365760"/>
          </a:xfrm>
          <a:prstGeom prst="rect">
            <a:avLst/>
          </a:prstGeom>
          <a:noFill/>
        </p:spPr>
        <p:txBody>
          <a:bodyPr wrap="square" anchor="t" lIns="36000" rIns="36000" tIns="18000" bIns="18000">
            <a:spAutoFit/>
          </a:bodyPr>
          <a:lstStyle/>
          <a:p>
            <a:pPr algn="l"/>
            <a:r>
              <a:rPr sz="1100" b="1" i="0">
                <a:solidFill>
                  <a:srgbClr val="D8E2EE"/>
                </a:solidFill>
                <a:latin typeface="Noto Sans JP"/>
              </a:rPr>
              <a:t>Barricade／Thermo-Gel／AquaGel-K</a:t>
            </a:r>
          </a:p>
        </p:txBody>
      </p:sp>
      <p:sp>
        <p:nvSpPr>
          <p:cNvPr id="88" name="TextBox 87"/>
          <p:cNvSpPr txBox="1"/>
          <p:nvPr/>
        </p:nvSpPr>
        <p:spPr>
          <a:xfrm>
            <a:off x="8322868" y="3493008"/>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主成分</a:t>
            </a:r>
          </a:p>
        </p:txBody>
      </p:sp>
      <p:sp>
        <p:nvSpPr>
          <p:cNvPr id="89" name="TextBox 88"/>
          <p:cNvSpPr txBox="1"/>
          <p:nvPr/>
        </p:nvSpPr>
        <p:spPr>
          <a:xfrm>
            <a:off x="8322868" y="3675888"/>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高吸水性ポリマー（環境配慮型）</a:t>
            </a:r>
          </a:p>
        </p:txBody>
      </p:sp>
      <p:sp>
        <p:nvSpPr>
          <p:cNvPr id="90" name="TextBox 89"/>
          <p:cNvSpPr txBox="1"/>
          <p:nvPr/>
        </p:nvSpPr>
        <p:spPr>
          <a:xfrm>
            <a:off x="8322868" y="4096512"/>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効果・保持</a:t>
            </a:r>
          </a:p>
        </p:txBody>
      </p:sp>
      <p:sp>
        <p:nvSpPr>
          <p:cNvPr id="91" name="TextBox 90"/>
          <p:cNvSpPr txBox="1"/>
          <p:nvPr/>
        </p:nvSpPr>
        <p:spPr>
          <a:xfrm>
            <a:off x="8322868" y="4279391"/>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水分保持 30〜60分・建物保護に有効</a:t>
            </a:r>
          </a:p>
        </p:txBody>
      </p:sp>
      <p:sp>
        <p:nvSpPr>
          <p:cNvPr id="92" name="TextBox 91"/>
          <p:cNvSpPr txBox="1"/>
          <p:nvPr/>
        </p:nvSpPr>
        <p:spPr>
          <a:xfrm>
            <a:off x="8322868" y="4700016"/>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課題</a:t>
            </a:r>
          </a:p>
        </p:txBody>
      </p:sp>
      <p:sp>
        <p:nvSpPr>
          <p:cNvPr id="93" name="TextBox 92"/>
          <p:cNvSpPr txBox="1"/>
          <p:nvPr/>
        </p:nvSpPr>
        <p:spPr>
          <a:xfrm>
            <a:off x="8322868" y="4882896"/>
            <a:ext cx="3320186" cy="859536"/>
          </a:xfrm>
          <a:prstGeom prst="rect">
            <a:avLst/>
          </a:prstGeom>
          <a:noFill/>
        </p:spPr>
        <p:txBody>
          <a:bodyPr wrap="square" anchor="t" lIns="36000" rIns="36000" tIns="18000" bIns="18000">
            <a:spAutoFit/>
          </a:bodyPr>
          <a:lstStyle/>
          <a:p>
            <a:pPr algn="l"/>
            <a:r>
              <a:rPr sz="1100" b="1" i="0">
                <a:solidFill>
                  <a:srgbClr val="FFFFFF"/>
                </a:solidFill>
                <a:latin typeface="Noto Sans JP"/>
              </a:rPr>
              <a:t>高温・強風で乾燥すると効果を完全に喪失</a:t>
            </a:r>
          </a:p>
        </p:txBody>
      </p:sp>
      <p:sp>
        <p:nvSpPr>
          <p:cNvPr id="94" name="Rounded Rectangle 93"/>
          <p:cNvSpPr/>
          <p:nvPr/>
        </p:nvSpPr>
        <p:spPr>
          <a:xfrm>
            <a:off x="365760" y="6053328"/>
            <a:ext cx="11460175" cy="4572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65760" y="6053328"/>
            <a:ext cx="54864" cy="4572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48640" y="6053328"/>
            <a:ext cx="365760" cy="4572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97" name="TextBox 96"/>
          <p:cNvSpPr txBox="1"/>
          <p:nvPr/>
        </p:nvSpPr>
        <p:spPr>
          <a:xfrm>
            <a:off x="960120" y="6053328"/>
            <a:ext cx="10774375" cy="45720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本研究は、環境配慮型WEGが持つ「乾燥すると無効になる」致命的な弱点を克服する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先行研究：PNP ゲル基盤の確立（Yu et al., PNAS 2016）</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43</a:t>
            </a:r>
          </a:p>
        </p:txBody>
      </p:sp>
      <p:sp>
        <p:nvSpPr>
          <p:cNvPr id="10" name="Rounded Rectangle 9"/>
          <p:cNvSpPr/>
          <p:nvPr/>
        </p:nvSpPr>
        <p:spPr>
          <a:xfrm>
            <a:off x="365760" y="859536"/>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同じ HEC+MC/CSP プラットフォームは、リン酸アンモニウム剤（Phos-Chek LC95A）の 「キャリア」として 2016 年に確立済み — 本研究はこの基盤の上に立つ</a:t>
            </a:r>
          </a:p>
        </p:txBody>
      </p:sp>
      <p:sp>
        <p:nvSpPr>
          <p:cNvPr id="14" name="Rounded Rectangle 13"/>
          <p:cNvSpPr/>
          <p:nvPr/>
        </p:nvSpPr>
        <p:spPr>
          <a:xfrm>
            <a:off x="365760" y="1572768"/>
            <a:ext cx="5592927"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1572768"/>
            <a:ext cx="5592927" cy="45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6" y="1737360"/>
            <a:ext cx="5154015"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Yu et al., PNAS 2016 で確立済み</a:t>
            </a:r>
          </a:p>
        </p:txBody>
      </p:sp>
      <p:sp>
        <p:nvSpPr>
          <p:cNvPr id="17" name="TextBox 16"/>
          <p:cNvSpPr txBox="1"/>
          <p:nvPr/>
        </p:nvSpPr>
        <p:spPr>
          <a:xfrm>
            <a:off x="585216" y="2029968"/>
            <a:ext cx="5154015"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PNP ゲル（HEC+MC + CSP）の基盤特性</a:t>
            </a:r>
          </a:p>
        </p:txBody>
      </p:sp>
      <p:sp>
        <p:nvSpPr>
          <p:cNvPr id="18" name="Rounded Rectangle 17"/>
          <p:cNvSpPr/>
          <p:nvPr/>
        </p:nvSpPr>
        <p:spPr>
          <a:xfrm>
            <a:off x="585216" y="2578608"/>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2578608"/>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PP 相互作用</a:t>
            </a:r>
          </a:p>
        </p:txBody>
      </p:sp>
      <p:sp>
        <p:nvSpPr>
          <p:cNvPr id="20" name="TextBox 19"/>
          <p:cNvSpPr txBox="1"/>
          <p:nvPr/>
        </p:nvSpPr>
        <p:spPr>
          <a:xfrm>
            <a:off x="2084832" y="2532888"/>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セルロース鎖が CSP 表面に選択吸着（非共有・多価）</a:t>
            </a:r>
          </a:p>
        </p:txBody>
      </p:sp>
      <p:sp>
        <p:nvSpPr>
          <p:cNvPr id="21" name="Rounded Rectangle 20"/>
          <p:cNvSpPr/>
          <p:nvPr/>
        </p:nvSpPr>
        <p:spPr>
          <a:xfrm>
            <a:off x="585216" y="3090672"/>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090672"/>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剪断希薄化</a:t>
            </a:r>
          </a:p>
        </p:txBody>
      </p:sp>
      <p:sp>
        <p:nvSpPr>
          <p:cNvPr id="23" name="TextBox 22"/>
          <p:cNvSpPr txBox="1"/>
          <p:nvPr/>
        </p:nvSpPr>
        <p:spPr>
          <a:xfrm>
            <a:off x="2084832" y="3044952"/>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高せん断で粘度が低下（噴霧・パイプ送液に適合）</a:t>
            </a:r>
          </a:p>
        </p:txBody>
      </p:sp>
      <p:sp>
        <p:nvSpPr>
          <p:cNvPr id="24" name="Rounded Rectangle 23"/>
          <p:cNvSpPr/>
          <p:nvPr/>
        </p:nvSpPr>
        <p:spPr>
          <a:xfrm>
            <a:off x="585216" y="3602736"/>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3602736"/>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自己修復性</a:t>
            </a:r>
          </a:p>
        </p:txBody>
      </p:sp>
      <p:sp>
        <p:nvSpPr>
          <p:cNvPr id="26" name="TextBox 25"/>
          <p:cNvSpPr txBox="1"/>
          <p:nvPr/>
        </p:nvSpPr>
        <p:spPr>
          <a:xfrm>
            <a:off x="2084832" y="3557016"/>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応力解放で即座にゲル構造を回復</a:t>
            </a:r>
          </a:p>
        </p:txBody>
      </p:sp>
      <p:sp>
        <p:nvSpPr>
          <p:cNvPr id="27" name="Rounded Rectangle 26"/>
          <p:cNvSpPr/>
          <p:nvPr/>
        </p:nvSpPr>
        <p:spPr>
          <a:xfrm>
            <a:off x="585216" y="4114800"/>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5216" y="4114800"/>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スケーラビリティ</a:t>
            </a:r>
          </a:p>
        </p:txBody>
      </p:sp>
      <p:sp>
        <p:nvSpPr>
          <p:cNvPr id="29" name="TextBox 28"/>
          <p:cNvSpPr txBox="1"/>
          <p:nvPr/>
        </p:nvSpPr>
        <p:spPr>
          <a:xfrm>
            <a:off x="2084832" y="4069080"/>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0.5 mL → 15 L まで線形にスケール</a:t>
            </a:r>
          </a:p>
        </p:txBody>
      </p:sp>
      <p:sp>
        <p:nvSpPr>
          <p:cNvPr id="30" name="Rounded Rectangle 29"/>
          <p:cNvSpPr/>
          <p:nvPr/>
        </p:nvSpPr>
        <p:spPr>
          <a:xfrm>
            <a:off x="585216" y="4626864"/>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5216" y="4626864"/>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APP キャリア用途</a:t>
            </a:r>
          </a:p>
        </p:txBody>
      </p:sp>
      <p:sp>
        <p:nvSpPr>
          <p:cNvPr id="32" name="TextBox 31"/>
          <p:cNvSpPr txBox="1"/>
          <p:nvPr/>
        </p:nvSpPr>
        <p:spPr>
          <a:xfrm>
            <a:off x="2084832" y="4581144"/>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Phos-Chek LC95A を担持し、付着・耐降雨性を向上</a:t>
            </a:r>
          </a:p>
        </p:txBody>
      </p:sp>
      <p:sp>
        <p:nvSpPr>
          <p:cNvPr id="33" name="Rounded Rectangle 32"/>
          <p:cNvSpPr/>
          <p:nvPr/>
        </p:nvSpPr>
        <p:spPr>
          <a:xfrm>
            <a:off x="6233007" y="1572768"/>
            <a:ext cx="5592927" cy="38404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33007" y="1572768"/>
            <a:ext cx="5592927"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52463" y="1737360"/>
            <a:ext cx="5154015"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本研究で新たに獲得した機能</a:t>
            </a:r>
          </a:p>
        </p:txBody>
      </p:sp>
      <p:sp>
        <p:nvSpPr>
          <p:cNvPr id="36" name="TextBox 35"/>
          <p:cNvSpPr txBox="1"/>
          <p:nvPr/>
        </p:nvSpPr>
        <p:spPr>
          <a:xfrm>
            <a:off x="6452463" y="2029968"/>
            <a:ext cx="5154015" cy="365760"/>
          </a:xfrm>
          <a:prstGeom prst="rect">
            <a:avLst/>
          </a:prstGeom>
          <a:noFill/>
        </p:spPr>
        <p:txBody>
          <a:bodyPr wrap="square" anchor="t" lIns="36000" rIns="36000" tIns="18000" bIns="18000">
            <a:spAutoFit/>
          </a:bodyPr>
          <a:lstStyle/>
          <a:p>
            <a:pPr algn="l"/>
            <a:r>
              <a:rPr sz="1500" b="1" i="0">
                <a:solidFill>
                  <a:srgbClr val="FFFFFF"/>
                </a:solidFill>
                <a:latin typeface="Noto Sans JP"/>
              </a:rPr>
              <a:t>ゲル自体が「断熱層」へと変態する</a:t>
            </a:r>
          </a:p>
        </p:txBody>
      </p:sp>
      <p:sp>
        <p:nvSpPr>
          <p:cNvPr id="37" name="Rounded Rectangle 36"/>
          <p:cNvSpPr/>
          <p:nvPr/>
        </p:nvSpPr>
        <p:spPr>
          <a:xfrm>
            <a:off x="6452463" y="2578608"/>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52463" y="2578608"/>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自立型保護</a:t>
            </a:r>
          </a:p>
        </p:txBody>
      </p:sp>
      <p:sp>
        <p:nvSpPr>
          <p:cNvPr id="39" name="TextBox 38"/>
          <p:cNvSpPr txBox="1"/>
          <p:nvPr/>
        </p:nvSpPr>
        <p:spPr>
          <a:xfrm>
            <a:off x="7952079" y="2532888"/>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APP に依存せず、ゲル単独で延焼を抑制</a:t>
            </a:r>
          </a:p>
        </p:txBody>
      </p:sp>
      <p:sp>
        <p:nvSpPr>
          <p:cNvPr id="40" name="Rounded Rectangle 39"/>
          <p:cNvSpPr/>
          <p:nvPr/>
        </p:nvSpPr>
        <p:spPr>
          <a:xfrm>
            <a:off x="6452463" y="3090672"/>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52463" y="3090672"/>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熱活性化</a:t>
            </a:r>
          </a:p>
        </p:txBody>
      </p:sp>
      <p:sp>
        <p:nvSpPr>
          <p:cNvPr id="42" name="TextBox 41"/>
          <p:cNvSpPr txBox="1"/>
          <p:nvPr/>
        </p:nvSpPr>
        <p:spPr>
          <a:xfrm>
            <a:off x="7952079" y="3044952"/>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炎接触で水分蒸発 → CSP 焼結 → 多孔質シリカ</a:t>
            </a:r>
          </a:p>
        </p:txBody>
      </p:sp>
      <p:sp>
        <p:nvSpPr>
          <p:cNvPr id="43" name="Rounded Rectangle 42"/>
          <p:cNvSpPr/>
          <p:nvPr/>
        </p:nvSpPr>
        <p:spPr>
          <a:xfrm>
            <a:off x="6452463" y="3602736"/>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52463" y="3602736"/>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エアロゲル化</a:t>
            </a:r>
          </a:p>
        </p:txBody>
      </p:sp>
      <p:sp>
        <p:nvSpPr>
          <p:cNvPr id="45" name="TextBox 44"/>
          <p:cNvSpPr txBox="1"/>
          <p:nvPr/>
        </p:nvSpPr>
        <p:spPr>
          <a:xfrm>
            <a:off x="7952079" y="3557016"/>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断熱性の高い多孔質シリカ層を in situ で形成</a:t>
            </a:r>
          </a:p>
        </p:txBody>
      </p:sp>
      <p:sp>
        <p:nvSpPr>
          <p:cNvPr id="46" name="Rounded Rectangle 45"/>
          <p:cNvSpPr/>
          <p:nvPr/>
        </p:nvSpPr>
        <p:spPr>
          <a:xfrm>
            <a:off x="6452463" y="4114800"/>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52463" y="4114800"/>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乾燥耐性</a:t>
            </a:r>
          </a:p>
        </p:txBody>
      </p:sp>
      <p:sp>
        <p:nvSpPr>
          <p:cNvPr id="48" name="TextBox 47"/>
          <p:cNvSpPr txBox="1"/>
          <p:nvPr/>
        </p:nvSpPr>
        <p:spPr>
          <a:xfrm>
            <a:off x="7952079" y="4069080"/>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従来 WEG の致命的弱点「乾けば無効」を克服</a:t>
            </a:r>
          </a:p>
        </p:txBody>
      </p:sp>
      <p:sp>
        <p:nvSpPr>
          <p:cNvPr id="49" name="Rounded Rectangle 48"/>
          <p:cNvSpPr/>
          <p:nvPr/>
        </p:nvSpPr>
        <p:spPr>
          <a:xfrm>
            <a:off x="6452463" y="4626864"/>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52463" y="4626864"/>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長期安定性</a:t>
            </a:r>
          </a:p>
        </p:txBody>
      </p:sp>
      <p:sp>
        <p:nvSpPr>
          <p:cNvPr id="51" name="TextBox 50"/>
          <p:cNvSpPr txBox="1"/>
          <p:nvPr/>
        </p:nvSpPr>
        <p:spPr>
          <a:xfrm>
            <a:off x="7952079" y="4581144"/>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455 日後も降伏応力を維持（補足 3/3 参照）</a:t>
            </a:r>
          </a:p>
        </p:txBody>
      </p:sp>
      <p:sp>
        <p:nvSpPr>
          <p:cNvPr id="52" name="Rounded Rectangle 51"/>
          <p:cNvSpPr/>
          <p:nvPr/>
        </p:nvSpPr>
        <p:spPr>
          <a:xfrm>
            <a:off x="365760" y="5577840"/>
            <a:ext cx="11460175" cy="1060704"/>
          </a:xfrm>
          <a:prstGeom prst="roundRect">
            <a:avLst>
              <a:gd name="adj" fmla="val 5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65760" y="5577840"/>
            <a:ext cx="73152" cy="106070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0080" y="5577840"/>
            <a:ext cx="2194560" cy="1060704"/>
          </a:xfrm>
          <a:prstGeom prst="rect">
            <a:avLst/>
          </a:prstGeom>
          <a:noFill/>
        </p:spPr>
        <p:txBody>
          <a:bodyPr wrap="square" anchor="ctr" lIns="36000" rIns="36000" tIns="18000" bIns="18000">
            <a:spAutoFit/>
          </a:bodyPr>
          <a:lstStyle/>
          <a:p>
            <a:pPr algn="l"/>
            <a:r>
              <a:rPr sz="1300" b="1" i="0">
                <a:solidFill>
                  <a:srgbClr val="3B5174"/>
                </a:solidFill>
                <a:latin typeface="Noto Sans JP"/>
              </a:rPr>
              <a:t>POINT</a:t>
            </a:r>
          </a:p>
        </p:txBody>
      </p:sp>
      <p:sp>
        <p:nvSpPr>
          <p:cNvPr id="55" name="TextBox 54"/>
          <p:cNvSpPr txBox="1"/>
          <p:nvPr/>
        </p:nvSpPr>
        <p:spPr>
          <a:xfrm>
            <a:off x="2194560" y="5577840"/>
            <a:ext cx="9357055" cy="1060704"/>
          </a:xfrm>
          <a:prstGeom prst="rect">
            <a:avLst/>
          </a:prstGeom>
          <a:noFill/>
        </p:spPr>
        <p:txBody>
          <a:bodyPr wrap="square" anchor="ctr" lIns="36000" rIns="36000" tIns="18000" bIns="18000">
            <a:spAutoFit/>
          </a:bodyPr>
          <a:lstStyle/>
          <a:p>
            <a:pPr algn="l"/>
            <a:r>
              <a:rPr sz="1300" b="0" i="0">
                <a:solidFill>
                  <a:srgbClr val="334155"/>
                </a:solidFill>
                <a:latin typeface="Noto Sans JP"/>
              </a:rPr>
              <a:t>本研究の革新点：「化学物質を運ぶ容器」から「自ら断熱層になる材料」へ — PP ゲルの再定義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5/5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8 / 43</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材料構成</a:t>
            </a:r>
          </a:p>
        </p:txBody>
      </p:sp>
      <p:sp>
        <p:nvSpPr>
          <p:cNvPr id="17" name="TextBox 16"/>
          <p:cNvSpPr txBox="1"/>
          <p:nvPr/>
        </p:nvSpPr>
        <p:spPr>
          <a:xfrm>
            <a:off x="786384" y="270662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セルロース系バイオポリマー × コロイダルシリカの物理架橋</a:t>
            </a:r>
          </a:p>
        </p:txBody>
      </p:sp>
      <p:sp>
        <p:nvSpPr>
          <p:cNvPr id="18" name="TextBox 17"/>
          <p:cNvSpPr txBox="1"/>
          <p:nvPr/>
        </p:nvSpPr>
        <p:spPr>
          <a:xfrm>
            <a:off x="365760" y="309067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09067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エアロゲル化</a:t>
            </a:r>
          </a:p>
        </p:txBody>
      </p:sp>
      <p:sp>
        <p:nvSpPr>
          <p:cNvPr id="20" name="TextBox 19"/>
          <p:cNvSpPr txBox="1"/>
          <p:nvPr/>
        </p:nvSpPr>
        <p:spPr>
          <a:xfrm>
            <a:off x="786384" y="334670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炎で水分が失われると多孔質シリカ網がその場形成</a:t>
            </a:r>
          </a:p>
        </p:txBody>
      </p:sp>
      <p:sp>
        <p:nvSpPr>
          <p:cNvPr id="21" name="TextBox 20"/>
          <p:cNvSpPr txBox="1"/>
          <p:nvPr/>
        </p:nvSpPr>
        <p:spPr>
          <a:xfrm>
            <a:off x="365760" y="373075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73075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持続的防護</a:t>
            </a:r>
          </a:p>
        </p:txBody>
      </p:sp>
      <p:sp>
        <p:nvSpPr>
          <p:cNvPr id="23" name="TextBox 22"/>
          <p:cNvSpPr txBox="1"/>
          <p:nvPr/>
        </p:nvSpPr>
        <p:spPr>
          <a:xfrm>
            <a:off x="786384" y="398678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水分が枯渇した後も断熱バリアが発火を防ぐ</a:t>
            </a:r>
          </a:p>
        </p:txBody>
      </p:sp>
      <p:sp>
        <p:nvSpPr>
          <p:cNvPr id="24" name="TextBox 23"/>
          <p:cNvSpPr txBox="1"/>
          <p:nvPr/>
        </p:nvSpPr>
        <p:spPr>
          <a:xfrm>
            <a:off x="365760" y="437083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04</a:t>
            </a:r>
          </a:p>
        </p:txBody>
      </p:sp>
      <p:sp>
        <p:nvSpPr>
          <p:cNvPr id="25" name="TextBox 24"/>
          <p:cNvSpPr txBox="1"/>
          <p:nvPr/>
        </p:nvSpPr>
        <p:spPr>
          <a:xfrm>
            <a:off x="786384" y="437083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応用性・拡張性</a:t>
            </a:r>
          </a:p>
        </p:txBody>
      </p:sp>
      <p:sp>
        <p:nvSpPr>
          <p:cNvPr id="26" name="TextBox 25"/>
          <p:cNvSpPr txBox="1"/>
          <p:nvPr/>
        </p:nvSpPr>
        <p:spPr>
          <a:xfrm>
            <a:off x="786384" y="462686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噴霧・ポンプ送液に適した流動特性／大規模製造も可能</a:t>
            </a:r>
          </a:p>
        </p:txBody>
      </p:sp>
      <p:sp>
        <p:nvSpPr>
          <p:cNvPr id="27" name="Rounded Rectangle 26"/>
          <p:cNvSpPr/>
          <p:nvPr/>
        </p:nvSpPr>
        <p:spPr>
          <a:xfrm>
            <a:off x="4793778" y="859536"/>
            <a:ext cx="7032156" cy="28346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30" name="TextBox 29"/>
          <p:cNvSpPr txBox="1"/>
          <p:nvPr/>
        </p:nvSpPr>
        <p:spPr>
          <a:xfrm>
            <a:off x="4793778" y="859536"/>
            <a:ext cx="7032156" cy="28346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793778" y="373075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
        <p:nvSpPr>
          <p:cNvPr id="32" name="Rounded Rectangle 31"/>
          <p:cNvSpPr/>
          <p:nvPr/>
        </p:nvSpPr>
        <p:spPr>
          <a:xfrm>
            <a:off x="4793778"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03506"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03506"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5" name="TextBox 34"/>
          <p:cNvSpPr txBox="1"/>
          <p:nvPr/>
        </p:nvSpPr>
        <p:spPr>
          <a:xfrm>
            <a:off x="4793778"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6" name="TextBox 35"/>
          <p:cNvSpPr txBox="1"/>
          <p:nvPr/>
        </p:nvSpPr>
        <p:spPr>
          <a:xfrm>
            <a:off x="4903506"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7" name="TextBox 36"/>
          <p:cNvSpPr txBox="1"/>
          <p:nvPr/>
        </p:nvSpPr>
        <p:spPr>
          <a:xfrm>
            <a:off x="4793778"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シリカエアロゲルのSEM微細構造</a:t>
            </a:r>
          </a:p>
        </p:txBody>
      </p:sp>
      <p:sp>
        <p:nvSpPr>
          <p:cNvPr id="38" name="Rounded Rectangle 37"/>
          <p:cNvSpPr/>
          <p:nvPr/>
        </p:nvSpPr>
        <p:spPr>
          <a:xfrm>
            <a:off x="8392152"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01880"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1880"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41" name="TextBox 40"/>
          <p:cNvSpPr txBox="1"/>
          <p:nvPr/>
        </p:nvSpPr>
        <p:spPr>
          <a:xfrm>
            <a:off x="8392152"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42" name="TextBox 41"/>
          <p:cNvSpPr txBox="1"/>
          <p:nvPr/>
        </p:nvSpPr>
        <p:spPr>
          <a:xfrm>
            <a:off x="8501880"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43" name="TextBox 42"/>
          <p:cNvSpPr txBox="1"/>
          <p:nvPr/>
        </p:nvSpPr>
        <p:spPr>
          <a:xfrm>
            <a:off x="8392152"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エアロゲルの断熱性デモ（炎上の試料等）</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9 / 43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材料構成：持続可能かつ高性能</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43</a:t>
            </a:r>
          </a:p>
        </p:txBody>
      </p:sp>
      <p:sp>
        <p:nvSpPr>
          <p:cNvPr id="10" name="TextBox 9"/>
          <p:cNvSpPr txBox="1"/>
          <p:nvPr/>
        </p:nvSpPr>
        <p:spPr>
          <a:xfrm>
            <a:off x="365760" y="859536"/>
            <a:ext cx="11460175" cy="457200"/>
          </a:xfrm>
          <a:prstGeom prst="rect">
            <a:avLst/>
          </a:prstGeom>
          <a:noFill/>
        </p:spPr>
        <p:txBody>
          <a:bodyPr wrap="square" anchor="ctr" lIns="36000" rIns="36000" tIns="18000" bIns="18000">
            <a:spAutoFit/>
          </a:bodyPr>
          <a:lstStyle/>
          <a:p>
            <a:pPr algn="l"/>
            <a:r>
              <a:rPr sz="1400" b="0" i="0">
                <a:solidFill>
                  <a:srgbClr val="334155"/>
                </a:solidFill>
                <a:latin typeface="Noto Sans JP"/>
              </a:rPr>
              <a:t>本ゲルは「骨格・機能・結合」を担う3要素で構成され、生分解性と高性能を両立します。</a:t>
            </a:r>
          </a:p>
        </p:txBody>
      </p:sp>
      <p:sp>
        <p:nvSpPr>
          <p:cNvPr id="11" name="Rounded Rectangle 10"/>
          <p:cNvSpPr/>
          <p:nvPr/>
        </p:nvSpPr>
        <p:spPr>
          <a:xfrm>
            <a:off x="365760"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44752"/>
            <a:ext cx="3637178"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719072"/>
            <a:ext cx="3637178" cy="512064"/>
          </a:xfrm>
          <a:prstGeom prst="rect">
            <a:avLst/>
          </a:prstGeom>
          <a:noFill/>
        </p:spPr>
        <p:txBody>
          <a:bodyPr wrap="square" anchor="ctr" lIns="36000" rIns="36000" tIns="18000" bIns="18000">
            <a:spAutoFit/>
          </a:bodyPr>
          <a:lstStyle/>
          <a:p>
            <a:pPr algn="ctr"/>
            <a:r>
              <a:rPr sz="3000" b="0" i="0">
                <a:solidFill>
                  <a:srgbClr val="3B5174"/>
                </a:solidFill>
                <a:latin typeface="Noto Sans JP"/>
              </a:rPr>
              <a:t>🌿</a:t>
            </a:r>
          </a:p>
        </p:txBody>
      </p:sp>
      <p:sp>
        <p:nvSpPr>
          <p:cNvPr id="14" name="TextBox 13"/>
          <p:cNvSpPr txBox="1"/>
          <p:nvPr/>
        </p:nvSpPr>
        <p:spPr>
          <a:xfrm>
            <a:off x="585216"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セルロース誘導体</a:t>
            </a:r>
          </a:p>
        </p:txBody>
      </p:sp>
      <p:sp>
        <p:nvSpPr>
          <p:cNvPr id="15" name="TextBox 14"/>
          <p:cNvSpPr txBox="1"/>
          <p:nvPr/>
        </p:nvSpPr>
        <p:spPr>
          <a:xfrm>
            <a:off x="585216"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Cellulose derivatives</a:t>
            </a:r>
          </a:p>
        </p:txBody>
      </p:sp>
      <p:sp>
        <p:nvSpPr>
          <p:cNvPr id="16" name="Rectangle 15"/>
          <p:cNvSpPr/>
          <p:nvPr/>
        </p:nvSpPr>
        <p:spPr>
          <a:xfrm>
            <a:off x="658368"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植物由来のバイオポリマー。ゲルネットワークの骨格を形成します。</a:t>
            </a:r>
          </a:p>
        </p:txBody>
      </p:sp>
      <p:sp>
        <p:nvSpPr>
          <p:cNvPr id="18" name="Rounded Rectangle 17"/>
          <p:cNvSpPr/>
          <p:nvPr/>
        </p:nvSpPr>
        <p:spPr>
          <a:xfrm>
            <a:off x="585216" y="4279392"/>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4279392"/>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3種</a:t>
            </a:r>
          </a:p>
        </p:txBody>
      </p:sp>
      <p:sp>
        <p:nvSpPr>
          <p:cNvPr id="20" name="TextBox 19"/>
          <p:cNvSpPr txBox="1"/>
          <p:nvPr/>
        </p:nvSpPr>
        <p:spPr>
          <a:xfrm>
            <a:off x="1517904"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HEC・MC・MHEC を使用</a:t>
            </a:r>
          </a:p>
        </p:txBody>
      </p:sp>
      <p:sp>
        <p:nvSpPr>
          <p:cNvPr id="21" name="Rounded Rectangle 20"/>
          <p:cNvSpPr/>
          <p:nvPr/>
        </p:nvSpPr>
        <p:spPr>
          <a:xfrm>
            <a:off x="585216" y="4956048"/>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4956048"/>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生分解性</a:t>
            </a:r>
          </a:p>
        </p:txBody>
      </p:sp>
      <p:sp>
        <p:nvSpPr>
          <p:cNvPr id="23" name="TextBox 22"/>
          <p:cNvSpPr txBox="1"/>
          <p:nvPr/>
        </p:nvSpPr>
        <p:spPr>
          <a:xfrm>
            <a:off x="1517904"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環境負荷が低い</a:t>
            </a:r>
          </a:p>
        </p:txBody>
      </p:sp>
      <p:sp>
        <p:nvSpPr>
          <p:cNvPr id="24" name="Rounded Rectangle 23"/>
          <p:cNvSpPr/>
          <p:nvPr/>
        </p:nvSpPr>
        <p:spPr>
          <a:xfrm>
            <a:off x="585216" y="5632704"/>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5632704"/>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役割</a:t>
            </a:r>
          </a:p>
        </p:txBody>
      </p:sp>
      <p:sp>
        <p:nvSpPr>
          <p:cNvPr id="26" name="TextBox 25"/>
          <p:cNvSpPr txBox="1"/>
          <p:nvPr/>
        </p:nvSpPr>
        <p:spPr>
          <a:xfrm>
            <a:off x="1517904"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粘性・構造の土台</a:t>
            </a:r>
          </a:p>
        </p:txBody>
      </p:sp>
      <p:sp>
        <p:nvSpPr>
          <p:cNvPr id="27" name="Rounded Rectangle 26"/>
          <p:cNvSpPr/>
          <p:nvPr/>
        </p:nvSpPr>
        <p:spPr>
          <a:xfrm>
            <a:off x="4277258"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7258" y="1444752"/>
            <a:ext cx="3637178"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77258" y="1719072"/>
            <a:ext cx="3637178" cy="512064"/>
          </a:xfrm>
          <a:prstGeom prst="rect">
            <a:avLst/>
          </a:prstGeom>
          <a:noFill/>
        </p:spPr>
        <p:txBody>
          <a:bodyPr wrap="square" anchor="ctr" lIns="36000" rIns="36000" tIns="18000" bIns="18000">
            <a:spAutoFit/>
          </a:bodyPr>
          <a:lstStyle/>
          <a:p>
            <a:pPr algn="ctr"/>
            <a:r>
              <a:rPr sz="3000" b="0" i="0">
                <a:solidFill>
                  <a:srgbClr val="4A7C8C"/>
                </a:solidFill>
                <a:latin typeface="Noto Sans JP"/>
              </a:rPr>
              <a:t>◎</a:t>
            </a:r>
          </a:p>
        </p:txBody>
      </p:sp>
      <p:sp>
        <p:nvSpPr>
          <p:cNvPr id="30" name="TextBox 29"/>
          <p:cNvSpPr txBox="1"/>
          <p:nvPr/>
        </p:nvSpPr>
        <p:spPr>
          <a:xfrm>
            <a:off x="4496714"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コロイダルシリカ（CSP）</a:t>
            </a:r>
          </a:p>
        </p:txBody>
      </p:sp>
      <p:sp>
        <p:nvSpPr>
          <p:cNvPr id="31" name="TextBox 30"/>
          <p:cNvSpPr txBox="1"/>
          <p:nvPr/>
        </p:nvSpPr>
        <p:spPr>
          <a:xfrm>
            <a:off x="4496714"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Colloidal Silica Particles</a:t>
            </a:r>
          </a:p>
        </p:txBody>
      </p:sp>
      <p:sp>
        <p:nvSpPr>
          <p:cNvPr id="32" name="Rectangle 31"/>
          <p:cNvSpPr/>
          <p:nvPr/>
        </p:nvSpPr>
        <p:spPr>
          <a:xfrm>
            <a:off x="4569866"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96714"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ポリマーと動的に相互作用し、熱でエアロゲルを形成する主役成分です。</a:t>
            </a:r>
          </a:p>
        </p:txBody>
      </p:sp>
      <p:sp>
        <p:nvSpPr>
          <p:cNvPr id="34" name="Rounded Rectangle 33"/>
          <p:cNvSpPr/>
          <p:nvPr/>
        </p:nvSpPr>
        <p:spPr>
          <a:xfrm>
            <a:off x="4496714" y="4279392"/>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6714" y="4279392"/>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直径</a:t>
            </a:r>
          </a:p>
        </p:txBody>
      </p:sp>
      <p:sp>
        <p:nvSpPr>
          <p:cNvPr id="36" name="TextBox 35"/>
          <p:cNvSpPr txBox="1"/>
          <p:nvPr/>
        </p:nvSpPr>
        <p:spPr>
          <a:xfrm>
            <a:off x="5429402"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約 22 nm の単分散粒子</a:t>
            </a:r>
          </a:p>
        </p:txBody>
      </p:sp>
      <p:sp>
        <p:nvSpPr>
          <p:cNvPr id="37" name="Rounded Rectangle 36"/>
          <p:cNvSpPr/>
          <p:nvPr/>
        </p:nvSpPr>
        <p:spPr>
          <a:xfrm>
            <a:off x="4496714" y="4956048"/>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96714" y="4956048"/>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焼結</a:t>
            </a:r>
          </a:p>
        </p:txBody>
      </p:sp>
      <p:sp>
        <p:nvSpPr>
          <p:cNvPr id="39" name="TextBox 38"/>
          <p:cNvSpPr txBox="1"/>
          <p:nvPr/>
        </p:nvSpPr>
        <p:spPr>
          <a:xfrm>
            <a:off x="5429402"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加熱でシリカ骨格を形成</a:t>
            </a:r>
          </a:p>
        </p:txBody>
      </p:sp>
      <p:sp>
        <p:nvSpPr>
          <p:cNvPr id="40" name="Rounded Rectangle 39"/>
          <p:cNvSpPr/>
          <p:nvPr/>
        </p:nvSpPr>
        <p:spPr>
          <a:xfrm>
            <a:off x="4496714" y="5632704"/>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96714" y="5632704"/>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役割</a:t>
            </a:r>
          </a:p>
        </p:txBody>
      </p:sp>
      <p:sp>
        <p:nvSpPr>
          <p:cNvPr id="42" name="TextBox 41"/>
          <p:cNvSpPr txBox="1"/>
          <p:nvPr/>
        </p:nvSpPr>
        <p:spPr>
          <a:xfrm>
            <a:off x="5429402"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断熱エアロゲルの源</a:t>
            </a:r>
          </a:p>
        </p:txBody>
      </p:sp>
      <p:sp>
        <p:nvSpPr>
          <p:cNvPr id="43" name="Rounded Rectangle 42"/>
          <p:cNvSpPr/>
          <p:nvPr/>
        </p:nvSpPr>
        <p:spPr>
          <a:xfrm>
            <a:off x="8188756"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88756" y="1444752"/>
            <a:ext cx="3637178"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88756" y="1719072"/>
            <a:ext cx="3637178" cy="512064"/>
          </a:xfrm>
          <a:prstGeom prst="rect">
            <a:avLst/>
          </a:prstGeom>
          <a:noFill/>
        </p:spPr>
        <p:txBody>
          <a:bodyPr wrap="square" anchor="ctr" lIns="36000" rIns="36000" tIns="18000" bIns="18000">
            <a:spAutoFit/>
          </a:bodyPr>
          <a:lstStyle/>
          <a:p>
            <a:pPr algn="ctr"/>
            <a:r>
              <a:rPr sz="3000" b="0" i="0">
                <a:solidFill>
                  <a:srgbClr val="9F7639"/>
                </a:solidFill>
                <a:latin typeface="Noto Sans JP"/>
              </a:rPr>
              <a:t>⬡</a:t>
            </a:r>
          </a:p>
        </p:txBody>
      </p:sp>
      <p:sp>
        <p:nvSpPr>
          <p:cNvPr id="46" name="TextBox 45"/>
          <p:cNvSpPr txBox="1"/>
          <p:nvPr/>
        </p:nvSpPr>
        <p:spPr>
          <a:xfrm>
            <a:off x="8408212"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PP 相互作用</a:t>
            </a:r>
          </a:p>
        </p:txBody>
      </p:sp>
      <p:sp>
        <p:nvSpPr>
          <p:cNvPr id="47" name="TextBox 46"/>
          <p:cNvSpPr txBox="1"/>
          <p:nvPr/>
        </p:nvSpPr>
        <p:spPr>
          <a:xfrm>
            <a:off x="8408212"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Polymer–Particle Interaction</a:t>
            </a:r>
          </a:p>
        </p:txBody>
      </p:sp>
      <p:sp>
        <p:nvSpPr>
          <p:cNvPr id="48" name="Rectangle 47"/>
          <p:cNvSpPr/>
          <p:nvPr/>
        </p:nvSpPr>
        <p:spPr>
          <a:xfrm>
            <a:off x="8481364"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08212"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動的な多価水素結合でネットワークを構築。共有結合に依存しません。</a:t>
            </a:r>
          </a:p>
        </p:txBody>
      </p:sp>
      <p:sp>
        <p:nvSpPr>
          <p:cNvPr id="50" name="Rounded Rectangle 49"/>
          <p:cNvSpPr/>
          <p:nvPr/>
        </p:nvSpPr>
        <p:spPr>
          <a:xfrm>
            <a:off x="8408212" y="4279392"/>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08212" y="4279392"/>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結合</a:t>
            </a:r>
          </a:p>
        </p:txBody>
      </p:sp>
      <p:sp>
        <p:nvSpPr>
          <p:cNvPr id="52" name="TextBox 51"/>
          <p:cNvSpPr txBox="1"/>
          <p:nvPr/>
        </p:nvSpPr>
        <p:spPr>
          <a:xfrm>
            <a:off x="9340900"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動的・多価の水素結合</a:t>
            </a:r>
          </a:p>
        </p:txBody>
      </p:sp>
      <p:sp>
        <p:nvSpPr>
          <p:cNvPr id="53" name="Rounded Rectangle 52"/>
          <p:cNvSpPr/>
          <p:nvPr/>
        </p:nvSpPr>
        <p:spPr>
          <a:xfrm>
            <a:off x="8408212" y="4956048"/>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8212" y="4956048"/>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自己修復</a:t>
            </a:r>
          </a:p>
        </p:txBody>
      </p:sp>
      <p:sp>
        <p:nvSpPr>
          <p:cNvPr id="55" name="TextBox 54"/>
          <p:cNvSpPr txBox="1"/>
          <p:nvPr/>
        </p:nvSpPr>
        <p:spPr>
          <a:xfrm>
            <a:off x="9340900"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ひずみ後にゲルが回復</a:t>
            </a:r>
          </a:p>
        </p:txBody>
      </p:sp>
      <p:sp>
        <p:nvSpPr>
          <p:cNvPr id="56" name="Rounded Rectangle 55"/>
          <p:cNvSpPr/>
          <p:nvPr/>
        </p:nvSpPr>
        <p:spPr>
          <a:xfrm>
            <a:off x="8408212" y="5632704"/>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408212" y="5632704"/>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噴霧適性</a:t>
            </a:r>
          </a:p>
        </p:txBody>
      </p:sp>
      <p:sp>
        <p:nvSpPr>
          <p:cNvPr id="58" name="TextBox 57"/>
          <p:cNvSpPr txBox="1"/>
          <p:nvPr/>
        </p:nvSpPr>
        <p:spPr>
          <a:xfrm>
            <a:off x="9340900"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スプレー塗布が容易</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噴霧・付着・耐火のメカニズム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43</a:t>
            </a:r>
          </a:p>
        </p:txBody>
      </p:sp>
      <p:sp>
        <p:nvSpPr>
          <p:cNvPr id="10" name="TextBox 9"/>
          <p:cNvSpPr txBox="1"/>
          <p:nvPr/>
        </p:nvSpPr>
        <p:spPr>
          <a:xfrm>
            <a:off x="365760" y="859536"/>
            <a:ext cx="11460175" cy="475488"/>
          </a:xfrm>
          <a:prstGeom prst="rect">
            <a:avLst/>
          </a:prstGeom>
          <a:noFill/>
        </p:spPr>
        <p:txBody>
          <a:bodyPr wrap="square" anchor="ctr" lIns="36000" rIns="36000" tIns="18000" bIns="18000">
            <a:spAutoFit/>
          </a:bodyPr>
          <a:lstStyle/>
          <a:p>
            <a:pPr algn="l"/>
            <a:r>
              <a:rPr sz="1500" b="1" i="0">
                <a:solidFill>
                  <a:srgbClr val="1E293B"/>
                </a:solidFill>
                <a:latin typeface="Noto Sans JP"/>
              </a:rPr>
              <a:t>温度ではなく「せん断力」と「自己修復性」が、噴霧から付着までを支配します。</a:t>
            </a:r>
          </a:p>
        </p:txBody>
      </p:sp>
      <p:sp>
        <p:nvSpPr>
          <p:cNvPr id="11" name="Rounded Rectangle 10"/>
          <p:cNvSpPr/>
          <p:nvPr/>
        </p:nvSpPr>
        <p:spPr>
          <a:xfrm>
            <a:off x="365760"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63040"/>
            <a:ext cx="2659303"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627632"/>
            <a:ext cx="2293543" cy="310896"/>
          </a:xfrm>
          <a:prstGeom prst="rect">
            <a:avLst/>
          </a:prstGeom>
          <a:noFill/>
        </p:spPr>
        <p:txBody>
          <a:bodyPr wrap="square" anchor="t" lIns="36000" rIns="36000" tIns="18000" bIns="18000">
            <a:spAutoFit/>
          </a:bodyPr>
          <a:lstStyle/>
          <a:p>
            <a:pPr algn="l"/>
            <a:r>
              <a:rPr sz="1300" b="1" i="0">
                <a:solidFill>
                  <a:srgbClr val="3B5174"/>
                </a:solidFill>
                <a:latin typeface="Noto Sans JP"/>
              </a:rPr>
              <a:t>01</a:t>
            </a:r>
          </a:p>
        </p:txBody>
      </p:sp>
      <p:sp>
        <p:nvSpPr>
          <p:cNvPr id="14" name="TextBox 13"/>
          <p:cNvSpPr txBox="1"/>
          <p:nvPr/>
        </p:nvSpPr>
        <p:spPr>
          <a:xfrm>
            <a:off x="548640"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静止時</a:t>
            </a:r>
          </a:p>
        </p:txBody>
      </p:sp>
      <p:sp>
        <p:nvSpPr>
          <p:cNvPr id="15" name="TextBox 14"/>
          <p:cNvSpPr txBox="1"/>
          <p:nvPr/>
        </p:nvSpPr>
        <p:spPr>
          <a:xfrm>
            <a:off x="548640"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ゲル</a:t>
            </a:r>
          </a:p>
        </p:txBody>
      </p:sp>
      <p:sp>
        <p:nvSpPr>
          <p:cNvPr id="16" name="Rectangle 15"/>
          <p:cNvSpPr/>
          <p:nvPr/>
        </p:nvSpPr>
        <p:spPr>
          <a:xfrm>
            <a:off x="548640"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高粘度の弾性ゲル。G′ &gt; G″ で構造を保持。</a:t>
            </a:r>
          </a:p>
        </p:txBody>
      </p:sp>
      <p:sp>
        <p:nvSpPr>
          <p:cNvPr id="18" name="Rounded Rectangle 17"/>
          <p:cNvSpPr/>
          <p:nvPr/>
        </p:nvSpPr>
        <p:spPr>
          <a:xfrm>
            <a:off x="548640" y="4078224"/>
            <a:ext cx="2293543" cy="420624"/>
          </a:xfrm>
          <a:prstGeom prst="roundRect">
            <a:avLst>
              <a:gd name="adj" fmla="val 6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078224"/>
            <a:ext cx="2293543" cy="420624"/>
          </a:xfrm>
          <a:prstGeom prst="rect">
            <a:avLst/>
          </a:prstGeom>
          <a:noFill/>
        </p:spPr>
        <p:txBody>
          <a:bodyPr wrap="square" anchor="ctr" lIns="36000" rIns="36000" tIns="18000" bIns="18000">
            <a:spAutoFit/>
          </a:bodyPr>
          <a:lstStyle/>
          <a:p>
            <a:pPr algn="ctr"/>
            <a:r>
              <a:rPr sz="1100" b="1" i="0">
                <a:solidFill>
                  <a:srgbClr val="3B5174"/>
                </a:solidFill>
                <a:latin typeface="Noto Sans JP"/>
              </a:rPr>
              <a:t>降伏応力 ~33 Pa</a:t>
            </a:r>
          </a:p>
        </p:txBody>
      </p:sp>
      <p:sp>
        <p:nvSpPr>
          <p:cNvPr id="20" name="TextBox 19"/>
          <p:cNvSpPr txBox="1"/>
          <p:nvPr/>
        </p:nvSpPr>
        <p:spPr>
          <a:xfrm>
            <a:off x="3025063"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21" name="Rounded Rectangle 20"/>
          <p:cNvSpPr/>
          <p:nvPr/>
        </p:nvSpPr>
        <p:spPr>
          <a:xfrm>
            <a:off x="3299383"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99383" y="1463040"/>
            <a:ext cx="2659303"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82263" y="1627632"/>
            <a:ext cx="2293543" cy="310896"/>
          </a:xfrm>
          <a:prstGeom prst="rect">
            <a:avLst/>
          </a:prstGeom>
          <a:noFill/>
        </p:spPr>
        <p:txBody>
          <a:bodyPr wrap="square" anchor="t" lIns="36000" rIns="36000" tIns="18000" bIns="18000">
            <a:spAutoFit/>
          </a:bodyPr>
          <a:lstStyle/>
          <a:p>
            <a:pPr algn="l"/>
            <a:r>
              <a:rPr sz="1300" b="1" i="0">
                <a:solidFill>
                  <a:srgbClr val="4A7C8C"/>
                </a:solidFill>
                <a:latin typeface="Noto Sans JP"/>
              </a:rPr>
              <a:t>02</a:t>
            </a:r>
          </a:p>
        </p:txBody>
      </p:sp>
      <p:sp>
        <p:nvSpPr>
          <p:cNvPr id="24" name="TextBox 23"/>
          <p:cNvSpPr txBox="1"/>
          <p:nvPr/>
        </p:nvSpPr>
        <p:spPr>
          <a:xfrm>
            <a:off x="3482263"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噴霧時</a:t>
            </a:r>
          </a:p>
        </p:txBody>
      </p:sp>
      <p:sp>
        <p:nvSpPr>
          <p:cNvPr id="25" name="TextBox 24"/>
          <p:cNvSpPr txBox="1"/>
          <p:nvPr/>
        </p:nvSpPr>
        <p:spPr>
          <a:xfrm>
            <a:off x="3482263"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ゾル様</a:t>
            </a:r>
          </a:p>
        </p:txBody>
      </p:sp>
      <p:sp>
        <p:nvSpPr>
          <p:cNvPr id="26" name="Rectangle 25"/>
          <p:cNvSpPr/>
          <p:nvPr/>
        </p:nvSpPr>
        <p:spPr>
          <a:xfrm>
            <a:off x="3482263"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82263"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せん断ひずみで粘度が低下し、流動化。</a:t>
            </a:r>
          </a:p>
        </p:txBody>
      </p:sp>
      <p:sp>
        <p:nvSpPr>
          <p:cNvPr id="28" name="Rounded Rectangle 27"/>
          <p:cNvSpPr/>
          <p:nvPr/>
        </p:nvSpPr>
        <p:spPr>
          <a:xfrm>
            <a:off x="3482263" y="4078224"/>
            <a:ext cx="2293543" cy="420624"/>
          </a:xfrm>
          <a:prstGeom prst="roundRect">
            <a:avLst>
              <a:gd name="adj" fmla="val 6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82263" y="4078224"/>
            <a:ext cx="2293543" cy="420624"/>
          </a:xfrm>
          <a:prstGeom prst="rect">
            <a:avLst/>
          </a:prstGeom>
          <a:noFill/>
        </p:spPr>
        <p:txBody>
          <a:bodyPr wrap="square" anchor="ctr" lIns="36000" rIns="36000" tIns="18000" bIns="18000">
            <a:spAutoFit/>
          </a:bodyPr>
          <a:lstStyle/>
          <a:p>
            <a:pPr algn="ctr"/>
            <a:r>
              <a:rPr sz="1100" b="1" i="0">
                <a:solidFill>
                  <a:srgbClr val="4A7C8C"/>
                </a:solidFill>
                <a:latin typeface="Noto Sans JP"/>
              </a:rPr>
              <a:t>せん断希薄化（粘度低下）</a:t>
            </a:r>
          </a:p>
        </p:txBody>
      </p:sp>
      <p:sp>
        <p:nvSpPr>
          <p:cNvPr id="30" name="TextBox 29"/>
          <p:cNvSpPr txBox="1"/>
          <p:nvPr/>
        </p:nvSpPr>
        <p:spPr>
          <a:xfrm>
            <a:off x="5958687"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31" name="Rounded Rectangle 30"/>
          <p:cNvSpPr/>
          <p:nvPr/>
        </p:nvSpPr>
        <p:spPr>
          <a:xfrm>
            <a:off x="6233007"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3007" y="1463040"/>
            <a:ext cx="2659303" cy="54864"/>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5887" y="1627632"/>
            <a:ext cx="2293543" cy="310896"/>
          </a:xfrm>
          <a:prstGeom prst="rect">
            <a:avLst/>
          </a:prstGeom>
          <a:noFill/>
        </p:spPr>
        <p:txBody>
          <a:bodyPr wrap="square" anchor="t" lIns="36000" rIns="36000" tIns="18000" bIns="18000">
            <a:spAutoFit/>
          </a:bodyPr>
          <a:lstStyle/>
          <a:p>
            <a:pPr algn="l"/>
            <a:r>
              <a:rPr sz="1300" b="1" i="0">
                <a:solidFill>
                  <a:srgbClr val="5B8C5A"/>
                </a:solidFill>
                <a:latin typeface="Noto Sans JP"/>
              </a:rPr>
              <a:t>03</a:t>
            </a:r>
          </a:p>
        </p:txBody>
      </p:sp>
      <p:sp>
        <p:nvSpPr>
          <p:cNvPr id="34" name="TextBox 33"/>
          <p:cNvSpPr txBox="1"/>
          <p:nvPr/>
        </p:nvSpPr>
        <p:spPr>
          <a:xfrm>
            <a:off x="6415887"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付着後</a:t>
            </a:r>
          </a:p>
        </p:txBody>
      </p:sp>
      <p:sp>
        <p:nvSpPr>
          <p:cNvPr id="35" name="TextBox 34"/>
          <p:cNvSpPr txBox="1"/>
          <p:nvPr/>
        </p:nvSpPr>
        <p:spPr>
          <a:xfrm>
            <a:off x="6415887"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自己修復ゲル</a:t>
            </a:r>
          </a:p>
        </p:txBody>
      </p:sp>
      <p:sp>
        <p:nvSpPr>
          <p:cNvPr id="36" name="Rectangle 35"/>
          <p:cNvSpPr/>
          <p:nvPr/>
        </p:nvSpPr>
        <p:spPr>
          <a:xfrm>
            <a:off x="6415887"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5887"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ひずみ解放で即座にゲル構造を回復。</a:t>
            </a:r>
          </a:p>
        </p:txBody>
      </p:sp>
      <p:sp>
        <p:nvSpPr>
          <p:cNvPr id="38" name="Rounded Rectangle 37"/>
          <p:cNvSpPr/>
          <p:nvPr/>
        </p:nvSpPr>
        <p:spPr>
          <a:xfrm>
            <a:off x="6415887" y="4078224"/>
            <a:ext cx="2293543" cy="420624"/>
          </a:xfrm>
          <a:prstGeom prst="roundRect">
            <a:avLst>
              <a:gd name="adj" fmla="val 6000"/>
            </a:avLst>
          </a:prstGeom>
          <a:solidFill>
            <a:srgbClr val="FFFFFF"/>
          </a:solidFill>
          <a:ln w="889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15887" y="4078224"/>
            <a:ext cx="2293543" cy="420624"/>
          </a:xfrm>
          <a:prstGeom prst="rect">
            <a:avLst/>
          </a:prstGeom>
          <a:noFill/>
        </p:spPr>
        <p:txBody>
          <a:bodyPr wrap="square" anchor="ctr" lIns="36000" rIns="36000" tIns="18000" bIns="18000">
            <a:spAutoFit/>
          </a:bodyPr>
          <a:lstStyle/>
          <a:p>
            <a:pPr algn="ctr"/>
            <a:r>
              <a:rPr sz="1100" b="1" i="0">
                <a:solidFill>
                  <a:srgbClr val="5B8C5A"/>
                </a:solidFill>
                <a:latin typeface="Noto Sans JP"/>
              </a:rPr>
              <a:t>G′ 回復率 ~90%</a:t>
            </a:r>
          </a:p>
        </p:txBody>
      </p:sp>
      <p:sp>
        <p:nvSpPr>
          <p:cNvPr id="40" name="TextBox 39"/>
          <p:cNvSpPr txBox="1"/>
          <p:nvPr/>
        </p:nvSpPr>
        <p:spPr>
          <a:xfrm>
            <a:off x="8892311"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41" name="Rounded Rectangle 40"/>
          <p:cNvSpPr/>
          <p:nvPr/>
        </p:nvSpPr>
        <p:spPr>
          <a:xfrm>
            <a:off x="9166631"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166631" y="1463040"/>
            <a:ext cx="2659303"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49511" y="1627632"/>
            <a:ext cx="2293543" cy="310896"/>
          </a:xfrm>
          <a:prstGeom prst="rect">
            <a:avLst/>
          </a:prstGeom>
          <a:noFill/>
        </p:spPr>
        <p:txBody>
          <a:bodyPr wrap="square" anchor="t" lIns="36000" rIns="36000" tIns="18000" bIns="18000">
            <a:spAutoFit/>
          </a:bodyPr>
          <a:lstStyle/>
          <a:p>
            <a:pPr algn="l"/>
            <a:r>
              <a:rPr sz="1300" b="1" i="0">
                <a:solidFill>
                  <a:srgbClr val="9F7639"/>
                </a:solidFill>
                <a:latin typeface="Noto Sans JP"/>
              </a:rPr>
              <a:t>04</a:t>
            </a:r>
          </a:p>
        </p:txBody>
      </p:sp>
      <p:sp>
        <p:nvSpPr>
          <p:cNvPr id="44" name="TextBox 43"/>
          <p:cNvSpPr txBox="1"/>
          <p:nvPr/>
        </p:nvSpPr>
        <p:spPr>
          <a:xfrm>
            <a:off x="9349511"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炎接触</a:t>
            </a:r>
          </a:p>
        </p:txBody>
      </p:sp>
      <p:sp>
        <p:nvSpPr>
          <p:cNvPr id="45" name="TextBox 44"/>
          <p:cNvSpPr txBox="1"/>
          <p:nvPr/>
        </p:nvSpPr>
        <p:spPr>
          <a:xfrm>
            <a:off x="9349511"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エアロゲル</a:t>
            </a:r>
          </a:p>
        </p:txBody>
      </p:sp>
      <p:sp>
        <p:nvSpPr>
          <p:cNvPr id="46" name="Rectangle 45"/>
          <p:cNvSpPr/>
          <p:nvPr/>
        </p:nvSpPr>
        <p:spPr>
          <a:xfrm>
            <a:off x="9349511"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49511"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CSP が焼結し多孔質シリカ層を形成。</a:t>
            </a:r>
          </a:p>
        </p:txBody>
      </p:sp>
      <p:sp>
        <p:nvSpPr>
          <p:cNvPr id="48" name="Rounded Rectangle 47"/>
          <p:cNvSpPr/>
          <p:nvPr/>
        </p:nvSpPr>
        <p:spPr>
          <a:xfrm>
            <a:off x="9349511" y="4078224"/>
            <a:ext cx="2293543" cy="420624"/>
          </a:xfrm>
          <a:prstGeom prst="roundRect">
            <a:avLst>
              <a:gd name="adj" fmla="val 6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49511" y="4078224"/>
            <a:ext cx="2293543" cy="420624"/>
          </a:xfrm>
          <a:prstGeom prst="rect">
            <a:avLst/>
          </a:prstGeom>
          <a:noFill/>
        </p:spPr>
        <p:txBody>
          <a:bodyPr wrap="square" anchor="ctr" lIns="36000" rIns="36000" tIns="18000" bIns="18000">
            <a:spAutoFit/>
          </a:bodyPr>
          <a:lstStyle/>
          <a:p>
            <a:pPr algn="ctr"/>
            <a:r>
              <a:rPr sz="1100" b="1" i="0">
                <a:solidFill>
                  <a:srgbClr val="9F7639"/>
                </a:solidFill>
                <a:latin typeface="Noto Sans JP"/>
              </a:rPr>
              <a:t>断熱バリアとして機能</a:t>
            </a:r>
          </a:p>
        </p:txBody>
      </p:sp>
      <p:sp>
        <p:nvSpPr>
          <p:cNvPr id="50" name="Rounded Rectangle 49"/>
          <p:cNvSpPr/>
          <p:nvPr/>
        </p:nvSpPr>
        <p:spPr>
          <a:xfrm>
            <a:off x="365760" y="4846320"/>
            <a:ext cx="11460175" cy="175564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4846320"/>
            <a:ext cx="73152" cy="175564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4846320"/>
            <a:ext cx="2194560" cy="1755648"/>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53" name="TextBox 52"/>
          <p:cNvSpPr txBox="1"/>
          <p:nvPr/>
        </p:nvSpPr>
        <p:spPr>
          <a:xfrm>
            <a:off x="2194560" y="4846320"/>
            <a:ext cx="9357055" cy="1755648"/>
          </a:xfrm>
          <a:prstGeom prst="rect">
            <a:avLst/>
          </a:prstGeom>
          <a:noFill/>
        </p:spPr>
        <p:txBody>
          <a:bodyPr wrap="square" anchor="ctr" lIns="36000" rIns="36000" tIns="18000" bIns="18000">
            <a:spAutoFit/>
          </a:bodyPr>
          <a:lstStyle/>
          <a:p>
            <a:pPr algn="l"/>
            <a:r>
              <a:rPr sz="1300" b="0" i="0">
                <a:solidFill>
                  <a:srgbClr val="FFFFFF"/>
                </a:solidFill>
                <a:latin typeface="Noto Sans JP"/>
              </a:rPr>
              <a:t>MC の温度応答性（LCST）に頼らず、レオロジー特性だけで「飛ばす→留める→固める」を実現する点が本材料の核心です。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43</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30175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30175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39136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
        <p:nvSpPr>
          <p:cNvPr id="29" name="Rounded Rectangle 28"/>
          <p:cNvSpPr/>
          <p:nvPr/>
        </p:nvSpPr>
        <p:spPr>
          <a:xfrm>
            <a:off x="6742008" y="4297680"/>
            <a:ext cx="5083926"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1736" y="440740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1736" y="440740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6742008" y="4297680"/>
            <a:ext cx="5083926"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6851736" y="5779008"/>
            <a:ext cx="4864470"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6742008" y="6163056"/>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セルロースの分子構造（参考）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レオロジー設計：せん断希薄化と自己修復性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43</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せん断速度（シアシニング挙動）</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せん断希薄化</a:t>
            </a:r>
          </a:p>
        </p:txBody>
      </p:sp>
      <p:sp>
        <p:nvSpPr>
          <p:cNvPr id="17" name="TextBox 16"/>
          <p:cNvSpPr txBox="1"/>
          <p:nvPr/>
        </p:nvSpPr>
        <p:spPr>
          <a:xfrm>
            <a:off x="1408175" y="367588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高せん断で粘度が急低下（噴霧時に低粘度化）</a:t>
            </a:r>
          </a:p>
        </p:txBody>
      </p:sp>
      <p:sp>
        <p:nvSpPr>
          <p:cNvPr id="18" name="TextBox 17"/>
          <p:cNvSpPr txBox="1"/>
          <p:nvPr/>
        </p:nvSpPr>
        <p:spPr>
          <a:xfrm>
            <a:off x="365760" y="404164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降伏応力</a:t>
            </a:r>
          </a:p>
        </p:txBody>
      </p:sp>
      <p:sp>
        <p:nvSpPr>
          <p:cNvPr id="19" name="TextBox 18"/>
          <p:cNvSpPr txBox="1"/>
          <p:nvPr/>
        </p:nvSpPr>
        <p:spPr>
          <a:xfrm>
            <a:off x="1408175" y="404164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~33 Pa（静止時のゲル構造を維持）</a:t>
            </a:r>
          </a:p>
        </p:txBody>
      </p:sp>
      <p:sp>
        <p:nvSpPr>
          <p:cNvPr id="20" name="TextBox 19"/>
          <p:cNvSpPr txBox="1"/>
          <p:nvPr/>
        </p:nvSpPr>
        <p:spPr>
          <a:xfrm>
            <a:off x="365760" y="440740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自己修復性</a:t>
            </a:r>
          </a:p>
        </p:txBody>
      </p:sp>
      <p:sp>
        <p:nvSpPr>
          <p:cNvPr id="21" name="TextBox 20"/>
          <p:cNvSpPr txBox="1"/>
          <p:nvPr/>
        </p:nvSpPr>
        <p:spPr>
          <a:xfrm>
            <a:off x="1408175" y="440740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ひずみ除去後 G' が ~90% 回復</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粘度挙動</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可逆</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高せん断で低粘度→静止で回復</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動的降伏応力</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~33 Pa</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HEC+MC/CSP（HB fit）</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G' 回復率</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5B8C5A"/>
                </a:solidFill>
                <a:latin typeface="Noto Sans JP"/>
              </a:rPr>
              <a:t>~90%</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1000秒後</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噴霧〜耐火プロセス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静止時</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ゲル状態</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&gt; G''</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噴霧時</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せん断希薄化</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低粘度・ゾル様</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付着後</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自己修復</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回復</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炎接触</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エアロゲル化</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多孔質シリカ層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43</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15 / 43</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4" name="TextBox 33"/>
          <p:cNvSpPr txBox="1"/>
          <p:nvPr/>
        </p:nvSpPr>
        <p:spPr>
          <a:xfrm>
            <a:off x="749808" y="349300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ポリマー種を変えて機能差を比較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6" name="TextBox 35"/>
          <p:cNvSpPr txBox="1"/>
          <p:nvPr/>
        </p:nvSpPr>
        <p:spPr>
          <a:xfrm>
            <a:off x="749808" y="376732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SDS濃度を2水準で発泡構造を検証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8" name="TextBox 37"/>
          <p:cNvSpPr txBox="1"/>
          <p:nvPr/>
        </p:nvSpPr>
        <p:spPr>
          <a:xfrm>
            <a:off x="749808" y="404164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市販品AquaGel-Kと直接比較</a:t>
            </a:r>
          </a:p>
        </p:txBody>
      </p:sp>
      <p:sp>
        <p:nvSpPr>
          <p:cNvPr id="39" name="Rounded Rectangle 38"/>
          <p:cNvSpPr/>
          <p:nvPr/>
        </p:nvSpPr>
        <p:spPr>
          <a:xfrm>
            <a:off x="4240682"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40682"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23562"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記法の読み方</a:t>
            </a:r>
          </a:p>
        </p:txBody>
      </p:sp>
      <p:sp>
        <p:nvSpPr>
          <p:cNvPr id="42" name="TextBox 41"/>
          <p:cNvSpPr txBox="1"/>
          <p:nvPr/>
        </p:nvSpPr>
        <p:spPr>
          <a:xfrm>
            <a:off x="4423562" y="3493008"/>
            <a:ext cx="3344570" cy="1645920"/>
          </a:xfrm>
          <a:prstGeom prst="rect">
            <a:avLst/>
          </a:prstGeom>
          <a:noFill/>
        </p:spPr>
        <p:txBody>
          <a:bodyPr wrap="square" anchor="t" lIns="36000" rIns="36000" tIns="18000" bIns="18000">
            <a:spAutoFit/>
          </a:bodyPr>
          <a:lstStyle/>
          <a:p>
            <a:pPr algn="l"/>
            <a:r>
              <a:rPr sz="1300" b="0" i="0">
                <a:solidFill>
                  <a:srgbClr val="475569"/>
                </a:solidFill>
                <a:latin typeface="Noto Sans JP"/>
              </a:rPr>
              <a:t>HEC+MC/CSP/SDS 1-5-0.1</a:t>
            </a:r>
          </a:p>
          <a:p>
            <a:pPr algn="l"/>
            <a:r>
              <a:rPr sz="1300" b="0" i="0">
                <a:solidFill>
                  <a:srgbClr val="475569"/>
                </a:solidFill>
                <a:latin typeface="Noto Sans JP"/>
              </a:rPr>
              <a:t>→ HEC+MC 1 wt%</a:t>
            </a:r>
          </a:p>
          <a:p>
            <a:pPr algn="l"/>
            <a:r>
              <a:rPr sz="1300" b="0" i="0">
                <a:solidFill>
                  <a:srgbClr val="475569"/>
                </a:solidFill>
                <a:latin typeface="Noto Sans JP"/>
              </a:rPr>
              <a:t>／ CSP 5 wt%</a:t>
            </a:r>
          </a:p>
          <a:p>
            <a:pPr algn="l"/>
            <a:r>
              <a:rPr sz="1300" b="0" i="0">
                <a:solidFill>
                  <a:srgbClr val="475569"/>
                </a:solidFill>
                <a:latin typeface="Noto Sans JP"/>
              </a:rPr>
              <a:t>／ SDS 0.1 wt%</a:t>
            </a:r>
          </a:p>
        </p:txBody>
      </p:sp>
      <p:sp>
        <p:nvSpPr>
          <p:cNvPr id="43" name="Rounded Rectangle 42"/>
          <p:cNvSpPr/>
          <p:nvPr/>
        </p:nvSpPr>
        <p:spPr>
          <a:xfrm>
            <a:off x="8115604" y="2962656"/>
            <a:ext cx="3710330" cy="197510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5332" y="307238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5332" y="307238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46" name="TextBox 45"/>
          <p:cNvSpPr txBox="1"/>
          <p:nvPr/>
        </p:nvSpPr>
        <p:spPr>
          <a:xfrm>
            <a:off x="8115604" y="2962656"/>
            <a:ext cx="3710330" cy="197510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7" name="TextBox 46"/>
          <p:cNvSpPr txBox="1"/>
          <p:nvPr/>
        </p:nvSpPr>
        <p:spPr>
          <a:xfrm>
            <a:off x="8115604" y="4974336"/>
            <a:ext cx="37103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5配合系のゲル外観</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43</a:t>
            </a:r>
          </a:p>
        </p:txBody>
      </p:sp>
      <p:sp>
        <p:nvSpPr>
          <p:cNvPr id="10" name="Rounded Rectangle 9"/>
          <p:cNvSpPr/>
          <p:nvPr/>
        </p:nvSpPr>
        <p:spPr>
          <a:xfrm>
            <a:off x="365760" y="859536"/>
            <a:ext cx="3805019" cy="544982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Setup</a:t>
            </a:r>
          </a:p>
        </p:txBody>
      </p:sp>
      <p:sp>
        <p:nvSpPr>
          <p:cNvPr id="13" name="TextBox 12"/>
          <p:cNvSpPr txBox="1"/>
          <p:nvPr/>
        </p:nvSpPr>
        <p:spPr>
          <a:xfrm>
            <a:off x="365760" y="859536"/>
            <a:ext cx="3805019" cy="544982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6345936"/>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燃焼試験セットアップ（MAP-Proトーチ／合板基板）</a:t>
            </a:r>
          </a:p>
        </p:txBody>
      </p:sp>
      <p:sp>
        <p:nvSpPr>
          <p:cNvPr id="15" name="Rounded Rectangle 14"/>
          <p:cNvSpPr/>
          <p:nvPr/>
        </p:nvSpPr>
        <p:spPr>
          <a:xfrm>
            <a:off x="4353659"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3659"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539"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8" name="TextBox 17"/>
          <p:cNvSpPr txBox="1"/>
          <p:nvPr/>
        </p:nvSpPr>
        <p:spPr>
          <a:xfrm>
            <a:off x="4536539"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レオロジー測定</a:t>
            </a:r>
          </a:p>
        </p:txBody>
      </p:sp>
      <p:sp>
        <p:nvSpPr>
          <p:cNvPr id="19" name="TextBox 18"/>
          <p:cNvSpPr txBox="1"/>
          <p:nvPr/>
        </p:nvSpPr>
        <p:spPr>
          <a:xfrm>
            <a:off x="4536539"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0" name="TextBox 19"/>
          <p:cNvSpPr txBox="1"/>
          <p:nvPr/>
        </p:nvSpPr>
        <p:spPr>
          <a:xfrm>
            <a:off x="4737707"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振動周波数掃引（G', G''）</a:t>
            </a:r>
          </a:p>
        </p:txBody>
      </p:sp>
      <p:sp>
        <p:nvSpPr>
          <p:cNvPr id="21" name="TextBox 20"/>
          <p:cNvSpPr txBox="1"/>
          <p:nvPr/>
        </p:nvSpPr>
        <p:spPr>
          <a:xfrm>
            <a:off x="4536539"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2" name="TextBox 21"/>
          <p:cNvSpPr txBox="1"/>
          <p:nvPr/>
        </p:nvSpPr>
        <p:spPr>
          <a:xfrm>
            <a:off x="4737707"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定常流動掃引（粘度）</a:t>
            </a:r>
          </a:p>
        </p:txBody>
      </p:sp>
      <p:sp>
        <p:nvSpPr>
          <p:cNvPr id="23" name="TextBox 22"/>
          <p:cNvSpPr txBox="1"/>
          <p:nvPr/>
        </p:nvSpPr>
        <p:spPr>
          <a:xfrm>
            <a:off x="4536539"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4" name="TextBox 23"/>
          <p:cNvSpPr txBox="1"/>
          <p:nvPr/>
        </p:nvSpPr>
        <p:spPr>
          <a:xfrm>
            <a:off x="4737707"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Herschel-Bulkley適合</a:t>
            </a:r>
          </a:p>
        </p:txBody>
      </p:sp>
      <p:sp>
        <p:nvSpPr>
          <p:cNvPr id="25" name="Rounded Rectangle 24"/>
          <p:cNvSpPr/>
          <p:nvPr/>
        </p:nvSpPr>
        <p:spPr>
          <a:xfrm>
            <a:off x="8158377"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8377"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1257"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8" name="TextBox 27"/>
          <p:cNvSpPr txBox="1"/>
          <p:nvPr/>
        </p:nvSpPr>
        <p:spPr>
          <a:xfrm>
            <a:off x="8341257"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燃焼試験</a:t>
            </a:r>
          </a:p>
        </p:txBody>
      </p:sp>
      <p:sp>
        <p:nvSpPr>
          <p:cNvPr id="29" name="TextBox 28"/>
          <p:cNvSpPr txBox="1"/>
          <p:nvPr/>
        </p:nvSpPr>
        <p:spPr>
          <a:xfrm>
            <a:off x="8341257"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0" name="TextBox 29"/>
          <p:cNvSpPr txBox="1"/>
          <p:nvPr/>
        </p:nvSpPr>
        <p:spPr>
          <a:xfrm>
            <a:off x="8542425"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MAP-Proトーチ(~2054°C)で加熱</a:t>
            </a:r>
          </a:p>
        </p:txBody>
      </p:sp>
      <p:sp>
        <p:nvSpPr>
          <p:cNvPr id="31" name="TextBox 30"/>
          <p:cNvSpPr txBox="1"/>
          <p:nvPr/>
        </p:nvSpPr>
        <p:spPr>
          <a:xfrm>
            <a:off x="8341257"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2" name="TextBox 31"/>
          <p:cNvSpPr txBox="1"/>
          <p:nvPr/>
        </p:nvSpPr>
        <p:spPr>
          <a:xfrm>
            <a:off x="8542425"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炭化開始までの時間を計測</a:t>
            </a:r>
          </a:p>
        </p:txBody>
      </p:sp>
      <p:sp>
        <p:nvSpPr>
          <p:cNvPr id="33" name="TextBox 32"/>
          <p:cNvSpPr txBox="1"/>
          <p:nvPr/>
        </p:nvSpPr>
        <p:spPr>
          <a:xfrm>
            <a:off x="8341257"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4" name="TextBox 33"/>
          <p:cNvSpPr txBox="1"/>
          <p:nvPr/>
        </p:nvSpPr>
        <p:spPr>
          <a:xfrm>
            <a:off x="8542425"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120/300 s時点を比較</a:t>
            </a:r>
          </a:p>
        </p:txBody>
      </p:sp>
      <p:sp>
        <p:nvSpPr>
          <p:cNvPr id="35" name="Rounded Rectangle 34"/>
          <p:cNvSpPr/>
          <p:nvPr/>
        </p:nvSpPr>
        <p:spPr>
          <a:xfrm>
            <a:off x="4353659"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53659"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539"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8" name="TextBox 37"/>
          <p:cNvSpPr txBox="1"/>
          <p:nvPr/>
        </p:nvSpPr>
        <p:spPr>
          <a:xfrm>
            <a:off x="4536539"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発泡指数測定</a:t>
            </a:r>
          </a:p>
        </p:txBody>
      </p:sp>
      <p:sp>
        <p:nvSpPr>
          <p:cNvPr id="39" name="TextBox 38"/>
          <p:cNvSpPr txBox="1"/>
          <p:nvPr/>
        </p:nvSpPr>
        <p:spPr>
          <a:xfrm>
            <a:off x="4536539"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0" name="TextBox 39"/>
          <p:cNvSpPr txBox="1"/>
          <p:nvPr/>
        </p:nvSpPr>
        <p:spPr>
          <a:xfrm>
            <a:off x="4737707"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燃焼後の発泡層厚さを計測</a:t>
            </a:r>
          </a:p>
        </p:txBody>
      </p:sp>
      <p:sp>
        <p:nvSpPr>
          <p:cNvPr id="41" name="TextBox 40"/>
          <p:cNvSpPr txBox="1"/>
          <p:nvPr/>
        </p:nvSpPr>
        <p:spPr>
          <a:xfrm>
            <a:off x="4536539"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2" name="TextBox 41"/>
          <p:cNvSpPr txBox="1"/>
          <p:nvPr/>
        </p:nvSpPr>
        <p:spPr>
          <a:xfrm>
            <a:off x="4737707"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初期厚さ比 = Foaming Index</a:t>
            </a:r>
          </a:p>
        </p:txBody>
      </p:sp>
      <p:sp>
        <p:nvSpPr>
          <p:cNvPr id="43" name="Rounded Rectangle 42"/>
          <p:cNvSpPr/>
          <p:nvPr/>
        </p:nvSpPr>
        <p:spPr>
          <a:xfrm>
            <a:off x="8158377"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58377"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41257"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6" name="TextBox 45"/>
          <p:cNvSpPr txBox="1"/>
          <p:nvPr/>
        </p:nvSpPr>
        <p:spPr>
          <a:xfrm>
            <a:off x="8341257"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SEM形態観察</a:t>
            </a:r>
          </a:p>
        </p:txBody>
      </p:sp>
      <p:sp>
        <p:nvSpPr>
          <p:cNvPr id="47" name="TextBox 46"/>
          <p:cNvSpPr txBox="1"/>
          <p:nvPr/>
        </p:nvSpPr>
        <p:spPr>
          <a:xfrm>
            <a:off x="8341257"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8" name="TextBox 47"/>
          <p:cNvSpPr txBox="1"/>
          <p:nvPr/>
        </p:nvSpPr>
        <p:spPr>
          <a:xfrm>
            <a:off x="8542425"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SDS濃度別の発泡構造</a:t>
            </a:r>
          </a:p>
        </p:txBody>
      </p:sp>
      <p:sp>
        <p:nvSpPr>
          <p:cNvPr id="49" name="TextBox 48"/>
          <p:cNvSpPr txBox="1"/>
          <p:nvPr/>
        </p:nvSpPr>
        <p:spPr>
          <a:xfrm>
            <a:off x="8341257"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0" name="TextBox 49"/>
          <p:cNvSpPr txBox="1"/>
          <p:nvPr/>
        </p:nvSpPr>
        <p:spPr>
          <a:xfrm>
            <a:off x="8542425"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燃焼時間別の焼結進行</a:t>
            </a:r>
          </a:p>
        </p:txBody>
      </p:sp>
      <p:sp>
        <p:nvSpPr>
          <p:cNvPr id="51" name="Rounded Rectangle 50"/>
          <p:cNvSpPr/>
          <p:nvPr/>
        </p:nvSpPr>
        <p:spPr>
          <a:xfrm>
            <a:off x="4353659"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3659"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36539"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54" name="TextBox 53"/>
          <p:cNvSpPr txBox="1"/>
          <p:nvPr/>
        </p:nvSpPr>
        <p:spPr>
          <a:xfrm>
            <a:off x="4536539"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分光分析</a:t>
            </a:r>
          </a:p>
        </p:txBody>
      </p:sp>
      <p:sp>
        <p:nvSpPr>
          <p:cNvPr id="55" name="TextBox 54"/>
          <p:cNvSpPr txBox="1"/>
          <p:nvPr/>
        </p:nvSpPr>
        <p:spPr>
          <a:xfrm>
            <a:off x="4536539"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6" name="TextBox 55"/>
          <p:cNvSpPr txBox="1"/>
          <p:nvPr/>
        </p:nvSpPr>
        <p:spPr>
          <a:xfrm>
            <a:off x="4737707"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FT-IR（化学結合）</a:t>
            </a:r>
          </a:p>
        </p:txBody>
      </p:sp>
      <p:sp>
        <p:nvSpPr>
          <p:cNvPr id="57" name="TextBox 56"/>
          <p:cNvSpPr txBox="1"/>
          <p:nvPr/>
        </p:nvSpPr>
        <p:spPr>
          <a:xfrm>
            <a:off x="4536539"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8" name="TextBox 57"/>
          <p:cNvSpPr txBox="1"/>
          <p:nvPr/>
        </p:nvSpPr>
        <p:spPr>
          <a:xfrm>
            <a:off x="4737707"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XPS（表面組成）</a:t>
            </a:r>
          </a:p>
        </p:txBody>
      </p:sp>
      <p:sp>
        <p:nvSpPr>
          <p:cNvPr id="59" name="Rounded Rectangle 58"/>
          <p:cNvSpPr/>
          <p:nvPr/>
        </p:nvSpPr>
        <p:spPr>
          <a:xfrm>
            <a:off x="8158377"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58377"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1257"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62" name="TextBox 61"/>
          <p:cNvSpPr txBox="1"/>
          <p:nvPr/>
        </p:nvSpPr>
        <p:spPr>
          <a:xfrm>
            <a:off x="8341257"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熱分析</a:t>
            </a:r>
          </a:p>
        </p:txBody>
      </p:sp>
      <p:sp>
        <p:nvSpPr>
          <p:cNvPr id="63" name="TextBox 62"/>
          <p:cNvSpPr txBox="1"/>
          <p:nvPr/>
        </p:nvSpPr>
        <p:spPr>
          <a:xfrm>
            <a:off x="8341257"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4" name="TextBox 63"/>
          <p:cNvSpPr txBox="1"/>
          <p:nvPr/>
        </p:nvSpPr>
        <p:spPr>
          <a:xfrm>
            <a:off x="8542425"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TGA（熱重量）</a:t>
            </a:r>
          </a:p>
        </p:txBody>
      </p:sp>
      <p:sp>
        <p:nvSpPr>
          <p:cNvPr id="65" name="TextBox 64"/>
          <p:cNvSpPr txBox="1"/>
          <p:nvPr/>
        </p:nvSpPr>
        <p:spPr>
          <a:xfrm>
            <a:off x="8341257"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6" name="TextBox 65"/>
          <p:cNvSpPr txBox="1"/>
          <p:nvPr/>
        </p:nvSpPr>
        <p:spPr>
          <a:xfrm>
            <a:off x="8542425"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DSC（熱量）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レオロジー設計が実装性能に直結する</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43</a:t>
            </a:r>
          </a:p>
        </p:txBody>
      </p:sp>
      <p:sp>
        <p:nvSpPr>
          <p:cNvPr id="10" name="TextBox 9"/>
          <p:cNvSpPr txBox="1"/>
          <p:nvPr/>
        </p:nvSpPr>
        <p:spPr>
          <a:xfrm>
            <a:off x="365760" y="859536"/>
            <a:ext cx="4114800"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レオロジー設計（実測された物性）</a:t>
            </a:r>
          </a:p>
        </p:txBody>
      </p:sp>
      <p:sp>
        <p:nvSpPr>
          <p:cNvPr id="11" name="TextBox 10"/>
          <p:cNvSpPr txBox="1"/>
          <p:nvPr/>
        </p:nvSpPr>
        <p:spPr>
          <a:xfrm>
            <a:off x="5449824" y="859536"/>
            <a:ext cx="6376111"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期待される実装性能（現場での挙動）</a:t>
            </a:r>
          </a:p>
        </p:txBody>
      </p:sp>
      <p:sp>
        <p:nvSpPr>
          <p:cNvPr id="12" name="Rounded Rectangle 11"/>
          <p:cNvSpPr/>
          <p:nvPr/>
        </p:nvSpPr>
        <p:spPr>
          <a:xfrm>
            <a:off x="365760" y="1243584"/>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1243584"/>
            <a:ext cx="54864" cy="1207008"/>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1408176"/>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せん断希薄化挙動</a:t>
            </a:r>
          </a:p>
        </p:txBody>
      </p:sp>
      <p:sp>
        <p:nvSpPr>
          <p:cNvPr id="15" name="TextBox 14"/>
          <p:cNvSpPr txBox="1"/>
          <p:nvPr/>
        </p:nvSpPr>
        <p:spPr>
          <a:xfrm>
            <a:off x="566928" y="1883664"/>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高せん断で粘度が急低下</a:t>
            </a:r>
          </a:p>
        </p:txBody>
      </p:sp>
      <p:sp>
        <p:nvSpPr>
          <p:cNvPr id="16" name="Right Arrow 15"/>
          <p:cNvSpPr/>
          <p:nvPr/>
        </p:nvSpPr>
        <p:spPr>
          <a:xfrm>
            <a:off x="4645152" y="1645920"/>
            <a:ext cx="640080" cy="402336"/>
          </a:xfrm>
          <a:prstGeom prst="rightArrow">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449824" y="1243584"/>
            <a:ext cx="6376111" cy="1207008"/>
          </a:xfrm>
          <a:prstGeom prst="roundRect">
            <a:avLst>
              <a:gd name="adj" fmla="val 5000"/>
            </a:avLst>
          </a:prstGeom>
          <a:solidFill>
            <a:srgbClr val="FFFFFF"/>
          </a:solidFill>
          <a:ln w="1270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0992" y="1389888"/>
            <a:ext cx="6065215" cy="365760"/>
          </a:xfrm>
          <a:prstGeom prst="rect">
            <a:avLst/>
          </a:prstGeom>
          <a:noFill/>
        </p:spPr>
        <p:txBody>
          <a:bodyPr wrap="square" anchor="t" lIns="36000" rIns="36000" tIns="18000" bIns="18000">
            <a:spAutoFit/>
          </a:bodyPr>
          <a:lstStyle/>
          <a:p>
            <a:pPr algn="l"/>
            <a:r>
              <a:rPr sz="1500" b="1" i="0">
                <a:solidFill>
                  <a:srgbClr val="4A7C8C"/>
                </a:solidFill>
                <a:latin typeface="Noto Sans JP"/>
              </a:rPr>
              <a:t>噴霧できる</a:t>
            </a:r>
          </a:p>
        </p:txBody>
      </p:sp>
      <p:sp>
        <p:nvSpPr>
          <p:cNvPr id="19" name="TextBox 18"/>
          <p:cNvSpPr txBox="1"/>
          <p:nvPr/>
        </p:nvSpPr>
        <p:spPr>
          <a:xfrm>
            <a:off x="5650992" y="1810512"/>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ノズル通過時の高せん断で粘度が急低下</a:t>
            </a:r>
          </a:p>
          <a:p>
            <a:pPr algn="l"/>
            <a:r>
              <a:rPr sz="1200" b="0" i="0">
                <a:solidFill>
                  <a:srgbClr val="334155"/>
                </a:solidFill>
                <a:latin typeface="Noto Sans JP"/>
              </a:rPr>
              <a:t>→ 既存ホース・ノズルで散布可能</a:t>
            </a:r>
          </a:p>
        </p:txBody>
      </p:sp>
      <p:sp>
        <p:nvSpPr>
          <p:cNvPr id="20" name="Rounded Rectangle 19"/>
          <p:cNvSpPr/>
          <p:nvPr/>
        </p:nvSpPr>
        <p:spPr>
          <a:xfrm>
            <a:off x="365760" y="2633472"/>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2633472"/>
            <a:ext cx="54864" cy="1207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798064"/>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高い貯蔵弾性率 G'（G' ≫ G''）</a:t>
            </a:r>
          </a:p>
        </p:txBody>
      </p:sp>
      <p:sp>
        <p:nvSpPr>
          <p:cNvPr id="23" name="TextBox 22"/>
          <p:cNvSpPr txBox="1"/>
          <p:nvPr/>
        </p:nvSpPr>
        <p:spPr>
          <a:xfrm>
            <a:off x="566928" y="3273552"/>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静止時はゲル状態を保持</a:t>
            </a:r>
          </a:p>
        </p:txBody>
      </p:sp>
      <p:sp>
        <p:nvSpPr>
          <p:cNvPr id="24" name="Right Arrow 23"/>
          <p:cNvSpPr/>
          <p:nvPr/>
        </p:nvSpPr>
        <p:spPr>
          <a:xfrm>
            <a:off x="4645152" y="3035808"/>
            <a:ext cx="640080" cy="402336"/>
          </a:xfrm>
          <a:prstGeom prst="rightArrow">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49824" y="2633472"/>
            <a:ext cx="6376111" cy="1207008"/>
          </a:xfrm>
          <a:prstGeom prst="roundRect">
            <a:avLst>
              <a:gd name="adj" fmla="val 5000"/>
            </a:avLst>
          </a:prstGeom>
          <a:solidFill>
            <a:srgbClr val="FFFFFF"/>
          </a:solidFill>
          <a:ln w="1270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50992" y="2779776"/>
            <a:ext cx="6065215" cy="365760"/>
          </a:xfrm>
          <a:prstGeom prst="rect">
            <a:avLst/>
          </a:prstGeom>
          <a:noFill/>
        </p:spPr>
        <p:txBody>
          <a:bodyPr wrap="square" anchor="t" lIns="36000" rIns="36000" tIns="18000" bIns="18000">
            <a:spAutoFit/>
          </a:bodyPr>
          <a:lstStyle/>
          <a:p>
            <a:pPr algn="l"/>
            <a:r>
              <a:rPr sz="1500" b="1" i="0">
                <a:solidFill>
                  <a:srgbClr val="3B5174"/>
                </a:solidFill>
                <a:latin typeface="Noto Sans JP"/>
              </a:rPr>
              <a:t>垂直面で流れ落ちない</a:t>
            </a:r>
          </a:p>
        </p:txBody>
      </p:sp>
      <p:sp>
        <p:nvSpPr>
          <p:cNvPr id="27" name="TextBox 26"/>
          <p:cNvSpPr txBox="1"/>
          <p:nvPr/>
        </p:nvSpPr>
        <p:spPr>
          <a:xfrm>
            <a:off x="5650992" y="3200400"/>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塗布後は形状を保持して付着</a:t>
            </a:r>
          </a:p>
          <a:p>
            <a:pPr algn="l"/>
            <a:r>
              <a:rPr sz="1200" b="0" i="0">
                <a:solidFill>
                  <a:srgbClr val="334155"/>
                </a:solidFill>
                <a:latin typeface="Noto Sans JP"/>
              </a:rPr>
              <a:t>→ 木材・壁面など垂直基材にも保持</a:t>
            </a:r>
          </a:p>
        </p:txBody>
      </p:sp>
      <p:sp>
        <p:nvSpPr>
          <p:cNvPr id="28" name="Rounded Rectangle 27"/>
          <p:cNvSpPr/>
          <p:nvPr/>
        </p:nvSpPr>
        <p:spPr>
          <a:xfrm>
            <a:off x="365760" y="4023360"/>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4023360"/>
            <a:ext cx="54864" cy="12070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4187952"/>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自己修復性</a:t>
            </a:r>
          </a:p>
        </p:txBody>
      </p:sp>
      <p:sp>
        <p:nvSpPr>
          <p:cNvPr id="31" name="TextBox 30"/>
          <p:cNvSpPr txBox="1"/>
          <p:nvPr/>
        </p:nvSpPr>
        <p:spPr>
          <a:xfrm>
            <a:off x="566928" y="4663440"/>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step-strain で G' が即時回復</a:t>
            </a:r>
          </a:p>
        </p:txBody>
      </p:sp>
      <p:sp>
        <p:nvSpPr>
          <p:cNvPr id="32" name="Right Arrow 31"/>
          <p:cNvSpPr/>
          <p:nvPr/>
        </p:nvSpPr>
        <p:spPr>
          <a:xfrm>
            <a:off x="4645152" y="4425696"/>
            <a:ext cx="640080" cy="402336"/>
          </a:xfrm>
          <a:prstGeom prst="rightArrow">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449824" y="4023360"/>
            <a:ext cx="6376111" cy="1207008"/>
          </a:xfrm>
          <a:prstGeom prst="roundRect">
            <a:avLst>
              <a:gd name="adj" fmla="val 5000"/>
            </a:avLst>
          </a:prstGeom>
          <a:solidFill>
            <a:srgbClr val="FFFFFF"/>
          </a:solidFill>
          <a:ln w="1270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0992" y="4169664"/>
            <a:ext cx="6065215" cy="365760"/>
          </a:xfrm>
          <a:prstGeom prst="rect">
            <a:avLst/>
          </a:prstGeom>
          <a:noFill/>
        </p:spPr>
        <p:txBody>
          <a:bodyPr wrap="square" anchor="t" lIns="36000" rIns="36000" tIns="18000" bIns="18000">
            <a:spAutoFit/>
          </a:bodyPr>
          <a:lstStyle/>
          <a:p>
            <a:pPr algn="l"/>
            <a:r>
              <a:rPr sz="1500" b="1" i="0">
                <a:solidFill>
                  <a:srgbClr val="D4A574"/>
                </a:solidFill>
                <a:latin typeface="Noto Sans JP"/>
              </a:rPr>
              <a:t>到達後すぐ保護膜を形成</a:t>
            </a:r>
          </a:p>
        </p:txBody>
      </p:sp>
      <p:sp>
        <p:nvSpPr>
          <p:cNvPr id="35" name="TextBox 34"/>
          <p:cNvSpPr txBox="1"/>
          <p:nvPr/>
        </p:nvSpPr>
        <p:spPr>
          <a:xfrm>
            <a:off x="5650992" y="4590288"/>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散布直後に再ゲル化</a:t>
            </a:r>
          </a:p>
          <a:p>
            <a:pPr algn="l"/>
            <a:r>
              <a:rPr sz="1200" b="0" i="0">
                <a:solidFill>
                  <a:srgbClr val="334155"/>
                </a:solidFill>
                <a:latin typeface="Noto Sans JP"/>
              </a:rPr>
              <a:t>→ 風雨・自重で流出せず防火層を維持</a:t>
            </a:r>
          </a:p>
        </p:txBody>
      </p:sp>
      <p:sp>
        <p:nvSpPr>
          <p:cNvPr id="36" name="Rounded Rectangle 35"/>
          <p:cNvSpPr/>
          <p:nvPr/>
        </p:nvSpPr>
        <p:spPr>
          <a:xfrm>
            <a:off x="365760" y="6089904"/>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089904"/>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089904"/>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089904"/>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これらの実装性能はレオロジー実測値からの帰結。接触角・付着力の独立した測定試験は本論文では行われていない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18 / 43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レオロジー①：粘弾性とせん断希薄化（Fig. 2a–c）</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43</a:t>
            </a:r>
          </a:p>
        </p:txBody>
      </p:sp>
      <p:sp>
        <p:nvSpPr>
          <p:cNvPr id="10" name="Rounded Rectangle 9"/>
          <p:cNvSpPr/>
          <p:nvPr/>
        </p:nvSpPr>
        <p:spPr>
          <a:xfrm>
            <a:off x="365760" y="859536"/>
            <a:ext cx="5620359"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5620359"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562035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G' / G''（静止時の粘弾性）</a:t>
            </a:r>
          </a:p>
        </p:txBody>
      </p:sp>
      <p:sp>
        <p:nvSpPr>
          <p:cNvPr id="15" name="Rounded Rectangle 14"/>
          <p:cNvSpPr/>
          <p:nvPr/>
        </p:nvSpPr>
        <p:spPr>
          <a:xfrm>
            <a:off x="6205575" y="859536"/>
            <a:ext cx="5620359"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1530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1530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a:t>
            </a:r>
          </a:p>
        </p:txBody>
      </p:sp>
      <p:sp>
        <p:nvSpPr>
          <p:cNvPr id="18" name="TextBox 17"/>
          <p:cNvSpPr txBox="1"/>
          <p:nvPr/>
        </p:nvSpPr>
        <p:spPr>
          <a:xfrm>
            <a:off x="6205575" y="859536"/>
            <a:ext cx="5620359"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205575" y="4096512"/>
            <a:ext cx="562035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せん断速度 vs 粘度（せん断希薄化）</a:t>
            </a:r>
          </a:p>
        </p:txBody>
      </p:sp>
      <p:sp>
        <p:nvSpPr>
          <p:cNvPr id="20" name="Rounded Rectangle 19"/>
          <p:cNvSpPr/>
          <p:nvPr/>
        </p:nvSpPr>
        <p:spPr>
          <a:xfrm>
            <a:off x="365760" y="4261104"/>
            <a:ext cx="5620359" cy="91440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4261104"/>
            <a:ext cx="54864" cy="91440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370832"/>
            <a:ext cx="5309463" cy="274320"/>
          </a:xfrm>
          <a:prstGeom prst="rect">
            <a:avLst/>
          </a:prstGeom>
          <a:noFill/>
        </p:spPr>
        <p:txBody>
          <a:bodyPr wrap="square" anchor="t" lIns="36000" rIns="36000" tIns="18000" bIns="18000">
            <a:spAutoFit/>
          </a:bodyPr>
          <a:lstStyle/>
          <a:p>
            <a:pPr algn="l"/>
            <a:r>
              <a:rPr sz="1250" b="1" i="0">
                <a:solidFill>
                  <a:srgbClr val="4A7C8C"/>
                </a:solidFill>
                <a:latin typeface="Noto Sans JP"/>
              </a:rPr>
              <a:t>静止時：G' &gt; G'' → 固体的（ゲル）挙動</a:t>
            </a:r>
          </a:p>
        </p:txBody>
      </p:sp>
      <p:sp>
        <p:nvSpPr>
          <p:cNvPr id="23" name="TextBox 22"/>
          <p:cNvSpPr txBox="1"/>
          <p:nvPr/>
        </p:nvSpPr>
        <p:spPr>
          <a:xfrm>
            <a:off x="548640" y="4700016"/>
            <a:ext cx="5309463" cy="411480"/>
          </a:xfrm>
          <a:prstGeom prst="rect">
            <a:avLst/>
          </a:prstGeom>
          <a:noFill/>
        </p:spPr>
        <p:txBody>
          <a:bodyPr wrap="square" anchor="t" lIns="36000" rIns="36000" tIns="18000" bIns="18000">
            <a:spAutoFit/>
          </a:bodyPr>
          <a:lstStyle/>
          <a:p>
            <a:pPr algn="l"/>
            <a:r>
              <a:rPr sz="1150" b="0" i="0">
                <a:solidFill>
                  <a:srgbClr val="334155"/>
                </a:solidFill>
                <a:latin typeface="Noto Sans JP"/>
              </a:rPr>
              <a:t>周波数依存性が小さく安定なネットワーク → 塗布後に流れ落ちない</a:t>
            </a:r>
          </a:p>
        </p:txBody>
      </p:sp>
      <p:sp>
        <p:nvSpPr>
          <p:cNvPr id="24" name="Rounded Rectangle 23"/>
          <p:cNvSpPr/>
          <p:nvPr/>
        </p:nvSpPr>
        <p:spPr>
          <a:xfrm>
            <a:off x="6205575" y="4261104"/>
            <a:ext cx="5620359" cy="914400"/>
          </a:xfrm>
          <a:prstGeom prst="roundRect">
            <a:avLst>
              <a:gd name="adj" fmla="val 5000"/>
            </a:avLst>
          </a:prstGeom>
          <a:solidFill>
            <a:srgbClr val="F1F5F9"/>
          </a:solidFill>
          <a:ln w="1524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5575" y="4261104"/>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88455" y="4370832"/>
            <a:ext cx="5309463" cy="274320"/>
          </a:xfrm>
          <a:prstGeom prst="rect">
            <a:avLst/>
          </a:prstGeom>
          <a:noFill/>
        </p:spPr>
        <p:txBody>
          <a:bodyPr wrap="square" anchor="t" lIns="36000" rIns="36000" tIns="18000" bIns="18000">
            <a:spAutoFit/>
          </a:bodyPr>
          <a:lstStyle/>
          <a:p>
            <a:pPr algn="l"/>
            <a:r>
              <a:rPr sz="1250" b="1" i="0">
                <a:solidFill>
                  <a:srgbClr val="3B5174"/>
                </a:solidFill>
                <a:latin typeface="Noto Sans JP"/>
              </a:rPr>
              <a:t>高せん断時：粘度が急低下（せん断希薄化）</a:t>
            </a:r>
          </a:p>
        </p:txBody>
      </p:sp>
      <p:sp>
        <p:nvSpPr>
          <p:cNvPr id="27" name="TextBox 26"/>
          <p:cNvSpPr txBox="1"/>
          <p:nvPr/>
        </p:nvSpPr>
        <p:spPr>
          <a:xfrm>
            <a:off x="6388455" y="4700016"/>
            <a:ext cx="5309463" cy="411480"/>
          </a:xfrm>
          <a:prstGeom prst="rect">
            <a:avLst/>
          </a:prstGeom>
          <a:noFill/>
        </p:spPr>
        <p:txBody>
          <a:bodyPr wrap="square" anchor="t" lIns="36000" rIns="36000" tIns="18000" bIns="18000">
            <a:spAutoFit/>
          </a:bodyPr>
          <a:lstStyle/>
          <a:p>
            <a:pPr algn="l"/>
            <a:r>
              <a:rPr sz="1150" b="0" i="0">
                <a:solidFill>
                  <a:srgbClr val="334155"/>
                </a:solidFill>
                <a:latin typeface="Noto Sans JP"/>
              </a:rPr>
              <a:t>ノズル通過時の高せん断で粘度低下 → スプレー噴霧が可能</a:t>
            </a:r>
          </a:p>
        </p:txBody>
      </p:sp>
      <p:sp>
        <p:nvSpPr>
          <p:cNvPr id="28" name="Rounded Rectangle 27"/>
          <p:cNvSpPr/>
          <p:nvPr/>
        </p:nvSpPr>
        <p:spPr>
          <a:xfrm>
            <a:off x="365760" y="5340096"/>
            <a:ext cx="11460175" cy="512064"/>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5340096"/>
            <a:ext cx="54864" cy="512064"/>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5340096"/>
            <a:ext cx="365760" cy="512064"/>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1" name="TextBox 30"/>
          <p:cNvSpPr txBox="1"/>
          <p:nvPr/>
        </p:nvSpPr>
        <p:spPr>
          <a:xfrm>
            <a:off x="960120" y="5340096"/>
            <a:ext cx="10774375" cy="512064"/>
          </a:xfrm>
          <a:prstGeom prst="rect">
            <a:avLst/>
          </a:prstGeom>
          <a:noFill/>
        </p:spPr>
        <p:txBody>
          <a:bodyPr wrap="square" anchor="ctr" lIns="36000" rIns="36000" tIns="18000" bIns="18000">
            <a:spAutoFit/>
          </a:bodyPr>
          <a:lstStyle/>
          <a:p>
            <a:pPr algn="l"/>
            <a:r>
              <a:rPr sz="1300" b="1" i="0">
                <a:solidFill>
                  <a:srgbClr val="FFFFFF"/>
                </a:solidFill>
                <a:latin typeface="Noto Sans JP"/>
              </a:rPr>
              <a:t>静止時はゲル（垂れない）／噴霧時は低粘度（飛ばせる）の両立がスプレー散布の基盤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レオロジー②：静的・動的降伏応力と AquaGel-K 比較（Fig. 2d・S3）</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43</a:t>
            </a:r>
          </a:p>
        </p:txBody>
      </p:sp>
      <p:sp>
        <p:nvSpPr>
          <p:cNvPr id="10" name="Rounded Rectangle 9"/>
          <p:cNvSpPr/>
          <p:nvPr/>
        </p:nvSpPr>
        <p:spPr>
          <a:xfrm>
            <a:off x="365760" y="859536"/>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降伏応力＝ゲルが流れ出す／流れ続けるのに必要な応力。静的（流れ始め＝付着）と動的（流動維持＝噴霧）の2定義で評価</a:t>
            </a:r>
          </a:p>
        </p:txBody>
      </p:sp>
      <p:sp>
        <p:nvSpPr>
          <p:cNvPr id="14" name="Rounded Rectangle 13"/>
          <p:cNvSpPr/>
          <p:nvPr/>
        </p:nvSpPr>
        <p:spPr>
          <a:xfrm>
            <a:off x="365760" y="1609344"/>
            <a:ext cx="4492630" cy="15544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1719072"/>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171907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SI Fig. S3</a:t>
            </a:r>
          </a:p>
        </p:txBody>
      </p:sp>
      <p:sp>
        <p:nvSpPr>
          <p:cNvPr id="17" name="TextBox 16"/>
          <p:cNvSpPr txBox="1"/>
          <p:nvPr/>
        </p:nvSpPr>
        <p:spPr>
          <a:xfrm>
            <a:off x="365760" y="1609344"/>
            <a:ext cx="4492630" cy="15544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8" name="TextBox 17"/>
          <p:cNvSpPr txBox="1"/>
          <p:nvPr/>
        </p:nvSpPr>
        <p:spPr>
          <a:xfrm>
            <a:off x="365760" y="3200400"/>
            <a:ext cx="44926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振幅掃引：G'/G'' クロスオーバー（静的降伏応力）</a:t>
            </a:r>
          </a:p>
        </p:txBody>
      </p:sp>
      <p:sp>
        <p:nvSpPr>
          <p:cNvPr id="19" name="Rounded Rectangle 18"/>
          <p:cNvSpPr/>
          <p:nvPr/>
        </p:nvSpPr>
        <p:spPr>
          <a:xfrm>
            <a:off x="365760" y="3300984"/>
            <a:ext cx="4492630" cy="15544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75488" y="3410712"/>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341071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2d</a:t>
            </a:r>
          </a:p>
        </p:txBody>
      </p:sp>
      <p:sp>
        <p:nvSpPr>
          <p:cNvPr id="22" name="TextBox 21"/>
          <p:cNvSpPr txBox="1"/>
          <p:nvPr/>
        </p:nvSpPr>
        <p:spPr>
          <a:xfrm>
            <a:off x="365760" y="3300984"/>
            <a:ext cx="4492630" cy="15544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3" name="TextBox 22"/>
          <p:cNvSpPr txBox="1"/>
          <p:nvPr/>
        </p:nvSpPr>
        <p:spPr>
          <a:xfrm>
            <a:off x="365760" y="4892040"/>
            <a:ext cx="44926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HB fit による動的降伏応力（棒グラフ）</a:t>
            </a:r>
          </a:p>
        </p:txBody>
      </p:sp>
      <p:sp>
        <p:nvSpPr>
          <p:cNvPr id="24" name="Rounded Rectangle 23"/>
          <p:cNvSpPr/>
          <p:nvPr/>
        </p:nvSpPr>
        <p:spPr>
          <a:xfrm>
            <a:off x="5077846" y="1609344"/>
            <a:ext cx="6748089" cy="155448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77846" y="1609344"/>
            <a:ext cx="54864" cy="155448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79014" y="1719072"/>
            <a:ext cx="643719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静的降伏応力 σ_static（流れ始め＝付着）</a:t>
            </a:r>
          </a:p>
        </p:txBody>
      </p:sp>
      <p:sp>
        <p:nvSpPr>
          <p:cNvPr id="27" name="TextBox 26"/>
          <p:cNvSpPr txBox="1"/>
          <p:nvPr/>
        </p:nvSpPr>
        <p:spPr>
          <a:xfrm>
            <a:off x="5279014" y="2066544"/>
            <a:ext cx="6437193" cy="274320"/>
          </a:xfrm>
          <a:prstGeom prst="rect">
            <a:avLst/>
          </a:prstGeom>
          <a:noFill/>
        </p:spPr>
        <p:txBody>
          <a:bodyPr wrap="square" anchor="t" lIns="36000" rIns="36000" tIns="18000" bIns="18000">
            <a:spAutoFit/>
          </a:bodyPr>
          <a:lstStyle/>
          <a:p>
            <a:pPr algn="l"/>
            <a:r>
              <a:rPr sz="1150" b="0" i="0">
                <a:solidFill>
                  <a:srgbClr val="334155"/>
                </a:solidFill>
                <a:latin typeface="Noto Sans JP"/>
              </a:rPr>
              <a:t>測定：振幅掃引（LAOS）の G' / G'' クロスオーバー応力（S3）</a:t>
            </a:r>
          </a:p>
        </p:txBody>
      </p:sp>
      <p:sp>
        <p:nvSpPr>
          <p:cNvPr id="28" name="TextBox 27"/>
          <p:cNvSpPr txBox="1"/>
          <p:nvPr/>
        </p:nvSpPr>
        <p:spPr>
          <a:xfrm>
            <a:off x="5279014" y="2377440"/>
            <a:ext cx="6437193" cy="731520"/>
          </a:xfrm>
          <a:prstGeom prst="rect">
            <a:avLst/>
          </a:prstGeom>
          <a:noFill/>
        </p:spPr>
        <p:txBody>
          <a:bodyPr wrap="square" anchor="t" lIns="36000" rIns="36000" tIns="18000" bIns="18000">
            <a:spAutoFit/>
          </a:bodyPr>
          <a:lstStyle/>
          <a:p>
            <a:pPr algn="l"/>
            <a:r>
              <a:rPr sz="1150" b="0" i="0">
                <a:solidFill>
                  <a:srgbClr val="475569"/>
                </a:solidFill>
                <a:latin typeface="Noto Sans JP"/>
              </a:rPr>
              <a:t>PPハイドロゲルは AquaGel-K より高い静的降伏応力</a:t>
            </a:r>
          </a:p>
          <a:p>
            <a:pPr algn="l"/>
            <a:r>
              <a:rPr sz="1150" b="0" i="0">
                <a:solidFill>
                  <a:srgbClr val="475569"/>
                </a:solidFill>
                <a:latin typeface="Noto Sans JP"/>
              </a:rPr>
              <a:t>→ 垂直・高所の燃料面でも流れ落ちにくく、強く付着する</a:t>
            </a:r>
          </a:p>
        </p:txBody>
      </p:sp>
      <p:sp>
        <p:nvSpPr>
          <p:cNvPr id="29" name="Rounded Rectangle 28"/>
          <p:cNvSpPr/>
          <p:nvPr/>
        </p:nvSpPr>
        <p:spPr>
          <a:xfrm>
            <a:off x="5077846" y="3300984"/>
            <a:ext cx="6748089" cy="1554480"/>
          </a:xfrm>
          <a:prstGeom prst="roundRect">
            <a:avLst>
              <a:gd name="adj" fmla="val 5000"/>
            </a:avLst>
          </a:prstGeom>
          <a:solidFill>
            <a:srgbClr val="F1F5F9"/>
          </a:solidFill>
          <a:ln w="1524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077846" y="3300984"/>
            <a:ext cx="54864" cy="155448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79014" y="3410712"/>
            <a:ext cx="643719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動的降伏応力 σ_dynamic（流動維持＝噴霧）</a:t>
            </a:r>
          </a:p>
        </p:txBody>
      </p:sp>
      <p:sp>
        <p:nvSpPr>
          <p:cNvPr id="32" name="TextBox 31"/>
          <p:cNvSpPr txBox="1"/>
          <p:nvPr/>
        </p:nvSpPr>
        <p:spPr>
          <a:xfrm>
            <a:off x="5279014" y="3758184"/>
            <a:ext cx="6437193" cy="274320"/>
          </a:xfrm>
          <a:prstGeom prst="rect">
            <a:avLst/>
          </a:prstGeom>
          <a:noFill/>
        </p:spPr>
        <p:txBody>
          <a:bodyPr wrap="square" anchor="t" lIns="36000" rIns="36000" tIns="18000" bIns="18000">
            <a:spAutoFit/>
          </a:bodyPr>
          <a:lstStyle/>
          <a:p>
            <a:pPr algn="l"/>
            <a:r>
              <a:rPr sz="1150" b="0" i="0">
                <a:solidFill>
                  <a:srgbClr val="334155"/>
                </a:solidFill>
                <a:latin typeface="Noto Sans JP"/>
              </a:rPr>
              <a:t>測定：フロースイープ（100→0.01 s⁻¹）の HB モデル fit（2d）</a:t>
            </a:r>
          </a:p>
        </p:txBody>
      </p:sp>
      <p:sp>
        <p:nvSpPr>
          <p:cNvPr id="33" name="TextBox 32"/>
          <p:cNvSpPr txBox="1"/>
          <p:nvPr/>
        </p:nvSpPr>
        <p:spPr>
          <a:xfrm>
            <a:off x="5279014" y="4069080"/>
            <a:ext cx="6437193" cy="731520"/>
          </a:xfrm>
          <a:prstGeom prst="rect">
            <a:avLst/>
          </a:prstGeom>
          <a:noFill/>
        </p:spPr>
        <p:txBody>
          <a:bodyPr wrap="square" anchor="t" lIns="36000" rIns="36000" tIns="18000" bIns="18000">
            <a:spAutoFit/>
          </a:bodyPr>
          <a:lstStyle/>
          <a:p>
            <a:pPr algn="l"/>
            <a:r>
              <a:rPr sz="1150" b="0" i="0">
                <a:solidFill>
                  <a:srgbClr val="475569"/>
                </a:solidFill>
                <a:latin typeface="Noto Sans JP"/>
              </a:rPr>
              <a:t>AquaGel-K（基準線 0.05 Pa）に対し PPハイドロゲルは桁違いに高い</a:t>
            </a:r>
          </a:p>
          <a:p>
            <a:pPr algn="l"/>
            <a:r>
              <a:rPr sz="1150" b="0" i="0">
                <a:solidFill>
                  <a:srgbClr val="475569"/>
                </a:solidFill>
                <a:latin typeface="Noto Sans JP"/>
              </a:rPr>
              <a:t>→ ポンプ圧内で噴霧でき、かつ流れにくい設計を両立</a:t>
            </a:r>
          </a:p>
        </p:txBody>
      </p:sp>
      <p:sp>
        <p:nvSpPr>
          <p:cNvPr id="34" name="Rounded Rectangle 33"/>
          <p:cNvSpPr/>
          <p:nvPr/>
        </p:nvSpPr>
        <p:spPr>
          <a:xfrm>
            <a:off x="365760" y="5056632"/>
            <a:ext cx="11460175" cy="56692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5760" y="5056632"/>
            <a:ext cx="54864" cy="56692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056632"/>
            <a:ext cx="365760" cy="56692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7" name="TextBox 36"/>
          <p:cNvSpPr txBox="1"/>
          <p:nvPr/>
        </p:nvSpPr>
        <p:spPr>
          <a:xfrm>
            <a:off x="960120" y="5056632"/>
            <a:ext cx="10774375" cy="566928"/>
          </a:xfrm>
          <a:prstGeom prst="rect">
            <a:avLst/>
          </a:prstGeom>
          <a:noFill/>
        </p:spPr>
        <p:txBody>
          <a:bodyPr wrap="square" anchor="ctr" lIns="36000" rIns="36000" tIns="18000" bIns="18000">
            <a:spAutoFit/>
          </a:bodyPr>
          <a:lstStyle/>
          <a:p>
            <a:pPr algn="l"/>
            <a:r>
              <a:rPr sz="1300" b="1" i="0">
                <a:solidFill>
                  <a:srgbClr val="FFFFFF"/>
                </a:solidFill>
                <a:latin typeface="Noto Sans JP"/>
              </a:rPr>
              <a:t>静的・動的いずれの降伏応力でも PPハイドロゲルは市販 AquaGel-K を大きく上回る。両者の差が小さい（弱いチキソトロピー）ため構造が即再形成され、自己修復的に付着を保つ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レオロジー③：動的降伏応力の経時変化と長期安定性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43</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動的降伏応力：定常フロースイープを HB モデルにフィットして算出（σ_d）。流動状態を維持するのに必要な応力（Fig. S7）</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動的降伏応力（Day 1）</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動的降伏応力（Day 455）</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動的降伏応力（HB fit）</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定常フロースイープを HB モデルにフィットして測定。HEC+MC/CSPは33.34 Pa、MHEC/CSPは3.31 Pa（Day 1）</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HEC+MC系は経時で剛性化（33.34→68.9 Pa）。MHEC系は変化が穏やかで単一ポリマーにより製造も簡便</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43</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自己修復性：Step-strain による G' / G'' 即時回復</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43</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Step-strain プロトコル（ω = 1 rad/s）</a:t>
            </a:r>
          </a:p>
        </p:txBody>
      </p:sp>
      <p:sp>
        <p:nvSpPr>
          <p:cNvPr id="11" name="Rounded Rectangle 10"/>
          <p:cNvSpPr/>
          <p:nvPr/>
        </p:nvSpPr>
        <p:spPr>
          <a:xfrm>
            <a:off x="365760" y="131673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316736"/>
            <a:ext cx="45720" cy="9601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389888"/>
            <a:ext cx="731520" cy="256032"/>
          </a:xfrm>
          <a:prstGeom prst="rect">
            <a:avLst/>
          </a:prstGeom>
          <a:noFill/>
        </p:spPr>
        <p:txBody>
          <a:bodyPr wrap="square" anchor="t" lIns="36000" rIns="36000" tIns="18000" bIns="18000">
            <a:spAutoFit/>
          </a:bodyPr>
          <a:lstStyle/>
          <a:p>
            <a:pPr algn="l"/>
            <a:r>
              <a:rPr sz="1000" b="1" i="0">
                <a:solidFill>
                  <a:srgbClr val="4A7C8C"/>
                </a:solidFill>
                <a:latin typeface="Noto Sans JP"/>
              </a:rPr>
              <a:t>Step 1</a:t>
            </a:r>
          </a:p>
        </p:txBody>
      </p:sp>
      <p:sp>
        <p:nvSpPr>
          <p:cNvPr id="14" name="TextBox 13"/>
          <p:cNvSpPr txBox="1"/>
          <p:nvPr/>
        </p:nvSpPr>
        <p:spPr>
          <a:xfrm>
            <a:off x="1280160" y="138988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低歪み（γ = 1%）</a:t>
            </a:r>
          </a:p>
        </p:txBody>
      </p:sp>
      <p:sp>
        <p:nvSpPr>
          <p:cNvPr id="15" name="TextBox 14"/>
          <p:cNvSpPr txBox="1"/>
          <p:nvPr/>
        </p:nvSpPr>
        <p:spPr>
          <a:xfrm>
            <a:off x="530352" y="168249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ネットワーク構造を保持</a:t>
            </a:r>
          </a:p>
          <a:p>
            <a:pPr algn="l"/>
            <a:r>
              <a:rPr sz="1050" b="0" i="0">
                <a:solidFill>
                  <a:srgbClr val="334155"/>
                </a:solidFill>
                <a:latin typeface="Noto Sans JP"/>
              </a:rPr>
              <a:t>G' &gt; G''（ゲル状態）</a:t>
            </a:r>
          </a:p>
        </p:txBody>
      </p:sp>
      <p:sp>
        <p:nvSpPr>
          <p:cNvPr id="16" name="Rounded Rectangle 15"/>
          <p:cNvSpPr/>
          <p:nvPr/>
        </p:nvSpPr>
        <p:spPr>
          <a:xfrm>
            <a:off x="365760" y="236829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2368296"/>
            <a:ext cx="45720" cy="96012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 y="2441448"/>
            <a:ext cx="731520" cy="256032"/>
          </a:xfrm>
          <a:prstGeom prst="rect">
            <a:avLst/>
          </a:prstGeom>
          <a:noFill/>
        </p:spPr>
        <p:txBody>
          <a:bodyPr wrap="square" anchor="t" lIns="36000" rIns="36000" tIns="18000" bIns="18000">
            <a:spAutoFit/>
          </a:bodyPr>
          <a:lstStyle/>
          <a:p>
            <a:pPr algn="l"/>
            <a:r>
              <a:rPr sz="1000" b="1" i="0">
                <a:solidFill>
                  <a:srgbClr val="9F7639"/>
                </a:solidFill>
                <a:latin typeface="Noto Sans JP"/>
              </a:rPr>
              <a:t>Step 2</a:t>
            </a:r>
          </a:p>
        </p:txBody>
      </p:sp>
      <p:sp>
        <p:nvSpPr>
          <p:cNvPr id="19" name="TextBox 18"/>
          <p:cNvSpPr txBox="1"/>
          <p:nvPr/>
        </p:nvSpPr>
        <p:spPr>
          <a:xfrm>
            <a:off x="1280160" y="244144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高歪み（γ = 500%）</a:t>
            </a:r>
          </a:p>
        </p:txBody>
      </p:sp>
      <p:sp>
        <p:nvSpPr>
          <p:cNvPr id="20" name="TextBox 19"/>
          <p:cNvSpPr txBox="1"/>
          <p:nvPr/>
        </p:nvSpPr>
        <p:spPr>
          <a:xfrm>
            <a:off x="530352" y="273405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ネットワーク破壊</a:t>
            </a:r>
          </a:p>
          <a:p>
            <a:pPr algn="l"/>
            <a:r>
              <a:rPr sz="1050" b="0" i="0">
                <a:solidFill>
                  <a:srgbClr val="334155"/>
                </a:solidFill>
                <a:latin typeface="Noto Sans JP"/>
              </a:rPr>
              <a:t>G' &lt; G''（液体状態）</a:t>
            </a:r>
          </a:p>
        </p:txBody>
      </p:sp>
      <p:sp>
        <p:nvSpPr>
          <p:cNvPr id="21" name="Rounded Rectangle 20"/>
          <p:cNvSpPr/>
          <p:nvPr/>
        </p:nvSpPr>
        <p:spPr>
          <a:xfrm>
            <a:off x="365760" y="341985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3419856"/>
            <a:ext cx="45720" cy="9601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0352" y="3493008"/>
            <a:ext cx="731520" cy="256032"/>
          </a:xfrm>
          <a:prstGeom prst="rect">
            <a:avLst/>
          </a:prstGeom>
          <a:noFill/>
        </p:spPr>
        <p:txBody>
          <a:bodyPr wrap="square" anchor="t" lIns="36000" rIns="36000" tIns="18000" bIns="18000">
            <a:spAutoFit/>
          </a:bodyPr>
          <a:lstStyle/>
          <a:p>
            <a:pPr algn="l"/>
            <a:r>
              <a:rPr sz="1000" b="1" i="0">
                <a:solidFill>
                  <a:srgbClr val="3B5174"/>
                </a:solidFill>
                <a:latin typeface="Noto Sans JP"/>
              </a:rPr>
              <a:t>Step 3</a:t>
            </a:r>
          </a:p>
        </p:txBody>
      </p:sp>
      <p:sp>
        <p:nvSpPr>
          <p:cNvPr id="24" name="TextBox 23"/>
          <p:cNvSpPr txBox="1"/>
          <p:nvPr/>
        </p:nvSpPr>
        <p:spPr>
          <a:xfrm>
            <a:off x="1280160" y="349300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低歪みへ復帰（γ = 1%）</a:t>
            </a:r>
          </a:p>
        </p:txBody>
      </p:sp>
      <p:sp>
        <p:nvSpPr>
          <p:cNvPr id="25" name="TextBox 24"/>
          <p:cNvSpPr txBox="1"/>
          <p:nvPr/>
        </p:nvSpPr>
        <p:spPr>
          <a:xfrm>
            <a:off x="530352" y="378561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粒子-高分子相互作用が再形成</a:t>
            </a:r>
          </a:p>
          <a:p>
            <a:pPr algn="l"/>
            <a:r>
              <a:rPr sz="1050" b="0" i="0">
                <a:solidFill>
                  <a:srgbClr val="334155"/>
                </a:solidFill>
                <a:latin typeface="Noto Sans JP"/>
              </a:rPr>
              <a:t>G' が即時回復</a:t>
            </a:r>
          </a:p>
        </p:txBody>
      </p:sp>
      <p:sp>
        <p:nvSpPr>
          <p:cNvPr id="26" name="TextBox 25"/>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 G'' の時系列変化（cyclic step-strain）</a:t>
            </a:r>
          </a:p>
        </p:txBody>
      </p:sp>
      <p:sp>
        <p:nvSpPr>
          <p:cNvPr id="27" name="Rounded Rectangle 26"/>
          <p:cNvSpPr/>
          <p:nvPr/>
        </p:nvSpPr>
        <p:spPr>
          <a:xfrm>
            <a:off x="6233007" y="1271016"/>
            <a:ext cx="5592927" cy="31089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42735" y="138074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2735" y="138074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SI（step-strain）</a:t>
            </a:r>
          </a:p>
        </p:txBody>
      </p:sp>
      <p:sp>
        <p:nvSpPr>
          <p:cNvPr id="30" name="TextBox 29"/>
          <p:cNvSpPr txBox="1"/>
          <p:nvPr/>
        </p:nvSpPr>
        <p:spPr>
          <a:xfrm>
            <a:off x="6233007" y="1271016"/>
            <a:ext cx="5592927" cy="31089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6233007" y="4416552"/>
            <a:ext cx="559292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γ=1%→500%→1% サイクルで G' が即時回復</a:t>
            </a:r>
          </a:p>
        </p:txBody>
      </p:sp>
      <p:sp>
        <p:nvSpPr>
          <p:cNvPr id="32" name="Rounded Rectangle 31"/>
          <p:cNvSpPr/>
          <p:nvPr/>
        </p:nvSpPr>
        <p:spPr>
          <a:xfrm>
            <a:off x="6233007" y="4562856"/>
            <a:ext cx="5592927" cy="1005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3007" y="4562856"/>
            <a:ext cx="45720" cy="10058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97599" y="4654296"/>
            <a:ext cx="5336895"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POINT：噴霧後の即時付着を保証</a:t>
            </a:r>
          </a:p>
        </p:txBody>
      </p:sp>
      <p:sp>
        <p:nvSpPr>
          <p:cNvPr id="35" name="TextBox 34"/>
          <p:cNvSpPr txBox="1"/>
          <p:nvPr/>
        </p:nvSpPr>
        <p:spPr>
          <a:xfrm>
            <a:off x="6397599" y="4946904"/>
            <a:ext cx="5336895" cy="566928"/>
          </a:xfrm>
          <a:prstGeom prst="rect">
            <a:avLst/>
          </a:prstGeom>
          <a:noFill/>
        </p:spPr>
        <p:txBody>
          <a:bodyPr wrap="square" anchor="t" lIns="36000" rIns="36000" tIns="18000" bIns="18000">
            <a:spAutoFit/>
          </a:bodyPr>
          <a:lstStyle/>
          <a:p>
            <a:pPr algn="l"/>
            <a:r>
              <a:rPr sz="1050" b="0" i="0">
                <a:solidFill>
                  <a:srgbClr val="334155"/>
                </a:solidFill>
                <a:latin typeface="Noto Sans JP"/>
              </a:rPr>
              <a:t>ノズル通過時の高せん断で粘度低下 → 基材到達後に G' を即時回復</a:t>
            </a:r>
          </a:p>
          <a:p>
            <a:pPr algn="l"/>
            <a:r>
              <a:rPr sz="1050" b="0" i="0">
                <a:solidFill>
                  <a:srgbClr val="334155"/>
                </a:solidFill>
                <a:latin typeface="Noto Sans JP"/>
              </a:rPr>
              <a:t>→ 垂直面でも流れ落ちず付着保持（自己修復性が実装可能性の鍵）</a:t>
            </a:r>
          </a:p>
        </p:txBody>
      </p:sp>
      <p:sp>
        <p:nvSpPr>
          <p:cNvPr id="36" name="Rounded Rectangle 35"/>
          <p:cNvSpPr/>
          <p:nvPr/>
        </p:nvSpPr>
        <p:spPr>
          <a:xfrm>
            <a:off x="365760" y="6108192"/>
            <a:ext cx="11460175" cy="5486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108192"/>
            <a:ext cx="54864" cy="5486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108192"/>
            <a:ext cx="365760" cy="5486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108192"/>
            <a:ext cx="10774375" cy="548640"/>
          </a:xfrm>
          <a:prstGeom prst="rect">
            <a:avLst/>
          </a:prstGeom>
          <a:noFill/>
        </p:spPr>
        <p:txBody>
          <a:bodyPr wrap="square" anchor="ctr" lIns="36000" rIns="36000" tIns="18000" bIns="18000">
            <a:spAutoFit/>
          </a:bodyPr>
          <a:lstStyle/>
          <a:p>
            <a:pPr algn="l"/>
            <a:r>
              <a:rPr sz="1300" b="1" i="0">
                <a:solidFill>
                  <a:srgbClr val="1E293B"/>
                </a:solidFill>
                <a:latin typeface="Noto Sans JP"/>
              </a:rPr>
              <a:t>非共有結合（水素結合・多価相互作用）による可逆ネットワーク → 自己修復性を実証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43</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せん断希薄化（高せん断で低粘度）</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せん断希薄化挙動</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 添加によるレオロジー調整（Fig. 2e–h）</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25 / 43</a:t>
            </a:r>
          </a:p>
        </p:txBody>
      </p:sp>
      <p:sp>
        <p:nvSpPr>
          <p:cNvPr id="10" name="Rounded Rectangle 9"/>
          <p:cNvSpPr/>
          <p:nvPr/>
        </p:nvSpPr>
        <p:spPr>
          <a:xfrm>
            <a:off x="365760" y="859536"/>
            <a:ext cx="11460175" cy="47548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4754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47548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475488"/>
          </a:xfrm>
          <a:prstGeom prst="rect">
            <a:avLst/>
          </a:prstGeom>
          <a:noFill/>
        </p:spPr>
        <p:txBody>
          <a:bodyPr wrap="square" anchor="ctr" lIns="36000" rIns="36000" tIns="18000" bIns="18000">
            <a:spAutoFit/>
          </a:bodyPr>
          <a:lstStyle/>
          <a:p>
            <a:pPr algn="l"/>
            <a:r>
              <a:rPr sz="1300" b="1" i="0">
                <a:solidFill>
                  <a:srgbClr val="1E293B"/>
                </a:solidFill>
                <a:latin typeface="Noto Sans JP"/>
              </a:rPr>
              <a:t>HEC+MC/CSP 系に SDS を添加すると濃度依存的にゲル特性が変化 — 0.1 wt% で剛性最大化（G'=58.2 Pa）、0.5 wt% で軟化（G'=33.8 Pa）</a:t>
            </a:r>
          </a:p>
        </p:txBody>
      </p:sp>
      <p:sp>
        <p:nvSpPr>
          <p:cNvPr id="14" name="Rounded Rectangle 13"/>
          <p:cNvSpPr/>
          <p:nvPr/>
        </p:nvSpPr>
        <p:spPr>
          <a:xfrm>
            <a:off x="365760" y="148132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159105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159105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2e</a:t>
            </a:r>
          </a:p>
        </p:txBody>
      </p:sp>
      <p:sp>
        <p:nvSpPr>
          <p:cNvPr id="17" name="TextBox 16"/>
          <p:cNvSpPr txBox="1"/>
          <p:nvPr/>
        </p:nvSpPr>
        <p:spPr>
          <a:xfrm>
            <a:off x="365760" y="148132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8" name="TextBox 17"/>
          <p:cNvSpPr txBox="1"/>
          <p:nvPr/>
        </p:nvSpPr>
        <p:spPr>
          <a:xfrm>
            <a:off x="365760" y="373075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 G'' vs 角周波数（SDS 3濃度の SAOS）</a:t>
            </a:r>
          </a:p>
        </p:txBody>
      </p:sp>
      <p:sp>
        <p:nvSpPr>
          <p:cNvPr id="19" name="Rounded Rectangle 18"/>
          <p:cNvSpPr/>
          <p:nvPr/>
        </p:nvSpPr>
        <p:spPr>
          <a:xfrm>
            <a:off x="6178143" y="148132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87871" y="159105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87871" y="159105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2f</a:t>
            </a:r>
          </a:p>
        </p:txBody>
      </p:sp>
      <p:sp>
        <p:nvSpPr>
          <p:cNvPr id="22" name="TextBox 21"/>
          <p:cNvSpPr txBox="1"/>
          <p:nvPr/>
        </p:nvSpPr>
        <p:spPr>
          <a:xfrm>
            <a:off x="6178143" y="148132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3" name="TextBox 22"/>
          <p:cNvSpPr txBox="1"/>
          <p:nvPr/>
        </p:nvSpPr>
        <p:spPr>
          <a:xfrm>
            <a:off x="6178143" y="373075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と tan δ（棒グラフ、1 rad/s）</a:t>
            </a:r>
          </a:p>
        </p:txBody>
      </p:sp>
      <p:sp>
        <p:nvSpPr>
          <p:cNvPr id="24" name="Rounded Rectangle 23"/>
          <p:cNvSpPr/>
          <p:nvPr/>
        </p:nvSpPr>
        <p:spPr>
          <a:xfrm>
            <a:off x="365760" y="385876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5488" y="39684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8" y="39684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2g</a:t>
            </a:r>
          </a:p>
        </p:txBody>
      </p:sp>
      <p:sp>
        <p:nvSpPr>
          <p:cNvPr id="27" name="TextBox 26"/>
          <p:cNvSpPr txBox="1"/>
          <p:nvPr/>
        </p:nvSpPr>
        <p:spPr>
          <a:xfrm>
            <a:off x="365760" y="385876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365760" y="610819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せん断速度（HB モデル fit）</a:t>
            </a:r>
          </a:p>
        </p:txBody>
      </p:sp>
      <p:sp>
        <p:nvSpPr>
          <p:cNvPr id="29" name="Rounded Rectangle 28"/>
          <p:cNvSpPr/>
          <p:nvPr/>
        </p:nvSpPr>
        <p:spPr>
          <a:xfrm>
            <a:off x="6178143" y="385876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87871" y="39684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87871" y="39684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2h</a:t>
            </a:r>
          </a:p>
        </p:txBody>
      </p:sp>
      <p:sp>
        <p:nvSpPr>
          <p:cNvPr id="32" name="TextBox 31"/>
          <p:cNvSpPr txBox="1"/>
          <p:nvPr/>
        </p:nvSpPr>
        <p:spPr>
          <a:xfrm>
            <a:off x="6178143" y="385876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3" name="TextBox 32"/>
          <p:cNvSpPr txBox="1"/>
          <p:nvPr/>
        </p:nvSpPr>
        <p:spPr>
          <a:xfrm>
            <a:off x="6178143" y="610819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動的降伏応力（SDS 濃度別、0.05 Pa 基準線）</a:t>
            </a:r>
          </a:p>
        </p:txBody>
      </p:sp>
      <p:sp>
        <p:nvSpPr>
          <p:cNvPr id="34" name="Rounded Rectangle 33"/>
          <p:cNvSpPr/>
          <p:nvPr/>
        </p:nvSpPr>
        <p:spPr>
          <a:xfrm>
            <a:off x="365760" y="6236208"/>
            <a:ext cx="11460175" cy="402336"/>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5760" y="6236208"/>
            <a:ext cx="73152" cy="402336"/>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6236208"/>
            <a:ext cx="2194560" cy="402336"/>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37" name="TextBox 36"/>
          <p:cNvSpPr txBox="1"/>
          <p:nvPr/>
        </p:nvSpPr>
        <p:spPr>
          <a:xfrm>
            <a:off x="2194560" y="6236208"/>
            <a:ext cx="9357055" cy="402336"/>
          </a:xfrm>
          <a:prstGeom prst="rect">
            <a:avLst/>
          </a:prstGeom>
          <a:noFill/>
        </p:spPr>
        <p:txBody>
          <a:bodyPr wrap="square" anchor="ctr" lIns="36000" rIns="36000" tIns="18000" bIns="18000">
            <a:spAutoFit/>
          </a:bodyPr>
          <a:lstStyle/>
          <a:p>
            <a:pPr algn="l"/>
            <a:r>
              <a:rPr sz="1300" b="0" i="0">
                <a:solidFill>
                  <a:srgbClr val="FFFFFF"/>
                </a:solidFill>
                <a:latin typeface="Noto Sans JP"/>
              </a:rPr>
              <a:t>SDS 0.1 wt% が最適点：G' 最大（58.2 Pa）・tan δ 最小（0.193）・せん断希薄化を維持 — 発泡構造の制御と付着性の最適化に直結</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43</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43</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43</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43</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30 / 43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 添加：発泡性向上を期待したが、逆の結果に（Fig. 4）</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43</a:t>
            </a:r>
          </a:p>
        </p:txBody>
      </p:sp>
      <p:sp>
        <p:nvSpPr>
          <p:cNvPr id="10" name="Rounded Rectangle 9"/>
          <p:cNvSpPr/>
          <p:nvPr/>
        </p:nvSpPr>
        <p:spPr>
          <a:xfrm>
            <a:off x="365760" y="859536"/>
            <a:ext cx="3291840" cy="100584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100584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932688"/>
            <a:ext cx="3017520" cy="219456"/>
          </a:xfrm>
          <a:prstGeom prst="rect">
            <a:avLst/>
          </a:prstGeom>
          <a:noFill/>
        </p:spPr>
        <p:txBody>
          <a:bodyPr wrap="square" anchor="t" lIns="36000" rIns="36000" tIns="18000" bIns="18000">
            <a:spAutoFit/>
          </a:bodyPr>
          <a:lstStyle/>
          <a:p>
            <a:pPr algn="l"/>
            <a:r>
              <a:rPr sz="1000" b="1" i="0">
                <a:solidFill>
                  <a:srgbClr val="4A7C8C"/>
                </a:solidFill>
                <a:latin typeface="Noto Sans JP"/>
              </a:rPr>
              <a:t>仮説（SDS 添加の目的）</a:t>
            </a:r>
          </a:p>
        </p:txBody>
      </p:sp>
      <p:sp>
        <p:nvSpPr>
          <p:cNvPr id="13" name="TextBox 12"/>
          <p:cNvSpPr txBox="1"/>
          <p:nvPr/>
        </p:nvSpPr>
        <p:spPr>
          <a:xfrm>
            <a:off x="566928"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界面活性剤 SDS が発泡を促進</a:t>
            </a:r>
          </a:p>
          <a:p>
            <a:pPr algn="l"/>
            <a:r>
              <a:rPr sz="1100" b="0" i="0">
                <a:solidFill>
                  <a:srgbClr val="334155"/>
                </a:solidFill>
                <a:latin typeface="Noto Sans JP"/>
              </a:rPr>
              <a:t>→ Foaming Index が上昇</a:t>
            </a:r>
          </a:p>
          <a:p>
            <a:pPr algn="l"/>
            <a:r>
              <a:rPr sz="1100" b="0" i="0">
                <a:solidFill>
                  <a:srgbClr val="334155"/>
                </a:solidFill>
                <a:latin typeface="Noto Sans JP"/>
              </a:rPr>
              <a:t>→ エアロゲル断熱層が厚くなる</a:t>
            </a:r>
          </a:p>
        </p:txBody>
      </p:sp>
      <p:sp>
        <p:nvSpPr>
          <p:cNvPr id="14" name="Right Arrow 13"/>
          <p:cNvSpPr/>
          <p:nvPr/>
        </p:nvSpPr>
        <p:spPr>
          <a:xfrm>
            <a:off x="3733723" y="1161288"/>
            <a:ext cx="640080" cy="40233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49927" y="859536"/>
            <a:ext cx="3291840" cy="1005840"/>
          </a:xfrm>
          <a:prstGeom prst="roundRect">
            <a:avLst>
              <a:gd name="adj" fmla="val 5000"/>
            </a:avLst>
          </a:prstGeom>
          <a:solidFill>
            <a:srgbClr val="F1F5F9"/>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51095" y="932688"/>
            <a:ext cx="301752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実験</a:t>
            </a:r>
          </a:p>
        </p:txBody>
      </p:sp>
      <p:sp>
        <p:nvSpPr>
          <p:cNvPr id="17" name="TextBox 16"/>
          <p:cNvSpPr txBox="1"/>
          <p:nvPr/>
        </p:nvSpPr>
        <p:spPr>
          <a:xfrm>
            <a:off x="4651095"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SDS 0 / 0.1 / 0.5 wt% を添加した</a:t>
            </a:r>
          </a:p>
          <a:p>
            <a:pPr algn="l"/>
            <a:r>
              <a:rPr sz="1100" b="0" i="0">
                <a:solidFill>
                  <a:srgbClr val="334155"/>
                </a:solidFill>
                <a:latin typeface="Noto Sans JP"/>
              </a:rPr>
              <a:t>HEC+MC/CSP の燃焼試験</a:t>
            </a:r>
          </a:p>
          <a:p>
            <a:pPr algn="l"/>
            <a:r>
              <a:rPr sz="1100" b="0" i="0">
                <a:solidFill>
                  <a:srgbClr val="334155"/>
                </a:solidFill>
                <a:latin typeface="Noto Sans JP"/>
              </a:rPr>
              <a:t>→ Foaming Index を定量（Fig. 4a/4b）</a:t>
            </a:r>
          </a:p>
        </p:txBody>
      </p:sp>
      <p:sp>
        <p:nvSpPr>
          <p:cNvPr id="18" name="Right Arrow 17"/>
          <p:cNvSpPr/>
          <p:nvPr/>
        </p:nvSpPr>
        <p:spPr>
          <a:xfrm>
            <a:off x="7817891" y="1161288"/>
            <a:ext cx="640080" cy="402336"/>
          </a:xfrm>
          <a:prstGeom prst="rightArrow">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34095" y="859536"/>
            <a:ext cx="3291840" cy="1005840"/>
          </a:xfrm>
          <a:prstGeom prst="roundRect">
            <a:avLst>
              <a:gd name="adj" fmla="val 5000"/>
            </a:avLst>
          </a:prstGeom>
          <a:solidFill>
            <a:srgbClr val="FFF7ED"/>
          </a:solidFill>
          <a:ln w="1778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534095" y="859536"/>
            <a:ext cx="54864" cy="10058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35263" y="932688"/>
            <a:ext cx="3017520" cy="219456"/>
          </a:xfrm>
          <a:prstGeom prst="rect">
            <a:avLst/>
          </a:prstGeom>
          <a:noFill/>
        </p:spPr>
        <p:txBody>
          <a:bodyPr wrap="square" anchor="t" lIns="36000" rIns="36000" tIns="18000" bIns="18000">
            <a:spAutoFit/>
          </a:bodyPr>
          <a:lstStyle/>
          <a:p>
            <a:pPr algn="l"/>
            <a:r>
              <a:rPr sz="1000" b="1" i="0">
                <a:solidFill>
                  <a:srgbClr val="9F7639"/>
                </a:solidFill>
                <a:latin typeface="Noto Sans JP"/>
              </a:rPr>
              <a:t>結果（予想と逆）</a:t>
            </a:r>
          </a:p>
        </p:txBody>
      </p:sp>
      <p:sp>
        <p:nvSpPr>
          <p:cNvPr id="22" name="TextBox 21"/>
          <p:cNvSpPr txBox="1"/>
          <p:nvPr/>
        </p:nvSpPr>
        <p:spPr>
          <a:xfrm>
            <a:off x="8735263"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SDS 添加で Foaming Index が低下</a:t>
            </a:r>
          </a:p>
          <a:p>
            <a:pPr algn="l"/>
            <a:r>
              <a:rPr sz="1100" b="0" i="0">
                <a:solidFill>
                  <a:srgbClr val="334155"/>
                </a:solidFill>
                <a:latin typeface="Noto Sans JP"/>
              </a:rPr>
              <a:t>2.6（SDS 0%） → 2.3（0.1%）→ さらに低下（0.5%）</a:t>
            </a:r>
          </a:p>
          <a:p>
            <a:pPr algn="l"/>
            <a:r>
              <a:rPr sz="1100" b="0" i="0">
                <a:solidFill>
                  <a:srgbClr val="334155"/>
                </a:solidFill>
                <a:latin typeface="Noto Sans JP"/>
              </a:rPr>
              <a:t>発泡性向上には寄与せず</a:t>
            </a:r>
          </a:p>
        </p:txBody>
      </p:sp>
      <p:sp>
        <p:nvSpPr>
          <p:cNvPr id="23" name="Rounded Rectangle 22"/>
          <p:cNvSpPr/>
          <p:nvPr/>
        </p:nvSpPr>
        <p:spPr>
          <a:xfrm>
            <a:off x="365760" y="2121408"/>
            <a:ext cx="5638647" cy="1920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5488" y="223113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5488" y="223113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26" name="TextBox 25"/>
          <p:cNvSpPr txBox="1"/>
          <p:nvPr/>
        </p:nvSpPr>
        <p:spPr>
          <a:xfrm>
            <a:off x="365760" y="2121408"/>
            <a:ext cx="5638647" cy="1920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365760" y="4078224"/>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燃焼後の発泡層外観（SDS 濃度別）</a:t>
            </a:r>
          </a:p>
        </p:txBody>
      </p:sp>
      <p:sp>
        <p:nvSpPr>
          <p:cNvPr id="28" name="Rounded Rectangle 27"/>
          <p:cNvSpPr/>
          <p:nvPr/>
        </p:nvSpPr>
        <p:spPr>
          <a:xfrm>
            <a:off x="6187287" y="2121408"/>
            <a:ext cx="5638647" cy="1920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97015" y="223113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97015" y="223113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31" name="TextBox 30"/>
          <p:cNvSpPr txBox="1"/>
          <p:nvPr/>
        </p:nvSpPr>
        <p:spPr>
          <a:xfrm>
            <a:off x="6187287" y="2121408"/>
            <a:ext cx="5638647" cy="1920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2" name="TextBox 31"/>
          <p:cNvSpPr txBox="1"/>
          <p:nvPr/>
        </p:nvSpPr>
        <p:spPr>
          <a:xfrm>
            <a:off x="6187287" y="4078224"/>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Index（定量）</a:t>
            </a:r>
          </a:p>
        </p:txBody>
      </p:sp>
      <p:sp>
        <p:nvSpPr>
          <p:cNvPr id="33" name="TextBox 32"/>
          <p:cNvSpPr txBox="1"/>
          <p:nvPr/>
        </p:nvSpPr>
        <p:spPr>
          <a:xfrm>
            <a:off x="365760" y="4297680"/>
            <a:ext cx="5730087" cy="237744"/>
          </a:xfrm>
          <a:prstGeom prst="rect">
            <a:avLst/>
          </a:prstGeom>
          <a:noFill/>
        </p:spPr>
        <p:txBody>
          <a:bodyPr wrap="square" anchor="t" lIns="36000" rIns="36000" tIns="18000" bIns="18000">
            <a:spAutoFit/>
          </a:bodyPr>
          <a:lstStyle/>
          <a:p>
            <a:pPr algn="l"/>
            <a:r>
              <a:rPr sz="1100" b="1" i="0">
                <a:solidFill>
                  <a:srgbClr val="64748B"/>
                </a:solidFill>
                <a:latin typeface="Noto Sans JP"/>
              </a:rPr>
              <a:t>Foaming Index（発泡後厚 / 初期厚）</a:t>
            </a:r>
          </a:p>
        </p:txBody>
      </p:sp>
      <p:sp>
        <p:nvSpPr>
          <p:cNvPr id="34" name="TextBox 33"/>
          <p:cNvSpPr txBox="1"/>
          <p:nvPr/>
        </p:nvSpPr>
        <p:spPr>
          <a:xfrm>
            <a:off x="365760" y="459028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1-5（SDS 0%）</a:t>
            </a:r>
          </a:p>
        </p:txBody>
      </p:sp>
      <p:sp>
        <p:nvSpPr>
          <p:cNvPr id="35" name="Rounded Rectangle 34"/>
          <p:cNvSpPr/>
          <p:nvPr/>
        </p:nvSpPr>
        <p:spPr>
          <a:xfrm>
            <a:off x="3383280" y="466344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3383280" y="4663440"/>
            <a:ext cx="3081948"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668" y="459028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8" name="TextBox 37"/>
          <p:cNvSpPr txBox="1"/>
          <p:nvPr/>
        </p:nvSpPr>
        <p:spPr>
          <a:xfrm>
            <a:off x="365760" y="495604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9" name="Rounded Rectangle 38"/>
          <p:cNvSpPr/>
          <p:nvPr/>
        </p:nvSpPr>
        <p:spPr>
          <a:xfrm>
            <a:off x="3383280" y="502920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3383280" y="5029200"/>
            <a:ext cx="2712114" cy="146304"/>
          </a:xfrm>
          <a:prstGeom prst="roundRect">
            <a:avLst>
              <a:gd name="adj" fmla="val 5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668" y="495604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42" name="TextBox 41"/>
          <p:cNvSpPr txBox="1"/>
          <p:nvPr/>
        </p:nvSpPr>
        <p:spPr>
          <a:xfrm>
            <a:off x="365760" y="532180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1-5-0.5</a:t>
            </a:r>
          </a:p>
        </p:txBody>
      </p:sp>
      <p:sp>
        <p:nvSpPr>
          <p:cNvPr id="43" name="Rounded Rectangle 42"/>
          <p:cNvSpPr/>
          <p:nvPr/>
        </p:nvSpPr>
        <p:spPr>
          <a:xfrm>
            <a:off x="3383280" y="539496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383280" y="5394960"/>
            <a:ext cx="2219002"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6668" y="532180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さらに低下</a:t>
            </a:r>
          </a:p>
        </p:txBody>
      </p:sp>
      <p:sp>
        <p:nvSpPr>
          <p:cNvPr id="46" name="TextBox 45"/>
          <p:cNvSpPr txBox="1"/>
          <p:nvPr/>
        </p:nvSpPr>
        <p:spPr>
          <a:xfrm>
            <a:off x="365760" y="568756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AquaGel-K（参考）</a:t>
            </a:r>
          </a:p>
        </p:txBody>
      </p:sp>
      <p:sp>
        <p:nvSpPr>
          <p:cNvPr id="47" name="Rounded Rectangle 46"/>
          <p:cNvSpPr/>
          <p:nvPr/>
        </p:nvSpPr>
        <p:spPr>
          <a:xfrm>
            <a:off x="3383280" y="576072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3383280" y="5760720"/>
            <a:ext cx="6163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56668" y="568756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50" name="Rounded Rectangle 49"/>
          <p:cNvSpPr/>
          <p:nvPr/>
        </p:nvSpPr>
        <p:spPr>
          <a:xfrm>
            <a:off x="365760" y="6144768"/>
            <a:ext cx="11460175" cy="530352"/>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6144768"/>
            <a:ext cx="54864" cy="530352"/>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6144768"/>
            <a:ext cx="365760" cy="530352"/>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3" name="TextBox 52"/>
          <p:cNvSpPr txBox="1"/>
          <p:nvPr/>
        </p:nvSpPr>
        <p:spPr>
          <a:xfrm>
            <a:off x="960120" y="6144768"/>
            <a:ext cx="10774375" cy="530352"/>
          </a:xfrm>
          <a:prstGeom prst="rect">
            <a:avLst/>
          </a:prstGeom>
          <a:noFill/>
        </p:spPr>
        <p:txBody>
          <a:bodyPr wrap="square" anchor="ctr" lIns="36000" rIns="36000" tIns="18000" bIns="18000">
            <a:spAutoFit/>
          </a:bodyPr>
          <a:lstStyle/>
          <a:p>
            <a:pPr algn="l"/>
            <a:r>
              <a:rPr sz="1300" b="1" i="0">
                <a:solidFill>
                  <a:srgbClr val="FFFFFF"/>
                </a:solidFill>
                <a:latin typeface="Noto Sans JP"/>
              </a:rPr>
              <a:t>SDS は発泡に寄与せず、むしろ気泡を粗大化・不均一化（Fig. 4c SEM）→ 発泡指数低下の原因</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32 / 43</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43</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43</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43</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36 / 43</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3/3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経時変化と長期安定性：1年以上経過しても性能を維持</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38 / 43</a:t>
            </a:r>
          </a:p>
        </p:txBody>
      </p:sp>
      <p:sp>
        <p:nvSpPr>
          <p:cNvPr id="10" name="Rectangle 9"/>
          <p:cNvSpPr/>
          <p:nvPr/>
        </p:nvSpPr>
        <p:spPr>
          <a:xfrm>
            <a:off x="365760" y="859536"/>
            <a:ext cx="45720" cy="9326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3851343" cy="310896"/>
          </a:xfrm>
          <a:prstGeom prst="rect">
            <a:avLst/>
          </a:prstGeom>
          <a:noFill/>
        </p:spPr>
        <p:txBody>
          <a:bodyPr wrap="square" anchor="t" lIns="36000" rIns="36000" tIns="18000" bIns="18000">
            <a:spAutoFit/>
          </a:bodyPr>
          <a:lstStyle/>
          <a:p>
            <a:pPr algn="l"/>
            <a:r>
              <a:rPr sz="1500" b="1" i="0">
                <a:solidFill>
                  <a:srgbClr val="1E293B"/>
                </a:solidFill>
                <a:latin typeface="Noto Sans JP"/>
              </a:rPr>
              <a:t>熟成メカニズム</a:t>
            </a:r>
          </a:p>
        </p:txBody>
      </p:sp>
      <p:sp>
        <p:nvSpPr>
          <p:cNvPr id="12" name="TextBox 11"/>
          <p:cNvSpPr txBox="1"/>
          <p:nvPr/>
        </p:nvSpPr>
        <p:spPr>
          <a:xfrm>
            <a:off x="530352" y="1225296"/>
            <a:ext cx="3851343" cy="603504"/>
          </a:xfrm>
          <a:prstGeom prst="rect">
            <a:avLst/>
          </a:prstGeom>
          <a:noFill/>
        </p:spPr>
        <p:txBody>
          <a:bodyPr wrap="square" anchor="t" lIns="36000" rIns="36000" tIns="18000" bIns="18000">
            <a:spAutoFit/>
          </a:bodyPr>
          <a:lstStyle/>
          <a:p>
            <a:pPr algn="l"/>
            <a:r>
              <a:rPr sz="1200" b="0" i="0">
                <a:solidFill>
                  <a:srgbClr val="334155"/>
                </a:solidFill>
                <a:latin typeface="Noto Sans JP"/>
              </a:rPr>
              <a:t>可逆的な結合（水素結合）から、</a:t>
            </a:r>
          </a:p>
          <a:p>
            <a:pPr algn="l"/>
            <a:r>
              <a:rPr sz="1200" b="0" i="0">
                <a:solidFill>
                  <a:srgbClr val="334155"/>
                </a:solidFill>
                <a:latin typeface="Noto Sans JP"/>
              </a:rPr>
              <a:t>不可逆な共有結合（Si–O縮合）へ転移</a:t>
            </a:r>
          </a:p>
        </p:txBody>
      </p:sp>
      <p:sp>
        <p:nvSpPr>
          <p:cNvPr id="13" name="Rectangle 12"/>
          <p:cNvSpPr/>
          <p:nvPr/>
        </p:nvSpPr>
        <p:spPr>
          <a:xfrm>
            <a:off x="530352" y="1993392"/>
            <a:ext cx="3413544"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385134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HEC+MC / CSP</a:t>
            </a:r>
          </a:p>
        </p:txBody>
      </p:sp>
      <p:sp>
        <p:nvSpPr>
          <p:cNvPr id="15" name="TextBox 14"/>
          <p:cNvSpPr txBox="1"/>
          <p:nvPr/>
        </p:nvSpPr>
        <p:spPr>
          <a:xfrm>
            <a:off x="530352" y="2468880"/>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共有結合化が進行 → 剛性が上昇</a:t>
            </a:r>
          </a:p>
        </p:txBody>
      </p:sp>
      <p:sp>
        <p:nvSpPr>
          <p:cNvPr id="16" name="TextBox 15"/>
          <p:cNvSpPr txBox="1"/>
          <p:nvPr/>
        </p:nvSpPr>
        <p:spPr>
          <a:xfrm>
            <a:off x="530352" y="3035808"/>
            <a:ext cx="385134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MHEC / CSP</a:t>
            </a:r>
          </a:p>
        </p:txBody>
      </p:sp>
      <p:sp>
        <p:nvSpPr>
          <p:cNvPr id="17" name="TextBox 16"/>
          <p:cNvSpPr txBox="1"/>
          <p:nvPr/>
        </p:nvSpPr>
        <p:spPr>
          <a:xfrm>
            <a:off x="530352" y="3310128"/>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ほぼ可逆結合のまま → 穏やかな変化</a:t>
            </a:r>
          </a:p>
        </p:txBody>
      </p:sp>
      <p:sp>
        <p:nvSpPr>
          <p:cNvPr id="18" name="TextBox 17"/>
          <p:cNvSpPr txBox="1"/>
          <p:nvPr/>
        </p:nvSpPr>
        <p:spPr>
          <a:xfrm>
            <a:off x="530352" y="3877056"/>
            <a:ext cx="3851343" cy="274320"/>
          </a:xfrm>
          <a:prstGeom prst="rect">
            <a:avLst/>
          </a:prstGeom>
          <a:noFill/>
        </p:spPr>
        <p:txBody>
          <a:bodyPr wrap="square" anchor="t" lIns="36000" rIns="36000" tIns="18000" bIns="18000">
            <a:spAutoFit/>
          </a:bodyPr>
          <a:lstStyle/>
          <a:p>
            <a:pPr algn="l"/>
            <a:r>
              <a:rPr sz="1000" b="0" i="1">
                <a:solidFill>
                  <a:srgbClr val="64748B"/>
                </a:solidFill>
                <a:latin typeface="Noto Sans JP"/>
              </a:rPr>
              <a:t>Fig. S4 / S6（界面化学スキーム）</a:t>
            </a:r>
          </a:p>
        </p:txBody>
      </p:sp>
      <p:sp>
        <p:nvSpPr>
          <p:cNvPr id="19" name="Rounded Rectangle 18"/>
          <p:cNvSpPr/>
          <p:nvPr/>
        </p:nvSpPr>
        <p:spPr>
          <a:xfrm>
            <a:off x="4564575"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2591"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弾性率（熟成20日）</a:t>
            </a:r>
          </a:p>
        </p:txBody>
      </p:sp>
      <p:sp>
        <p:nvSpPr>
          <p:cNvPr id="21" name="TextBox 20"/>
          <p:cNvSpPr txBox="1"/>
          <p:nvPr/>
        </p:nvSpPr>
        <p:spPr>
          <a:xfrm>
            <a:off x="4692591" y="1225296"/>
            <a:ext cx="3301496"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~1000 Pa</a:t>
            </a:r>
          </a:p>
        </p:txBody>
      </p:sp>
      <p:sp>
        <p:nvSpPr>
          <p:cNvPr id="22" name="TextBox 21"/>
          <p:cNvSpPr txBox="1"/>
          <p:nvPr/>
        </p:nvSpPr>
        <p:spPr>
          <a:xfrm>
            <a:off x="4692591"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S5</a:t>
            </a:r>
          </a:p>
        </p:txBody>
      </p:sp>
      <p:sp>
        <p:nvSpPr>
          <p:cNvPr id="23" name="Rounded Rectangle 22"/>
          <p:cNvSpPr/>
          <p:nvPr/>
        </p:nvSpPr>
        <p:spPr>
          <a:xfrm>
            <a:off x="8268407"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6423"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降伏応力 Day1→Day455</a:t>
            </a:r>
          </a:p>
        </p:txBody>
      </p:sp>
      <p:sp>
        <p:nvSpPr>
          <p:cNvPr id="25" name="TextBox 24"/>
          <p:cNvSpPr txBox="1"/>
          <p:nvPr/>
        </p:nvSpPr>
        <p:spPr>
          <a:xfrm>
            <a:off x="8396423" y="1225296"/>
            <a:ext cx="3301496" cy="411480"/>
          </a:xfrm>
          <a:prstGeom prst="rect">
            <a:avLst/>
          </a:prstGeom>
          <a:noFill/>
        </p:spPr>
        <p:txBody>
          <a:bodyPr wrap="square" anchor="t" lIns="36000" rIns="36000" tIns="18000" bIns="18000">
            <a:spAutoFit/>
          </a:bodyPr>
          <a:lstStyle/>
          <a:p>
            <a:pPr algn="l"/>
            <a:r>
              <a:rPr sz="2000" b="1" i="0">
                <a:solidFill>
                  <a:srgbClr val="B08442"/>
                </a:solidFill>
                <a:latin typeface="Noto Sans JP"/>
              </a:rPr>
              <a:t>33 → 69 Pa</a:t>
            </a:r>
          </a:p>
        </p:txBody>
      </p:sp>
      <p:sp>
        <p:nvSpPr>
          <p:cNvPr id="26" name="TextBox 25"/>
          <p:cNvSpPr txBox="1"/>
          <p:nvPr/>
        </p:nvSpPr>
        <p:spPr>
          <a:xfrm>
            <a:off x="8396423"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S7</a:t>
            </a:r>
          </a:p>
        </p:txBody>
      </p:sp>
      <p:sp>
        <p:nvSpPr>
          <p:cNvPr id="27" name="Rounded Rectangle 26"/>
          <p:cNvSpPr/>
          <p:nvPr/>
        </p:nvSpPr>
        <p:spPr>
          <a:xfrm>
            <a:off x="4564575"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74303"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4303"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1)</a:t>
            </a:r>
          </a:p>
        </p:txBody>
      </p:sp>
      <p:sp>
        <p:nvSpPr>
          <p:cNvPr id="30" name="TextBox 29"/>
          <p:cNvSpPr txBox="1"/>
          <p:nvPr/>
        </p:nvSpPr>
        <p:spPr>
          <a:xfrm>
            <a:off x="4564575"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564575"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fit（作製直後）</a:t>
            </a:r>
          </a:p>
        </p:txBody>
      </p:sp>
      <p:sp>
        <p:nvSpPr>
          <p:cNvPr id="32" name="Rounded Rectangle 31"/>
          <p:cNvSpPr/>
          <p:nvPr/>
        </p:nvSpPr>
        <p:spPr>
          <a:xfrm>
            <a:off x="8268407"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78135"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78135"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455)</a:t>
            </a:r>
          </a:p>
        </p:txBody>
      </p:sp>
      <p:sp>
        <p:nvSpPr>
          <p:cNvPr id="35" name="TextBox 34"/>
          <p:cNvSpPr txBox="1"/>
          <p:nvPr/>
        </p:nvSpPr>
        <p:spPr>
          <a:xfrm>
            <a:off x="8268407"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6" name="TextBox 35"/>
          <p:cNvSpPr txBox="1"/>
          <p:nvPr/>
        </p:nvSpPr>
        <p:spPr>
          <a:xfrm>
            <a:off x="8268407"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fit（455日経過後）</a:t>
            </a:r>
          </a:p>
        </p:txBody>
      </p:sp>
      <p:sp>
        <p:nvSpPr>
          <p:cNvPr id="37" name="Rounded Rectangle 36"/>
          <p:cNvSpPr/>
          <p:nvPr/>
        </p:nvSpPr>
        <p:spPr>
          <a:xfrm>
            <a:off x="365760" y="5907024"/>
            <a:ext cx="11460175" cy="74980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65760" y="5907024"/>
            <a:ext cx="54864" cy="7498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5907024"/>
            <a:ext cx="365760" cy="74980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0" name="TextBox 39"/>
          <p:cNvSpPr txBox="1"/>
          <p:nvPr/>
        </p:nvSpPr>
        <p:spPr>
          <a:xfrm>
            <a:off x="960120" y="5907024"/>
            <a:ext cx="10774375" cy="749808"/>
          </a:xfrm>
          <a:prstGeom prst="rect">
            <a:avLst/>
          </a:prstGeom>
          <a:noFill/>
        </p:spPr>
        <p:txBody>
          <a:bodyPr wrap="square" anchor="ctr" lIns="36000" rIns="36000" tIns="18000" bIns="18000">
            <a:spAutoFit/>
          </a:bodyPr>
          <a:lstStyle/>
          <a:p>
            <a:pPr algn="l"/>
            <a:r>
              <a:rPr sz="1300" b="1" i="0">
                <a:solidFill>
                  <a:srgbClr val="FFFFFF"/>
                </a:solidFill>
                <a:latin typeface="Noto Sans JP"/>
              </a:rPr>
              <a:t>Day 455（約15か月）経過後も燃焼挙動とエアロゲル化は不変 — 実用的な保存安定性を実証（Video S5）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MHEC 系の優位性：経時安定性とコスト</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37 / 43</a:t>
            </a:r>
          </a:p>
        </p:txBody>
      </p:sp>
      <p:sp>
        <p:nvSpPr>
          <p:cNvPr id="10" name="Rectangle 9"/>
          <p:cNvSpPr/>
          <p:nvPr/>
        </p:nvSpPr>
        <p:spPr>
          <a:xfrm>
            <a:off x="365760" y="859536"/>
            <a:ext cx="54864" cy="25603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859536"/>
            <a:ext cx="541919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① 経時変化が穏やか（SI Fig. S7）</a:t>
            </a:r>
          </a:p>
        </p:txBody>
      </p:sp>
      <p:sp>
        <p:nvSpPr>
          <p:cNvPr id="12" name="TextBox 11"/>
          <p:cNvSpPr txBox="1"/>
          <p:nvPr/>
        </p:nvSpPr>
        <p:spPr>
          <a:xfrm>
            <a:off x="548640" y="1243584"/>
            <a:ext cx="541919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Day 1 → Day 455 の降伏応力変化</a:t>
            </a:r>
          </a:p>
        </p:txBody>
      </p:sp>
      <p:sp>
        <p:nvSpPr>
          <p:cNvPr id="13" name="TextBox 12"/>
          <p:cNvSpPr txBox="1"/>
          <p:nvPr/>
        </p:nvSpPr>
        <p:spPr>
          <a:xfrm>
            <a:off x="548640" y="1664208"/>
            <a:ext cx="5419191" cy="256032"/>
          </a:xfrm>
          <a:prstGeom prst="rect">
            <a:avLst/>
          </a:prstGeom>
          <a:noFill/>
        </p:spPr>
        <p:txBody>
          <a:bodyPr wrap="square" anchor="t" lIns="36000" rIns="36000" tIns="18000" bIns="18000">
            <a:spAutoFit/>
          </a:bodyPr>
          <a:lstStyle/>
          <a:p>
            <a:pPr algn="l"/>
            <a:r>
              <a:rPr sz="1100" b="1" i="0">
                <a:solidFill>
                  <a:srgbClr val="334155"/>
                </a:solidFill>
                <a:latin typeface="Noto Sans JP"/>
              </a:rPr>
              <a:t>MHEC / CSP</a:t>
            </a:r>
          </a:p>
        </p:txBody>
      </p:sp>
      <p:sp>
        <p:nvSpPr>
          <p:cNvPr id="14" name="Rounded Rectangle 13"/>
          <p:cNvSpPr/>
          <p:nvPr/>
        </p:nvSpPr>
        <p:spPr>
          <a:xfrm>
            <a:off x="548640" y="1938528"/>
            <a:ext cx="5144871" cy="201168"/>
          </a:xfrm>
          <a:prstGeom prst="roundRect">
            <a:avLst>
              <a:gd name="adj" fmla="val 4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1938528"/>
            <a:ext cx="1800705" cy="201168"/>
          </a:xfrm>
          <a:prstGeom prst="roundRect">
            <a:avLst>
              <a:gd name="adj" fmla="val 4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59073" y="1865376"/>
            <a:ext cx="1280160" cy="365760"/>
          </a:xfrm>
          <a:prstGeom prst="rect">
            <a:avLst/>
          </a:prstGeom>
          <a:noFill/>
        </p:spPr>
        <p:txBody>
          <a:bodyPr wrap="square" anchor="t" lIns="36000" rIns="36000" tIns="18000" bIns="18000">
            <a:spAutoFit/>
          </a:bodyPr>
          <a:lstStyle/>
          <a:p>
            <a:pPr algn="l"/>
            <a:r>
              <a:rPr sz="1000" b="1" i="0">
                <a:solidFill>
                  <a:srgbClr val="4A7C8C"/>
                </a:solidFill>
                <a:latin typeface="Noto Sans JP"/>
              </a:rPr>
              <a:t>+38 %</a:t>
            </a:r>
          </a:p>
          <a:p>
            <a:pPr algn="l"/>
            <a:r>
              <a:rPr sz="1000" b="1" i="0">
                <a:solidFill>
                  <a:srgbClr val="4A7C8C"/>
                </a:solidFill>
                <a:latin typeface="Noto Sans JP"/>
              </a:rPr>
              <a:t>(3.31 → 4.56 Pa)</a:t>
            </a:r>
          </a:p>
        </p:txBody>
      </p:sp>
      <p:sp>
        <p:nvSpPr>
          <p:cNvPr id="17" name="TextBox 16"/>
          <p:cNvSpPr txBox="1"/>
          <p:nvPr/>
        </p:nvSpPr>
        <p:spPr>
          <a:xfrm>
            <a:off x="548640" y="2487168"/>
            <a:ext cx="5419191" cy="256032"/>
          </a:xfrm>
          <a:prstGeom prst="rect">
            <a:avLst/>
          </a:prstGeom>
          <a:noFill/>
        </p:spPr>
        <p:txBody>
          <a:bodyPr wrap="square" anchor="t" lIns="36000" rIns="36000" tIns="18000" bIns="18000">
            <a:spAutoFit/>
          </a:bodyPr>
          <a:lstStyle/>
          <a:p>
            <a:pPr algn="l"/>
            <a:r>
              <a:rPr sz="1100" b="1" i="0">
                <a:solidFill>
                  <a:srgbClr val="334155"/>
                </a:solidFill>
                <a:latin typeface="Noto Sans JP"/>
              </a:rPr>
              <a:t>HEC+MC / CSP</a:t>
            </a:r>
          </a:p>
        </p:txBody>
      </p:sp>
      <p:sp>
        <p:nvSpPr>
          <p:cNvPr id="18" name="Rounded Rectangle 17"/>
          <p:cNvSpPr/>
          <p:nvPr/>
        </p:nvSpPr>
        <p:spPr>
          <a:xfrm>
            <a:off x="548640" y="2761488"/>
            <a:ext cx="5144871" cy="201168"/>
          </a:xfrm>
          <a:prstGeom prst="roundRect">
            <a:avLst>
              <a:gd name="adj" fmla="val 4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2761488"/>
            <a:ext cx="5144871" cy="201168"/>
          </a:xfrm>
          <a:prstGeom prst="roundRect">
            <a:avLst>
              <a:gd name="adj" fmla="val 4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03239" y="2688336"/>
            <a:ext cx="1280160" cy="365760"/>
          </a:xfrm>
          <a:prstGeom prst="rect">
            <a:avLst/>
          </a:prstGeom>
          <a:noFill/>
        </p:spPr>
        <p:txBody>
          <a:bodyPr wrap="square" anchor="t" lIns="36000" rIns="36000" tIns="18000" bIns="18000">
            <a:spAutoFit/>
          </a:bodyPr>
          <a:lstStyle/>
          <a:p>
            <a:pPr algn="l"/>
            <a:r>
              <a:rPr sz="1000" b="1" i="0">
                <a:solidFill>
                  <a:srgbClr val="9F7639"/>
                </a:solidFill>
                <a:latin typeface="Noto Sans JP"/>
              </a:rPr>
              <a:t>+107 %</a:t>
            </a:r>
          </a:p>
          <a:p>
            <a:pPr algn="l"/>
            <a:r>
              <a:rPr sz="1000" b="1" i="0">
                <a:solidFill>
                  <a:srgbClr val="9F7639"/>
                </a:solidFill>
                <a:latin typeface="Noto Sans JP"/>
              </a:rPr>
              <a:t>(33.3 → 68.9 Pa)</a:t>
            </a:r>
          </a:p>
        </p:txBody>
      </p:sp>
      <p:sp>
        <p:nvSpPr>
          <p:cNvPr id="21" name="Rounded Rectangle 20"/>
          <p:cNvSpPr/>
          <p:nvPr/>
        </p:nvSpPr>
        <p:spPr>
          <a:xfrm>
            <a:off x="457200" y="3401568"/>
            <a:ext cx="5419191" cy="822960"/>
          </a:xfrm>
          <a:prstGeom prst="roundRect">
            <a:avLst>
              <a:gd name="adj" fmla="val 4000"/>
            </a:avLst>
          </a:prstGeom>
          <a:solidFill>
            <a:srgbClr val="F8FAFC"/>
          </a:solidFill>
          <a:ln w="1016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511296"/>
            <a:ext cx="5181447" cy="658368"/>
          </a:xfrm>
          <a:prstGeom prst="rect">
            <a:avLst/>
          </a:prstGeom>
          <a:noFill/>
        </p:spPr>
        <p:txBody>
          <a:bodyPr wrap="square" anchor="t" lIns="36000" rIns="36000" tIns="18000" bIns="18000">
            <a:spAutoFit/>
          </a:bodyPr>
          <a:lstStyle/>
          <a:p>
            <a:pPr algn="l"/>
            <a:r>
              <a:rPr sz="1100" b="0" i="0">
                <a:solidFill>
                  <a:srgbClr val="334155"/>
                </a:solidFill>
                <a:latin typeface="Noto Sans JP"/>
              </a:rPr>
              <a:t>MHEC系は非共有結合が主体のまま経時変化</a:t>
            </a:r>
          </a:p>
          <a:p>
            <a:pPr algn="l"/>
            <a:r>
              <a:rPr sz="1100" b="0" i="0">
                <a:solidFill>
                  <a:srgbClr val="334155"/>
                </a:solidFill>
                <a:latin typeface="Noto Sans JP"/>
              </a:rPr>
              <a:t>→ 製品特性が1年以上にわたって安定</a:t>
            </a:r>
          </a:p>
          <a:p>
            <a:pPr algn="l"/>
            <a:r>
              <a:rPr sz="1100" b="0" i="0">
                <a:solidFill>
                  <a:srgbClr val="334155"/>
                </a:solidFill>
                <a:latin typeface="Noto Sans JP"/>
              </a:rPr>
              <a:t>（HEC+MC系は共有結合化が進み剛性が変動）</a:t>
            </a:r>
          </a:p>
        </p:txBody>
      </p:sp>
      <p:sp>
        <p:nvSpPr>
          <p:cNvPr id="23" name="TextBox 22"/>
          <p:cNvSpPr txBox="1"/>
          <p:nvPr/>
        </p:nvSpPr>
        <p:spPr>
          <a:xfrm>
            <a:off x="548640" y="4389120"/>
            <a:ext cx="5236311"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出典：SI Fig. S7（フロースイープ・HB モデル fit）</a:t>
            </a:r>
          </a:p>
        </p:txBody>
      </p:sp>
      <p:sp>
        <p:nvSpPr>
          <p:cNvPr id="24" name="Rectangle 23"/>
          <p:cNvSpPr/>
          <p:nvPr/>
        </p:nvSpPr>
        <p:spPr>
          <a:xfrm>
            <a:off x="365760" y="3547872"/>
            <a:ext cx="5602071"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657600"/>
            <a:ext cx="5419191" cy="237744"/>
          </a:xfrm>
          <a:prstGeom prst="rect">
            <a:avLst/>
          </a:prstGeom>
          <a:noFill/>
        </p:spPr>
        <p:txBody>
          <a:bodyPr wrap="square" anchor="t" lIns="36000" rIns="36000" tIns="18000" bIns="18000">
            <a:spAutoFit/>
          </a:bodyPr>
          <a:lstStyle/>
          <a:p>
            <a:pPr algn="l"/>
            <a:r>
              <a:rPr sz="1100" b="1" i="0">
                <a:solidFill>
                  <a:srgbClr val="4A7C8C"/>
                </a:solidFill>
                <a:latin typeface="Noto Sans JP"/>
              </a:rPr>
              <a:t>なぜ安定か：Si–O 共有結合縮合が起こりにくい</a:t>
            </a:r>
          </a:p>
        </p:txBody>
      </p:sp>
      <p:sp>
        <p:nvSpPr>
          <p:cNvPr id="26" name="TextBox 25"/>
          <p:cNvSpPr txBox="1"/>
          <p:nvPr/>
        </p:nvSpPr>
        <p:spPr>
          <a:xfrm>
            <a:off x="548640" y="3950208"/>
            <a:ext cx="5419191"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HEC+MC/CSP では熟成とともに CSP と高分子の間で</a:t>
            </a:r>
          </a:p>
          <a:p>
            <a:pPr algn="l"/>
            <a:r>
              <a:rPr sz="1050" b="0" i="0">
                <a:solidFill>
                  <a:srgbClr val="334155"/>
                </a:solidFill>
                <a:latin typeface="Noto Sans JP"/>
              </a:rPr>
              <a:t>Si–O 縮合が進行し剛性が上昇する。MHEC/CSP では</a:t>
            </a:r>
          </a:p>
          <a:p>
            <a:pPr algn="l"/>
            <a:r>
              <a:rPr sz="1050" b="0" i="0">
                <a:solidFill>
                  <a:srgbClr val="334155"/>
                </a:solidFill>
                <a:latin typeface="Noto Sans JP"/>
              </a:rPr>
              <a:t>この縮合が抑制され、特性が緩やかに変化する。</a:t>
            </a:r>
          </a:p>
        </p:txBody>
      </p:sp>
      <p:sp>
        <p:nvSpPr>
          <p:cNvPr id="27" name="Rectangle 26"/>
          <p:cNvSpPr/>
          <p:nvPr/>
        </p:nvSpPr>
        <p:spPr>
          <a:xfrm>
            <a:off x="6223863" y="859536"/>
            <a:ext cx="54864" cy="384048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6743" y="859536"/>
            <a:ext cx="541919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② 製造コスト・品質管理で有利</a:t>
            </a:r>
          </a:p>
        </p:txBody>
      </p:sp>
      <p:sp>
        <p:nvSpPr>
          <p:cNvPr id="29" name="Rounded Rectangle 28"/>
          <p:cNvSpPr/>
          <p:nvPr/>
        </p:nvSpPr>
        <p:spPr>
          <a:xfrm>
            <a:off x="6315303" y="1335024"/>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1444752"/>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単一ポリマー</a:t>
            </a:r>
          </a:p>
        </p:txBody>
      </p:sp>
      <p:sp>
        <p:nvSpPr>
          <p:cNvPr id="31" name="TextBox 30"/>
          <p:cNvSpPr txBox="1"/>
          <p:nvPr/>
        </p:nvSpPr>
        <p:spPr>
          <a:xfrm>
            <a:off x="6461607" y="1737360"/>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HEC と MC を別途調達・混合する必要がない</a:t>
            </a:r>
          </a:p>
          <a:p>
            <a:pPr algn="l"/>
            <a:r>
              <a:rPr sz="1050" b="0" i="0">
                <a:solidFill>
                  <a:srgbClr val="334155"/>
                </a:solidFill>
                <a:latin typeface="Noto Sans JP"/>
              </a:rPr>
              <a:t>→ 原料種数を削減</a:t>
            </a:r>
          </a:p>
        </p:txBody>
      </p:sp>
      <p:sp>
        <p:nvSpPr>
          <p:cNvPr id="32" name="Rounded Rectangle 31"/>
          <p:cNvSpPr/>
          <p:nvPr/>
        </p:nvSpPr>
        <p:spPr>
          <a:xfrm>
            <a:off x="6315303" y="2304288"/>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1607" y="2414016"/>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配合工程の簡略化</a:t>
            </a:r>
          </a:p>
        </p:txBody>
      </p:sp>
      <p:sp>
        <p:nvSpPr>
          <p:cNvPr id="34" name="TextBox 33"/>
          <p:cNvSpPr txBox="1"/>
          <p:nvPr/>
        </p:nvSpPr>
        <p:spPr>
          <a:xfrm>
            <a:off x="6461607" y="2706624"/>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2成分の混合比調整・均一分散の管理が不要</a:t>
            </a:r>
          </a:p>
          <a:p>
            <a:pPr algn="l"/>
            <a:r>
              <a:rPr sz="1050" b="0" i="0">
                <a:solidFill>
                  <a:srgbClr val="334155"/>
                </a:solidFill>
                <a:latin typeface="Noto Sans JP"/>
              </a:rPr>
              <a:t>→ 製造バッチ間のばらつきを低減</a:t>
            </a:r>
          </a:p>
        </p:txBody>
      </p:sp>
      <p:sp>
        <p:nvSpPr>
          <p:cNvPr id="35" name="Rounded Rectangle 34"/>
          <p:cNvSpPr/>
          <p:nvPr/>
        </p:nvSpPr>
        <p:spPr>
          <a:xfrm>
            <a:off x="6315303" y="3273552"/>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61607" y="3383280"/>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品質管理の負担軽減</a:t>
            </a:r>
          </a:p>
        </p:txBody>
      </p:sp>
      <p:sp>
        <p:nvSpPr>
          <p:cNvPr id="37" name="TextBox 36"/>
          <p:cNvSpPr txBox="1"/>
          <p:nvPr/>
        </p:nvSpPr>
        <p:spPr>
          <a:xfrm>
            <a:off x="6461607" y="3675888"/>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1種類の原料規格を管理するだけで良い</a:t>
            </a:r>
          </a:p>
          <a:p>
            <a:pPr algn="l"/>
            <a:r>
              <a:rPr sz="1050" b="0" i="0">
                <a:solidFill>
                  <a:srgbClr val="334155"/>
                </a:solidFill>
                <a:latin typeface="Noto Sans JP"/>
              </a:rPr>
              <a:t>→ スケールアップ時のコスト優位性が顕在化</a:t>
            </a:r>
          </a:p>
        </p:txBody>
      </p:sp>
      <p:sp>
        <p:nvSpPr>
          <p:cNvPr id="38" name="Rounded Rectangle 37"/>
          <p:cNvSpPr/>
          <p:nvPr/>
        </p:nvSpPr>
        <p:spPr>
          <a:xfrm>
            <a:off x="6315303" y="4242816"/>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61607" y="4352544"/>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廃棄・物流コスト</a:t>
            </a:r>
          </a:p>
        </p:txBody>
      </p:sp>
      <p:sp>
        <p:nvSpPr>
          <p:cNvPr id="40" name="TextBox 39"/>
          <p:cNvSpPr txBox="1"/>
          <p:nvPr/>
        </p:nvSpPr>
        <p:spPr>
          <a:xfrm>
            <a:off x="6461607" y="4645152"/>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保管・輸送する原料が1種類に統合</a:t>
            </a:r>
          </a:p>
          <a:p>
            <a:pPr algn="l"/>
            <a:r>
              <a:rPr sz="1050" b="0" i="0">
                <a:solidFill>
                  <a:srgbClr val="334155"/>
                </a:solidFill>
                <a:latin typeface="Noto Sans JP"/>
              </a:rPr>
              <a:t>→ サプライチェーンを簡素化</a:t>
            </a:r>
          </a:p>
        </p:txBody>
      </p:sp>
      <p:sp>
        <p:nvSpPr>
          <p:cNvPr id="41" name="Rounded Rectangle 40"/>
          <p:cNvSpPr/>
          <p:nvPr/>
        </p:nvSpPr>
        <p:spPr>
          <a:xfrm>
            <a:off x="365760" y="5925312"/>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5760" y="5925312"/>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925312"/>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4" name="TextBox 43"/>
          <p:cNvSpPr txBox="1"/>
          <p:nvPr/>
        </p:nvSpPr>
        <p:spPr>
          <a:xfrm>
            <a:off x="960120" y="5925312"/>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注：コスト比較の定量データは本論文には掲載されていない。MHEC の優位性は「単一ポリマー」であることと「経時安定性」の実測（SI Fig. S7）に基づく定性的評価である。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39 / 43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40 / 43</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保護時間大幅向上（水は~0.3分で炭化）</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3〜6倍の保護時間＋水蒸発後も継続</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41 / 43</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G''、crossoverなし</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G': HEC+MC≈46, MHEC≈26 Pa</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剪断希薄化（HB適合）→ 噴霧可</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 1 の固体的ゲル</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HEC+MC/CSP：7分超 char遅延</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MHEC/CSP：5分超</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市販品の3〜6倍の効果</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水~0.3分, AquaGel-K~1.5分</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最大≈2.6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AquaGel-Kは発泡せず≈0</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燃焼で多孔質シリカ層を形成</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2分以降に粒子が焼結（SEM）</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FT-IR：CH/SiO比が低下</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XPS：燃焼で炭素が大幅減</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 C 38.3%→4.8%</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残存はシリカ（SiO₂）</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火炎で水が蒸発しつつゲルが多孔質シリカエアロゲルへ転換 → 乾燥後も基材を断熱保護（市販WEGにない機構）</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42 / 43</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市販品の3〜6倍の保護</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HEC+MC/CSPは7分超、MHEC/CSPは5分超 char遅延。火炎下で基材を長く保護</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加熱で脱水・CSPが焼結 → in situで多孔質シリカエアロゲル断熱層を形成（乾燥後も保護継続）</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剪断希薄化を示す噴霧可能な流体。基材への高い付着性・濡れ性を両立</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持続可能・安全な原料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地球上最も豊富なセルロース誘導体。前研究で生分解性を確認、シリカは無害</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火炎接触で水が急速に蒸発・脱水</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CSPが焼結し粒子間ネックを形成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多孔質シリカエアロゲル断熱層が完成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論文が示す意義</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PPプラットフォームは多様な難燃材料の基盤</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modular製造・大規模適用に展開可能</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455日経時後も難燃性を維持（MHEC/CSP）</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乾燥後も効力を保つ次世代WEG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実証</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42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