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熱活性化シリカエアロゲル形成を示すウォーターエンハンシングゲル― 大規模山火事における重要インフラの保護 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C0D4F0"/>
                </a:solidFill>
              </a:rPr>
              <a:t>Advanced Materials 2024 ｜ Stanford University ｜ DOI: 10.1002/adma.202407375</a:t>
            </a:r>
          </a:p>
          <a:p>
            <a:pPr algn="ctr"/>
            <a:r>
              <a:rPr sz="1400">
                <a:solidFill>
                  <a:srgbClr val="C0D4F0"/>
                </a:solidFill>
              </a:rPr>
              <a:t>Changxin Dong, Andrea I. d'Aquino, Samya Sen, Ian A. Hall, Anthony C. Yu,Gabriel B. Crane, Jesse D. Acosta, Eric A. Appel</a:t>
            </a:r>
          </a:p>
          <a:p>
            <a:pPr algn="ctr"/>
            <a:r>
              <a:rPr sz="1400">
                <a:solidFill>
                  <a:srgbClr val="C0D4F0"/>
                </a:solidFill>
              </a:rPr>
              <a:t>Advanced Materials, 2024, 36, 2407375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発表の構成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1
研究背景
山火事の現状・既存WEGの問題点・研究アプローチ（3枚）
2
材料・実験方法
使用材料・ゲル設計・評価手法（3枚）
3
実験結果
レオロジー・TGA・燃焼試験・発泡指数・SEM・FT-IR・BOD（14枚）
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2 /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研究背景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山火事の深刻化：世界規模の危機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969264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研究背景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🌍 山火事の頻度・規模が急拡大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社会的背景
気候変動・干ばつ・土地管理政策の複合要因
北米・欧州・オーストラリアで甚大被害が続発
都市-野域境界（WUI）での住宅・インフラ損失が増大
生態系・人命・経済への多面的ダメージ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0050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0050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89778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✈️ 現行の野火消防アプローチ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9778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消防手法
航空散布（ヘリ・タンカー機）と地上散布
長期難燃剤（Phos-Chek等）と短期WEG
いずれも大量の水・薬剤を消費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7292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7292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7020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目指す材料像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7020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本研究の狙い
水蒸発後もシリカエアロゲルで継続保護
噴霧・密着・難燃・生分解性を両立
既存消防機材でそのまま使用可能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2808" y="2734056"/>
            <a:ext cx="10024567" cy="1097280"/>
          </a:xfrm>
          <a:prstGeom prst="rect">
            <a:avLst/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38528" y="2825496"/>
            <a:ext cx="99331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6BCC"/>
                </a:solidFill>
              </a:rPr>
              <a:t>5×本研究ゲルが達成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3968496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社会的背景
🌍 山火事の頻度・規模が急拡大
気候変動・干ばつ・土地管理政策の複合要因
北米・欧州・オーストラリアで甚大被害が続発
都市-野域境界（WUI）での住宅・インフラ損失が増大
生態系・人命・経済への多面的ダメージ
消防手法
✈️ 現行の野火消防アプローチ
航空散布（ヘリ・タンカー機）と地上散布
長期難燃剤（Phos-Chek等）と短期WEG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研究背景 1/3 ｜ 山火事の現状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3 /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研究背景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既存WEGの限界：高熱下で急速に失効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969264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研究背景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💧 ウォーターエンハンシングゲル（WEG）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WEGとは
水＋増粘剤で構成された難燃性噴霧材料
高い保水性で燃焼を遅延させる
有利なぬれ性・粘弾性で基材に密着
代表例：AquaGel-K（市販品）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0050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0050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89778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⚠️ 高熱下での致命的弱点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9778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問題点
野火の輻射熱で急速に脱水
水が蒸発した後は
実質的に無保護状態
市販品（AquaGel-K）の保護時間は約120秒のみ
消火後の二次点火を防ぐ仕組みがない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7292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7292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7020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🏷️ 難燃材料の種類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7020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分類（USDA）
短期WEG
水ベース、蒸発で効果消失
長期難燃剤
リン酸塩系、水生毒性懸念
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734056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WEGとは
💧 ウォーターエンハンシングゲル（WEG）
水＋増粘剤で構成された難燃性噴霧材料
高い保水性で燃焼を遅延させる
有利なぬれ性・粘弾性で基材に密着
代表例：AquaGel-K（市販品）
問題点
⚠️ 高熱下での致命的弱点
野火の輻射熱で急速に脱水
水が蒸発した後は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研究背景 2/3 ｜ 既存WEGの限界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4 / 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研究背景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研究アプローチ：二段階保護メカニズム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969264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研究背景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💧 水蒸発による初期冷却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フェーズ1（冷却段階）
水分含量 ~90 wt% → 大量の蒸発潜熱で冷却
ゲルの粘弾性で基材に密着しながら保水
この間、炎の直接接触を遮断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0050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0050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89778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🔥 熱活性化シリカエアロゲル形成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9778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フェーズ2（エアロゲル段階）
水が蒸発すると CSP が密接近
加熱で Si-OH 縮合 → 粒子間焼結
多孔質シリカエアロゲル（≈0.02 W/mK）を in situ 形成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7292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7292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7020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📌 従来研究との差別化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7020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本研究の新規性（Figure 1）
既存WEG：水蒸発で保護終了 ← 問題
本研究：蒸発後にエアロゲルで保護継続
バイオポリマー（HEC/MC）+ CSP の組み合わせ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2808" y="2734056"/>
            <a:ext cx="10024567" cy="1097280"/>
          </a:xfrm>
          <a:prstGeom prst="rect">
            <a:avLst/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38528" y="2825496"/>
            <a:ext cx="99331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6BCC"/>
                </a:solidFill>
              </a:rPr>
              <a:t>~0.02W m⁻¹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3968496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フェーズ1（冷却段階）
💧 水蒸発による初期冷却
水分含量 ~90 wt% → 大量の蒸発潜熱で冷却
ゲルの粘弾性で基材に密着しながら保水
この間、炎の直接接触を遮断
フェーズ2（エアロゲル段階）
🔥 熱活性化シリカエアロゲル形成
水が蒸発すると CSP が密接近
加熱で Si-OH 縮合 → 粒子間焼結
多孔質シリカエアロゲル（≈0.02 W/mK）を in situ 形成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研究背景 3/3 ｜ 研究アプローチ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5 /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材料・方法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使用材料と組成設計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" y="1261872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材料・方法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🌿 セルロース誘導体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バイオポリマー（骨格成分）
HEC
ヒドロキシプロピルセルロース（植物由来）
MC
メチルセルロース（増粘・熱ゲル化）
MHEC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73671" y="58521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73671" y="58521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3399" y="65836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⚙️ コロイダルシリカ粒子（CSP）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3399" y="97840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無機粒子（架橋・エアロゲル形成）
粒径 22 nm の均一球状シリカ
Sigma-Aldrich 製 / Walcoat® 製を使用
表面シラノール基（Si-OH）が架橋点
加熱で焼結 → 多孔質エアロゲルを形成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8" y="2734056"/>
            <a:ext cx="10024567" cy="146304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92808" y="2734056"/>
            <a:ext cx="10024567" cy="29260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38528" y="2770632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組成名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43441" y="2770632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ポリマー種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8354" y="2770632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ポリマー濃度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3268" y="2770632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CSP 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58181" y="2770632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SDS（界面活性剤）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92808" y="3026664"/>
            <a:ext cx="10024567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38528" y="3063240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HEC+MC/CSP 1–5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43441" y="3063240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HEC + MC (1:1)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8354" y="3063240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1 wt%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3268" y="3063240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5 wt%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58181" y="3063240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なし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92808" y="3319272"/>
            <a:ext cx="10024567" cy="29260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38528" y="3355848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HEC+MC/CSP/SDS 1–5–0.1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3441" y="3355848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HEC + MC (1:1)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8354" y="3355848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1 wt%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3268" y="3355848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5 wt%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8181" y="3355848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0.1 wt%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92808" y="3611880"/>
            <a:ext cx="10024567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38528" y="3648456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MHEC/CSP 1–5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43441" y="3648456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MHEC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8354" y="3648456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1 wt%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3268" y="3648456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5 wt%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58181" y="3648456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92808" y="3904488"/>
            <a:ext cx="10024567" cy="29260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38528" y="3941064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AquaGel-K（市販品）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43441" y="3941064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ポリアクリルアミド系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8354" y="3941064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0.5 wt%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3268" y="3941064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58181" y="3941064"/>
            <a:ext cx="191347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92808" y="4334256"/>
            <a:ext cx="10024567" cy="2185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バイオポリマー（骨格成分）
🌿 セルロース誘導体
HEC
ヒドロキシプロピルセルロース（植物由来）
MC
メチルセルロース（増粘・熱ゲル化）
MHEC
メチルヒドロキシエチルセルロース
FDA 承認済み・生分解性あり
Si-OH 基・疎水性部位で CSP と非共有結合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材料・方法 1/3 ｜ 使用材料・組成設計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6 / 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材料・方法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1：ゲル合成スキームと保護メカニズム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" y="1261872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材料・方法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1 (a–d)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合成経路スキーム（HEC+MC/CSP・MHEC/CSP）+ 野外散布・エアロゲル形成の模式図論文 p.3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ゲルの合成（室温混合のみ）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1a,b – 合成経路
HEC + MC 水溶液を調製 → CSP 分散液を混合
特別な化学処理・加熱不要
MHEC/CSP 系も同様の手順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73671" y="300837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73671" y="300837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3399" y="308152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噴霧 → 密着 → エアロゲル保護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3399" y="340156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1c,d – 野外適用メカニズム
①ゲルを基材に噴霧して密着
②炎接近 → 水蒸発で初期冷却
③ CSP 焼結 → シリカエアロゲル形成
④エアロゲル層が断熱バリアとして機能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🖼️
Figure 1 (a–d)
合成経路スキーム（HEC+MC/CSP・MHEC/CSP）
+ 野外散布・エアロゲル形成の模式図
論文 p.3 より挿入
Figure 1a,b – 合成経路
ゲルの合成（室温混合のみ）
HEC + MC 水溶液を調製 → CSP 分散液を混合
特別な化学処理・加熱不要
MHEC/CSP 系も同様の手順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材料・方法 2/3 ｜ Figure 1 合成・機構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7 / 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材料・方法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評価手法の一覧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" y="1261872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材料・方法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📊 TA Discovery HR-2 レオメーター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レオロジー評価
振幅スイープ（LAOS）：0.01–1000%，1 rad/s
周波数スイープ（SAOS）：0.1–100 rad/s
定常せん断粘度：0.001–100 s⁻¹
25 °C，40 mm パラレルプレート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0050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0050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89778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🔥 USDA 規格準拠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9778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燃焼試験
基材：針葉樹合板 2.5 × 2.5 cm，20 g/m²
ガスバーナーにて持続炎照射
炭化開始時間（Time to char）を計測（n=3）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7292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7292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7020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🔬 顕微鏡・分光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7020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構造・化学分析
SEM（FEI MagellanXL）
FT-IR（Thermo Nicolet iS50）
XPS・TGA・BOD28
発泡指数（エアロゲル厚/初期ゲル厚）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734056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レオロジー評価
📊 TA Discovery HR-2 レオメーター
振幅スイープ（LAOS）：0.01–1000%，1 rad/s
周波数スイープ（SAOS）：0.1–100 rad/s
定常せん断粘度：0.001–100 s⁻¹
25 °C，40 mm パラレルプレート
燃焼試験
🔥 USDA 規格準拠
基材：針葉樹合板 2.5 × 2.5 cm，20 g/m²
ガスバーナーにて持続炎照射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材料・方法 3/3 ｜ 評価手法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8 / 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実験結果 1/9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2a–c：振幅スイープ（LAOS）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2 (a)(b)(c)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G'・G'' vs ひずみ振幅（振幅スイープ）HEC+MC/CSP 1–5 / MHEC/CSP 1–5 / AquaGel-K論文 p.4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📈 固体様ゲルの強さ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2a – G'（貯蔵弾性率）
低ひずみ域（&lt;1%）：G' ≈ 40–100 Pa（HEC+MC/CSP）
AquaGel-K の G'（~1–5 Pa）より
約20倍高い
高い G' → 垂直面保持・密着に有利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80050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80050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89778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噴霧時に液体化する特性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89778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2b,c – G''・tan δ
低ひずみ：G' &gt; G''（固体的）→ 塗布後に密着
高ひずみ：G'' &gt; G'（液体的）→ 噴霧ノズルを通過
降伏後の流動化で基材に広く濡れ広がる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67292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67292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7020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噴霧＋密着を両立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7020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わかること
静止時：固体的 → 傾斜面でも流れ落ちない
噴霧時：液体的 → ノズルを詰まらせない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📈
Figure 2 (a)(b)(c)
G'・G'' vs ひずみ振幅（振幅スイープ）
HEC+MC/CSP 1–5 / MHEC/CSP 1–5 / AquaGel-K
論文 p.4 より挿入
Figure 2a – G'（貯蔵弾性率）
📈 固体様ゲルの強さ
低ひずみ域（&lt;1%）：G' ≈ 40–100 Pa（HEC+MC/CSP）
AquaGel-K の G'（~1–5 Pa）より
約20倍高い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実験結果 1/9 ｜ Figure 2a–c 振幅スイープ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9 / 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実験結果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2d–e：周波数スイープ（SAOS）と CSP 濃度依存性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2 (d)(e)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G'・G'' vs 角周波数（周波数スイープ）+ G' vs CSP 濃度（1 / 3 / 5 wt%）論文 p.4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全周波数域で G' &gt; G''（真の弾性ゲル）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2d – 周波数依存性
0.1–100 rad/s の範囲でほぼ平坦
AquaGel-K：G' と G'' が交差（弱いゲル）
安定なネットワーク → 長時間の保持力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80050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80050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89778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CSP 量でゲル強度を制御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89778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2e – CSP 濃度と G' の相関
CSP 1→3→5 wt% と増加するにつれ G' が単調増加
5 wt% CSP で G' ≈ 40–100 Pa（最適性能）
散布方法に応じた最適化が容易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67292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67292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7020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組成設計の自由度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7020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わかること
CSP 量を変えるだけで降伏応力を 5–100 Pa の範囲で精密制御可能。航空散布 vs 地上散布に合わせた最適化が可能。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📊
Figure 2 (d)(e)
G'・G'' vs 角周波数（周波数スイープ）
+ G' vs CSP 濃度（1 / 3 / 5 wt%）
論文 p.4 より挿入
Figure 2d – 周波数依存性
全周波数域で G' &gt; G''（真の弾性ゲル）
0.1–100 rad/s の範囲でほぼ平坦
AquaGel-K：G' と G'' が交差（弱いゲル）
安定なネットワーク → 長時間の保持力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実験結果 2/9 ｜ Figure 2d–e 周波数スイープ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10 / 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実験結果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2f–g：せん断粘度・降伏応力・ぬれ性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2 (f)(g)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粘度 vs せん断速度+ 接触角・ぬれ広がり比較論文 p.4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せん断シニング挙動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2f – 定常せん断粘度
低せん断速度：高粘度（〜1000 Pa·s）→ 基材密着
高せん断速度：粘度が急低下 → 噴霧ノズル通過
べき乗則に従うシュードプラスティック挙動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73671" y="300837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73671" y="300837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3399" y="308152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💧 CSP のぬれ改善効果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3399" y="340156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2g – ぬれ性・拡散
CSP 添加で表面張力が低下（界面活性剤様効果）
接触角：純水 &gt; HEC+MC &gt; HEC+MC/CSP
木材・コンクリート・金属いずれにも有効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8" y="5157216"/>
            <a:ext cx="10024567" cy="1170432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92808" y="5157216"/>
            <a:ext cx="10024567" cy="29260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38528" y="5193792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材料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0050" y="5193792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静止 G' (Pa)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1572" y="5193792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ぬれ性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92808" y="5449824"/>
            <a:ext cx="10024567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38528" y="5486400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AquaGel-K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0050" y="5486400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1–5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1572" y="5486400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普通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8" y="5742432"/>
            <a:ext cx="10024567" cy="29260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38528" y="5779008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HEC+MC/CSP 1–5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0050" y="5779008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40–100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1572" y="5779008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優れる 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92808" y="6035040"/>
            <a:ext cx="10024567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38528" y="6071616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MHEC/CSP 1–5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0050" y="6071616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30–80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21572" y="6071616"/>
            <a:ext cx="325008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優れる 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実験結果 3/9 ｜ Figure 2f–g 降伏応力・ぬれ性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11 / 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実験結果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TGA：熱重量分析による水分・熱分解挙動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TGA 曲線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重量(%) vs 温度（°C）HEC+MC/CSP 1–5 / MHEC/CSP / AquaGel-K論文 Supporting Information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💧 ~90 wt% の水が初期冷却に寄与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水分含量
水の蒸発潜熱（2260 kJ/kg）で大量冷却
蒸発完了まで基材温度を ~100°C に維持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80050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80050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89778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温度別の重量変化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89778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熱分解プロファイル
&lt;100 °C：水の蒸発（重量の~90%減少）
200–500 °C：セルロース誘導体の熱分解
&gt;500 °C：シリカ粒子のみが残存・焼結開始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67292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67292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7020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TGA が示す二段階保護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7020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わかること
第一段階：水蒸発による冷却（~100°C）
第二段階：シリカ焼結→エアロゲル形成（&gt;500°C）
市販品は残留シリカなし → 保護層を形成できない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🌡️
TGA 曲線
重量(%) vs 温度（°C）
HEC+MC/CSP 1–5 / MHEC/CSP / AquaGel-K
論文 Supporting Information より挿入
水分含量
💧 ~90 wt% の水が初期冷却に寄与
水の蒸発潜熱（2260 kJ/kg）で大量冷却
蒸発完了まで基材温度を ~100°C に維持
熱分解プロファイル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実験結果 4/9 ｜ TGA 熱重量分析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12 / 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実験結果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3a：燃焼試験のセットアップ（USDA 規格準拠）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3 (a)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燃焼試験装置の写真（ガスバーナー・試験台・試料の配置）論文 p.7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🔥 燃焼試験装置の構成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試験装置
ガスバーナー（プロパン）：定常炎を照射
熱電対：基材表面温度を連続測定
カメラ：燃焼過程の経時撮影（1 fps）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80050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80050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89778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📋 標準化された試験プロトコル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89778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試験条件
基材：針葉樹合板（2.5 × 2.5 cm），20 g/m²
炎照射：持続的・定常
評価指標：Time to Char（秒），n=3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67292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67292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7020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対照群・比較群の設定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7020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比較設計
① 水のみ（無処置対照）
② AquaGel-K / Phos-Chek FORTIFY（市販品）
③ HEC+MC/CSP 各組成・MHEC/CSP 各組成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🔥
Figure 3 (a)
燃焼試験装置の写真
（ガスバーナー・試験台・試料の配置）
論文 p.7 より挿入
試験装置
🔥 燃焼試験装置の構成
ガスバーナー（プロパン）：定常炎を照射
熱電対：基材表面温度を連続測定
カメラ：燃焼過程の経時撮影（1 fps）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実験結果 5/9 ｜ Figure 3a 燃焼試験セットアップ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13 / 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実験結果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3b：炭化防止時間（Time to Char）の比較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10024567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984168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全PP系が市販品を大幅に上回る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9841687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わかること
最良組成：220 s 以上
300 s 超えても基材を保護
SDS 添加でさらに性能向上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92808" y="2734056"/>
            <a:ext cx="10024567" cy="1097280"/>
          </a:xfrm>
          <a:prstGeom prst="rect">
            <a:avLst/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38528" y="2825496"/>
            <a:ext cx="99331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6BCC"/>
                </a:solidFill>
              </a:rPr>
              <a:t>&gt;5×HEC+MC/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2808" y="3968496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Time to Char（秒）— 値が大きいほど難燃性が高い
水（対照）
~40 s
Phos-Chek FORTIFY
~87 s
AquaGel-K
~120 s
MHEC/CSP 1–5
&gt;200 s
HEC+MC/CSP/SDS 1–5–0.1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実験結果 6/9 ｜ Figure 3b 炭化防止時間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14 / 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実験結果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3c–d：燃焼過程の目視観察（120 s / 300 s）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3 (c)(d)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各材料塗布基材の燃焼写真上段：120秒後 ／ 下段：300秒後（水・AquaGel-K・HEC+MC/CSP・MHEC/CSP）論文 p.7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⏱️ 120 s 時点の比較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3c – 120 秒後
水のみ：完全に炭化・燃焼継続中
AquaGel-K：部分的に炭化開始
HEC+MC/CSP 1–5：
白色エアロゲル層が形成
・炭化なし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80050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80050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89778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⏱️ 300 s 時点の比較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89778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3d – 300 秒後
水のみ：基材の大部分が消失
AquaGel-K：炭化が深部まで進行
HEC+MC/CSP 1–5：
エアロゲル殻が残存・継続保護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67292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67292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7020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消炎後も二次点火を防止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7020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わかること
シリカ殻が残存することで、余熱・残り火による二次点火を物理的に防止。市販品にはこの機能がない。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📸
Figure 3 (c)(d)
各材料塗布基材の燃焼写真
上段：120秒後 ／ 下段：300秒後
（水・AquaGel-K・HEC+MC/CSP・MHEC/CSP）
論文 p.7 より挿入
Figure 3c – 120 秒後
⏱️ 120 s 時点の比較
水のみ：完全に炭化・燃焼継続中
AquaGel-K：部分的に炭化開始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実験結果 7/9 ｜ Figure 3c–d 燃焼写真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15 / 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実験結果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4a：発泡指数（Foaming Index）の定量評価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4 (a)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発泡指数（エアロゲル厚/初期ゲル厚）の棒グラフ+ エアロゲル断面写真論文 p.9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Foaming Index = d_aerogel / d_gel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発泡指数の定義
1.0 = 体積変化なし、&gt;1.0 = 膨張・多孔化
高い値 ＝ より多孔質なエアロゲル ＝ より低熱伝導率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80050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80050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89778" y="3081528"/>
            <a:ext cx="3067202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4a – 組成別の発泡指数
AquaGel-K
~1.0
MHEC/CSP 1–5
~2.5
HEC+MC/CSP 1–5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67292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67292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7020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発泡指数 ↑ = 保護時間 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7020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わかること
HEC と MC の相乗効果で最高発泡指数
SDS 0.1 wt% 添加でさらに向上
発泡指数と炭化防止時間が正相関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📐
Figure 4 (a)
発泡指数（エアロゲル厚/初期ゲル厚）の棒グラフ
+ エアロゲル断面写真
論文 p.9 より挿入
発泡指数の定義
Foaming Index = d_aerogel / d_gel
1.0 = 体積変化なし、&gt;1.0 = 膨張・多孔化
高い値 ＝ より多孔質なエアロゲル ＝ より低熱伝導率
Figure 4a – 組成別の発泡指数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実験結果 8/9 ｜ Figure 4a 発泡指数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16 /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実験結果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5：SEM によるシリカ粒子焼結プロセスの直接観察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5 (a)(b)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焼結スキーム（上段）+ SEM 画像：0 / 1 / 2 / 4 分後の粒子構造（下段）論文 p.10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ナノスケール構造変化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SEM 観察結果（Figure 5b）
0 min：22 nm CSP が散在（点接触のみ）
1 min：粒界（Grain Boundary）が形成
2 min：ネッキングが進行・空隙率が減少
4 min：連続多孔質シリカ網目が完成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73671" y="300837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73671" y="300837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3399" y="308152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加熱 4 min 以内にエアロゲル化が完了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3399" y="340156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わかること
野火の炎（数百°C）で十分に駆動される
焼結後も多孔質性を維持 → 熱伝導率が低いまま
セルロース消失・シリカ殻のみが残存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🔬
Figure 5 (a)(b)
焼結スキーム（上段）
+ SEM 画像：0 / 1 / 2 / 4 分後の粒子構造（下段）
論文 p.10 より挿入
SEM 観察結果（Figure 5b）
ナノスケール構造変化
0 min：22 nm CSP が散在（点接触のみ）
1 min：粒界（Grain Boundary）が形成
2 min：ネッキングが進行・空隙率が減少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実験結果 9/9 ｜ Figure 5 SEM 焼結プロセス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17 / 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追加解析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Figure 4b：SDS 添加量とエアロゲル微細構造（SEM）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4 (b)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SDS 濃度別（0% / 0.1% / 0.5%）のエアロゲル SEM 画像比較論文 p.9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界面活性剤添加効果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Figure 4b – SDS 濃度別 SEM 比較
0% SDS
：密で均一なエアロゲル網目
0.1% SDS
：より大きな気孔・高い多孔質性 → 低熱伝導率
0.5% SDS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73671" y="3008376"/>
            <a:ext cx="4943703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73671" y="3008376"/>
            <a:ext cx="4943703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3399" y="3081528"/>
            <a:ext cx="476082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エアロゲル構造の精密制御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3399" y="3401568"/>
            <a:ext cx="476082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わかること
SDS 濃度で気孔径・多孔率を制御可能
発泡指数 ∝ エアロゲル気孔率 ∝ 断熱性能
過剰添加（0.5%）では CSP 安定性が低下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🔬
Figure 4 (b)
SDS 濃度別（0% / 0.1% / 0.5%）の
エアロゲル SEM 画像比較
論文 p.9 より挿入
Figure 4b – SDS 濃度別 SEM 比較
界面活性剤添加効果
0% SDS
：密で均一なエアロゲル網目
0.1% SDS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追加解析 1/3 ｜ Figure 4b SDS 添加効果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18 / 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追加解析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FT-IR・XPS：燃焼前後の化学組成変化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Figure S13・S14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FT-IR スペクトル（燃焼前後）+ XPS 元素組成（C・Si・O の比率変化）論文 Supporting Information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官能基の変化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FT-IR 分析（Figure S13）
燃焼前：C-H（2900 cm⁻¹）・O-H（3300 cm⁻¹）・Si-O-Si（1050 cm⁻¹）
燃焼後：C-H ピーク
消失
→ セルロース完全分解
燃焼後：Si-O-Si ピーク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80050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80050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89778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元素組成の定量変化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89778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XPS 分析（Figure S14）
C：38.3% →
4.8%
（セルロース分解）
Si：相対比率が大幅増加（~3–4 倍）
燃焼後は事実上の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67292" y="300837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67292" y="300837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7020" y="308152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化学的証拠でエアロゲル形成を実証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7020" y="340156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わかること
FT-IR + XPS が一致して「セルロース消失・シリカ残存」を示す。市販品の燃焼後残留物にはシリカが含まれず、保護層形成能の差が化学的に実証された。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2808" y="5157216"/>
            <a:ext cx="10024567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📡
Figure S13・S14
FT-IR スペクトル（燃焼前後）
+ XPS 元素組成（C・Si・O の比率変化）
論文 Supporting Information より挿入
FT-IR 分析（Figure S13）
官能基の変化
燃焼前：C-H（2900 cm⁻¹）・O-H（3300 cm⁻¹）・Si-O-Si（1050 cm⁻¹）
燃焼後：C-H ピーク
消失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追加解析 2/3 ｜ FT-IR・XPS 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19 / 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追加解析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BOD 試験・生分解性・総合性能比較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" y="1554480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実験結果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10024567" cy="2286000"/>
          </a:xfrm>
          <a:prstGeom prst="rect">
            <a:avLst/>
          </a:prstGeom>
          <a:solidFill>
            <a:srgbClr val="F0F4FA"/>
          </a:solidFill>
          <a:ln w="19050"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84248" y="1271016"/>
            <a:ext cx="98416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46688"/>
                </a:solidFill>
              </a:rPr>
              <a:t>BOD28 試験データ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842516"/>
            <a:ext cx="9841687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78899"/>
                </a:solidFill>
              </a:rPr>
              <a:t>28日間生物化学的酸素要求量論文 Supporting Information より挿入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92808" y="3008376"/>
            <a:ext cx="10024567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92808" y="3008376"/>
            <a:ext cx="10024567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2536" y="3081528"/>
            <a:ext cx="984168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高い生分解性を確認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2536" y="3401568"/>
            <a:ext cx="9841687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生分解性（BOD28）
HEC+MC/CSP 系はポリアクリルアミド系（市販品）と同等以上
セルロース誘導体は微生物による分解が容易
リン酸塩系（Phos-Chek）の水生毒性懸念なし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92808" y="5157216"/>
            <a:ext cx="10024567" cy="1463040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92808" y="5157216"/>
            <a:ext cx="10024567" cy="29260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38528" y="5193792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評価項目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9289" y="5193792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0050" y="5193792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0811" y="5193792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Phos-Chek FORTIFY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21572" y="5193792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HEC+MC/CSP 1–5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92333" y="5193792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MHEC/CSP 1–5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92808" y="5449824"/>
            <a:ext cx="10024567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38528" y="5486400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炭化防止時間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9289" y="5486400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~40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0050" y="5486400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~120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0811" y="5486400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~87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21572" y="5486400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&gt;220 s 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2333" y="5486400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&gt;200 s 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92808" y="5742432"/>
            <a:ext cx="10024567" cy="29260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38528" y="5779008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エアロゲル形成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9289" y="5779008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0050" y="5779008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0811" y="5779008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21572" y="5779008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2333" y="5779008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92808" y="6035040"/>
            <a:ext cx="10024567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38528" y="6071616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基材密着性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9289" y="6071616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80050" y="6071616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50811" y="6071616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21572" y="6071616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92333" y="6071616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◎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92808" y="6327648"/>
            <a:ext cx="10024567" cy="292608"/>
          </a:xfrm>
          <a:prstGeom prst="rect">
            <a:avLst/>
          </a:prstGeom>
          <a:solidFill>
            <a:srgbClr val="EA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38528" y="6364224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生分解性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09289" y="6364224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◎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80050" y="6364224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50811" y="6364224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△（毒性）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21572" y="6364224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92333" y="6364224"/>
            <a:ext cx="157932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追加解析 3/3 ｜ 生分解性・総合比較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20 / 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期待効果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社会実装シナリオ：消防・インフラ保護への展開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847088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WUI エリアへの適用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🏠 住宅・建築物保護
山火事シーズン前の予防的事前散布
木造建築・フェンス・デッキへの塗布
少量塗布（20 g/m²）で数時間以上保護
住民が自分でスプレー塗布も可能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0050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0050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89778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既存タンカー機・ヘリへの統合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9778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✈️ 航空消火
現行の消火タンカー機材をそのまま使用
少ない散布量で広範囲を長時間保護
飛行回数・燃料消費を削減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7292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7292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7020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電力・通信・交通インフラ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7020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⚡ 重要インフラ保護
電柱・変電所・送電線鉄塔への塗布
通信基地局・データセンター外壁
停電・通信途絶による二次被害を予防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734056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🏠 住宅・建築物保護
WUI エリアへの適用
山火事シーズン前の予防的事前散布
木造建築・フェンス・デッキへの塗布
少量塗布（20 g/m²）で数時間以上保護
住民が自分でスプレー塗布も可能
✈️ 航空消火
既存タンカー機・ヘリへの統合
現行の消火タンカー機材をそのまま使用
少ない散布量で広範囲を長時間保護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期待効果 1/3 ｜ 社会実装シナリオ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21 / 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期待効果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環境・社会的インパクト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847088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🌱 現行難燃剤からの脱却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環境インパクト
Phos-Chek 等リン酸塩難燃剤：水生生物への毒性が報告
HEC+MC/CSP：植物由来・生分解性・無毒
残留シリカは土壌中で不活性なケイ酸塩に
年間数万トン規模の難燃剤の代替材料となりうる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0050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0050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89778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💰 消防コストの削減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9778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経済インパクト
散布回数の削減 → ヘリ運用費・燃料費削減
インフラ修復費の削減（保護効果による被害軽減）
低コスト原料 → 大規模散布が経済的に現実的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7292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7292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7020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👥 地域コミュニティの安全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7020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社会インパクト
WUI 住民の財産・生命保護に直結
避難時間の確保 → 人的被害の軽減
山岳・島嶼部等の消防アクセス困難地域で特に有効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2808" y="2734056"/>
            <a:ext cx="10024567" cy="1097280"/>
          </a:xfrm>
          <a:prstGeom prst="rect">
            <a:avLst/>
          </a:prstGeom>
          <a:solidFill>
            <a:srgbClr val="E8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38528" y="2825496"/>
            <a:ext cx="99331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6BCC"/>
                </a:solidFill>
              </a:rPr>
              <a:t>次世代 WEG水蒸発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3968496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環境インパクト
🌱 現行難燃剤からの脱却
Phos-Chek 等リン酸塩難燃剤：水生生物への毒性が報告
HEC+MC/CSP：植物由来・生分解性・無毒
残留シリカは土壌中で不活性なケイ酸塩に
年間数万トン規模の難燃剤の代替材料となりうる
経済インパクト
💰 消防コストの削減
散布回数の削減 → ヘリ運用費・燃料費削減
インフラ修復費の削減（保護効果による被害軽減）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期待効果 2/3 ｜ 環境・社会インパクト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22 /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期待効果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今後の研究課題と展望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847088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🔬 材料・性能の最適化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短期課題
実際の野火温度プロファイルでの燃焼試験
風・雨・湿度を考慮した環境条件下での評価
CSP 粒径・濃度のさらなる最適化
長期保管安定性の定量評価（6ヶ月〜1年）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0050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0050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89778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🌿 実環境・スケールアップ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9778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中長期課題
実スケール野外燃焼試験（100 m² 以上）
航空散布機材との適合性試験
製造コスト削減（低コスト代替原料の探索）
規制・認証の取得（USDA・EPA・EU 規格）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7292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7292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7020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🚀 新用途・新領域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7020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応用展開
建材への事前含浸コーティング製品化
他の高温災害（火山・工業火災）への転用
エアロゲル厚の設計自由度を活用した断熱材開発
バイオ由来ポリマーの多様化（キトサン・デンプン等）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734056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短期課題
🔬 材料・性能の最適化
実際の野火温度プロファイルでの燃焼試験
風・雨・湿度を考慮した環境条件下での評価
CSP 粒径・濃度のさらなる最適化
長期保管安定性の定量評価（6ヶ月〜1年）
中長期課題
🌿 実環境・スケールアップ
実スケール野外燃焼試験（100 m² 以上）
航空散布機材との適合性試験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期待効果 3/3 ｜ 今後の課題と展望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23 / 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0A500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本研究のまとめ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630936"/>
            <a:ext cx="1618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0A500"/>
                </a:solidFill>
              </a:rPr>
              <a:t>Contents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99669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研究背景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28930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材料・方法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158191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BBCC"/>
                </a:solidFill>
              </a:rPr>
              <a:t>実験結果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847088"/>
            <a:ext cx="1655064" cy="274320"/>
          </a:xfrm>
          <a:prstGeom prst="rect">
            <a:avLst/>
          </a:prstGeom>
          <a:solidFill>
            <a:srgbClr val="2A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1874520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A500"/>
                </a:solidFill>
              </a:rPr>
              <a:t>期待効果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92808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92808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🧪 HEC/MC + CSP ヒドロゲル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2536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材料
植物由来セルロース誘導体とコロイダルシリカの自己組織化により、噴霧・密着・難燃・生分解性を両立した新型 WEG を実現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80050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80050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89778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🔥 二段階保護メカニズム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9778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機構
①水蒸発による初期冷却、②CSP 焼結によるシリカエアロゲル形成。
水が蒸発した後も断熱保護を継続
する世界初の設計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67292" y="585216"/>
            <a:ext cx="3250082" cy="2011680"/>
          </a:xfrm>
          <a:prstGeom prst="rect">
            <a:avLst/>
          </a:prstGeom>
          <a:solidFill>
            <a:srgbClr val="F3F7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7292" y="585216"/>
            <a:ext cx="3250082" cy="36576"/>
          </a:xfrm>
          <a:prstGeom prst="rect">
            <a:avLst/>
          </a:prstGeom>
          <a:solidFill>
            <a:srgbClr val="1A6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7020" y="658368"/>
            <a:ext cx="306720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6BCC"/>
                </a:solidFill>
              </a:rPr>
              <a:t>📊 市販品比 5× 以上の難燃性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7020" y="978408"/>
            <a:ext cx="3067202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性能
炭化防止時間 &gt;220 s（AquaGel-K 比 1.8×・水比 5.5×）。FT-IR・XPS・SEM・発泡指数で機構を多角的に実証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2808" y="2734056"/>
            <a:ext cx="10024567" cy="585216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92808" y="2734056"/>
            <a:ext cx="10024567" cy="29260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38528" y="2770632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測定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0609" y="2770632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レオロジー（Fig.2）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2690" y="2770632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燃焼試験（Fig.3）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4771" y="2770632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発泡指数（Fig.4）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6852" y="2770632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SEM 焼結（Fig.5）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933" y="2770632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FT-IR・XPS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1014" y="2770632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BOD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92808" y="3026664"/>
            <a:ext cx="10024567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38528" y="3063240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結論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0609" y="3063240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噴霧・密着に最適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2690" y="3063240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&gt;5× 向上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4771" y="3063240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最高発泡指数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6852" y="3063240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4 min で完了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98933" y="3063240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純シリカ残存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31014" y="3063240"/>
            <a:ext cx="134064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高い生分解性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92808" y="3456432"/>
            <a:ext cx="100245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44"/>
                </a:solidFill>
              </a:rPr>
              <a:t>材料
🧪 HEC/MC + CSP ヒドロゲル
植物由来セルロース誘導体とコロイダルシリカの自己組織化により、噴霧・密着・難燃・生分解性を両立した新型 WEG を実現
機構
🔥 二段階保護メカニズム
①水蒸発による初期冷却、②CSP 焼結によるシリカエアロゲル形成。
水が蒸発した後も断熱保護を継続
する世界初の設計
性能
📊 市販品比 5× 以上の難燃性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899AA"/>
                </a:solidFill>
              </a:rPr>
              <a:t>まとめ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6638544"/>
            <a:ext cx="5486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99AA"/>
                </a:solidFill>
              </a:rPr>
              <a:t>24 / 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2336"/>
            <a:ext cx="1801368" cy="6208776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061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60175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99"/>
                </a:solidFill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