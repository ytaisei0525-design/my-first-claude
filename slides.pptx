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低い Power-law 指数 n</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強いせん断希薄化（n ≪ 1）</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レオロジー②：2つの降伏応力 — 静的（付着）と動的（噴霧）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降伏応力＝ゲルが流れ出す／流れ続けるのに必要な応力。本研究は2つの定義で評価（Fig. 2c–d・S3）</a:t>
            </a:r>
          </a:p>
        </p:txBody>
      </p:sp>
      <p:sp>
        <p:nvSpPr>
          <p:cNvPr id="14" name="Rounded Rectangle 13"/>
          <p:cNvSpPr/>
          <p:nvPr/>
        </p:nvSpPr>
        <p:spPr>
          <a:xfrm>
            <a:off x="365760" y="1609344"/>
            <a:ext cx="4492630"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7" name="TextBox 16"/>
          <p:cNvSpPr txBox="1"/>
          <p:nvPr/>
        </p:nvSpPr>
        <p:spPr>
          <a:xfrm>
            <a:off x="365760" y="1609344"/>
            <a:ext cx="4492630"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定常せん断フロースイープ → HB fit で動的降伏応力を算出</a:t>
            </a:r>
          </a:p>
        </p:txBody>
      </p:sp>
      <p:sp>
        <p:nvSpPr>
          <p:cNvPr id="19" name="Rounded Rectangle 18"/>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σ_static（＝絶対降伏応力）</a:t>
            </a:r>
          </a:p>
        </p:txBody>
      </p:sp>
      <p:sp>
        <p:nvSpPr>
          <p:cNvPr id="22" name="TextBox 21"/>
          <p:cNvSpPr txBox="1"/>
          <p:nvPr/>
        </p:nvSpPr>
        <p:spPr>
          <a:xfrm>
            <a:off x="5279014" y="2066544"/>
            <a:ext cx="6437193" cy="457200"/>
          </a:xfrm>
          <a:prstGeom prst="rect">
            <a:avLst/>
          </a:prstGeom>
          <a:noFill/>
        </p:spPr>
        <p:txBody>
          <a:bodyPr wrap="square" anchor="t" lIns="36000" rIns="36000" tIns="18000" bIns="18000">
            <a:spAutoFit/>
          </a:bodyPr>
          <a:lstStyle/>
          <a:p>
            <a:pPr algn="l"/>
            <a:r>
              <a:rPr sz="1150" b="0" i="0">
                <a:solidFill>
                  <a:srgbClr val="334155"/>
                </a:solidFill>
                <a:latin typeface="Noto Sans JP"/>
              </a:rPr>
              <a:t>測定：大振幅振動（LAOS）の G' / G'' クロスオーバー応力</a:t>
            </a:r>
          </a:p>
        </p:txBody>
      </p:sp>
      <p:sp>
        <p:nvSpPr>
          <p:cNvPr id="23" name="TextBox 22"/>
          <p:cNvSpPr txBox="1"/>
          <p:nvPr/>
        </p:nvSpPr>
        <p:spPr>
          <a:xfrm>
            <a:off x="5279014" y="2505456"/>
            <a:ext cx="6437193" cy="585216"/>
          </a:xfrm>
          <a:prstGeom prst="rect">
            <a:avLst/>
          </a:prstGeom>
          <a:noFill/>
        </p:spPr>
        <p:txBody>
          <a:bodyPr wrap="square" anchor="t" lIns="36000" rIns="36000" tIns="18000" bIns="18000">
            <a:spAutoFit/>
          </a:bodyPr>
          <a:lstStyle/>
          <a:p>
            <a:pPr algn="l"/>
            <a:r>
              <a:rPr sz="1150" b="0" i="0">
                <a:solidFill>
                  <a:srgbClr val="475569"/>
                </a:solidFill>
                <a:latin typeface="Noto Sans JP"/>
              </a:rPr>
              <a:t>意味：流れ始める（変形開始）のに必要な応力</a:t>
            </a:r>
          </a:p>
          <a:p>
            <a:pPr algn="l"/>
            <a:r>
              <a:rPr sz="1150" b="0" i="0">
                <a:solidFill>
                  <a:srgbClr val="475569"/>
                </a:solidFill>
                <a:latin typeface="Noto Sans JP"/>
              </a:rPr>
              <a:t>→ 高いほど垂直・高所の燃料面に強く付着し、流れ出しにくい</a:t>
            </a:r>
          </a:p>
        </p:txBody>
      </p:sp>
      <p:sp>
        <p:nvSpPr>
          <p:cNvPr id="24" name="Rounded Rectangle 23"/>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a:t>
            </a:r>
          </a:p>
        </p:txBody>
      </p:sp>
      <p:sp>
        <p:nvSpPr>
          <p:cNvPr id="27" name="TextBox 26"/>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s⁻¹）を HB モデルにフィット</a:t>
            </a:r>
          </a:p>
        </p:txBody>
      </p:sp>
      <p:sp>
        <p:nvSpPr>
          <p:cNvPr id="28" name="TextBox 27"/>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意味：流れ続ける（流動維持）のに必要な応力 → 適度ならポンプ圧の制約内で噴霧可能</a:t>
            </a:r>
          </a:p>
          <a:p>
            <a:pPr algn="l"/>
            <a:r>
              <a:rPr sz="1150" b="0" i="0">
                <a:solidFill>
                  <a:srgbClr val="475569"/>
                </a:solidFill>
                <a:latin typeface="Noto Sans JP"/>
              </a:rPr>
              <a:t>実測（新鮮）：HEC+MC/CSP 33.34 Pa ／ MHEC/CSP 3.31 Pa</a:t>
            </a:r>
          </a:p>
        </p:txBody>
      </p:sp>
      <p:sp>
        <p:nvSpPr>
          <p:cNvPr id="29" name="Rounded Rectangle 28"/>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2" name="TextBox 31"/>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高い静的降伏応力（付着）と適度な動的降伏応力（噴霧）の両立が実用化の鍵。界面活性剤（SDS）添加は両降伏応力を下げ、付着・安定性に影響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