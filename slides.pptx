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高せん断で粘度が低下（噴霧・パイプ送液に適合）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せん断希薄化（粘度低下）</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粘度挙動</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可逆</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高せん断で低粘度→静止で回復</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動的降伏応力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HEC+MC/CSP（HB fit）</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せん断希薄化挙動</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レオロジー①：粘弾性とせん断希薄化（Fig. 2a–c）</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G' / G''（静止時の粘弾性）</a:t>
            </a:r>
          </a:p>
        </p:txBody>
      </p:sp>
      <p:sp>
        <p:nvSpPr>
          <p:cNvPr id="15" name="Rounded Rectangle 14"/>
          <p:cNvSpPr/>
          <p:nvPr/>
        </p:nvSpPr>
        <p:spPr>
          <a:xfrm>
            <a:off x="6205575"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1530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530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a:t>
            </a:r>
          </a:p>
        </p:txBody>
      </p:sp>
      <p:sp>
        <p:nvSpPr>
          <p:cNvPr id="18" name="TextBox 17"/>
          <p:cNvSpPr txBox="1"/>
          <p:nvPr/>
        </p:nvSpPr>
        <p:spPr>
          <a:xfrm>
            <a:off x="6205575"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205575"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せん断速度 vs 粘度（せん断希薄化）</a:t>
            </a:r>
          </a:p>
        </p:txBody>
      </p:sp>
      <p:sp>
        <p:nvSpPr>
          <p:cNvPr id="20" name="Rounded Rectangle 19"/>
          <p:cNvSpPr/>
          <p:nvPr/>
        </p:nvSpPr>
        <p:spPr>
          <a:xfrm>
            <a:off x="365760" y="4261104"/>
            <a:ext cx="5620359" cy="91440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4261104"/>
            <a:ext cx="54864" cy="91440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370832"/>
            <a:ext cx="5309463" cy="274320"/>
          </a:xfrm>
          <a:prstGeom prst="rect">
            <a:avLst/>
          </a:prstGeom>
          <a:noFill/>
        </p:spPr>
        <p:txBody>
          <a:bodyPr wrap="square" anchor="t" lIns="36000" rIns="36000" tIns="18000" bIns="18000">
            <a:spAutoFit/>
          </a:bodyPr>
          <a:lstStyle/>
          <a:p>
            <a:pPr algn="l"/>
            <a:r>
              <a:rPr sz="1250" b="1" i="0">
                <a:solidFill>
                  <a:srgbClr val="4A7C8C"/>
                </a:solidFill>
                <a:latin typeface="Noto Sans JP"/>
              </a:rPr>
              <a:t>静止時：G' &gt; G'' → 固体的（ゲル）挙動</a:t>
            </a:r>
          </a:p>
        </p:txBody>
      </p:sp>
      <p:sp>
        <p:nvSpPr>
          <p:cNvPr id="23" name="TextBox 22"/>
          <p:cNvSpPr txBox="1"/>
          <p:nvPr/>
        </p:nvSpPr>
        <p:spPr>
          <a:xfrm>
            <a:off x="548640"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周波数依存性が小さく安定なネットワーク → 塗布後に流れ落ちない</a:t>
            </a:r>
          </a:p>
        </p:txBody>
      </p:sp>
      <p:sp>
        <p:nvSpPr>
          <p:cNvPr id="24" name="Rounded Rectangle 23"/>
          <p:cNvSpPr/>
          <p:nvPr/>
        </p:nvSpPr>
        <p:spPr>
          <a:xfrm>
            <a:off x="6205575" y="4261104"/>
            <a:ext cx="5620359" cy="91440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5575" y="4261104"/>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8455" y="4370832"/>
            <a:ext cx="5309463" cy="274320"/>
          </a:xfrm>
          <a:prstGeom prst="rect">
            <a:avLst/>
          </a:prstGeom>
          <a:noFill/>
        </p:spPr>
        <p:txBody>
          <a:bodyPr wrap="square" anchor="t" lIns="36000" rIns="36000" tIns="18000" bIns="18000">
            <a:spAutoFit/>
          </a:bodyPr>
          <a:lstStyle/>
          <a:p>
            <a:pPr algn="l"/>
            <a:r>
              <a:rPr sz="1250" b="1" i="0">
                <a:solidFill>
                  <a:srgbClr val="3B5174"/>
                </a:solidFill>
                <a:latin typeface="Noto Sans JP"/>
              </a:rPr>
              <a:t>高せん断時：粘度が急低下（せん断希薄化）</a:t>
            </a:r>
          </a:p>
        </p:txBody>
      </p:sp>
      <p:sp>
        <p:nvSpPr>
          <p:cNvPr id="27" name="TextBox 26"/>
          <p:cNvSpPr txBox="1"/>
          <p:nvPr/>
        </p:nvSpPr>
        <p:spPr>
          <a:xfrm>
            <a:off x="6388455"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ノズル通過時の高せん断で粘度低下 → スプレー噴霧が可能</a:t>
            </a:r>
          </a:p>
        </p:txBody>
      </p:sp>
      <p:sp>
        <p:nvSpPr>
          <p:cNvPr id="28" name="Rounded Rectangle 27"/>
          <p:cNvSpPr/>
          <p:nvPr/>
        </p:nvSpPr>
        <p:spPr>
          <a:xfrm>
            <a:off x="365760" y="5340096"/>
            <a:ext cx="11460175" cy="512064"/>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5340096"/>
            <a:ext cx="54864" cy="512064"/>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340096"/>
            <a:ext cx="365760" cy="512064"/>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1" name="TextBox 30"/>
          <p:cNvSpPr txBox="1"/>
          <p:nvPr/>
        </p:nvSpPr>
        <p:spPr>
          <a:xfrm>
            <a:off x="960120" y="5340096"/>
            <a:ext cx="10774375" cy="512064"/>
          </a:xfrm>
          <a:prstGeom prst="rect">
            <a:avLst/>
          </a:prstGeom>
          <a:noFill/>
        </p:spPr>
        <p:txBody>
          <a:bodyPr wrap="square" anchor="ctr" lIns="36000" rIns="36000" tIns="18000" bIns="18000">
            <a:spAutoFit/>
          </a:bodyPr>
          <a:lstStyle/>
          <a:p>
            <a:pPr algn="l"/>
            <a:r>
              <a:rPr sz="1300" b="1" i="0">
                <a:solidFill>
                  <a:srgbClr val="FFFFFF"/>
                </a:solidFill>
                <a:latin typeface="Noto Sans JP"/>
              </a:rPr>
              <a:t>静止時はゲル（垂れない）／噴霧時は低粘度（飛ばせる）の両立がスプレー散布の基盤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レオロジー②：静的・動的降伏応力と AquaGel-K 比較（Fig. 2d・S3）</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降伏応力＝ゲルが流れ出す／流れ続けるのに必要な応力。静的（流れ始め＝付着）と動的（流動維持＝噴霧）の2定義で評価</a:t>
            </a:r>
          </a:p>
        </p:txBody>
      </p:sp>
      <p:sp>
        <p:nvSpPr>
          <p:cNvPr id="14" name="Rounded Rectangle 13"/>
          <p:cNvSpPr/>
          <p:nvPr/>
        </p:nvSpPr>
        <p:spPr>
          <a:xfrm>
            <a:off x="365760" y="160934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71907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71907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 Fig. S3</a:t>
            </a:r>
          </a:p>
        </p:txBody>
      </p:sp>
      <p:sp>
        <p:nvSpPr>
          <p:cNvPr id="17" name="TextBox 16"/>
          <p:cNvSpPr txBox="1"/>
          <p:nvPr/>
        </p:nvSpPr>
        <p:spPr>
          <a:xfrm>
            <a:off x="365760" y="160934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20040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振幅掃引：G'/G'' クロスオーバー（静的降伏応力）</a:t>
            </a:r>
          </a:p>
        </p:txBody>
      </p:sp>
      <p:sp>
        <p:nvSpPr>
          <p:cNvPr id="19" name="Rounded Rectangle 18"/>
          <p:cNvSpPr/>
          <p:nvPr/>
        </p:nvSpPr>
        <p:spPr>
          <a:xfrm>
            <a:off x="365760" y="330098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75488" y="341071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341071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2d</a:t>
            </a:r>
          </a:p>
        </p:txBody>
      </p:sp>
      <p:sp>
        <p:nvSpPr>
          <p:cNvPr id="22" name="TextBox 21"/>
          <p:cNvSpPr txBox="1"/>
          <p:nvPr/>
        </p:nvSpPr>
        <p:spPr>
          <a:xfrm>
            <a:off x="365760" y="330098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365760" y="489204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HB fit による動的降伏応力（棒グラフ）</a:t>
            </a:r>
          </a:p>
        </p:txBody>
      </p:sp>
      <p:sp>
        <p:nvSpPr>
          <p:cNvPr id="24" name="Rounded Rectangle 23"/>
          <p:cNvSpPr/>
          <p:nvPr/>
        </p:nvSpPr>
        <p:spPr>
          <a:xfrm>
            <a:off x="5077846" y="1609344"/>
            <a:ext cx="6748089" cy="155448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77846" y="1609344"/>
            <a:ext cx="54864" cy="155448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79014" y="1719072"/>
            <a:ext cx="643719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静的降伏応力 σ_static（流れ始め＝付着）</a:t>
            </a:r>
          </a:p>
        </p:txBody>
      </p:sp>
      <p:sp>
        <p:nvSpPr>
          <p:cNvPr id="27" name="TextBox 26"/>
          <p:cNvSpPr txBox="1"/>
          <p:nvPr/>
        </p:nvSpPr>
        <p:spPr>
          <a:xfrm>
            <a:off x="5279014" y="206654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測定：振幅掃引（LAOS）の G' / G'' クロスオーバー応力（S3）</a:t>
            </a:r>
          </a:p>
        </p:txBody>
      </p:sp>
      <p:sp>
        <p:nvSpPr>
          <p:cNvPr id="28" name="TextBox 27"/>
          <p:cNvSpPr txBox="1"/>
          <p:nvPr/>
        </p:nvSpPr>
        <p:spPr>
          <a:xfrm>
            <a:off x="5279014" y="237744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PPハイドロゲルは AquaGel-K より高い静的降伏応力</a:t>
            </a:r>
          </a:p>
          <a:p>
            <a:pPr algn="l"/>
            <a:r>
              <a:rPr sz="1150" b="0" i="0">
                <a:solidFill>
                  <a:srgbClr val="475569"/>
                </a:solidFill>
                <a:latin typeface="Noto Sans JP"/>
              </a:rPr>
              <a:t>→ 垂直・高所の燃料面でも流れ落ちにくく、強く付着する</a:t>
            </a:r>
          </a:p>
        </p:txBody>
      </p:sp>
      <p:sp>
        <p:nvSpPr>
          <p:cNvPr id="29" name="Rounded Rectangle 28"/>
          <p:cNvSpPr/>
          <p:nvPr/>
        </p:nvSpPr>
        <p:spPr>
          <a:xfrm>
            <a:off x="5077846" y="3300984"/>
            <a:ext cx="6748089" cy="155448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77846" y="3300984"/>
            <a:ext cx="54864" cy="155448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79014" y="3410712"/>
            <a:ext cx="643719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動的降伏応力 σ_dynamic（流動維持＝噴霧）</a:t>
            </a:r>
          </a:p>
        </p:txBody>
      </p:sp>
      <p:sp>
        <p:nvSpPr>
          <p:cNvPr id="32" name="TextBox 31"/>
          <p:cNvSpPr txBox="1"/>
          <p:nvPr/>
        </p:nvSpPr>
        <p:spPr>
          <a:xfrm>
            <a:off x="5279014" y="375818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測定：フロースイープ（100→0.01 s⁻¹）の HB モデル fit（2d）</a:t>
            </a:r>
          </a:p>
        </p:txBody>
      </p:sp>
      <p:sp>
        <p:nvSpPr>
          <p:cNvPr id="33" name="TextBox 32"/>
          <p:cNvSpPr txBox="1"/>
          <p:nvPr/>
        </p:nvSpPr>
        <p:spPr>
          <a:xfrm>
            <a:off x="5279014" y="406908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AquaGel-K（基準線 0.05 Pa）に対し PPハイドロゲルは桁違いに高い</a:t>
            </a:r>
          </a:p>
          <a:p>
            <a:pPr algn="l"/>
            <a:r>
              <a:rPr sz="1150" b="0" i="0">
                <a:solidFill>
                  <a:srgbClr val="475569"/>
                </a:solidFill>
                <a:latin typeface="Noto Sans JP"/>
              </a:rPr>
              <a:t>→ ポンプ圧内で噴霧でき、かつ流れにくい設計を両立</a:t>
            </a:r>
          </a:p>
        </p:txBody>
      </p:sp>
      <p:sp>
        <p:nvSpPr>
          <p:cNvPr id="34" name="Rounded Rectangle 33"/>
          <p:cNvSpPr/>
          <p:nvPr/>
        </p:nvSpPr>
        <p:spPr>
          <a:xfrm>
            <a:off x="365760" y="5056632"/>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5056632"/>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056632"/>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7" name="TextBox 36"/>
          <p:cNvSpPr txBox="1"/>
          <p:nvPr/>
        </p:nvSpPr>
        <p:spPr>
          <a:xfrm>
            <a:off x="960120" y="5056632"/>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静的・動的いずれの降伏応力でも PPハイドロゲルは市販 AquaGel-K を大きく上回る。両者の差が小さい（弱いチキソトロピー）ため構造が即再形成され、自己修復的に付着を保つ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レオロジー③：動的降伏応力の経時変化と長期安定性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動的降伏応力：定常フロースイープを HB モデルにフィットして算出（σ_d）。流動状態を維持するのに必要な応力（Fig. S7）</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1）</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455）</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動的降伏応力（HB fit）</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定常フロースイープを HB モデルにフィットして測定。HEC+MC/CSPは33.34 Pa、MHEC/CSPは3.31 Pa（Day 1）</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HEC+MC系は経時で剛性化（33.34→68.9 Pa）。MHEC系は変化が穏やかで単一ポリマーにより製造も簡便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せん断希薄化（高せん断で低粘度）</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せん断希薄化挙動</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添加：目的は発泡促進・濡れ性改善だったが…（Fig.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5647791" cy="82296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82296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932688"/>
            <a:ext cx="5373471" cy="256032"/>
          </a:xfrm>
          <a:prstGeom prst="rect">
            <a:avLst/>
          </a:prstGeom>
          <a:noFill/>
        </p:spPr>
        <p:txBody>
          <a:bodyPr wrap="square" anchor="t" lIns="36000" rIns="36000" tIns="18000" bIns="18000">
            <a:spAutoFit/>
          </a:bodyPr>
          <a:lstStyle/>
          <a:p>
            <a:pPr algn="l"/>
            <a:r>
              <a:rPr sz="1200" b="1" i="0">
                <a:solidFill>
                  <a:srgbClr val="4A7C8C"/>
                </a:solidFill>
                <a:latin typeface="Noto Sans JP"/>
              </a:rPr>
              <a:t>SDS 添加の目的</a:t>
            </a:r>
          </a:p>
        </p:txBody>
      </p:sp>
      <p:sp>
        <p:nvSpPr>
          <p:cNvPr id="13" name="TextBox 12"/>
          <p:cNvSpPr txBox="1"/>
          <p:nvPr/>
        </p:nvSpPr>
        <p:spPr>
          <a:xfrm>
            <a:off x="548640"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SDS（0 / 0.1 / 0.5 wt%）を HEC+MC/CSP に添加し、燃料表面への濡れ性改善と発泡層形成の促進を狙った</a:t>
            </a:r>
          </a:p>
        </p:txBody>
      </p:sp>
      <p:sp>
        <p:nvSpPr>
          <p:cNvPr id="14" name="Rounded Rectangle 13"/>
          <p:cNvSpPr/>
          <p:nvPr/>
        </p:nvSpPr>
        <p:spPr>
          <a:xfrm>
            <a:off x="6178143" y="859536"/>
            <a:ext cx="5647791" cy="82296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8143" y="859536"/>
            <a:ext cx="54864" cy="8229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1023" y="932688"/>
            <a:ext cx="5373471" cy="256032"/>
          </a:xfrm>
          <a:prstGeom prst="rect">
            <a:avLst/>
          </a:prstGeom>
          <a:noFill/>
        </p:spPr>
        <p:txBody>
          <a:bodyPr wrap="square" anchor="t" lIns="36000" rIns="36000" tIns="18000" bIns="18000">
            <a:spAutoFit/>
          </a:bodyPr>
          <a:lstStyle/>
          <a:p>
            <a:pPr algn="l"/>
            <a:r>
              <a:rPr sz="1200" b="1" i="0">
                <a:solidFill>
                  <a:srgbClr val="3B5174"/>
                </a:solidFill>
                <a:latin typeface="Noto Sans JP"/>
              </a:rPr>
              <a:t>期待した効果</a:t>
            </a:r>
          </a:p>
        </p:txBody>
      </p:sp>
      <p:sp>
        <p:nvSpPr>
          <p:cNvPr id="17" name="TextBox 16"/>
          <p:cNvSpPr txBox="1"/>
          <p:nvPr/>
        </p:nvSpPr>
        <p:spPr>
          <a:xfrm>
            <a:off x="6361023"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①ゲル粘度を下げてスプレー性を向上　②気泡を安定化して Foaming Index を増大</a:t>
            </a:r>
          </a:p>
        </p:txBody>
      </p:sp>
      <p:sp>
        <p:nvSpPr>
          <p:cNvPr id="18" name="Rounded Rectangle 17"/>
          <p:cNvSpPr/>
          <p:nvPr/>
        </p:nvSpPr>
        <p:spPr>
          <a:xfrm>
            <a:off x="365760"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5488"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21" name="TextBox 20"/>
          <p:cNvSpPr txBox="1"/>
          <p:nvPr/>
        </p:nvSpPr>
        <p:spPr>
          <a:xfrm>
            <a:off x="365760"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2" name="TextBox 21"/>
          <p:cNvSpPr txBox="1"/>
          <p:nvPr/>
        </p:nvSpPr>
        <p:spPr>
          <a:xfrm>
            <a:off x="365760"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a:t>
            </a:r>
          </a:p>
        </p:txBody>
      </p:sp>
      <p:sp>
        <p:nvSpPr>
          <p:cNvPr id="23" name="Rounded Rectangle 22"/>
          <p:cNvSpPr/>
          <p:nvPr/>
        </p:nvSpPr>
        <p:spPr>
          <a:xfrm>
            <a:off x="6178143"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87871"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87871"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6" name="TextBox 25"/>
          <p:cNvSpPr txBox="1"/>
          <p:nvPr/>
        </p:nvSpPr>
        <p:spPr>
          <a:xfrm>
            <a:off x="6178143"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6178143"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δ（1 rad/s、濃度別棒グラフ）</a:t>
            </a:r>
          </a:p>
        </p:txBody>
      </p:sp>
      <p:sp>
        <p:nvSpPr>
          <p:cNvPr id="28" name="Rounded Rectangle 27"/>
          <p:cNvSpPr/>
          <p:nvPr/>
        </p:nvSpPr>
        <p:spPr>
          <a:xfrm>
            <a:off x="365760"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5488"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31" name="TextBox 30"/>
          <p:cNvSpPr txBox="1"/>
          <p:nvPr/>
        </p:nvSpPr>
        <p:spPr>
          <a:xfrm>
            <a:off x="365760"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365760"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fit）</a:t>
            </a:r>
          </a:p>
        </p:txBody>
      </p:sp>
      <p:sp>
        <p:nvSpPr>
          <p:cNvPr id="33" name="Rounded Rectangle 32"/>
          <p:cNvSpPr/>
          <p:nvPr/>
        </p:nvSpPr>
        <p:spPr>
          <a:xfrm>
            <a:off x="6178143"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87871"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87871"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6" name="TextBox 35"/>
          <p:cNvSpPr txBox="1"/>
          <p:nvPr/>
        </p:nvSpPr>
        <p:spPr>
          <a:xfrm>
            <a:off x="6178143"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7" name="TextBox 36"/>
          <p:cNvSpPr txBox="1"/>
          <p:nvPr/>
        </p:nvSpPr>
        <p:spPr>
          <a:xfrm>
            <a:off x="6178143"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8" name="Rounded Rectangle 37"/>
          <p:cNvSpPr/>
          <p:nvPr/>
        </p:nvSpPr>
        <p:spPr>
          <a:xfrm>
            <a:off x="365760" y="5888734"/>
            <a:ext cx="5647791" cy="768098"/>
          </a:xfrm>
          <a:prstGeom prst="roundRect">
            <a:avLst>
              <a:gd name="adj" fmla="val 4000"/>
            </a:avLst>
          </a:prstGeom>
          <a:solidFill>
            <a:srgbClr val="F1F5F9"/>
          </a:solidFill>
          <a:ln w="1524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5888734"/>
            <a:ext cx="54864" cy="768098"/>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943598"/>
            <a:ext cx="5373471" cy="237744"/>
          </a:xfrm>
          <a:prstGeom prst="rect">
            <a:avLst/>
          </a:prstGeom>
          <a:noFill/>
        </p:spPr>
        <p:txBody>
          <a:bodyPr wrap="square" anchor="t" lIns="36000" rIns="36000" tIns="18000" bIns="18000">
            <a:spAutoFit/>
          </a:bodyPr>
          <a:lstStyle/>
          <a:p>
            <a:pPr algn="l"/>
            <a:r>
              <a:rPr sz="1150" b="1" i="0">
                <a:solidFill>
                  <a:srgbClr val="9F7639"/>
                </a:solidFill>
                <a:latin typeface="Noto Sans JP"/>
              </a:rPr>
              <a:t>レオロジー：濃度依存的だが限定的改善</a:t>
            </a:r>
          </a:p>
        </p:txBody>
      </p:sp>
      <p:sp>
        <p:nvSpPr>
          <p:cNvPr id="41" name="TextBox 40"/>
          <p:cNvSpPr txBox="1"/>
          <p:nvPr/>
        </p:nvSpPr>
        <p:spPr>
          <a:xfrm>
            <a:off x="548640"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0.1 wt% で G' がわずかに上昇するが、0.5 wt% ではむしろ軟化し降伏応力も低下。付着性・ゲル強度の観点では SDS 添加は全体的にマイナスに働く</a:t>
            </a:r>
          </a:p>
        </p:txBody>
      </p:sp>
      <p:sp>
        <p:nvSpPr>
          <p:cNvPr id="42" name="Rounded Rectangle 41"/>
          <p:cNvSpPr/>
          <p:nvPr/>
        </p:nvSpPr>
        <p:spPr>
          <a:xfrm>
            <a:off x="6178143" y="5888734"/>
            <a:ext cx="5647791" cy="768098"/>
          </a:xfrm>
          <a:prstGeom prst="roundRect">
            <a:avLst>
              <a:gd name="adj" fmla="val 4000"/>
            </a:avLst>
          </a:prstGeom>
          <a:solidFill>
            <a:srgbClr val="F1F5F9"/>
          </a:solidFill>
          <a:ln w="15240">
            <a:solidFill>
              <a:srgbClr val="A056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78143" y="5888734"/>
            <a:ext cx="54864" cy="768098"/>
          </a:xfrm>
          <a:prstGeom prst="rect">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61023" y="5943598"/>
            <a:ext cx="5373471" cy="237744"/>
          </a:xfrm>
          <a:prstGeom prst="rect">
            <a:avLst/>
          </a:prstGeom>
          <a:noFill/>
        </p:spPr>
        <p:txBody>
          <a:bodyPr wrap="square" anchor="t" lIns="36000" rIns="36000" tIns="18000" bIns="18000">
            <a:spAutoFit/>
          </a:bodyPr>
          <a:lstStyle/>
          <a:p>
            <a:pPr algn="l"/>
            <a:r>
              <a:rPr sz="1150" b="1" i="0">
                <a:solidFill>
                  <a:srgbClr val="A05656"/>
                </a:solidFill>
                <a:latin typeface="Noto Sans JP"/>
              </a:rPr>
              <a:t>発泡：期待に反して Foaming Index が低下</a:t>
            </a:r>
          </a:p>
        </p:txBody>
      </p:sp>
      <p:sp>
        <p:nvSpPr>
          <p:cNvPr id="45" name="TextBox 44"/>
          <p:cNvSpPr txBox="1"/>
          <p:nvPr/>
        </p:nvSpPr>
        <p:spPr>
          <a:xfrm>
            <a:off x="6361023"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SDS 添加により気泡が粗大化・不均一化し、Foaming Index は低下（Fig. 4 参照）。発泡促進という当初の目的は達成されなかった</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添加：発泡性向上を期待したが、逆の結果に（Fig. 4）</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3291840" cy="100584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100584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932688"/>
            <a:ext cx="3017520" cy="219456"/>
          </a:xfrm>
          <a:prstGeom prst="rect">
            <a:avLst/>
          </a:prstGeom>
          <a:noFill/>
        </p:spPr>
        <p:txBody>
          <a:bodyPr wrap="square" anchor="t" lIns="36000" rIns="36000" tIns="18000" bIns="18000">
            <a:spAutoFit/>
          </a:bodyPr>
          <a:lstStyle/>
          <a:p>
            <a:pPr algn="l"/>
            <a:r>
              <a:rPr sz="1000" b="1" i="0">
                <a:solidFill>
                  <a:srgbClr val="4A7C8C"/>
                </a:solidFill>
                <a:latin typeface="Noto Sans JP"/>
              </a:rPr>
              <a:t>仮説（SDS 添加の目的）</a:t>
            </a:r>
          </a:p>
        </p:txBody>
      </p:sp>
      <p:sp>
        <p:nvSpPr>
          <p:cNvPr id="13" name="TextBox 12"/>
          <p:cNvSpPr txBox="1"/>
          <p:nvPr/>
        </p:nvSpPr>
        <p:spPr>
          <a:xfrm>
            <a:off x="566928"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 が発泡を促進</a:t>
            </a:r>
          </a:p>
          <a:p>
            <a:pPr algn="l"/>
            <a:r>
              <a:rPr sz="1100" b="0" i="0">
                <a:solidFill>
                  <a:srgbClr val="334155"/>
                </a:solidFill>
                <a:latin typeface="Noto Sans JP"/>
              </a:rPr>
              <a:t>→ Foaming Index が上昇</a:t>
            </a:r>
          </a:p>
          <a:p>
            <a:pPr algn="l"/>
            <a:r>
              <a:rPr sz="1100" b="0" i="0">
                <a:solidFill>
                  <a:srgbClr val="334155"/>
                </a:solidFill>
                <a:latin typeface="Noto Sans JP"/>
              </a:rPr>
              <a:t>→ エアロゲル断熱層が厚くなる</a:t>
            </a:r>
          </a:p>
        </p:txBody>
      </p:sp>
      <p:sp>
        <p:nvSpPr>
          <p:cNvPr id="14" name="Right Arrow 13"/>
          <p:cNvSpPr/>
          <p:nvPr/>
        </p:nvSpPr>
        <p:spPr>
          <a:xfrm>
            <a:off x="3733723" y="1161288"/>
            <a:ext cx="640080" cy="40233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49927" y="859536"/>
            <a:ext cx="3291840" cy="1005840"/>
          </a:xfrm>
          <a:prstGeom prst="roundRect">
            <a:avLst>
              <a:gd name="adj" fmla="val 5000"/>
            </a:avLst>
          </a:prstGeom>
          <a:solidFill>
            <a:srgbClr val="F1F5F9"/>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095" y="932688"/>
            <a:ext cx="301752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実験</a:t>
            </a:r>
          </a:p>
        </p:txBody>
      </p:sp>
      <p:sp>
        <p:nvSpPr>
          <p:cNvPr id="17" name="TextBox 16"/>
          <p:cNvSpPr txBox="1"/>
          <p:nvPr/>
        </p:nvSpPr>
        <p:spPr>
          <a:xfrm>
            <a:off x="4651095"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0 / 0.1 / 0.5 wt% を添加した</a:t>
            </a:r>
          </a:p>
          <a:p>
            <a:pPr algn="l"/>
            <a:r>
              <a:rPr sz="1100" b="0" i="0">
                <a:solidFill>
                  <a:srgbClr val="334155"/>
                </a:solidFill>
                <a:latin typeface="Noto Sans JP"/>
              </a:rPr>
              <a:t>HEC+MC/CSP の燃焼試験</a:t>
            </a:r>
          </a:p>
          <a:p>
            <a:pPr algn="l"/>
            <a:r>
              <a:rPr sz="1100" b="0" i="0">
                <a:solidFill>
                  <a:srgbClr val="334155"/>
                </a:solidFill>
                <a:latin typeface="Noto Sans JP"/>
              </a:rPr>
              <a:t>→ Foaming Index を定量（Fig. 4a/4b）</a:t>
            </a:r>
          </a:p>
        </p:txBody>
      </p:sp>
      <p:sp>
        <p:nvSpPr>
          <p:cNvPr id="18" name="Right Arrow 17"/>
          <p:cNvSpPr/>
          <p:nvPr/>
        </p:nvSpPr>
        <p:spPr>
          <a:xfrm>
            <a:off x="7817891" y="1161288"/>
            <a:ext cx="640080" cy="402336"/>
          </a:xfrm>
          <a:prstGeom prst="rightArrow">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34095" y="859536"/>
            <a:ext cx="3291840" cy="1005840"/>
          </a:xfrm>
          <a:prstGeom prst="roundRect">
            <a:avLst>
              <a:gd name="adj" fmla="val 5000"/>
            </a:avLst>
          </a:prstGeom>
          <a:solidFill>
            <a:srgbClr val="FFF7ED"/>
          </a:solidFill>
          <a:ln w="1778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34095" y="859536"/>
            <a:ext cx="54864" cy="10058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5263" y="932688"/>
            <a:ext cx="3017520" cy="219456"/>
          </a:xfrm>
          <a:prstGeom prst="rect">
            <a:avLst/>
          </a:prstGeom>
          <a:noFill/>
        </p:spPr>
        <p:txBody>
          <a:bodyPr wrap="square" anchor="t" lIns="36000" rIns="36000" tIns="18000" bIns="18000">
            <a:spAutoFit/>
          </a:bodyPr>
          <a:lstStyle/>
          <a:p>
            <a:pPr algn="l"/>
            <a:r>
              <a:rPr sz="1000" b="1" i="0">
                <a:solidFill>
                  <a:srgbClr val="9F7639"/>
                </a:solidFill>
                <a:latin typeface="Noto Sans JP"/>
              </a:rPr>
              <a:t>結果（予想と逆）</a:t>
            </a:r>
          </a:p>
        </p:txBody>
      </p:sp>
      <p:sp>
        <p:nvSpPr>
          <p:cNvPr id="22" name="TextBox 21"/>
          <p:cNvSpPr txBox="1"/>
          <p:nvPr/>
        </p:nvSpPr>
        <p:spPr>
          <a:xfrm>
            <a:off x="8735263"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添加で Foaming Index が低下</a:t>
            </a:r>
          </a:p>
          <a:p>
            <a:pPr algn="l"/>
            <a:r>
              <a:rPr sz="1100" b="0" i="0">
                <a:solidFill>
                  <a:srgbClr val="334155"/>
                </a:solidFill>
                <a:latin typeface="Noto Sans JP"/>
              </a:rPr>
              <a:t>2.6（SDS 0%） → 2.3（0.1%）→ さらに低下（0.5%）</a:t>
            </a:r>
          </a:p>
          <a:p>
            <a:pPr algn="l"/>
            <a:r>
              <a:rPr sz="1100" b="0" i="0">
                <a:solidFill>
                  <a:srgbClr val="334155"/>
                </a:solidFill>
                <a:latin typeface="Noto Sans JP"/>
              </a:rPr>
              <a:t>発泡性向上には寄与せず</a:t>
            </a:r>
          </a:p>
        </p:txBody>
      </p:sp>
      <p:sp>
        <p:nvSpPr>
          <p:cNvPr id="23" name="Rounded Rectangle 22"/>
          <p:cNvSpPr/>
          <p:nvPr/>
        </p:nvSpPr>
        <p:spPr>
          <a:xfrm>
            <a:off x="365760"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26" name="TextBox 25"/>
          <p:cNvSpPr txBox="1"/>
          <p:nvPr/>
        </p:nvSpPr>
        <p:spPr>
          <a:xfrm>
            <a:off x="365760"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365760"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燃焼後の発泡層外観（SDS 濃度別）</a:t>
            </a:r>
          </a:p>
        </p:txBody>
      </p:sp>
      <p:sp>
        <p:nvSpPr>
          <p:cNvPr id="28" name="Rounded Rectangle 27"/>
          <p:cNvSpPr/>
          <p:nvPr/>
        </p:nvSpPr>
        <p:spPr>
          <a:xfrm>
            <a:off x="6187287"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7015"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7015"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31" name="TextBox 30"/>
          <p:cNvSpPr txBox="1"/>
          <p:nvPr/>
        </p:nvSpPr>
        <p:spPr>
          <a:xfrm>
            <a:off x="6187287"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6187287"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Index（定量）</a:t>
            </a:r>
          </a:p>
        </p:txBody>
      </p:sp>
      <p:sp>
        <p:nvSpPr>
          <p:cNvPr id="33" name="TextBox 32"/>
          <p:cNvSpPr txBox="1"/>
          <p:nvPr/>
        </p:nvSpPr>
        <p:spPr>
          <a:xfrm>
            <a:off x="365760" y="4297680"/>
            <a:ext cx="5730087" cy="237744"/>
          </a:xfrm>
          <a:prstGeom prst="rect">
            <a:avLst/>
          </a:prstGeom>
          <a:noFill/>
        </p:spPr>
        <p:txBody>
          <a:bodyPr wrap="square" anchor="t" lIns="36000" rIns="36000" tIns="18000" bIns="18000">
            <a:spAutoFit/>
          </a:bodyPr>
          <a:lstStyle/>
          <a:p>
            <a:pPr algn="l"/>
            <a:r>
              <a:rPr sz="1100" b="1" i="0">
                <a:solidFill>
                  <a:srgbClr val="64748B"/>
                </a:solidFill>
                <a:latin typeface="Noto Sans JP"/>
              </a:rPr>
              <a:t>Foaming Index（発泡後厚 / 初期厚）</a:t>
            </a:r>
          </a:p>
        </p:txBody>
      </p:sp>
      <p:sp>
        <p:nvSpPr>
          <p:cNvPr id="34" name="TextBox 33"/>
          <p:cNvSpPr txBox="1"/>
          <p:nvPr/>
        </p:nvSpPr>
        <p:spPr>
          <a:xfrm>
            <a:off x="365760" y="459028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1-5（SDS 0%）</a:t>
            </a:r>
          </a:p>
        </p:txBody>
      </p:sp>
      <p:sp>
        <p:nvSpPr>
          <p:cNvPr id="35" name="Rounded Rectangle 34"/>
          <p:cNvSpPr/>
          <p:nvPr/>
        </p:nvSpPr>
        <p:spPr>
          <a:xfrm>
            <a:off x="3383280" y="466344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383280" y="4663440"/>
            <a:ext cx="3081948"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668" y="459028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8" name="TextBox 37"/>
          <p:cNvSpPr txBox="1"/>
          <p:nvPr/>
        </p:nvSpPr>
        <p:spPr>
          <a:xfrm>
            <a:off x="365760" y="495604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9" name="Rounded Rectangle 38"/>
          <p:cNvSpPr/>
          <p:nvPr/>
        </p:nvSpPr>
        <p:spPr>
          <a:xfrm>
            <a:off x="3383280" y="502920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83280" y="5029200"/>
            <a:ext cx="2712114" cy="146304"/>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668" y="495604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42" name="TextBox 41"/>
          <p:cNvSpPr txBox="1"/>
          <p:nvPr/>
        </p:nvSpPr>
        <p:spPr>
          <a:xfrm>
            <a:off x="365760" y="532180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1-5-0.5</a:t>
            </a:r>
          </a:p>
        </p:txBody>
      </p:sp>
      <p:sp>
        <p:nvSpPr>
          <p:cNvPr id="43" name="Rounded Rectangle 42"/>
          <p:cNvSpPr/>
          <p:nvPr/>
        </p:nvSpPr>
        <p:spPr>
          <a:xfrm>
            <a:off x="3383280" y="539496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83280" y="5394960"/>
            <a:ext cx="2219002"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668" y="532180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さらに低下</a:t>
            </a:r>
          </a:p>
        </p:txBody>
      </p:sp>
      <p:sp>
        <p:nvSpPr>
          <p:cNvPr id="46" name="TextBox 45"/>
          <p:cNvSpPr txBox="1"/>
          <p:nvPr/>
        </p:nvSpPr>
        <p:spPr>
          <a:xfrm>
            <a:off x="365760" y="568756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AquaGel-K（参考）</a:t>
            </a:r>
          </a:p>
        </p:txBody>
      </p:sp>
      <p:sp>
        <p:nvSpPr>
          <p:cNvPr id="47" name="Rounded Rectangle 46"/>
          <p:cNvSpPr/>
          <p:nvPr/>
        </p:nvSpPr>
        <p:spPr>
          <a:xfrm>
            <a:off x="3383280" y="576072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383280" y="5760720"/>
            <a:ext cx="6163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668" y="568756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50" name="Rounded Rectangle 49"/>
          <p:cNvSpPr/>
          <p:nvPr/>
        </p:nvSpPr>
        <p:spPr>
          <a:xfrm>
            <a:off x="365760" y="6144768"/>
            <a:ext cx="11460175" cy="530352"/>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6144768"/>
            <a:ext cx="54864" cy="530352"/>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6144768"/>
            <a:ext cx="365760" cy="530352"/>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3" name="TextBox 52"/>
          <p:cNvSpPr txBox="1"/>
          <p:nvPr/>
        </p:nvSpPr>
        <p:spPr>
          <a:xfrm>
            <a:off x="960120" y="6144768"/>
            <a:ext cx="10774375" cy="530352"/>
          </a:xfrm>
          <a:prstGeom prst="rect">
            <a:avLst/>
          </a:prstGeom>
          <a:noFill/>
        </p:spPr>
        <p:txBody>
          <a:bodyPr wrap="square" anchor="ctr" lIns="36000" rIns="36000" tIns="18000" bIns="18000">
            <a:spAutoFit/>
          </a:bodyPr>
          <a:lstStyle/>
          <a:p>
            <a:pPr algn="l"/>
            <a:r>
              <a:rPr sz="1300" b="1" i="0">
                <a:solidFill>
                  <a:srgbClr val="FFFFFF"/>
                </a:solidFill>
                <a:latin typeface="Noto Sans JP"/>
              </a:rPr>
              <a:t>SDS は発泡に寄与せず、むしろ気泡を粗大化・不均一化（Fig. 4c SEM）→ 発泡指数低下の原因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既存品との比較：WEG だけが満たす要件</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11460175" cy="512064"/>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120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12064"/>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12064"/>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本研究の WEG（PPハイドロゲル）は、水・市販WEG・Phos-Chek が個別にしか満たせない要件をすべて両立する</a:t>
            </a:r>
          </a:p>
        </p:txBody>
      </p:sp>
      <p:sp>
        <p:nvSpPr>
          <p:cNvPr id="14" name="Rectangle 13"/>
          <p:cNvSpPr/>
          <p:nvPr/>
        </p:nvSpPr>
        <p:spPr>
          <a:xfrm>
            <a:off x="365760" y="1572768"/>
            <a:ext cx="2377440"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1572768"/>
            <a:ext cx="2157984" cy="868680"/>
          </a:xfrm>
          <a:prstGeom prst="rect">
            <a:avLst/>
          </a:prstGeom>
          <a:noFill/>
        </p:spPr>
        <p:txBody>
          <a:bodyPr wrap="square" anchor="ctr" lIns="36000" rIns="36000" tIns="18000" bIns="18000">
            <a:spAutoFit/>
          </a:bodyPr>
          <a:lstStyle/>
          <a:p>
            <a:pPr algn="l"/>
            <a:r>
              <a:rPr sz="1100" b="1" i="0">
                <a:solidFill>
                  <a:srgbClr val="FFFFFF"/>
                </a:solidFill>
                <a:latin typeface="Noto Sans JP"/>
              </a:rPr>
              <a:t>製品 ＼ 要件</a:t>
            </a:r>
          </a:p>
        </p:txBody>
      </p:sp>
      <p:sp>
        <p:nvSpPr>
          <p:cNvPr id="16" name="Rectangle 15"/>
          <p:cNvSpPr/>
          <p:nvPr/>
        </p:nvSpPr>
        <p:spPr>
          <a:xfrm>
            <a:off x="2743200"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98064"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長時間の火炎保護</a:t>
            </a:r>
          </a:p>
        </p:txBody>
      </p:sp>
      <p:sp>
        <p:nvSpPr>
          <p:cNvPr id="18" name="Rectangle 17"/>
          <p:cNvSpPr/>
          <p:nvPr/>
        </p:nvSpPr>
        <p:spPr>
          <a:xfrm>
            <a:off x="4559747"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4611"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乾燥後も保護継続</a:t>
            </a:r>
          </a:p>
        </p:txBody>
      </p:sp>
      <p:sp>
        <p:nvSpPr>
          <p:cNvPr id="20" name="Rectangle 19"/>
          <p:cNvSpPr/>
          <p:nvPr/>
        </p:nvSpPr>
        <p:spPr>
          <a:xfrm>
            <a:off x="6376294"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1158"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噴霧散布が可能</a:t>
            </a:r>
          </a:p>
        </p:txBody>
      </p:sp>
      <p:sp>
        <p:nvSpPr>
          <p:cNvPr id="22" name="Rectangle 21"/>
          <p:cNvSpPr/>
          <p:nvPr/>
        </p:nvSpPr>
        <p:spPr>
          <a:xfrm>
            <a:off x="8192841"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7705"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環境残留が低い</a:t>
            </a:r>
          </a:p>
        </p:txBody>
      </p:sp>
      <p:sp>
        <p:nvSpPr>
          <p:cNvPr id="24" name="Rectangle 23"/>
          <p:cNvSpPr/>
          <p:nvPr/>
        </p:nvSpPr>
        <p:spPr>
          <a:xfrm>
            <a:off x="10009388"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64252"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発泡・断熱層を形成</a:t>
            </a:r>
          </a:p>
        </p:txBody>
      </p:sp>
      <p:sp>
        <p:nvSpPr>
          <p:cNvPr id="26" name="Rectangle 25"/>
          <p:cNvSpPr/>
          <p:nvPr/>
        </p:nvSpPr>
        <p:spPr>
          <a:xfrm>
            <a:off x="365760" y="2441448"/>
            <a:ext cx="2377440"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2441448"/>
            <a:ext cx="54864" cy="60350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441448"/>
            <a:ext cx="2103120" cy="603504"/>
          </a:xfrm>
          <a:prstGeom prst="rect">
            <a:avLst/>
          </a:prstGeom>
          <a:noFill/>
        </p:spPr>
        <p:txBody>
          <a:bodyPr wrap="square" anchor="ctr" lIns="36000" rIns="36000" tIns="18000" bIns="18000">
            <a:spAutoFit/>
          </a:bodyPr>
          <a:lstStyle/>
          <a:p>
            <a:pPr algn="l"/>
            <a:r>
              <a:rPr sz="1200" b="1" i="0">
                <a:solidFill>
                  <a:srgbClr val="1E293B"/>
                </a:solidFill>
                <a:latin typeface="Noto Sans JP"/>
              </a:rPr>
              <a:t>WEG（本研究）</a:t>
            </a:r>
          </a:p>
        </p:txBody>
      </p:sp>
      <p:sp>
        <p:nvSpPr>
          <p:cNvPr id="29" name="Rectangle 28"/>
          <p:cNvSpPr/>
          <p:nvPr/>
        </p:nvSpPr>
        <p:spPr>
          <a:xfrm>
            <a:off x="2743200"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3200"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1" name="Rectangle 30"/>
          <p:cNvSpPr/>
          <p:nvPr/>
        </p:nvSpPr>
        <p:spPr>
          <a:xfrm>
            <a:off x="4559747"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59747"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3" name="Rectangle 32"/>
          <p:cNvSpPr/>
          <p:nvPr/>
        </p:nvSpPr>
        <p:spPr>
          <a:xfrm>
            <a:off x="6376294"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76294"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5" name="Rectangle 34"/>
          <p:cNvSpPr/>
          <p:nvPr/>
        </p:nvSpPr>
        <p:spPr>
          <a:xfrm>
            <a:off x="8192841"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92841"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7" name="Rectangle 36"/>
          <p:cNvSpPr/>
          <p:nvPr/>
        </p:nvSpPr>
        <p:spPr>
          <a:xfrm>
            <a:off x="10009388"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09388"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9" name="Rectangle 38"/>
          <p:cNvSpPr/>
          <p:nvPr/>
        </p:nvSpPr>
        <p:spPr>
          <a:xfrm>
            <a:off x="365760" y="3044952"/>
            <a:ext cx="2377440"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044952"/>
            <a:ext cx="2103120" cy="603504"/>
          </a:xfrm>
          <a:prstGeom prst="rect">
            <a:avLst/>
          </a:prstGeom>
          <a:noFill/>
        </p:spPr>
        <p:txBody>
          <a:bodyPr wrap="square" anchor="ctr" lIns="36000" rIns="36000" tIns="18000" bIns="18000">
            <a:spAutoFit/>
          </a:bodyPr>
          <a:lstStyle/>
          <a:p>
            <a:pPr algn="l"/>
            <a:r>
              <a:rPr sz="1200" b="0" i="0">
                <a:solidFill>
                  <a:srgbClr val="334155"/>
                </a:solidFill>
                <a:latin typeface="Noto Sans JP"/>
              </a:rPr>
              <a:t>市販 AquaGel-K</a:t>
            </a:r>
          </a:p>
        </p:txBody>
      </p:sp>
      <p:sp>
        <p:nvSpPr>
          <p:cNvPr id="41" name="Rectangle 40"/>
          <p:cNvSpPr/>
          <p:nvPr/>
        </p:nvSpPr>
        <p:spPr>
          <a:xfrm>
            <a:off x="2743200"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0" y="3044952"/>
            <a:ext cx="1816547" cy="603504"/>
          </a:xfrm>
          <a:prstGeom prst="rect">
            <a:avLst/>
          </a:prstGeom>
          <a:noFill/>
        </p:spPr>
        <p:txBody>
          <a:bodyPr wrap="square" anchor="ctr" lIns="36000" rIns="36000" tIns="18000" bIns="18000">
            <a:spAutoFit/>
          </a:bodyPr>
          <a:lstStyle/>
          <a:p>
            <a:pPr algn="ctr"/>
            <a:r>
              <a:rPr sz="1800" b="1" i="0">
                <a:solidFill>
                  <a:srgbClr val="9F7639"/>
                </a:solidFill>
                <a:latin typeface="Noto Sans JP"/>
              </a:rPr>
              <a:t>△</a:t>
            </a:r>
          </a:p>
        </p:txBody>
      </p:sp>
      <p:sp>
        <p:nvSpPr>
          <p:cNvPr id="43" name="Rectangle 42"/>
          <p:cNvSpPr/>
          <p:nvPr/>
        </p:nvSpPr>
        <p:spPr>
          <a:xfrm>
            <a:off x="4559747"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59747" y="3044952"/>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45" name="Rectangle 44"/>
          <p:cNvSpPr/>
          <p:nvPr/>
        </p:nvSpPr>
        <p:spPr>
          <a:xfrm>
            <a:off x="6376294"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76294" y="3044952"/>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47" name="Rectangle 46"/>
          <p:cNvSpPr/>
          <p:nvPr/>
        </p:nvSpPr>
        <p:spPr>
          <a:xfrm>
            <a:off x="8192841"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92841" y="3044952"/>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49" name="Rectangle 48"/>
          <p:cNvSpPr/>
          <p:nvPr/>
        </p:nvSpPr>
        <p:spPr>
          <a:xfrm>
            <a:off x="10009388"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009388" y="3044952"/>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51" name="Rectangle 50"/>
          <p:cNvSpPr/>
          <p:nvPr/>
        </p:nvSpPr>
        <p:spPr>
          <a:xfrm>
            <a:off x="365760" y="3648456"/>
            <a:ext cx="2377440"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48456"/>
            <a:ext cx="2103120" cy="603504"/>
          </a:xfrm>
          <a:prstGeom prst="rect">
            <a:avLst/>
          </a:prstGeom>
          <a:noFill/>
        </p:spPr>
        <p:txBody>
          <a:bodyPr wrap="square" anchor="ctr" lIns="36000" rIns="36000" tIns="18000" bIns="18000">
            <a:spAutoFit/>
          </a:bodyPr>
          <a:lstStyle/>
          <a:p>
            <a:pPr algn="l"/>
            <a:r>
              <a:rPr sz="1200" b="0" i="0">
                <a:solidFill>
                  <a:srgbClr val="334155"/>
                </a:solidFill>
                <a:latin typeface="Noto Sans JP"/>
              </a:rPr>
              <a:t>Phos-Chek</a:t>
            </a:r>
          </a:p>
        </p:txBody>
      </p:sp>
      <p:sp>
        <p:nvSpPr>
          <p:cNvPr id="53" name="Rectangle 52"/>
          <p:cNvSpPr/>
          <p:nvPr/>
        </p:nvSpPr>
        <p:spPr>
          <a:xfrm>
            <a:off x="2743200"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43200" y="3648456"/>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5" name="Rectangle 54"/>
          <p:cNvSpPr/>
          <p:nvPr/>
        </p:nvSpPr>
        <p:spPr>
          <a:xfrm>
            <a:off x="4559747"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59747" y="3648456"/>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7" name="Rectangle 56"/>
          <p:cNvSpPr/>
          <p:nvPr/>
        </p:nvSpPr>
        <p:spPr>
          <a:xfrm>
            <a:off x="6376294"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76294" y="3648456"/>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9" name="Rectangle 58"/>
          <p:cNvSpPr/>
          <p:nvPr/>
        </p:nvSpPr>
        <p:spPr>
          <a:xfrm>
            <a:off x="8192841"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92841" y="3648456"/>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1" name="Rectangle 60"/>
          <p:cNvSpPr/>
          <p:nvPr/>
        </p:nvSpPr>
        <p:spPr>
          <a:xfrm>
            <a:off x="10009388"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009388" y="3648456"/>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3" name="Rectangle 62"/>
          <p:cNvSpPr/>
          <p:nvPr/>
        </p:nvSpPr>
        <p:spPr>
          <a:xfrm>
            <a:off x="365760" y="4251960"/>
            <a:ext cx="2377440"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8640" y="4251960"/>
            <a:ext cx="2103120" cy="603504"/>
          </a:xfrm>
          <a:prstGeom prst="rect">
            <a:avLst/>
          </a:prstGeom>
          <a:noFill/>
        </p:spPr>
        <p:txBody>
          <a:bodyPr wrap="square" anchor="ctr" lIns="36000" rIns="36000" tIns="18000" bIns="18000">
            <a:spAutoFit/>
          </a:bodyPr>
          <a:lstStyle/>
          <a:p>
            <a:pPr algn="l"/>
            <a:r>
              <a:rPr sz="1200" b="0" i="0">
                <a:solidFill>
                  <a:srgbClr val="334155"/>
                </a:solidFill>
                <a:latin typeface="Noto Sans JP"/>
              </a:rPr>
              <a:t>水のみ</a:t>
            </a:r>
          </a:p>
        </p:txBody>
      </p:sp>
      <p:sp>
        <p:nvSpPr>
          <p:cNvPr id="65" name="Rectangle 64"/>
          <p:cNvSpPr/>
          <p:nvPr/>
        </p:nvSpPr>
        <p:spPr>
          <a:xfrm>
            <a:off x="2743200"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0" y="4251960"/>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7" name="Rectangle 66"/>
          <p:cNvSpPr/>
          <p:nvPr/>
        </p:nvSpPr>
        <p:spPr>
          <a:xfrm>
            <a:off x="4559747"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59747" y="4251960"/>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9" name="Rectangle 68"/>
          <p:cNvSpPr/>
          <p:nvPr/>
        </p:nvSpPr>
        <p:spPr>
          <a:xfrm>
            <a:off x="6376294"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376294" y="4251960"/>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71" name="Rectangle 70"/>
          <p:cNvSpPr/>
          <p:nvPr/>
        </p:nvSpPr>
        <p:spPr>
          <a:xfrm>
            <a:off x="8192841"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192841" y="4251960"/>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73" name="Rectangle 72"/>
          <p:cNvSpPr/>
          <p:nvPr/>
        </p:nvSpPr>
        <p:spPr>
          <a:xfrm>
            <a:off x="10009388"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009388" y="4251960"/>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75" name="TextBox 74"/>
          <p:cNvSpPr txBox="1"/>
          <p:nvPr/>
        </p:nvSpPr>
        <p:spPr>
          <a:xfrm>
            <a:off x="365760" y="5001768"/>
            <a:ext cx="365760" cy="274320"/>
          </a:xfrm>
          <a:prstGeom prst="rect">
            <a:avLst/>
          </a:prstGeom>
          <a:noFill/>
        </p:spPr>
        <p:txBody>
          <a:bodyPr wrap="square" anchor="ctr" lIns="36000" rIns="36000" tIns="18000" bIns="18000">
            <a:spAutoFit/>
          </a:bodyPr>
          <a:lstStyle/>
          <a:p>
            <a:pPr algn="l"/>
            <a:r>
              <a:rPr sz="1400" b="1" i="0">
                <a:solidFill>
                  <a:srgbClr val="5B8C5A"/>
                </a:solidFill>
                <a:latin typeface="Noto Sans JP"/>
              </a:rPr>
              <a:t>◎</a:t>
            </a:r>
          </a:p>
        </p:txBody>
      </p:sp>
      <p:sp>
        <p:nvSpPr>
          <p:cNvPr id="76" name="TextBox 75"/>
          <p:cNvSpPr txBox="1"/>
          <p:nvPr/>
        </p:nvSpPr>
        <p:spPr>
          <a:xfrm>
            <a:off x="713232" y="5001768"/>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優れる</a:t>
            </a:r>
          </a:p>
        </p:txBody>
      </p:sp>
      <p:sp>
        <p:nvSpPr>
          <p:cNvPr id="77" name="TextBox 76"/>
          <p:cNvSpPr txBox="1"/>
          <p:nvPr/>
        </p:nvSpPr>
        <p:spPr>
          <a:xfrm>
            <a:off x="2194560" y="5001768"/>
            <a:ext cx="365760" cy="274320"/>
          </a:xfrm>
          <a:prstGeom prst="rect">
            <a:avLst/>
          </a:prstGeom>
          <a:noFill/>
        </p:spPr>
        <p:txBody>
          <a:bodyPr wrap="square" anchor="ctr" lIns="36000" rIns="36000" tIns="18000" bIns="18000">
            <a:spAutoFit/>
          </a:bodyPr>
          <a:lstStyle/>
          <a:p>
            <a:pPr algn="l"/>
            <a:r>
              <a:rPr sz="1400" b="1" i="0">
                <a:solidFill>
                  <a:srgbClr val="5B8C5A"/>
                </a:solidFill>
                <a:latin typeface="Noto Sans JP"/>
              </a:rPr>
              <a:t>○</a:t>
            </a:r>
          </a:p>
        </p:txBody>
      </p:sp>
      <p:sp>
        <p:nvSpPr>
          <p:cNvPr id="78" name="TextBox 77"/>
          <p:cNvSpPr txBox="1"/>
          <p:nvPr/>
        </p:nvSpPr>
        <p:spPr>
          <a:xfrm>
            <a:off x="2542032" y="5001768"/>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可能</a:t>
            </a:r>
          </a:p>
        </p:txBody>
      </p:sp>
      <p:sp>
        <p:nvSpPr>
          <p:cNvPr id="79" name="TextBox 78"/>
          <p:cNvSpPr txBox="1"/>
          <p:nvPr/>
        </p:nvSpPr>
        <p:spPr>
          <a:xfrm>
            <a:off x="4023360" y="5001768"/>
            <a:ext cx="365760" cy="274320"/>
          </a:xfrm>
          <a:prstGeom prst="rect">
            <a:avLst/>
          </a:prstGeom>
          <a:noFill/>
        </p:spPr>
        <p:txBody>
          <a:bodyPr wrap="square" anchor="ctr" lIns="36000" rIns="36000" tIns="18000" bIns="18000">
            <a:spAutoFit/>
          </a:bodyPr>
          <a:lstStyle/>
          <a:p>
            <a:pPr algn="l"/>
            <a:r>
              <a:rPr sz="1400" b="1" i="0">
                <a:solidFill>
                  <a:srgbClr val="9F7639"/>
                </a:solidFill>
                <a:latin typeface="Noto Sans JP"/>
              </a:rPr>
              <a:t>△</a:t>
            </a:r>
          </a:p>
        </p:txBody>
      </p:sp>
      <p:sp>
        <p:nvSpPr>
          <p:cNvPr id="80" name="TextBox 79"/>
          <p:cNvSpPr txBox="1"/>
          <p:nvPr/>
        </p:nvSpPr>
        <p:spPr>
          <a:xfrm>
            <a:off x="4370832" y="5001768"/>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限定的</a:t>
            </a:r>
          </a:p>
        </p:txBody>
      </p:sp>
      <p:sp>
        <p:nvSpPr>
          <p:cNvPr id="81" name="TextBox 80"/>
          <p:cNvSpPr txBox="1"/>
          <p:nvPr/>
        </p:nvSpPr>
        <p:spPr>
          <a:xfrm>
            <a:off x="5852160" y="5001768"/>
            <a:ext cx="365760" cy="274320"/>
          </a:xfrm>
          <a:prstGeom prst="rect">
            <a:avLst/>
          </a:prstGeom>
          <a:noFill/>
        </p:spPr>
        <p:txBody>
          <a:bodyPr wrap="square" anchor="ctr" lIns="36000" rIns="36000" tIns="18000" bIns="18000">
            <a:spAutoFit/>
          </a:bodyPr>
          <a:lstStyle/>
          <a:p>
            <a:pPr algn="l"/>
            <a:r>
              <a:rPr sz="1400" b="1" i="0">
                <a:solidFill>
                  <a:srgbClr val="A05656"/>
                </a:solidFill>
                <a:latin typeface="Noto Sans JP"/>
              </a:rPr>
              <a:t>×</a:t>
            </a:r>
          </a:p>
        </p:txBody>
      </p:sp>
      <p:sp>
        <p:nvSpPr>
          <p:cNvPr id="82" name="TextBox 81"/>
          <p:cNvSpPr txBox="1"/>
          <p:nvPr/>
        </p:nvSpPr>
        <p:spPr>
          <a:xfrm>
            <a:off x="6199632" y="5001768"/>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不可・課題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研究の結論：核心メカニズムと4つの成果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TextBox 9"/>
          <p:cNvSpPr txBox="1"/>
          <p:nvPr/>
        </p:nvSpPr>
        <p:spPr>
          <a:xfrm>
            <a:off x="365760" y="859536"/>
            <a:ext cx="11460175" cy="274320"/>
          </a:xfrm>
          <a:prstGeom prst="rect">
            <a:avLst/>
          </a:prstGeom>
          <a:noFill/>
        </p:spPr>
        <p:txBody>
          <a:bodyPr wrap="square" anchor="t" lIns="36000" rIns="36000" tIns="18000" bIns="18000">
            <a:spAutoFit/>
          </a:bodyPr>
          <a:lstStyle/>
          <a:p>
            <a:pPr algn="l"/>
            <a:r>
              <a:rPr sz="1300" b="1" i="0">
                <a:solidFill>
                  <a:srgbClr val="1E293B"/>
                </a:solidFill>
                <a:latin typeface="Noto Sans JP"/>
              </a:rPr>
              <a:t>核心メカニズム：火炎接触でゲルが「自己変態」する</a:t>
            </a:r>
          </a:p>
        </p:txBody>
      </p:sp>
      <p:sp>
        <p:nvSpPr>
          <p:cNvPr id="11" name="Rounded Rectangle 10"/>
          <p:cNvSpPr/>
          <p:nvPr/>
        </p:nvSpPr>
        <p:spPr>
          <a:xfrm>
            <a:off x="365760"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243584"/>
            <a:ext cx="3545738" cy="45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71600"/>
            <a:ext cx="3216554" cy="237744"/>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530352"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水が急速に蒸発</a:t>
            </a:r>
          </a:p>
        </p:txBody>
      </p:sp>
      <p:sp>
        <p:nvSpPr>
          <p:cNvPr id="15" name="TextBox 14"/>
          <p:cNvSpPr txBox="1"/>
          <p:nvPr/>
        </p:nvSpPr>
        <p:spPr>
          <a:xfrm>
            <a:off x="530352"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火炎接触でゲル中の水が気化・吸熱</a:t>
            </a:r>
          </a:p>
          <a:p>
            <a:pPr algn="l"/>
            <a:r>
              <a:rPr sz="1100" b="0" i="0">
                <a:solidFill>
                  <a:srgbClr val="475569"/>
                </a:solidFill>
                <a:latin typeface="Noto Sans JP"/>
              </a:rPr>
              <a:t>→ 基材表面の温度上昇を抑制</a:t>
            </a:r>
          </a:p>
        </p:txBody>
      </p:sp>
      <p:sp>
        <p:nvSpPr>
          <p:cNvPr id="16" name="TextBox 15"/>
          <p:cNvSpPr txBox="1"/>
          <p:nvPr/>
        </p:nvSpPr>
        <p:spPr>
          <a:xfrm>
            <a:off x="3911498" y="1243584"/>
            <a:ext cx="411480" cy="1508760"/>
          </a:xfrm>
          <a:prstGeom prst="rect">
            <a:avLst/>
          </a:prstGeom>
          <a:noFill/>
        </p:spPr>
        <p:txBody>
          <a:bodyPr wrap="square" anchor="ctr" lIns="36000" rIns="36000" tIns="18000" bIns="18000">
            <a:spAutoFit/>
          </a:bodyPr>
          <a:lstStyle/>
          <a:p>
            <a:pPr algn="ctr"/>
            <a:r>
              <a:rPr sz="1800" b="1" i="0">
                <a:solidFill>
                  <a:srgbClr val="AAB4C0"/>
                </a:solidFill>
                <a:latin typeface="Noto Sans JP"/>
              </a:rPr>
              <a:t>▶</a:t>
            </a:r>
          </a:p>
        </p:txBody>
      </p:sp>
      <p:sp>
        <p:nvSpPr>
          <p:cNvPr id="17" name="Rounded Rectangle 16"/>
          <p:cNvSpPr/>
          <p:nvPr/>
        </p:nvSpPr>
        <p:spPr>
          <a:xfrm>
            <a:off x="4322978"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243584"/>
            <a:ext cx="3545738" cy="45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7570" y="1371600"/>
            <a:ext cx="3216554" cy="237744"/>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20" name="TextBox 19"/>
          <p:cNvSpPr txBox="1"/>
          <p:nvPr/>
        </p:nvSpPr>
        <p:spPr>
          <a:xfrm>
            <a:off x="4487570"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CSP が焼結</a:t>
            </a:r>
          </a:p>
        </p:txBody>
      </p:sp>
      <p:sp>
        <p:nvSpPr>
          <p:cNvPr id="21" name="TextBox 20"/>
          <p:cNvSpPr txBox="1"/>
          <p:nvPr/>
        </p:nvSpPr>
        <p:spPr>
          <a:xfrm>
            <a:off x="4487570"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シリカ粒子が加熱で焼結し</a:t>
            </a:r>
          </a:p>
          <a:p>
            <a:pPr algn="l"/>
            <a:r>
              <a:rPr sz="1100" b="0" i="0">
                <a:solidFill>
                  <a:srgbClr val="475569"/>
                </a:solidFill>
                <a:latin typeface="Noto Sans JP"/>
              </a:rPr>
              <a:t>粒子間にネック（架橋）を形成</a:t>
            </a:r>
          </a:p>
        </p:txBody>
      </p:sp>
      <p:sp>
        <p:nvSpPr>
          <p:cNvPr id="22" name="TextBox 21"/>
          <p:cNvSpPr txBox="1"/>
          <p:nvPr/>
        </p:nvSpPr>
        <p:spPr>
          <a:xfrm>
            <a:off x="7868716" y="1243584"/>
            <a:ext cx="411480" cy="1508760"/>
          </a:xfrm>
          <a:prstGeom prst="rect">
            <a:avLst/>
          </a:prstGeom>
          <a:noFill/>
        </p:spPr>
        <p:txBody>
          <a:bodyPr wrap="square" anchor="ctr" lIns="36000" rIns="36000" tIns="18000" bIns="18000">
            <a:spAutoFit/>
          </a:bodyPr>
          <a:lstStyle/>
          <a:p>
            <a:pPr algn="ctr"/>
            <a:r>
              <a:rPr sz="1800" b="1" i="0">
                <a:solidFill>
                  <a:srgbClr val="AAB4C0"/>
                </a:solidFill>
                <a:latin typeface="Noto Sans JP"/>
              </a:rPr>
              <a:t>▶</a:t>
            </a:r>
          </a:p>
        </p:txBody>
      </p:sp>
      <p:sp>
        <p:nvSpPr>
          <p:cNvPr id="23" name="Rounded Rectangle 22"/>
          <p:cNvSpPr/>
          <p:nvPr/>
        </p:nvSpPr>
        <p:spPr>
          <a:xfrm>
            <a:off x="8280196"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80196" y="1243584"/>
            <a:ext cx="3545738"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44788" y="1371600"/>
            <a:ext cx="3216554" cy="237744"/>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6" name="TextBox 25"/>
          <p:cNvSpPr txBox="1"/>
          <p:nvPr/>
        </p:nvSpPr>
        <p:spPr>
          <a:xfrm>
            <a:off x="8444788"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エアロゲル断熱層</a:t>
            </a:r>
          </a:p>
        </p:txBody>
      </p:sp>
      <p:sp>
        <p:nvSpPr>
          <p:cNvPr id="27" name="TextBox 26"/>
          <p:cNvSpPr txBox="1"/>
          <p:nvPr/>
        </p:nvSpPr>
        <p:spPr>
          <a:xfrm>
            <a:off x="8444788"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多孔質シリカエアロゲルが in situ で完成</a:t>
            </a:r>
          </a:p>
          <a:p>
            <a:pPr algn="l"/>
            <a:r>
              <a:rPr sz="1100" b="0" i="0">
                <a:solidFill>
                  <a:srgbClr val="475569"/>
                </a:solidFill>
                <a:latin typeface="Noto Sans JP"/>
              </a:rPr>
              <a:t>→ 乾燥後も基材を断熱保護</a:t>
            </a:r>
          </a:p>
        </p:txBody>
      </p:sp>
      <p:sp>
        <p:nvSpPr>
          <p:cNvPr id="28" name="TextBox 27"/>
          <p:cNvSpPr txBox="1"/>
          <p:nvPr/>
        </p:nvSpPr>
        <p:spPr>
          <a:xfrm>
            <a:off x="365760" y="3008376"/>
            <a:ext cx="11460175" cy="274320"/>
          </a:xfrm>
          <a:prstGeom prst="rect">
            <a:avLst/>
          </a:prstGeom>
          <a:noFill/>
        </p:spPr>
        <p:txBody>
          <a:bodyPr wrap="square" anchor="t" lIns="36000" rIns="36000" tIns="18000" bIns="18000">
            <a:spAutoFit/>
          </a:bodyPr>
          <a:lstStyle/>
          <a:p>
            <a:pPr algn="l"/>
            <a:r>
              <a:rPr sz="1300" b="1" i="0">
                <a:solidFill>
                  <a:srgbClr val="1E293B"/>
                </a:solidFill>
                <a:latin typeface="Noto Sans JP"/>
              </a:rPr>
              <a:t>4つの主要成果</a:t>
            </a:r>
          </a:p>
        </p:txBody>
      </p:sp>
      <p:sp>
        <p:nvSpPr>
          <p:cNvPr id="29" name="Rounded Rectangle 28"/>
          <p:cNvSpPr/>
          <p:nvPr/>
        </p:nvSpPr>
        <p:spPr>
          <a:xfrm>
            <a:off x="365760"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374136"/>
            <a:ext cx="54864" cy="1188720"/>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520440"/>
            <a:ext cx="2458135" cy="457200"/>
          </a:xfrm>
          <a:prstGeom prst="rect">
            <a:avLst/>
          </a:prstGeom>
          <a:noFill/>
        </p:spPr>
        <p:txBody>
          <a:bodyPr wrap="square" anchor="t" lIns="36000" rIns="36000" tIns="18000" bIns="18000">
            <a:spAutoFit/>
          </a:bodyPr>
          <a:lstStyle/>
          <a:p>
            <a:pPr algn="l"/>
            <a:r>
              <a:rPr sz="2200" b="1" i="0">
                <a:solidFill>
                  <a:srgbClr val="5B8C5A"/>
                </a:solidFill>
                <a:latin typeface="Noto Sans JP"/>
              </a:rPr>
              <a:t>3–6×</a:t>
            </a:r>
          </a:p>
        </p:txBody>
      </p:sp>
      <p:sp>
        <p:nvSpPr>
          <p:cNvPr id="32" name="TextBox 31"/>
          <p:cNvSpPr txBox="1"/>
          <p:nvPr/>
        </p:nvSpPr>
        <p:spPr>
          <a:xfrm>
            <a:off x="548640"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市販品比の保護時間</a:t>
            </a:r>
          </a:p>
        </p:txBody>
      </p:sp>
      <p:sp>
        <p:nvSpPr>
          <p:cNvPr id="33" name="Rounded Rectangle 32"/>
          <p:cNvSpPr/>
          <p:nvPr/>
        </p:nvSpPr>
        <p:spPr>
          <a:xfrm>
            <a:off x="3262807"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62807" y="3374136"/>
            <a:ext cx="54864" cy="1188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5687" y="3520440"/>
            <a:ext cx="2458135" cy="457200"/>
          </a:xfrm>
          <a:prstGeom prst="rect">
            <a:avLst/>
          </a:prstGeom>
          <a:noFill/>
        </p:spPr>
        <p:txBody>
          <a:bodyPr wrap="square" anchor="t" lIns="36000" rIns="36000" tIns="18000" bIns="18000">
            <a:spAutoFit/>
          </a:bodyPr>
          <a:lstStyle/>
          <a:p>
            <a:pPr algn="l"/>
            <a:r>
              <a:rPr sz="2200" b="1" i="0">
                <a:solidFill>
                  <a:srgbClr val="3B5174"/>
                </a:solidFill>
                <a:latin typeface="Noto Sans JP"/>
              </a:rPr>
              <a:t>自己形成</a:t>
            </a:r>
          </a:p>
        </p:txBody>
      </p:sp>
      <p:sp>
        <p:nvSpPr>
          <p:cNvPr id="36" name="TextBox 35"/>
          <p:cNvSpPr txBox="1"/>
          <p:nvPr/>
        </p:nvSpPr>
        <p:spPr>
          <a:xfrm>
            <a:off x="3445687"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エアロゲル断熱層を in situ 生成</a:t>
            </a:r>
          </a:p>
        </p:txBody>
      </p:sp>
      <p:sp>
        <p:nvSpPr>
          <p:cNvPr id="37" name="Rounded Rectangle 36"/>
          <p:cNvSpPr/>
          <p:nvPr/>
        </p:nvSpPr>
        <p:spPr>
          <a:xfrm>
            <a:off x="6159855"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59855" y="3374136"/>
            <a:ext cx="54864" cy="1188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42735" y="3520440"/>
            <a:ext cx="2458135" cy="457200"/>
          </a:xfrm>
          <a:prstGeom prst="rect">
            <a:avLst/>
          </a:prstGeom>
          <a:noFill/>
        </p:spPr>
        <p:txBody>
          <a:bodyPr wrap="square" anchor="t" lIns="36000" rIns="36000" tIns="18000" bIns="18000">
            <a:spAutoFit/>
          </a:bodyPr>
          <a:lstStyle/>
          <a:p>
            <a:pPr algn="l"/>
            <a:r>
              <a:rPr sz="2200" b="1" i="0">
                <a:solidFill>
                  <a:srgbClr val="4A7C8C"/>
                </a:solidFill>
                <a:latin typeface="Noto Sans JP"/>
              </a:rPr>
              <a:t>噴霧可能</a:t>
            </a:r>
          </a:p>
        </p:txBody>
      </p:sp>
      <p:sp>
        <p:nvSpPr>
          <p:cNvPr id="40" name="TextBox 39"/>
          <p:cNvSpPr txBox="1"/>
          <p:nvPr/>
        </p:nvSpPr>
        <p:spPr>
          <a:xfrm>
            <a:off x="6342735"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既存散布インフラと互換</a:t>
            </a:r>
          </a:p>
        </p:txBody>
      </p:sp>
      <p:sp>
        <p:nvSpPr>
          <p:cNvPr id="41" name="Rounded Rectangle 40"/>
          <p:cNvSpPr/>
          <p:nvPr/>
        </p:nvSpPr>
        <p:spPr>
          <a:xfrm>
            <a:off x="9056903"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056903" y="3374136"/>
            <a:ext cx="54864" cy="1188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39783" y="3520440"/>
            <a:ext cx="2458135" cy="457200"/>
          </a:xfrm>
          <a:prstGeom prst="rect">
            <a:avLst/>
          </a:prstGeom>
          <a:noFill/>
        </p:spPr>
        <p:txBody>
          <a:bodyPr wrap="square" anchor="t" lIns="36000" rIns="36000" tIns="18000" bIns="18000">
            <a:spAutoFit/>
          </a:bodyPr>
          <a:lstStyle/>
          <a:p>
            <a:pPr algn="l"/>
            <a:r>
              <a:rPr sz="2200" b="1" i="0">
                <a:solidFill>
                  <a:srgbClr val="9F7639"/>
                </a:solidFill>
                <a:latin typeface="Noto Sans JP"/>
              </a:rPr>
              <a:t>持続可能</a:t>
            </a:r>
          </a:p>
        </p:txBody>
      </p:sp>
      <p:sp>
        <p:nvSpPr>
          <p:cNvPr id="44" name="TextBox 43"/>
          <p:cNvSpPr txBox="1"/>
          <p:nvPr/>
        </p:nvSpPr>
        <p:spPr>
          <a:xfrm>
            <a:off x="9239783"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セルロース系・安全な原料</a:t>
            </a:r>
          </a:p>
        </p:txBody>
      </p:sp>
      <p:sp>
        <p:nvSpPr>
          <p:cNvPr id="45" name="Rounded Rectangle 44"/>
          <p:cNvSpPr/>
          <p:nvPr/>
        </p:nvSpPr>
        <p:spPr>
          <a:xfrm>
            <a:off x="365760" y="4764024"/>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5760" y="4764024"/>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764024"/>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8" name="TextBox 47"/>
          <p:cNvSpPr txBox="1"/>
          <p:nvPr/>
        </p:nvSpPr>
        <p:spPr>
          <a:xfrm>
            <a:off x="960120" y="4764024"/>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 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実証</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