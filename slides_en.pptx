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Power-law n &lt; 1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 Translates Directly into Field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1148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Rheological Design (measured properties)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9824" y="859536"/>
            <a:ext cx="637611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Expected Field Performance (behavior in use)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243584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243584"/>
            <a:ext cx="54864" cy="1207008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408176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Low Power-law Index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83664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≪ 1)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45152" y="1645920"/>
            <a:ext cx="640080" cy="402336"/>
          </a:xfrm>
          <a:prstGeom prst="rightArrow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49824" y="1243584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0992" y="1389888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4A7C8C"/>
                </a:solidFill>
                <a:latin typeface="Arial"/>
              </a:rPr>
              <a:t>Sprayable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0992" y="1810512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Viscosity drops under nozzle's high shear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Deployable with existing hoses/nozzles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633472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54864" cy="1207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798064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High Storage Modulus G' (G' ≫ G'')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273552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Holds gel state at rest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645152" y="3035808"/>
            <a:ext cx="640080" cy="402336"/>
          </a:xfrm>
          <a:prstGeom prst="rightArrow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49824" y="2633472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2779776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3B5174"/>
                </a:solidFill>
                <a:latin typeface="Arial"/>
              </a:rPr>
              <a:t>No run-off on vertical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200400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Retains shape and adheres after application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Holds on vertical substrates (wood, walls)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23360"/>
            <a:ext cx="4114800" cy="1207008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54864" cy="12070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187952"/>
            <a:ext cx="380390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Self-healing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663440"/>
            <a:ext cx="3803904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instantly after step-strain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45152" y="4425696"/>
            <a:ext cx="640080" cy="402336"/>
          </a:xfrm>
          <a:prstGeom prst="rightArrow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49824" y="4023360"/>
            <a:ext cx="6376111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0992" y="4169664"/>
            <a:ext cx="60652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D4A574"/>
                </a:solidFill>
                <a:latin typeface="Arial"/>
              </a:rPr>
              <a:t>Forms protective layer on landing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50992" y="4590288"/>
            <a:ext cx="606521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Re-gels immediately after spraying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→ Fire layer maintained against wind/rain/gravity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089904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089904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089904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089904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These field performances are inferred from measured rheology. No independent contact-angle or adhesion-force tests were performed in this 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Expected to Improve Foaming — But the Opposite Occurred (Fig.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24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Hypothesis (purpose of SDS)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Surfactant SDS promotes bubble formation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increases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Thicker aerogel insulation layer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33723" y="1161288"/>
            <a:ext cx="640080" cy="402336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9927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016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095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095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0 / 0.1 / 0.5 wt% added to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HEC+MC/CSP; combustion tested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→ Foaming Index quantified (Fig. 4a/4b)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17891" y="1161288"/>
            <a:ext cx="640080" cy="402336"/>
          </a:xfrm>
          <a:prstGeom prst="rightArrow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34095" y="859536"/>
            <a:ext cx="3291840" cy="100584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1778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34095" y="859536"/>
            <a:ext cx="54864" cy="10058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5263" y="932688"/>
            <a:ext cx="301752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Result (opposite of expected)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5263" y="1207008"/>
            <a:ext cx="3017520" cy="5852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addition reduced Foaming Index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2.6 (0%) → 2.3 (0.1%) → even lower (0.5%)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SDS did not improve foaming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Foamed layer appearance after combustion (by SDS 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2121408"/>
            <a:ext cx="5638647" cy="1920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7015" y="223113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7287" y="2121408"/>
            <a:ext cx="5638647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7287" y="4078224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per formulation (quantified)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297680"/>
            <a:ext cx="5730087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59028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 (SDS 0%)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383280" y="466344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668" y="459028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95604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502920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383280" y="5029200"/>
            <a:ext cx="2712114" cy="14630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668" y="495604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32180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539496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383280" y="5394960"/>
            <a:ext cx="2219002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668" y="532180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even lower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687568"/>
            <a:ext cx="29260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(reference)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760720"/>
            <a:ext cx="308194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83280" y="5760720"/>
            <a:ext cx="6163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56668" y="5687568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6144768"/>
            <a:ext cx="11460175" cy="530352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6144768"/>
            <a:ext cx="54864" cy="53035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6144768"/>
            <a:ext cx="365760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!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" y="6144768"/>
            <a:ext cx="10774375" cy="53035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SDS did not improve foaming — instead coarsened bubble structure (Fig. 4c SEM) → explains the Foaming Index decrease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MHEC Advantages: Long-term Stability and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54864" cy="25603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① Gentle aging behavior (SI Fig. S7)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243584"/>
            <a:ext cx="54191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Yield stress change: Day 1 → Day 455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6420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 / CSP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93852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1938528"/>
            <a:ext cx="1800705" cy="201168"/>
          </a:xfrm>
          <a:prstGeom prst="roundRect">
            <a:avLst>
              <a:gd name="adj" fmla="val 4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9073" y="186537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+38 %</a:t>
            </a:r>
          </a:p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(3.31 → 4.56 Pa)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87168"/>
            <a:ext cx="541919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 / CSP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761488"/>
            <a:ext cx="5144871" cy="201168"/>
          </a:xfrm>
          <a:prstGeom prst="roundRect">
            <a:avLst>
              <a:gd name="adj" fmla="val 4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3239" y="2688336"/>
            <a:ext cx="128016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+107 %</a:t>
            </a:r>
          </a:p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(33.3 → 68.9 Pa)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401568"/>
            <a:ext cx="5419191" cy="822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016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511296"/>
            <a:ext cx="5181447" cy="6583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MHEC system remains primarily noncovalent → properties stable over 1+ year</a:t>
            </a:r>
          </a:p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(HEC+MC system undergoes Si–O covalent condensation → stiffness increases)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5236311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64748B"/>
                </a:solidFill>
                <a:latin typeface="Arial"/>
              </a:rPr>
              <a:t>Source: SI Fig. S7 (flow sweep · HB model fit)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547872"/>
            <a:ext cx="5602071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5419191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A7C8C"/>
                </a:solidFill>
                <a:latin typeface="Arial"/>
              </a:rPr>
              <a:t>Why stable: Si–O covalent condensation is suppressed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50208"/>
            <a:ext cx="541919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In HEC+MC/CSP, Si–O condensation between CSP and polymer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progresses over time, increasing stiffness. In MHEC/CSP,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this condensation is suppressed, giving gentle property drift.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863" y="859536"/>
            <a:ext cx="54864" cy="384048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6743" y="859536"/>
            <a:ext cx="541919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② Manufacturing cost &amp; quality 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303" y="1335024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1607" y="1444752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Single polymer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1607" y="1737360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need to source and blend HEC + MC separately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Fewer raw material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15303" y="2304288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1607" y="2414016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Simplified formulation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706624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No mixing ratio tuning or homogenization of 2 components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Reduced batch-to-batch variability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15303" y="3273552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3383280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Lower QC burden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675888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raw material specification to manage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Cost advantage becomes clear at scale-up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303" y="4242816"/>
            <a:ext cx="5419191" cy="87782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7" y="4352544"/>
            <a:ext cx="5144871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Logistics /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7" y="4645152"/>
            <a:ext cx="5144871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Only one material to store and transport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Streamlined supply chain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5925312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925312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925312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5925312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Note: No quantitative cost comparison data is reported in this paper. MHEC's advantage is based on its single-polymer nature and measured aging stability (SI Fig. S7).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42 / 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42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