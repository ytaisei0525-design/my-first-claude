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865376"/>
            <a:ext cx="328361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2874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4042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4042" y="1865376"/>
            <a:ext cx="328361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4042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4042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4042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4042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4042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4042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9988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1156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1156" y="1865376"/>
            <a:ext cx="3283610" cy="13716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1156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1156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1156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1156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1156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1156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5998464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998464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998464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998464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37178" cy="53035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37178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225296"/>
            <a:ext cx="3637178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584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65376"/>
            <a:ext cx="3234842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904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14016"/>
            <a:ext cx="308853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60320"/>
            <a:ext cx="3234842" cy="3383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0" i="0">
                <a:solidFill>
                  <a:srgbClr val="475569"/>
                </a:solidFill>
                <a:latin typeface="Arial"/>
              </a:rPr>
              <a:t>Plant-derived biopolymer. Highly biodegradable and forms the scaffold of the gel network.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7258" y="859536"/>
            <a:ext cx="3637178" cy="53035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7258" y="859536"/>
            <a:ext cx="3637178" cy="45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7258" y="1225296"/>
            <a:ext cx="3637178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584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426" y="1865376"/>
            <a:ext cx="3234842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904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51578" y="2414016"/>
            <a:ext cx="308853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8426" y="2560320"/>
            <a:ext cx="3234842" cy="3383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0" i="0">
                <a:solidFill>
                  <a:srgbClr val="475569"/>
                </a:solidFill>
                <a:latin typeface="Arial"/>
              </a:rPr>
              <a:t>Dynamically interacts with the polymer and forms a silica aerogel upon heat activation.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8756" y="859536"/>
            <a:ext cx="3637178" cy="53035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8756" y="859536"/>
            <a:ext cx="3637178" cy="45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8756" y="1225296"/>
            <a:ext cx="3637178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584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9924" y="1865376"/>
            <a:ext cx="3234842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904" b="1" i="0">
                <a:solidFill>
                  <a:srgbClr val="1E293B"/>
                </a:solidFill>
                <a:latin typeface="Arial"/>
              </a:rPr>
              <a:t>Polymer–Particle (PP) Interaction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3076" y="2414016"/>
            <a:ext cx="308853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9924" y="2560320"/>
            <a:ext cx="3234842" cy="3383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0" i="0">
                <a:solidFill>
                  <a:srgbClr val="475569"/>
                </a:solidFill>
                <a:latin typeface="Arial"/>
              </a:rPr>
              <a:t>Multivalent dynamic interactions provide excellent adhesion and sprayability.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6761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Shear-Thinning 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81328"/>
            <a:ext cx="46761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Self-Healing Are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340864"/>
            <a:ext cx="4511521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strain during spraying reduces viscosity (sol-like); upon wall contact, self-healing instantly restores the gel network.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62656"/>
            <a:ext cx="4511521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When exposed to flame, the gel transforms into a silica aerogel, protecting the substrate as a thermal barrier even after complete desiccation.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85616"/>
            <a:ext cx="1114164" cy="6400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85616"/>
            <a:ext cx="111416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785616"/>
            <a:ext cx="1114164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1E293B"/>
                </a:solidFill>
                <a:latin typeface="Arial"/>
              </a:rPr>
              <a:t>Gel</a:t>
            </a:r>
          </a:p>
          <a:p>
            <a:pPr algn="ctr"/>
            <a:r>
              <a:rPr sz="1008" b="1" i="0">
                <a:solidFill>
                  <a:srgbClr val="1E293B"/>
                </a:solidFill>
                <a:latin typeface="Arial"/>
              </a:rPr>
              <a:t>(at rest)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068" y="3785616"/>
            <a:ext cx="7315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3076" y="3785616"/>
            <a:ext cx="1114164" cy="6400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53076" y="3785616"/>
            <a:ext cx="1114164" cy="36576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3076" y="3785616"/>
            <a:ext cx="1114164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1E293B"/>
                </a:solidFill>
                <a:latin typeface="Arial"/>
              </a:rPr>
              <a:t>Sol-like</a:t>
            </a:r>
          </a:p>
          <a:p>
            <a:pPr algn="ctr"/>
            <a:r>
              <a:rPr sz="1008" b="1" i="0">
                <a:solidFill>
                  <a:srgbClr val="1E293B"/>
                </a:solidFill>
                <a:latin typeface="Arial"/>
              </a:rPr>
              <a:t>(spraying)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76384" y="3785616"/>
            <a:ext cx="7315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0392" y="3785616"/>
            <a:ext cx="1114164" cy="6400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0392" y="3785616"/>
            <a:ext cx="1114164" cy="36576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0392" y="3785616"/>
            <a:ext cx="1114164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1E293B"/>
                </a:solidFill>
                <a:latin typeface="Arial"/>
              </a:rPr>
              <a:t>Self-heal gel</a:t>
            </a:r>
          </a:p>
          <a:p>
            <a:pPr algn="ctr"/>
            <a:r>
              <a:rPr sz="1008" b="1" i="0">
                <a:solidFill>
                  <a:srgbClr val="1E293B"/>
                </a:solidFill>
                <a:latin typeface="Arial"/>
              </a:rPr>
              <a:t>(on wall)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63701" y="3785616"/>
            <a:ext cx="7315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7709" y="3785616"/>
            <a:ext cx="1114164" cy="6400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27709" y="3785616"/>
            <a:ext cx="1114164" cy="36576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27709" y="3785616"/>
            <a:ext cx="1114164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1E293B"/>
                </a:solidFill>
                <a:latin typeface="Arial"/>
              </a:rPr>
              <a:t>Aerogel</a:t>
            </a:r>
          </a:p>
          <a:p>
            <a:pPr algn="ctr"/>
            <a:r>
              <a:rPr sz="1008" b="1" i="0">
                <a:solidFill>
                  <a:srgbClr val="1E293B"/>
                </a:solidFill>
                <a:latin typeface="Arial"/>
              </a:rPr>
              <a:t>(flame)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24753" y="859536"/>
            <a:ext cx="6601181" cy="5394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448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448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24753" y="859536"/>
            <a:ext cx="6601181" cy="5394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24753" y="6291072"/>
            <a:ext cx="660118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Cellulosic polymer × colloidal silica → silica aerogel formation concept schematic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7261360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S5/S7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726136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72613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Change in modulus / viscosity with aging (Day 1 vs Day 455)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