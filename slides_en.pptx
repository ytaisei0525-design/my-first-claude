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9AB0"/>
                </a:solidFill>
                <a:latin typeface="Arial"/>
              </a:rPr>
              <a:t>RESEARCH PRESENTATION  · 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495" y="457200"/>
            <a:ext cx="4572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889AB0"/>
                </a:solidFill>
                <a:latin typeface="Arial"/>
              </a:rPr>
              <a:t>Adv. Mater.  ·  Dong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889AB0"/>
                </a:solidFill>
                <a:latin typeface="Arial"/>
              </a:rPr>
              <a:t>WATER-ENHANCING GELS  ·  ADVANCED MATERIALS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1097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FFFFFF"/>
                </a:solidFill>
                <a:latin typeface="Arial"/>
              </a:rPr>
              <a:t>Protecting Against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D4A574"/>
                </a:solidFill>
                <a:latin typeface="Arial"/>
              </a:rPr>
              <a:t>Heat-Activated Silica Aerogels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Next-generation fire-retardant gel of cellulosic polymers × colloidal silica particles</a:t>
            </a:r>
          </a:p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that self-foams upon heating to form an aerogel insulating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889CB4"/>
                </a:solidFill>
                <a:latin typeface="Arial"/>
              </a:rPr>
              <a:t>Materials Chemistry / Fire Protection Eng.    ·    Stanford University, Appel Lab    ·    Adv. Mater. 36, 2407375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73152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67788"/>
                </a:solidFill>
                <a:latin typeface="Arial"/>
              </a:rPr>
              <a:t>DOI: 10.1002/adma.202407375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 / 37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Presentation Outline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Current state of wildfires, limitations of existing technologies (Phos-Chek, AquaGel-K), and innovation of this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4–7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2807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687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5687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5687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5687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Cellulosic polymers, CSP, formulations (5 types), evaluation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9–14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9855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Rheology, combustion tests, foaming index, SEM observation, mechanism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16–32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6903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9783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783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783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Implementation scenarios, comparison with existing products, conclusions and future prospects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9783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34–37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64608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864608"/>
            <a:ext cx="54864" cy="502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64608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864608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Key Message: Foaming upon heating + sintering of silica particles spontaneously forms an aerogel layer, achieving longer protection than commercial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Wildfire damage under climate change and the fundamental limitations of existing fire retardant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Wildfire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2464" y="4572000"/>
            <a:ext cx="411480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4572000"/>
            <a:ext cx="411480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Existing WEG / Retardants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4572000"/>
            <a:ext cx="323697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4572000"/>
            <a:ext cx="323697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Research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1/4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Growing Severity of Wildfire Damage and WUI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645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53895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7616" b="1" i="0">
                <a:solidFill>
                  <a:srgbClr val="1E293B"/>
                </a:solidFill>
                <a:latin typeface="Arial"/>
              </a:rPr>
              <a:t>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4708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Increase in large-scale wildfires (past 30 years)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13969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Driven by climate change and fuel accumulation (US/EU/AU)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560320"/>
            <a:ext cx="3527659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5720" cy="14630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761488"/>
            <a:ext cx="4538953" cy="8229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480" b="1" i="0">
                <a:solidFill>
                  <a:srgbClr val="1E293B"/>
                </a:solidFill>
                <a:latin typeface="Arial"/>
              </a:rPr>
              <a:t>45 million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58444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U.S. WUI residents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High-risk population at the wildland–urban interface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4315968"/>
            <a:ext cx="423319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80560"/>
            <a:ext cx="453895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Devastating loss to economy, infrastructure, natural</a:t>
            </a:r>
          </a:p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resources and WUI residents — eco-friendly retardants are urgently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2185" y="859536"/>
            <a:ext cx="6573749" cy="29260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2185" y="859536"/>
            <a:ext cx="6573749" cy="2926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2185" y="3822192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Wildfire / WUI boundary zone (photo)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52185" y="4206240"/>
            <a:ext cx="6573749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2185" y="4206240"/>
            <a:ext cx="6573749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61913" y="5687568"/>
            <a:ext cx="635429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2185" y="6071616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Year-over-year trend in wildfire scale / annual burned area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Approach: 4-Stage Protection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5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application → flame contact → heat-activated aerogel formation → structural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9107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49107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71367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Gel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Spray cellulosic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onto buildings and vegetation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46155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6155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68415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2807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Flame 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2807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Moisture evaporates;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foams and particles aggregate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43203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3203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5463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855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9855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into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a porous insulating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0251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0251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6903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6903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Ultra-low thermal conductivity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layer shields the substrate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3/4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Existing Wildfire Suppressants and Their Limits (USFS 3 Categories)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6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685946" cy="497433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133856"/>
            <a:ext cx="3283610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92" b="1" i="0">
                <a:solidFill>
                  <a:srgbClr val="1E293B"/>
                </a:solidFill>
                <a:latin typeface="Arial"/>
              </a:rPr>
              <a:t>Long-term retardant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865376"/>
            <a:ext cx="328361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11680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231136"/>
            <a:ext cx="3283610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Chemicals such as ammonium phosphate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743200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962656"/>
            <a:ext cx="3283610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Effective as long as residue remains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493008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712464"/>
            <a:ext cx="3283610" cy="19568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Chemical residue left on the target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52874" y="859536"/>
            <a:ext cx="3685946" cy="497433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52874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4042" y="1133856"/>
            <a:ext cx="3283610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92" b="1" i="0">
                <a:solidFill>
                  <a:srgbClr val="1E293B"/>
                </a:solidFill>
                <a:latin typeface="Arial"/>
              </a:rPr>
              <a:t>Foam suppressant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4042" y="1865376"/>
            <a:ext cx="328361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54042" y="2011680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4042" y="2231136"/>
            <a:ext cx="3283610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Surfactants (historically fluorinated)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4042" y="2743200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54042" y="2962656"/>
            <a:ext cx="3283610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retention 15–30 min (short-term)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4042" y="3493008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4042" y="3712464"/>
            <a:ext cx="3283610" cy="19568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Loses effect when dry; fluorinated types bioaccumulate and are toxic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9988" y="859536"/>
            <a:ext cx="3685946" cy="4974336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9988" y="859536"/>
            <a:ext cx="3685946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41156" y="1133856"/>
            <a:ext cx="3283610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92" b="1" i="0">
                <a:solidFill>
                  <a:srgbClr val="FFFFFF"/>
                </a:solidFill>
                <a:latin typeface="Arial"/>
              </a:rPr>
              <a:t>Water-enhancing gel (WEG)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41156" y="1865376"/>
            <a:ext cx="3283610" cy="13716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41156" y="2011680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88A0B8"/>
                </a:solidFill>
                <a:latin typeface="Arial"/>
              </a:rPr>
              <a:t>Composition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1156" y="2231136"/>
            <a:ext cx="3283610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D8E2EE"/>
                </a:solidFill>
                <a:latin typeface="Arial"/>
              </a:rPr>
              <a:t>Superabsorbent polymer (eco-friendly)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41156" y="2743200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88A0B8"/>
                </a:solidFill>
                <a:latin typeface="Arial"/>
              </a:rPr>
              <a:t>Effect / retention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41156" y="2962656"/>
            <a:ext cx="3283610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D8E2EE"/>
                </a:solidFill>
                <a:latin typeface="Arial"/>
              </a:rPr>
              <a:t>Water retention 30–60 min; protects buildings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41156" y="3493008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D4A574"/>
                </a:solidFill>
                <a:latin typeface="Arial"/>
              </a:rPr>
              <a:t>Limitation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41156" y="3712464"/>
            <a:ext cx="3283610" cy="19568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FFFFFF"/>
                </a:solidFill>
                <a:latin typeface="Arial"/>
              </a:rPr>
              <a:t>Once dried by heat/wind, effectiveness is completely lost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5998464"/>
            <a:ext cx="11460175" cy="4754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5998464"/>
            <a:ext cx="54864" cy="4754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5998464"/>
            <a:ext cx="365760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→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5998464"/>
            <a:ext cx="10774375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 overcomes the fatal flaw of eco-friendly WEGs: losing all effectiveness once dried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4/4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Core: Heat-Activated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7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3898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1E293B"/>
                </a:solidFill>
                <a:latin typeface="Arial"/>
              </a:rPr>
              <a:t>Heat-Activated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3B5174"/>
                </a:solidFill>
                <a:latin typeface="Arial"/>
              </a:rPr>
              <a:t>Aerogel 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10512"/>
            <a:ext cx="4080546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Flame contact triggers the gel to transform into an aerogel insulator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267712"/>
            <a:ext cx="3608367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505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Material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70662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Cellulosic biopolymer × colloidal silica, physically crosslinked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9067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09067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34670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Flame-driven water loss forms a porous silica network in situ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373075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8678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Insulating barrier prevents ignition even after water is gone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37083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37083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Applicability &amp; scale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62686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Tunable flow for spray/pump; suited to large-scale manufacturing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93778" y="859536"/>
            <a:ext cx="7032156" cy="28346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Concept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3778" y="859536"/>
            <a:ext cx="7032156" cy="2834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93778" y="3730752"/>
            <a:ext cx="70321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Heat trigger transforms the gel into a porous aerogel insulating layer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93778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3778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03506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93778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SEM microstructure of silica aerogel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92152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2152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1880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2152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Aerogel thermal-insulation demo (sample over flame, etc.)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Materials &amp;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Novel gel design combining cellulosic polymers and colloidal silica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Polymer Components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1376" y="4572000"/>
            <a:ext cx="470001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51376" y="4572000"/>
            <a:ext cx="470001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Silica Particles &amp; Surfactant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Formulations (5 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19887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9887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Evaluation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8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1/6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Cellulosic Polymers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9 / 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06070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HEC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9961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Hydroxyethyl cellulose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77393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Base viscosity-building backbone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7977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98094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41985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cellulose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69417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Gels on heating (thermoreversible) — key to flame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8172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70001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90118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MHEC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34009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2-hydroxyethyl cellulose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61441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Hybrid combining the traits of A and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2008" y="859536"/>
            <a:ext cx="5083926" cy="30175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1b/c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2008" y="859536"/>
            <a:ext cx="5083926" cy="3017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2008" y="3913632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Chemical structures and CSP mixing scheme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42008" y="4297680"/>
            <a:ext cx="5083926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2008" y="4297680"/>
            <a:ext cx="5083926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1736" y="5779008"/>
            <a:ext cx="486447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2008" y="6163056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Molecular structure of cellulose (reference)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2/6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Methyl Cellulose (MC) Thermal Gelation: Key Property for Flame Protection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10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409444" cy="2468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409444" cy="2468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364992"/>
            <a:ext cx="540944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MC sol (room temp) → gel (after heating) — visual comparison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511296"/>
            <a:ext cx="4868499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75888"/>
            <a:ext cx="80467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LCST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3675888"/>
            <a:ext cx="45681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~55°C gelation onset (1 wt% aqueous solution)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41648"/>
            <a:ext cx="80467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Decomp.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8" y="4041648"/>
            <a:ext cx="45681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~300°C thermal decomposition of organic component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407408"/>
            <a:ext cx="80467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7008" y="4407408"/>
            <a:ext cx="45681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Liquid at room temp → instant gel on flame contact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808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610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LCST (Gelation onset)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610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~55°C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610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1 wt% MC aqueous solution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451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7253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 decomposition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253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~300°C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7253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TGA measurement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3094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96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CSP sintering onset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96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~200°C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96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Inter-particle neck formation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8084" y="2414016"/>
            <a:ext cx="5867851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0964" y="2578608"/>
            <a:ext cx="55020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B8D0"/>
                </a:solidFill>
                <a:latin typeface="Arial"/>
              </a:rPr>
              <a:t>Temperature-dependent Process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0964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2404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~55°C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2404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MC gelation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2404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Structure fixed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0746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2186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3626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~100°C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3626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Moisture evaporation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3626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Foaming &amp; expansion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71969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63409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54849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~200°C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4849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CSP sintering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54849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Grain boundary formation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3192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24632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16072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&gt;300°C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6072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Organic decomposition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6072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Pure silica layer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3/6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Colloidal Silica Particles (CSP) and Surfactant (SDS)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11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CSP particles (22 nm, monodisperse)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CSP — Colloidal Silica Particles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LUDOX TM-50 (stock 50 wt%) → diluted to 15 wt% (pH 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Particle size: 22 nm (monodisperse)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Formulation concentration: 5 wt% in gel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Sinters upon heating → transforms into silica aerogel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8143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8143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 structure variation by SDS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143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SDS — Sodium Dodecyl Sulfate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8143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9311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Anionic surfactant (additive)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9311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Adding SDS did not improve Foaming Index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9311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Addition levels: 0.1 wt% and 0.5 wt%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8143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Higher SDS concentration coarsens bubble size (SEM)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6053328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6053328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053328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6053328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sintering temperature range of CSP overlaps with cellulose thermal decomposition — synchronized response forms the insulating layer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4/6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Five Formulations Evaluated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12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0.5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Commercial WEG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627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8067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8067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067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HEC+MC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7494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8934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934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MHEC / CSP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8934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MHEC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361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801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801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801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0.1 wt%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9228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668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668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668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0.5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Formulation Design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49300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Compare functional differences by polymer 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7673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76732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Verify foam structure at two SDS levels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4164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Direct comparison with AquaGel-K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40682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40682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23562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Notation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3562" y="3493008"/>
            <a:ext cx="3344570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HEC+MC/CSP/SDS 1-5-0.1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→ HEC+MC 1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CSP 5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SDS 0.1 wt%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15604" y="2962656"/>
            <a:ext cx="3710330" cy="197510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5604" y="2962656"/>
            <a:ext cx="3710330" cy="19751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5604" y="4974336"/>
            <a:ext cx="37103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the five formulations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5/6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Overview of Evaluation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13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805019" cy="544982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805019" cy="54498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345936"/>
            <a:ext cx="38050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Combustion test setup (MAP-Pro torch / plywood substrate)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3659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3659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6539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6539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Measurements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539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7707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Oscillatory sweep (G', G'')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539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7707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Steady-flow sweep (viscosity)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6539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7707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Herschel-Bulkley fitting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58377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8377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1257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BURN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1257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Combustion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125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2425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MAP-Pro torch (~2054°C)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125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2425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Time to charring onset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125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2425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Compare at 120/300 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53659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53659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6539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6539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Foaming 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539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37707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Foamed layer thickness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6539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37707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Ratio to initial = Foaming Index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58377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58377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1257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1257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SEM Observation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1257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2425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 structure by SDS level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1257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2425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Sintering by burn time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3659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53659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36539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SPECTROSCOPY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36539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Spectroscopy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36539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37707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FT-IR (chemical bonding)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6539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7707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XPS (surface composition)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58377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58377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41257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41257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Thermal Analysis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1257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2425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TGA (thermogravimetric)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41257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42425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DSC (calorimetry)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6/6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Adhesion and Surface Wettability: Properties Essential for Implementation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14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Contact angle on wood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WETTING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Contact Angle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Evaluated on wood, concrete, metal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WEG: low contact angle → wettability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HEC+MC: high affinity to wood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3821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821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2849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2849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retention on vertical substrate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2849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ADHESION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849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Vertical Adhesion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2849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2965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Applied to vertical substrate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2849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965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G' ≫ G'' → no run-off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2849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2965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Retention ≥ AquaGel-K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122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0094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0094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9122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122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Nozzle spraying in action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122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SPRAY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122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Spray Suitability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9122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9238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Viscosity drops under high shear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9122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38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Recovers high viscosity on landing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9122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9238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Compatible with existing nozzles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65760" y="5980176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5760" y="5980176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5980176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" y="5980176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design (low n, high G') simultaneously achieves spray suitability and adhesion retention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Rheological properties, combustion performance, foam structure, and aerogel formation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162763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62763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Rheology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8833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Combustion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572000"/>
            <a:ext cx="235915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235915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SEM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15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①: Oscillatory Moduli G' / G''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16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2a–b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Angular frequency vs Storage modulus G' · Loss modulus G''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04101" y="859536"/>
            <a:ext cx="4721833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6981" y="1024128"/>
            <a:ext cx="4356073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KEY OBSERVATION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6981" y="1261872"/>
            <a:ext cx="4356073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Key Observation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6981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149" y="162763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G' &gt; G'' for all formulations → solid-like (gel) behavior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6981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149" y="190195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 frequency dependence → stable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6981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8149" y="217627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AquaGel-K (G'=457 Pa) shows higher G' than WEG (46/26 Pa); all formulations exhibit gel behavior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04101" y="3648456"/>
            <a:ext cx="4721833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04101" y="36484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86981" y="36484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8461" y="3648456"/>
            <a:ext cx="4036033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Clearly formed gel network; does not flow off after application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2/11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②: Shear Thinning and Power-law Index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17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2c–d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(shear-thinning behavior)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117" y="96926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117" y="122529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117" y="164592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— strong shear thinning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04101" y="209397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117" y="220370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117" y="245973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2117" y="288036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MHEC/CSP — shear thinning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04101" y="3419856"/>
            <a:ext cx="472183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41261" y="3557016"/>
            <a:ext cx="444751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 &lt; 1 = shear-thinning</a:t>
            </a:r>
          </a:p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Lower values → better flow at high shear → excellent sprayability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5431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431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431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431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High viscosity at rest for adhesion, low viscosity during spraying — flow properties compatible with existing firefighting equipment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3/11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③: Static Yield Stress and Long-term Stability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18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Static yield stress: stress at the G'/G'' crossover (σ_s) from amplitude sweep — minimum stress to initiate flow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36776"/>
            <a:ext cx="11460175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63677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361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(fresh)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8204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(455 days)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278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3969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3969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361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33.34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204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68.9 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278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strength increases over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11460175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4261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361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3.31 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8204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4.56 Pa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78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Long-term stability confirmed (455 days)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4553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14553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 (Commercial control)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361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204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278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Reference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Static Yield Stress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Measured at G'/G'' crossover from amplitude sweep. HEC+MC/CSP: 33.34 Pa; MHEC/CSP: 3.31 Pa (fresh)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31538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6130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Long-term Stability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96130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MHEC/CSP shows only minor change after 455 days (3.31→4.56 Pa). Demonstrates shelf stability for practical use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1908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HEC+MC vs MHEC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1908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system shows ~10× higher yield stress, better for vertical surface adhesion. MHEC simpler to manufacture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4/11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④: Storage Modulus G' and Viscoelasticity (tan δ)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19 / 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Storage Modulus (1 rad/s)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86000" y="1344168"/>
            <a:ext cx="34669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25.6 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801368"/>
            <a:ext cx="666711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46.4 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2258568"/>
            <a:ext cx="253350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456.8 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77977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All formulations show G'&gt;G'' (gel behavior). AquaGel-K has the highest G' but also larger tan δ (more fluid-like)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Loss tangent tan δ = G''/G' (elastic-dominated = &lt;1)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3007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3247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3247" y="1344168"/>
            <a:ext cx="112007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11535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0.168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007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3247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3247" y="1801368"/>
            <a:ext cx="146676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1535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1535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0.400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27797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5887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27367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All formulations: tan δ &lt; 1 (gel behavior). AquaGel-K most elastic (0.168); MHEC system most fluid-like (0.400)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5/11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HEC+MC vs MHEC: Comparison of Two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20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 + MC Mixed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HEC (non-thermal gelation) + MC (thermal gelation, LCST)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 provides room-temperature viscosity and adhesion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MC maintains structure during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Strong shear thinning (n &lt; 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7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Foaming Index ≈ 2.2–2.6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Good compatibility with SDS; excellent for optimizing foam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MHEC Single-Polymer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MHEC (integrates HEC+MC functions into a single molecule)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Carries both hydroxyethyl and methyl groups on the same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Achieves equivalent viscoelasticity and thermal response with a single polymer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 thinning (n &lt; 1)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1607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Advantage of simplified formulation and quality control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70167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Advantageous for scale-up and manufacturing cost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47725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4772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772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7725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Both systems significantly outperform commercial AquaGel-K. HEC+MC excels in foam optimization; MHEC excels in manufacturing simplicity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6/11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Combustion 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21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21165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21165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2352"/>
            <a:ext cx="62116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Experimental setup for combustion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0296" y="859536"/>
            <a:ext cx="506563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0296" y="859536"/>
            <a:ext cx="506563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3176" y="1024128"/>
            <a:ext cx="469987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176" y="1261872"/>
            <a:ext cx="469987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◆ Test 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317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4344" y="162763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Substrate: whitewood plywood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317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4344" y="190195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application: uniformly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3176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4344" y="217627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Flame source: MAP-Pro torch (~2054°C)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3176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4344" y="245059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Measurement: time until substrate charring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176" y="27249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4344" y="272491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Photographs taken at 120 s and 300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0296" y="4242816"/>
            <a:ext cx="506563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0296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3176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4656" y="4242816"/>
            <a:ext cx="437983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Time to char = time required for wood surface to char (longer = better protection)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7/11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 to Char: Quantitative Comparison of 5 Formulations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22 / 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701386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Time to char (time to charring onset)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34416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344168"/>
            <a:ext cx="13790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788" y="127101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~0.3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7393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84708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1847088"/>
            <a:ext cx="689541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788" y="177393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7685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35000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34640" y="2350008"/>
            <a:ext cx="224101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788" y="227685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77977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85292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285292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788" y="277977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35584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34640" y="335584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788" y="328269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22776"/>
            <a:ext cx="701386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227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9227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22776"/>
            <a:ext cx="632806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work's WEG achieves 3–6× longer protection than commercial AquaGel-K (n≥3 for all tests)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62508" y="859536"/>
            <a:ext cx="4263426" cy="4754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2508" y="859536"/>
            <a:ext cx="4263426" cy="4754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508" y="565099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Time-to-char bar chart (n≥3, error bars = standard deviation)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Time-lapse Observation of Combustion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23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Sequential photographs during flame contact for each formulation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Immediately evaporates and runs off under direct flame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Wood surface chars in ~0.3 min (~18 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protective layer formed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308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825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Retains water but ends when water evaporates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Chars in ~1.5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965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825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solid protective layer formed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81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238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098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foams and expands simultaneously with water evaporation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098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aerogel layer provides continued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238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098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Charring prevented for &gt;7 min (HEC+MC)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Surface Condition Comparison at 120 s / 300 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24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Surface condition comparison: 120 s (top) and 300 s (bottom)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charring already beginning over wide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entire surface blackened, severe damage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Time to char: ~0.3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308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 (commercial)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965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gel drying, partial charring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no protective layer, partial charring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308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Time to char: ~1.5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122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581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238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aerogel layer forming and expanding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238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surface nearly intact, layer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81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Time to char: &gt;7 min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&gt;7</a:t>
            </a:r>
            <a:r>
              <a:rPr sz="6720" b="0" i="0">
                <a:solidFill>
                  <a:srgbClr val="C89A68"/>
                </a:solidFill>
                <a:latin typeface="Arial"/>
              </a:rPr>
              <a:t>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912" b="1" i="0">
                <a:solidFill>
                  <a:srgbClr val="FFFFFF"/>
                </a:solidFill>
                <a:latin typeface="Arial"/>
              </a:rPr>
              <a:t>Time to Char of This Work's WEG (HEC+MC/CSP)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18320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0" i="0">
                <a:solidFill>
                  <a:srgbClr val="9CB4CC"/>
                </a:solidFill>
                <a:latin typeface="Arial"/>
              </a:rPr>
              <a:t>Achieved 3–6× longer protection than commercial AquaGel-K (~1.5 min) — n≥3 for all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53212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556869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5568696"/>
            <a:ext cx="256032" cy="164592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9880" y="553212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~0.3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88873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5888736"/>
            <a:ext cx="1280160" cy="164592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585216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~1.5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72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This Work WEG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620877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0" y="6208776"/>
            <a:ext cx="6080760" cy="164592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617220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25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Foaming Index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26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foamed layer after combustion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7287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Foaming Index for each formulation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Foaming Index (post-combustion thickness / initial thickness)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989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381304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920240" y="3813048"/>
            <a:ext cx="62480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5727" y="373989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15137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20240" y="422452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20240" y="4224528"/>
            <a:ext cx="1655745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35727" y="415137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≈2.1×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56285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20240" y="463600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920240" y="4636008"/>
            <a:ext cx="1874428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5727" y="456285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≈2.3×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97433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20240" y="504748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20240" y="5047488"/>
            <a:ext cx="2124352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35727" y="497433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≈2.6×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87287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Insulating Effect from 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3007" y="3739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61607" y="3739896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Expands to &gt;2× initial thickness → heat conduction path extended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3007" y="412394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1607" y="4123944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Air trapped in pores enhances thermal insulation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3007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61607" y="4507992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does not foam → collapses flat under flame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3007" y="489204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1607" y="4892040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without SDS achieves the highest foaming index (≈2.6)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Effect of SDS Concentration on Aerogel Microstructure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27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FE-SEM images by SDS concentration (0%, 0.1%, 0.5%)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0% SDS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Highest foaming index (≈2.6). No SDS yields maximum expansion.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849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308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0.1% SDS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308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Uniform fine-bubble structure. Foaming index ≈2.3 (lower than no-SDS).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122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81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0.5% SDS (Excess)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81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Non-uniform and coarsened bubble size. Foaming index further reduced.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10/11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FT-IR &amp; XPS: Chemical Composition Changes (Before/After Combustion)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28 / 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FT-IR Major Peak Assignments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43584"/>
            <a:ext cx="5638647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43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Wavenumber (cm⁻¹)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8426" y="1243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314" y="1243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7007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7007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3200–3500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8426" y="17007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O–H stretch (cellulose, water)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9314" y="17007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(dehydration)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579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579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2850–2950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8426" y="21579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C–H stretch (methyl groups)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9314" y="21579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(organic decomposition)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151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1050–1100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8426" y="26151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Si–O–Si stretch (silica)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9314" y="26151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Intensity increases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723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723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8426" y="30723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 vibration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9314" y="30723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Becomes distinct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295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29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450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8426" y="3529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9314" y="3529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Sharpens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16966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169664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6966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16966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Post-combustion spectrum matches pure silica (SiO₂) → aerogel formation chemically confirmed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XPS Surface Elemental Composition (at%)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7287" y="1243584"/>
            <a:ext cx="5638647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8727" y="124358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2530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before (at%)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952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after (at%)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1883664"/>
            <a:ext cx="5638647" cy="6400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8727" y="188366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530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25.6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952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14.9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7287" y="2523744"/>
            <a:ext cx="5638647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8727" y="252374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2530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38.3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04952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4.8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7287" y="330098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7287" y="3300984"/>
            <a:ext cx="54864" cy="777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0167" y="330098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1647" y="330098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Carbon greatly reduced (MHEC: 38.3→4.8 at%) → organic matrix combusted and removed; silica remains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87287" y="426110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1879" y="4389120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Peak Position Verification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1879" y="4645152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 2p peak: ~103.5 eV (consistent with SiO₂) / O 1s peak: ~533 eV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TGA/DSC: Thermal Decomposition Profile and Role of Each 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29 / 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TGA: Weight Loss Profile (N₂ atmosphere)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50–150°C: Evaporation of free and adsorbed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1545336"/>
            <a:ext cx="1691594" cy="128016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37944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200–350°C: Thermal decomposition of HEC/MC organic chains (main weight loss)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12264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112264"/>
            <a:ext cx="4792850" cy="128016"/>
          </a:xfrm>
          <a:prstGeom prst="roundRect">
            <a:avLst>
              <a:gd name="adj" fmla="val 50000"/>
            </a:avLst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350–600°C: Oxidation and loss of residual carbon (in air)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79192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679192"/>
            <a:ext cx="2819323" cy="128016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71800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&gt;600°C: Silica residue (~5–8 wt%, no change)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246120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246120"/>
            <a:ext cx="451091" cy="128016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DSC: Thermal Event Assignments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1271016"/>
            <a:ext cx="5638647" cy="365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8727" y="127101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Temperature 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582" y="127101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0291" y="127101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ΔH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7287" y="163677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163677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~100°C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582" y="163677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Endothermic: water evaporation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0291" y="163677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7287" y="2002536"/>
            <a:ext cx="5638647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00253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~55–80°C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2582" y="200253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MC gelation transition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30291" y="200253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Slightly exothermic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7287" y="236829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236829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~250–300°C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582" y="236829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oxidative decomposition of organic chains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0291" y="236829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Exothermic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7287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5303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Final silica residue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303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~5–8 wt%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303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Equivalent to CSP 5 wt%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5191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03207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Cellulose decomposition peak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3207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~280°C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3207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Common to HEC/MC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87287" y="4288536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87287" y="428853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0167" y="428853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647" y="4288536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CSP sintering (~200°C+) and cellulose decomposition (~280°C+) overlap in temperature → synchronized aerogel formation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 of Silica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30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schematic of WEG → silica aerogel transformation by flame activation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Unsintered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dispersed independently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fills the interstices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Grain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Particles approach as water evaporates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Grain boundaries 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Initial neck formation begins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Necking &amp; porosity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Necks grow and strengthen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Porosity decreases, skeleton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SiO₂ aerogel layer established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2/3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Sintering Progression with Burn Time (SEM)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31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Cross-section SEM images of HEC+MC/CSP 1-5 after 0, 1, 2, and 4 min heating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Unheated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Spherical particles dispersed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fills the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2807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9111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9111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Early sintering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5687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Grain boundaries appear between particles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5687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8567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Initial necks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5687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8567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Most moisture evaporated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9855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6159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2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6159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Sintering 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5615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Neck regions expand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5615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Continuous network forms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615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Porosity decreasing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3207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4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3207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Aerogel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9783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22663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Dense SiO₂ skeleton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9783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2663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High mechanical strength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663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Functions as insulating layer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3/3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Aging &amp; Long-Term Stability: Performance Retained Beyond One Year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32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9326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38513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Aging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225296"/>
            <a:ext cx="3851343" cy="60350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Transition from reversible (hydrogen) bonding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to irreversible covalent (Si–O) conjugation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1993392"/>
            <a:ext cx="3413544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94560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HEC+MC / CSP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68880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Extensive covalent conjugation → stiffens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035808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MHEC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310128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Stays largely reversible → subtle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1">
                <a:solidFill>
                  <a:srgbClr val="64748B"/>
                </a:solidFill>
                <a:latin typeface="Arial"/>
              </a:rPr>
              <a:t>Fig. S4 / S6 (interfacial chemistry)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64575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2591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Modulus (20-day aging)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2591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~1000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2591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68407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6423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Yield stress Day1→Day455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6423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B08442"/>
                </a:solidFill>
                <a:latin typeface="Arial"/>
              </a:rPr>
              <a:t>33 → 69 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6423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64575" y="2487168"/>
            <a:ext cx="7261360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S5/S7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4575" y="2487168"/>
            <a:ext cx="726136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4575" y="4626864"/>
            <a:ext cx="72613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Change in modulus / viscosity with aging (Day 1 vs Day 455)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907024"/>
            <a:ext cx="11460175" cy="74980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5907024"/>
            <a:ext cx="54864" cy="7498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907024"/>
            <a:ext cx="365760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5907024"/>
            <a:ext cx="10774375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After Day 455 (~15 months), combustion behavior and aerogel transition remain unchanged — proven shelf stability (Video S5)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Implementation scenarios, comprehensive comparison with existing products, research significance and future prospects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96849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96849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Implementation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Performance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1391" y="4572000"/>
            <a:ext cx="1481328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51391" y="4572000"/>
            <a:ext cx="1481328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33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Implementation Scenarios: WEG Deployment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34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Pre-protection of WUI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building exteriors and roofs before wildfire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Can be applied by helicopter or ground 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Protective function remains even after drying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Protection of Critical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Power towers, substations, and communication base stations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Strongly adheres to metal structures as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Prevents power outages and communication disruption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Fire Break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vegetation along potential spread paths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environmental burden unlike Phos-Chek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and silica have low environmental persistence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5638647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53712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Advantages Over Existing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837176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Water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37176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Far greater protection (water chars at ~0.3 min)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5093208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AquaGel-K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8840" y="5093208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3–6× longer protection + continues after water evaporation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5349240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Phos-Chek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8840" y="5349240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No residual contamination in soil or water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605272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Spray compatibility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5605272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Usable with existing equipment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700016"/>
            <a:ext cx="5638647" cy="914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7287" y="4700016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4700016"/>
            <a:ext cx="365760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1647" y="4700016"/>
            <a:ext cx="4952847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Flow properties (shear thinning) compatible with both aerial and ground application are key to practical deployment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Key Demonstrated 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35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Rheology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 &gt; G'', no crossover (gel)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G': HEC+MC≈46, MHEC≈26 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Shear-thinning (HB) → sprayable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tan δ &lt; 1, solid-like gel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62807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45687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FIRE PROTECTION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5687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Fire Protection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4568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6855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HEC+MC/CSP: &gt;7 min to char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568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46855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MHEC/CSP: &gt;5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4568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46855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3–6× more effective than commercial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5687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46855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~0.3, AquaGel-K ~1.5 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59855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2735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 / SEM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2735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Foaming &amp; Structure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3903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Foaming Index up to ≈2.6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43903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AquaGel-K does not foam (≈0)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2735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3903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Porous silica film on burning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2735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43903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Particles sinter after 2 min (SEM)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56903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39783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CHEMISTRY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Chemical Change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9783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40951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FT-IR: CH/SiO ratio drops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9783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40951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XPS: large carbon decrease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9783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40951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 C 38.3%→4.8%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9783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40951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(SiO₂) remains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0" y="529437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2943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29437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On burning, water evaporates while the gel converts into a porous silica aerogel — insulating the substrate even after desiccation (a mechanism absent in commercial WEGs)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Conclusions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36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3–6× more protective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HEC+MC/CSP &gt;7 min, MHEC/CSP &gt;5 min to char. Protects substrates far longer under flame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2807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7399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7399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7399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Self-forming aerogel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7399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Heat dehydrates the gel and sinters CSP → forms a porous silica aerogel insulating layer in situ (protection continues after drying)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447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447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Compatible with spray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Shear-thinning, sprayable fluid combining strong substrate adherence and wetting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6903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1495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5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1495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Sustainable, safe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1495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derivatives — Earth's most abundant biopolymer; biodegradability confirmed in prior study; silica is benign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Core Mechanism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rapidly evaporates on flame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sinters, forming inter-particle necks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silica aerogel insulating layer forms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Significance Stated in the Paper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1335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PP platform as a basis for diverse fire retardants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167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1335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Amenable to modular manufacturing &amp; large scale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167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71335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Fire retardancy retained after 455-day aging (MHEC/CSP)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5760" y="5385816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5385816"/>
            <a:ext cx="54864" cy="5029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385816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"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5385816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From "water carrier" to "heat-self-transforming fire-retardant material" — a next-gen WEG that stays effective even after drying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RESEARCH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0" b="1" i="0">
                <a:solidFill>
                  <a:srgbClr val="D4A574"/>
                </a:solidFill>
                <a:latin typeface="Arial"/>
              </a:rPr>
              <a:t>3–6</a:t>
            </a:r>
            <a:r>
              <a:rPr sz="7280" b="1" i="0">
                <a:solidFill>
                  <a:srgbClr val="C89A68"/>
                </a:solidFill>
                <a:latin typeface="Arial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464" b="1" i="0">
                <a:solidFill>
                  <a:srgbClr val="FFFFFF"/>
                </a:solidFill>
                <a:latin typeface="Arial"/>
              </a:rPr>
              <a:t>Time to Char Improvement vs. Commercial WEG (AquaGel-K)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41832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From "water carrier" to "self-transforming fire-retardant material"</a:t>
            </a:r>
          </a:p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The new WEG design paradigm opens a pathway to practical technology protecting critical infrastructure from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486400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Time to char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5522976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5522976"/>
            <a:ext cx="4517136" cy="146304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5486400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79008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5815584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5815584"/>
            <a:ext cx="3233318" cy="146304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5779008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≈2.6×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71616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Shear-thinning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6108192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6108192"/>
            <a:ext cx="285292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6071616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n &lt;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37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