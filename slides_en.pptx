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73152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9AB0"/>
                </a:solidFill>
                <a:latin typeface="Arial"/>
              </a:rPr>
              <a:t>RESEARCH PRESENTATION  · 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495" y="457200"/>
            <a:ext cx="4572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889AB0"/>
                </a:solidFill>
                <a:latin typeface="Arial"/>
              </a:rPr>
              <a:t>Adv. Mater.  ·  Dong et al.,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889AB0"/>
                </a:solidFill>
                <a:latin typeface="Arial"/>
              </a:rPr>
              <a:t>WATER-ENHANCING GELS  ·  ADVANCED MATERIALS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11247120" cy="10972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FFFFFF"/>
                </a:solidFill>
                <a:latin typeface="Arial"/>
              </a:rPr>
              <a:t>Protecting Against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D4A574"/>
                </a:solidFill>
                <a:latin typeface="Arial"/>
              </a:rPr>
              <a:t>Heat-Activated Silica Aerogels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3327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Next-generation fire-retardant gel of cellulosic polymers × colloidal silica particles</a:t>
            </a:r>
          </a:p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that self-foams upon heating to form an aerogel insulating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889CB4"/>
                </a:solidFill>
                <a:latin typeface="Arial"/>
              </a:rPr>
              <a:t>Materials Chemistry / Fire Protection Eng.    ·    Stanford University, Appel Lab    ·    Adv. Mater. 36, 2407375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731520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67788"/>
                </a:solidFill>
                <a:latin typeface="Arial"/>
              </a:rPr>
              <a:t>DOI: 10.1002/adma.202407375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 / 36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Presentation Outline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Current state of wildfires, limitations of existing technologies (Phos-Chek, AquaGel-K), and innovation of this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4–7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62807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687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5687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5687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Materials &amp;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45687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Cellulosic polymers, CSP, formulations (5 types), evaluation 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45687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9–14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9855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2735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2735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Results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2735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Rheology, combustion tests, foaming index, SEM observation, mechanism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2735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16–33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6903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9783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9783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9783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9783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Implementation scenarios, comparison with existing products, conclusions and future prospects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9783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35–36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4864608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4864608"/>
            <a:ext cx="54864" cy="502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4864608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4864608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Key Message: Foaming upon heating + sintering of silica particles spontaneously forms an aerogel layer, achieving longer protection than commercial products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Wildfire damage under climate change and the fundamental limitations of existing fire retardant technologies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Wildfire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12464" y="4572000"/>
            <a:ext cx="411480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12464" y="4572000"/>
            <a:ext cx="411480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Existing WEG / Retardants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4572000"/>
            <a:ext cx="323697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3568" y="4572000"/>
            <a:ext cx="323697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Research Innovation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 / 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1/4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Growing Severity of Wildfire Damage and WUI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 /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645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53895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7616" b="1" i="0">
                <a:solidFill>
                  <a:srgbClr val="1E293B"/>
                </a:solidFill>
                <a:latin typeface="Arial"/>
              </a:rPr>
              <a:t>5×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84708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Increase in large-scale wildfires (past 30 years)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13969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Driven by climate change and prolonged drought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560320"/>
            <a:ext cx="3527659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61488"/>
            <a:ext cx="45720" cy="146304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761488"/>
            <a:ext cx="4538953" cy="8229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4480" b="1" i="0">
                <a:solidFill>
                  <a:srgbClr val="1E293B"/>
                </a:solidFill>
                <a:latin typeface="Arial"/>
              </a:rPr>
              <a:t>45 million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58444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U.S. WUI residents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High-risk population at the wildland–urban interface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" y="4315968"/>
            <a:ext cx="423319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480560"/>
            <a:ext cx="453895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Extended dry and high-wind seasons mean</a:t>
            </a:r>
          </a:p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conventional firefighting strategies can no longer keep pace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52185" y="859536"/>
            <a:ext cx="6573749" cy="29260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Image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2185" y="859536"/>
            <a:ext cx="6573749" cy="2926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2185" y="3822192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Wildfire / WUI boundary zone (photo)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52185" y="4206240"/>
            <a:ext cx="6573749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2185" y="4206240"/>
            <a:ext cx="6573749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61913" y="5687568"/>
            <a:ext cx="635429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52185" y="6071616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Year-over-year trend in wildfire scale / annual burned area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2/4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Approach: 4-Stage Protection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5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32004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0965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Gel application → flame contact → heat-activated aerogel formation → structural protection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49107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49107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71367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Gel 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Spray cellulosic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onto buildings and vegetation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46155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46155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68415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62807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Flame Contact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2807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Moisture evaporates;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foams and particles aggregate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43203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3203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5463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9855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9855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Silica particles sinter into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a porous insulating layer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0251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0251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6903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6903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Ultra-low thermal conductivity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layer shields the substrate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3/4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Existing Wildfire Protection Methods and Their Fundamental Limitations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6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41599" cy="5248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41599" cy="3657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969264"/>
            <a:ext cx="2522143" cy="2514600"/>
          </a:xfrm>
          <a:prstGeom prst="roundRect">
            <a:avLst>
              <a:gd name="adj" fmla="val 3000"/>
            </a:avLst>
          </a:prstGeom>
          <a:solidFill>
            <a:srgbClr val="F5F8FC"/>
          </a:solidFill>
          <a:ln w="889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969264"/>
            <a:ext cx="2522143" cy="25146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AAB4C0"/>
                </a:solidFill>
                <a:latin typeface="Arial"/>
              </a:rPr>
              <a:t>(photo)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611880"/>
            <a:ext cx="2558719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1E293B"/>
                </a:solidFill>
                <a:latin typeface="Arial"/>
              </a:rPr>
              <a:t>Water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22776"/>
            <a:ext cx="2558719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H₂O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197096"/>
            <a:ext cx="2558719" cy="18379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05656"/>
                </a:solidFill>
                <a:latin typeface="Arial"/>
              </a:rPr>
              <a:t>Runs off and evaporates</a:t>
            </a:r>
          </a:p>
          <a:p>
            <a:pPr algn="ctr"/>
            <a:r>
              <a:rPr sz="1344" b="0" i="0">
                <a:solidFill>
                  <a:srgbClr val="A05656"/>
                </a:solidFill>
                <a:latin typeface="Arial"/>
              </a:rPr>
              <a:t>instantly — no persistence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1951" y="859536"/>
            <a:ext cx="2741599" cy="5248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71951" y="859536"/>
            <a:ext cx="2741599" cy="3657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381679" y="969264"/>
            <a:ext cx="2522143" cy="2514600"/>
          </a:xfrm>
          <a:prstGeom prst="roundRect">
            <a:avLst>
              <a:gd name="adj" fmla="val 3000"/>
            </a:avLst>
          </a:prstGeom>
          <a:solidFill>
            <a:srgbClr val="F5F8FC"/>
          </a:solidFill>
          <a:ln w="889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1679" y="969264"/>
            <a:ext cx="2522143" cy="25146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AAB4C0"/>
                </a:solidFill>
                <a:latin typeface="Arial"/>
              </a:rPr>
              <a:t>(photo)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63391" y="3611880"/>
            <a:ext cx="2558719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1E293B"/>
                </a:solidFill>
                <a:latin typeface="Arial"/>
              </a:rPr>
              <a:t>Phos-Chek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3391" y="3922776"/>
            <a:ext cx="2558719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Ammonium phosphate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3391" y="4197096"/>
            <a:ext cx="2558719" cy="18379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05656"/>
                </a:solidFill>
                <a:latin typeface="Arial"/>
              </a:rPr>
              <a:t>Chemical residue persists</a:t>
            </a:r>
          </a:p>
          <a:p>
            <a:pPr algn="ctr"/>
            <a:r>
              <a:rPr sz="1344" b="0" i="0">
                <a:solidFill>
                  <a:srgbClr val="A05656"/>
                </a:solidFill>
                <a:latin typeface="Arial"/>
              </a:rPr>
              <a:t>in soil and water systems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8143" y="859536"/>
            <a:ext cx="2741599" cy="5248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8143" y="859536"/>
            <a:ext cx="2741599" cy="3657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87871" y="969264"/>
            <a:ext cx="2522143" cy="2514600"/>
          </a:xfrm>
          <a:prstGeom prst="roundRect">
            <a:avLst>
              <a:gd name="adj" fmla="val 3000"/>
            </a:avLst>
          </a:prstGeom>
          <a:solidFill>
            <a:srgbClr val="F5F8FC"/>
          </a:solidFill>
          <a:ln w="889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7871" y="969264"/>
            <a:ext cx="2522143" cy="25146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AAB4C0"/>
                </a:solidFill>
                <a:latin typeface="Arial"/>
              </a:rPr>
              <a:t>(photo)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9583" y="3611880"/>
            <a:ext cx="2558719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1E293B"/>
                </a:solidFill>
                <a:latin typeface="Arial"/>
              </a:rPr>
              <a:t>AquaGel-K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9583" y="3922776"/>
            <a:ext cx="2558719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Cross-linked polyacrylate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9583" y="4197096"/>
            <a:ext cx="2558719" cy="18379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05656"/>
                </a:solidFill>
                <a:latin typeface="Arial"/>
              </a:rPr>
              <a:t>Protection lost the moment</a:t>
            </a:r>
          </a:p>
          <a:p>
            <a:pPr algn="ctr"/>
            <a:r>
              <a:rPr sz="1344" b="0" i="0">
                <a:solidFill>
                  <a:srgbClr val="A05656"/>
                </a:solidFill>
                <a:latin typeface="Arial"/>
              </a:rPr>
              <a:t>water evaporates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84335" y="859536"/>
            <a:ext cx="2741599" cy="5248656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84335" y="859536"/>
            <a:ext cx="2741599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194063" y="969264"/>
            <a:ext cx="2522143" cy="2514600"/>
          </a:xfrm>
          <a:prstGeom prst="roundRect">
            <a:avLst>
              <a:gd name="adj" fmla="val 3000"/>
            </a:avLst>
          </a:prstGeom>
          <a:solidFill>
            <a:srgbClr val="2A3C54"/>
          </a:solidFill>
          <a:ln w="8890">
            <a:solidFill>
              <a:srgbClr val="445E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94063" y="969264"/>
            <a:ext cx="2522143" cy="25146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88A0B8"/>
                </a:solidFill>
                <a:latin typeface="Arial"/>
              </a:rPr>
              <a:t>(photo)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5775" y="3611880"/>
            <a:ext cx="2558719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FFFFFF"/>
                </a:solidFill>
                <a:latin typeface="Arial"/>
              </a:rPr>
              <a:t>WEG (This Work)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5775" y="3922776"/>
            <a:ext cx="2558719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A0B8D0"/>
                </a:solidFill>
                <a:latin typeface="Arial"/>
              </a:rPr>
              <a:t>Cellulosic + Silica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75775" y="4197096"/>
            <a:ext cx="2558719" cy="18379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5B8C5A"/>
                </a:solidFill>
                <a:latin typeface="Arial"/>
              </a:rPr>
              <a:t>Aerogel layer continues</a:t>
            </a:r>
          </a:p>
          <a:p>
            <a:pPr algn="ctr"/>
            <a:r>
              <a:rPr sz="1344" b="1" i="0">
                <a:solidFill>
                  <a:srgbClr val="5B8C5A"/>
                </a:solidFill>
                <a:latin typeface="Arial"/>
              </a:rPr>
              <a:t>protecting after water loss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6236208"/>
            <a:ext cx="11460175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6345936"/>
            <a:ext cx="11460175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Challenge: Existing WEGs are mere "water carriers" — protection vanishes the moment moisture is lost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4/4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Core: Heat-Activated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7 /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3898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1E293B"/>
                </a:solidFill>
                <a:latin typeface="Arial"/>
              </a:rPr>
              <a:t>Heat-Activated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3B5174"/>
                </a:solidFill>
                <a:latin typeface="Arial"/>
              </a:rPr>
              <a:t>Aerogel Formation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10512"/>
            <a:ext cx="4080546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Flame contact triggers the gel to transform into an aerogel insulator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267712"/>
            <a:ext cx="3608367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45059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Beyond water dependence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706624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Heat-activated solid protective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13639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13639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Sustainable materials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392424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Naturally derived, food-grade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82219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382219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Drop-in compatible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078224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Sprayable fluid — no new infrastructure needed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93778" y="859536"/>
            <a:ext cx="7032156" cy="28346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Concept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93778" y="859536"/>
            <a:ext cx="7032156" cy="2834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93778" y="3730752"/>
            <a:ext cx="70321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Heat trigger transforms the gel into a porous aerogel insulating layer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93778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93778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3506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93778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SEM microstructure of silica aerogel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92152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92152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1880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92152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Aerogel thermal-insulation demo (sample over flame, etc.)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Materials &amp;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Novel gel design combining cellulosic polymers and colloidal silica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Polymer Components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1376" y="4572000"/>
            <a:ext cx="470001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51376" y="4572000"/>
            <a:ext cx="470001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Silica Particles &amp; Surfactant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7696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97696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Formulations (5 types)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19887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19887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Evaluation Methods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8 / 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1/6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Cellulosic Polymers Used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9 / 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06070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HEC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9961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Hydroxyethyl cellulose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77393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Base viscosity-building backbone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6148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77977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98094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41985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cellulose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69417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Gels on heating (thermoreversible) — key to flame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68172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70001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90118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MHEC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34009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2-hydroxyethyl cellulose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61441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Hybrid combining the traits of A and 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42008" y="859536"/>
            <a:ext cx="5083926" cy="30175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1b/c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42008" y="859536"/>
            <a:ext cx="5083926" cy="3017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2008" y="3913632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Chemical structures and CSP mixing scheme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42008" y="4297680"/>
            <a:ext cx="5083926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42008" y="4297680"/>
            <a:ext cx="5083926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1736" y="5779008"/>
            <a:ext cx="486447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2008" y="6163056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Molecular structure of cellulose (reference)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2/6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Methyl Cellulose (MC) Thermal Gelation: Key Property for Flame Protection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10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409444" cy="2468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409444" cy="2468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364992"/>
            <a:ext cx="540944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MC sol (room temp) → gel (after heating) — visual comparison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511296"/>
            <a:ext cx="4868499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675888"/>
            <a:ext cx="80467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LCST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8" y="3675888"/>
            <a:ext cx="45681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~55°C gelation onset (1 wt% aqueous solution)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041648"/>
            <a:ext cx="80467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Decomp.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8" y="4041648"/>
            <a:ext cx="45681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~300°C thermal decomposition of organic component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407408"/>
            <a:ext cx="80467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07008" y="4407408"/>
            <a:ext cx="45681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Liquid at room temp → instant gel on flame contact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5808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610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LCST (Gelation onset)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610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~55°C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610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1 wt% MC aqueous solution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4451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7253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 decomposition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7253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A05656"/>
                </a:solidFill>
                <a:latin typeface="Arial"/>
              </a:rPr>
              <a:t>~300°C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7253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TGA measurement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3094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96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CSP sintering onset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96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~200°C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96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Inter-particle neck formation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58084" y="2414016"/>
            <a:ext cx="5867851" cy="24688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0964" y="2578608"/>
            <a:ext cx="55020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B8D0"/>
                </a:solidFill>
                <a:latin typeface="Arial"/>
              </a:rPr>
              <a:t>Temperature-dependent Process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40964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32404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~55°C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2404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MC gelation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2404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Structure fixed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0746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02186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3626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~100°C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3626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Moisture evaporation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3626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Foaming &amp; expansion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71969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663409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54849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~200°C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4849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CSP sintering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54849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Grain boundary formation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33192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24632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016072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&gt;300°C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16072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Organic decomposition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6072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Pure silica layer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3/6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Colloidal Silica Particles (CSP) and Surfactant (SDS)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11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CSP particles (22 nm, monodisperse)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CSP — Colloidal Silica Particles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LUDOX TM-50 (stock 50 wt%) → diluted to 15 wt% (pH 9)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Particle size: 22 nm (monodisperse)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Formulation concentration: 5 wt% in gel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Sinters upon heating → transforms into silica aerogel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8143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8143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8143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 structure variation by SDS concentration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8143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SDS — Sodium Dodecyl Sulfate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8143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9311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Anionic surfactant (additive)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8143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9311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Adding SDS did not improve Foaming Index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8143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9311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Addition levels: 0.1 wt% and 0.5 wt%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8143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9311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Higher SDS concentration coarsens bubble size (SEM)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6053328"/>
            <a:ext cx="11460175" cy="6583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6053328"/>
            <a:ext cx="54864" cy="65836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053328"/>
            <a:ext cx="36576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6053328"/>
            <a:ext cx="10774375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 sintering temperature range of CSP overlaps with cellulose thermal decomposition — synchronized response forms the insulating layer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4/6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Five Formulations Evaluated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12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AquaGel-K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0.5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Commercial WEG benchmark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6627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8067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8067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8067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HEC+MC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47494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8934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8934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MHEC / CSP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8934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MHEC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38361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801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801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9801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0.1 wt%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29228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0668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0668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0668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0.5 wt%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Formulation Design Intent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4930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49300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Compare functional differences by polymer type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7673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376732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Verify foam structure at two SDS levels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04164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04164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Direct comparison with AquaGel-K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40682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40682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23562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Notation Guide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23562" y="3493008"/>
            <a:ext cx="3344570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HEC+MC/CSP/SDS 1-5-0.1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→ HEC+MC 1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CSP 5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SDS 0.1 wt%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15604" y="2962656"/>
            <a:ext cx="3710330" cy="197510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15604" y="2962656"/>
            <a:ext cx="3710330" cy="19751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15604" y="4974336"/>
            <a:ext cx="37103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Appearance of the five formulations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5/6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Overview of Evaluation Methods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13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805019" cy="544982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Setup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3805019" cy="54498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345936"/>
            <a:ext cx="38050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Combustion test setup (MAP-Pro torch / plywood substrate)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3659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3659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6539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6539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Rheological Measurements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539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7707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Oscillatory sweep (G', G'')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6539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37707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Steady-flow sweep (viscosity)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6539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7707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Herschel-Bulkley fitting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58377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58377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41257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BURN 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1257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Combustion 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4125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2425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MAP-Pro torch (~2054°C)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125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2425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Time to charring onset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125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2425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Compare at 120/300 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53659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53659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6539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36539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Foaming Index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6539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37707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Foamed layer thickness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36539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37707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Ratio to initial = Foaming Index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58377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58377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41257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SEM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1257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SEM Observation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1257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42425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 structure by SDS level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1257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42425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Sintering by burn time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53659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353659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36539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SPECTROSCOPY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36539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Spectroscopy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36539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37707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FT-IR (chemical bonding)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36539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7707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XPS (surface composition)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158377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158377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41257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41257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Thermal Analysis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41257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42425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TGA (thermogravimetric)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41257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42425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DSC (calorimetry)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6/6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Adhesion and Surface Wettability: Properties Essential for Implementation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14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3734714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373471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Contact angle on wood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401568"/>
            <a:ext cx="373471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WETTING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639312"/>
            <a:ext cx="3734714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Contact Angle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02336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023360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Evaluated on wood, concrete, metal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334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334256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WEG: low contact angle → wettability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645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645152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HEC+MC: high affinity to wood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8490" y="859536"/>
            <a:ext cx="3734714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3821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3821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28490" y="859536"/>
            <a:ext cx="3734714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28490" y="3090672"/>
            <a:ext cx="373471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Gel retention on vertical substrate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28490" y="3401568"/>
            <a:ext cx="373471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ADHESION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8490" y="3639312"/>
            <a:ext cx="3734714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Vertical Adhesion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28490" y="402336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29658" y="4023360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Applied to vertical substrate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28490" y="4334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29658" y="4334256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G' ≫ G'' → no run-off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28490" y="4645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29658" y="4645152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Retention ≥ AquaGel-K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1220" y="859536"/>
            <a:ext cx="3734714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0094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0094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91220" y="859536"/>
            <a:ext cx="3734714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1220" y="3090672"/>
            <a:ext cx="373471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Nozzle spraying in action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91220" y="3401568"/>
            <a:ext cx="373471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SPRAY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91220" y="3639312"/>
            <a:ext cx="3734714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Spray Suitability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91220" y="402336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92388" y="4023360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Viscosity drops under high shear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91220" y="4334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2388" y="4334256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Recovers high viscosity on landing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91220" y="4645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92388" y="4645152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Compatible with existing nozzles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65760" y="5980176"/>
            <a:ext cx="11460175" cy="6583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65760" y="5980176"/>
            <a:ext cx="54864" cy="65836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5980176"/>
            <a:ext cx="36576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" y="5980176"/>
            <a:ext cx="10774375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Rheological design (low n, high G') simultaneously achieves spray suitability and adhesion retention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Rheological properties, combustion performance, foam structure, and aerogel formation mechanism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162763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62763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Rheology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8833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833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Combustion Test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4572000"/>
            <a:ext cx="235915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4572000"/>
            <a:ext cx="235915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185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SEM Observation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15 / 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①: Oscillatory Moduli G' / G''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16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2a–b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Angular frequency vs Storage modulus G' · Loss modulus G''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04101" y="859536"/>
            <a:ext cx="4721833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6981" y="1024128"/>
            <a:ext cx="4356073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KEY OBSERVATION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6981" y="1261872"/>
            <a:ext cx="4356073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Key Observation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86981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8149" y="162763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G' &gt; G'' for all formulations → solid-like (gel) behavior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6981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8149" y="190195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Low frequency dependence → stable 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86981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8149" y="217627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AquaGel-K (G'=457 Pa) shows higher G' than WEG (46/26 Pa); all formulations exhibit gel behavior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04101" y="3648456"/>
            <a:ext cx="4721833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04101" y="36484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86981" y="36484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8461" y="3648456"/>
            <a:ext cx="4036033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Clearly formed gel network; does not flow off after application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2/11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②: Shear Thinning and Power-law Index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17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2c–d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vs. shear rate (shear-thinning behavior)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117" y="969264"/>
            <a:ext cx="446580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117" y="1225296"/>
            <a:ext cx="446580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n &lt;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117" y="1645920"/>
            <a:ext cx="446580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— strong shear thinning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04101" y="2093976"/>
            <a:ext cx="472183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117" y="2203704"/>
            <a:ext cx="446580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117" y="2459736"/>
            <a:ext cx="446580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n &lt;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2117" y="2880360"/>
            <a:ext cx="446580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MHEC/CSP — shear thinning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04101" y="3419856"/>
            <a:ext cx="472183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41261" y="3557016"/>
            <a:ext cx="444751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 &lt; 1 = shear-thinning</a:t>
            </a:r>
          </a:p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Lower values → better flow at high shear → excellent sprayability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5431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5431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431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431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High viscosity at rest for adhesion, low viscosity during spraying — flow properties compatible with existing firefighting equipment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3/11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③: Static Yield Stress and Long-term Stability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18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Static yield stress: stress at the G'/G'' crossover (σ_s) from amplitude sweep — minimum stress to initiate flow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636776"/>
            <a:ext cx="11460175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63677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361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Static yield stress (fresh)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8204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Static yield stress (455 days)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1278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3969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3969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361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33.34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8204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68.9 Pa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1278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Gel strength increases over 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642616"/>
            <a:ext cx="11460175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64261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0361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3.31 Pa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08204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4.56 Pa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278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Long-term stability confirmed (455 days)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14553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14553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AquaGel-K (Commercial control)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0361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8204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278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Reference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Static Yield Stress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Measured at G'/G'' crossover from amplitude sweep. HEC+MC/CSP: 33.34 Pa; MHEC/CSP: 3.31 Pa (fresh)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31538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96130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Long-term Stability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96130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MHEC/CSP shows only minor change after 455 days (3.31→4.56 Pa). Demonstrates shelf stability for practical use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97316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61908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HEC+MC vs MHEC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1908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 system shows ~10× higher yield stress, better for vertical surface adhesion. MHEC simpler to manufacture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4/11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④: Storage Modulus G' and Viscoelasticity (tan δ)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19 / 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G' Storage Modulus (1 rad/s)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86000" y="1344168"/>
            <a:ext cx="34669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4287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25.6 Pa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86000" y="1801368"/>
            <a:ext cx="666711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44287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46.4 Pa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0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286000" y="2258568"/>
            <a:ext cx="253350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4287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456.8 Pa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277977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All formulations show G'&gt;G'' (gel behavior). AquaGel-K has the highest G' but also larger tan δ (more fluid-like)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Loss tangent tan δ = G''/G' (elastic-dominated = &lt;1)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3007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3247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53247" y="1344168"/>
            <a:ext cx="112007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11535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0.168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3007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53247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53247" y="1801368"/>
            <a:ext cx="1466766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11535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0.219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3007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11535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0.400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33007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33007" y="27797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15887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27367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All formulations: tan δ &lt; 1 (gel behavior). AquaGel-K most elastic (0.168); MHEC system most fluid-like (0.400)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5/11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HEC+MC vs MHEC: Comparison of Two Systems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20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 + MC Mixed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HEC (non-thermal gelation) + MC (thermal gelation, LCST)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 provides room-temperature viscosity and adhesion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MC maintains structure during heating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Strong shear thinning (n &lt; 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7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Foaming Index ≈ 2.2–2.6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Good compatibility with SDS; excellent for optimizing foam structure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7287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7287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0167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MHEC Single-Polymer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0167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MHEC (integrates HEC+MC functions into a single molecule)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0207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Carries both hydroxyethyl and methyl groups on the same 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1607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0207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Achieves equivalent viscoelasticity and thermal response with a single polymer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607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0207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Shear thinning (n &lt; 1)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1607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0207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1607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90207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Advantage of simplified formulation and quality control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70167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61607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Advantageous for scale-up and manufacturing cost reduction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47725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54772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4772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547725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Both systems significantly outperform commercial AquaGel-K. HEC+MC excels in foam optimization; MHEC excels in manufacturing simplicity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6/11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Combustion Test Setup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21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211656" cy="4206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211656" cy="4206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102352"/>
            <a:ext cx="62116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Experimental setup for combustion testing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0296" y="859536"/>
            <a:ext cx="5065638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60296" y="859536"/>
            <a:ext cx="506563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3176" y="1024128"/>
            <a:ext cx="469987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EXPERIMENTAL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176" y="1261872"/>
            <a:ext cx="469987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◆ Test Conditions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3176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44344" y="162763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Substrate: whitewood plywood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3176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4344" y="190195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application: uniformly applied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3176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4344" y="217627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Flame source: MAP-Pro torch (~2054°C)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3176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44344" y="245059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Measurement: time until substrate charring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3176" y="27249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4344" y="272491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Photographs taken at 120 s and 300 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60296" y="4242816"/>
            <a:ext cx="506563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60296" y="424281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3176" y="424281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4656" y="4242816"/>
            <a:ext cx="437983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Time to char = time required for wood surface to char (longer = better protection)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7/11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 to Char: Quantitative Comparison of 5 Formulations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22 / 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701386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Time to char (time to charring onset)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134416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34640" y="1344168"/>
            <a:ext cx="13790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788" y="127101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~0.3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7393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(commercial)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34640" y="184708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34640" y="1847088"/>
            <a:ext cx="689541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788" y="177393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~1.5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27685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34640" y="235000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834640" y="2350008"/>
            <a:ext cx="224101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788" y="227685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77977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34640" y="285292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834640" y="285292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3788" y="277977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28269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34640" y="335584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34640" y="335584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788" y="328269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3922776"/>
            <a:ext cx="701386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92277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392277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22776"/>
            <a:ext cx="632806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work's WEG achieves 3–6× longer protection than commercial AquaGel-K (n≥3 for all tests)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62508" y="859536"/>
            <a:ext cx="4263426" cy="4754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62508" y="859536"/>
            <a:ext cx="4263426" cy="4754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62508" y="5650992"/>
            <a:ext cx="42634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Time-to-char bar chart (n≥3, error bars = standard deviation)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Time-lapse Observation of Combustion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23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Sequential photographs during flame contact for each formulation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Immediately evaporates and runs off under direct flame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Wood surface chars in ~0.3 min (~18 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protective layer formed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849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308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965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5825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Retains water but ends when water evaporates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2965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5825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Chars in ~1.5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965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5825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solid protective layer formed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122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581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238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098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foams and expands simultaneously with water evaporation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238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098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aerogel layer provides continued protection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238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098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Charring prevented for &gt;7 min (HEC+MC)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Surface Condition Comparison at 120 s / 300 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24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Surface condition comparison: 120 s (top) and 300 s (bottom)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charring already beginning over wide area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entire surface blackened, severe damage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A05656"/>
                </a:solidFill>
                <a:latin typeface="Arial"/>
              </a:rPr>
              <a:t>Time to char: ~0.3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308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 (commercial)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965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gel drying, partial charring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965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no protective layer, partial charring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308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Time to char: ~1.5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122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5581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238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aerogel layer forming and expanding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238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surface nearly intact, layer remains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581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Time to char: &gt;7 min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KEY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247120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4560" b="1" i="0">
                <a:solidFill>
                  <a:srgbClr val="D4A574"/>
                </a:solidFill>
                <a:latin typeface="Arial"/>
              </a:rPr>
              <a:t>&gt;7</a:t>
            </a:r>
            <a:r>
              <a:rPr sz="6720" b="0" i="0">
                <a:solidFill>
                  <a:srgbClr val="C89A68"/>
                </a:solidFill>
                <a:latin typeface="Arial"/>
              </a:rPr>
              <a:t>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912" b="1" i="0">
                <a:solidFill>
                  <a:srgbClr val="FFFFFF"/>
                </a:solidFill>
                <a:latin typeface="Arial"/>
              </a:rPr>
              <a:t>Time to Char of This Work's WEG (HEC+MC/CSP)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09160"/>
            <a:ext cx="9418320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0" i="0">
                <a:solidFill>
                  <a:srgbClr val="9CB4CC"/>
                </a:solidFill>
                <a:latin typeface="Arial"/>
              </a:rPr>
              <a:t>Achieved 3–6× longer protection than commercial AquaGel-K (~1.5 min) — n≥3 for all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53212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Water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556869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931920" y="5568696"/>
            <a:ext cx="256032" cy="164592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69880" y="553212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~0.3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585216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AquaGel-K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588873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31920" y="5888736"/>
            <a:ext cx="1280160" cy="164592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69880" y="585216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~1.5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617220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This Work WEG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31920" y="620877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31920" y="6208776"/>
            <a:ext cx="6080760" cy="164592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69880" y="617220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25 / 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Foaming Index Comparison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26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38647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Appearance of foamed layer after combustion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859536"/>
            <a:ext cx="5638647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97015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7015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859536"/>
            <a:ext cx="5638647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7287" y="2999232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Foaming Index for each formulation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3741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Foaming Index (post-combustion thickness / initial thickness)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73989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381304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920240" y="3813048"/>
            <a:ext cx="62480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35727" y="373989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15137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20240" y="422452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920240" y="4224528"/>
            <a:ext cx="1655745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35727" y="415137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≈2.1×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56285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920240" y="463600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920240" y="4636008"/>
            <a:ext cx="1874428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35727" y="456285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≈2.3×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497433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20240" y="504748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20240" y="5047488"/>
            <a:ext cx="2124352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35727" y="497433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≈2.6×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87287" y="33741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Insulating Effect from Foaming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3007" y="3739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61607" y="3739896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Expands to &gt;2× initial thickness → heat conduction path extended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33007" y="412394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61607" y="4123944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Air trapped in pores enhances thermal insulation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3007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61607" y="4507992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does not foam → collapses flat under flame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3007" y="489204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1607" y="4892040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without SDS achieves the highest foaming index (≈2.6)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Effect of SDS Concentration on Aerogel Microstructure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27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7432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743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393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FE-SEM images by SDS concentration (0%, 0.1%, 0.5%)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0% SDS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Highest foaming index (≈2.6). No SDS yields maximum expansion.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2849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9308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0.1% SDS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308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Uniform fine-bubble structure. Foaming index ≈2.3 (lower than no-SDS).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122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581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0.5% SDS (Excess)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581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Non-uniform and coarsened bubble size. Foaming index further reduced.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10/11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FT-IR &amp; XPS: Chemical Composition Changes (Before/After Combustion)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28 / 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FT-IR Major Peak Assignments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243584"/>
            <a:ext cx="5638647" cy="4572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243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Wavenumber (cm⁻¹)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8426" y="1243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Assignment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9314" y="1243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After combustion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7007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7007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3200–3500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8426" y="17007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O–H stretch (cellulose, water)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9314" y="17007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(dehydration)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579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579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2850–2950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8426" y="21579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C–H stretch (methyl groups)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9314" y="21579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(organic decomposition)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151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6151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1050–1100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8426" y="26151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Si–O–Si stretch (silica)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9314" y="26151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Intensity increases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0723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0723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8426" y="30723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 vibration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9314" y="30723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Becomes distinct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5295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529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450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8426" y="3529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9314" y="3529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Sharpens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416966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4169664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16966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16966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Post-combustion spectrum matches pure silica (SiO₂) → aerogel formation chemically confirmed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XPS Surface Elemental Composition (at%)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7287" y="1243584"/>
            <a:ext cx="5638647" cy="6400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78727" y="124358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92530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before (at%)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04952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after (at%)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87287" y="1883664"/>
            <a:ext cx="5638647" cy="6400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8727" y="188366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2530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25.6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04952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14.9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87287" y="2523744"/>
            <a:ext cx="5638647" cy="6400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78727" y="252374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92530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38.3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04952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4.8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87287" y="330098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87287" y="3300984"/>
            <a:ext cx="54864" cy="77724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70167" y="330098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📊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81647" y="330098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Carbon greatly reduced (MHEC: 38.3→4.8 at%) → organic matrix combusted and removed; silica remains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87287" y="426110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51879" y="4389120"/>
            <a:ext cx="530946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Peak Position Verification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1879" y="4645152"/>
            <a:ext cx="5309463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 2p peak: ~103.5 eV (consistent with SiO₂) / O 1s peak: ~533 eV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11/11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TGA/DSC: Thermal Decomposition Profile and Role of Each Component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29 / 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TGA: Weight Loss Profile (N₂ atmosphere)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50–150°C: Evaporation of free and adsorbed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45336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" y="1545336"/>
            <a:ext cx="1691594" cy="128016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837944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200–350°C: Thermal decomposition of HEC/MC organic chains (main weight loss)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12264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2112264"/>
            <a:ext cx="4792850" cy="128016"/>
          </a:xfrm>
          <a:prstGeom prst="roundRect">
            <a:avLst>
              <a:gd name="adj" fmla="val 50000"/>
            </a:avLst>
          </a:prstGeom>
          <a:solidFill>
            <a:srgbClr val="A0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404872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350–600°C: Oxidation and loss of residual carbon (in air)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679192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5760" y="2679192"/>
            <a:ext cx="2819323" cy="128016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971800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&gt;600°C: Silica residue (~5–8 wt%, no change)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246120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5760" y="3246120"/>
            <a:ext cx="451091" cy="128016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DSC: Thermal Event Assignments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1271016"/>
            <a:ext cx="5638647" cy="3657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8727" y="127101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Temperature 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62582" y="127101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Event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30291" y="127101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ΔH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7287" y="163677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727" y="163677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~100°C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62582" y="163677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Endothermic: water evaporation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30291" y="163677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87287" y="2002536"/>
            <a:ext cx="5638647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727" y="200253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~55–80°C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62582" y="200253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MC gelation transition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30291" y="200253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Slightly exothermic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87287" y="236829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8727" y="236829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~250–300°C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62582" y="236829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oxidative decomposition of organic chains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30291" y="236829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Exothermic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87287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15303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Final silica residue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15303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~5–8 wt%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5303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Equivalent to CSP 5 wt%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75191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03207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Cellulose decomposition peak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03207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A05656"/>
                </a:solidFill>
                <a:latin typeface="Arial"/>
              </a:rPr>
              <a:t>~280°C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03207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Common to HEC/MC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87287" y="4288536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87287" y="428853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70167" y="428853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647" y="4288536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CSP sintering (~200°C+) and cellulose decomposition (~280°C+) overlap in temperature → synchronized aerogel formation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 of Silica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30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3-stage schematic of WEG → silica aerogel transformation by flame activation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Unsintered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Silica particles dispersed independently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fills the interstices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2849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2849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1137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Grain boundary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137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253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Particles approach as water evaporates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37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253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Grain boundaries form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37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253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Initial neck formation begins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9122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122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410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Necking &amp; porosity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410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7526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Necks grow and strengthen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410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7526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Porosity decreases, skeleton complete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410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7526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SiO₂ aerogel layer established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Sintering Progression with Burn Time (SEM)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31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Cross-section SEM images of HEC+MC/CSP 1-5 after 0, 1, 2, and 4 min heating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Unheated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Spherical particles dispersed independently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fills the matrix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62807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9111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1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09111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Early sintering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45687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28567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Grain boundaries appear between particles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45687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28567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Initial necks 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5687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28567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Most moisture evaporated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59855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6159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2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6159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Sintering in progress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2735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25615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Neck regions expand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25615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Continuous network forms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25615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Porosity decreasing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56903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03207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4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03207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3B5174"/>
                </a:solidFill>
                <a:latin typeface="Arial"/>
              </a:rPr>
              <a:t>Aerogel complete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9783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22663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Dense SiO₂ skeleton complete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9783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22663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High mechanical strength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22663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Functions as insulating layer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Implementation scenarios, comprehensive comparison with existing products, research significance and future prospects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96849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96849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Implementation Scenarios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Performance Comparison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51391" y="4572000"/>
            <a:ext cx="1481328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51391" y="4572000"/>
            <a:ext cx="1481328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32 / 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Discussion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Implementation Scenarios: WEG Deployment Strategy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33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Pre-protection of WUI Structures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building exteriors and roofs before wildfire season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Can be applied by helicopter or ground hose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Protective function remains even after drying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849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137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37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Protection of Critical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37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253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Power towers, substations, and communication base stations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37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253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Strongly adheres to metal structures as well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253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Prevents power outages and communication disruption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122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122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410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410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Fire Break Formation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410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526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vegetation along potential spread paths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410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526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environmental burden unlike Phos-Chek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526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and silica have low environmental persistence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425696"/>
            <a:ext cx="5638647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553712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Advantages Over Existing Methods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4837176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Water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8840" y="4837176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Far greater protection (water chars at ~0.3 min)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5093208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AquaGel-K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48840" y="5093208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3–6× longer protection + continues after water evaporation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5349240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Phos-Chek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48840" y="5349240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No residual contamination in soil or water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5605272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Spray compatibility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48840" y="5605272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Usable with existing equipment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87287" y="4700016"/>
            <a:ext cx="5638647" cy="9144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87287" y="4700016"/>
            <a:ext cx="54864" cy="9144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67" y="4700016"/>
            <a:ext cx="365760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81647" y="4700016"/>
            <a:ext cx="4952847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Flow properties (shear thinning) compatible with both aerial and ground application are key to practical deployment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Key Demonstrated Results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34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Rheology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 &gt; G'', no crossover (gel)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G': HEC+MC≈46, MHEC≈26 Pa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Shear-thinning (HB) → sprayable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tan δ &lt; 1, solid-like gel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62807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45687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FIRE PROTECTION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45687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Fire Protection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4568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46855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HEC+MC/CSP: &gt;7 min to char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4568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46855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MHEC/CSP: &gt;5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4568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46855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3–6× more effective than commercial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45687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46855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~0.3, AquaGel-K ~1.5 min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59855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42735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 / SEM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2735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Foaming &amp; Structure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43903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Foaming Index up to ≈2.6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43903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AquaGel-K does not foam (≈0)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42735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43903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Porous silica film on burning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42735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43903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Particles sinter after 2 min (SEM)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56903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39783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CHEMISTRY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Chemical Change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9783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40951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FT-IR: CH/SiO ratio drops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9783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40951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XPS: large carbon decrease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39783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40951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 C 38.3%→4.8%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9783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40951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Silica (SiO₂) remains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5760" y="529437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5760" y="52943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2943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◆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" y="529437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On burning, water evaporates while the gel converts into a porous silica aerogel — insulating the substrate even after desiccation (a mechanism absent in commercial WEGs)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Conclusions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35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3–6× more protective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HEC+MC/CSP &gt;7 min, MHEC/CSP &gt;5 min to char. Protects substrates far longer under flame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62807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7399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7399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7399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Self-forming aerogel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7399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Heat dehydrates the gel and sinters CSP → forms a porous silica aerogel insulating layer in situ (protection continues after drying)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4447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4447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4447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Compatible with spray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4447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Shear-thinning, sprayable fluid combining strong substrate adherence and wetting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6903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21495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1495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1495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Sustainable, safe materials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1495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derivatives — Earth's most abundant biopolymer; biodegradability confirmed in prior study; silica is benign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Core Mechanism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rapidly evaporates on flame contact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CSP sinters, forming inter-particle necks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silica aerogel insulating layer forms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7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87287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70167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Significance Stated in the Paper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167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71335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PP platform as a basis for diverse fire retardants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167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71335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Amenable to modular manufacturing &amp; large scale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167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71335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Fire retardancy retained after 455-day aging (MHEC/CSP)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5760" y="5385816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5385816"/>
            <a:ext cx="54864" cy="5029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5385816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"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5385816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From "water carrier" to "heat-self-transforming fire-retardant material" — a next-gen WEG that stays effective even after drying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RESEARCH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0" b="1" i="0">
                <a:solidFill>
                  <a:srgbClr val="D4A574"/>
                </a:solidFill>
                <a:latin typeface="Arial"/>
              </a:rPr>
              <a:t>3–6</a:t>
            </a:r>
            <a:r>
              <a:rPr sz="7280" b="1" i="0">
                <a:solidFill>
                  <a:srgbClr val="C89A68"/>
                </a:solidFill>
                <a:latin typeface="Arial"/>
              </a:rPr>
              <a:t>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464" b="1" i="0">
                <a:solidFill>
                  <a:srgbClr val="FFFFFF"/>
                </a:solidFill>
                <a:latin typeface="Arial"/>
              </a:rPr>
              <a:t>Time to Char Improvement vs. Commercial WEG (AquaGel-K)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86200"/>
            <a:ext cx="941832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From "water carrier" to "self-transforming fire-retardant material"</a:t>
            </a:r>
          </a:p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The new WEG design paradigm opens a pathway to practical technology protecting critical infrastructure from wildfires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5486400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Time to char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5522976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5522976"/>
            <a:ext cx="4517136" cy="146304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55480" y="5486400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5779008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5815584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63440" y="5815584"/>
            <a:ext cx="3233318" cy="146304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55480" y="5779008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≈2.6×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6071616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Shear-thinning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6108192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3440" y="6108192"/>
            <a:ext cx="285292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55480" y="6071616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n &lt;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36 / 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