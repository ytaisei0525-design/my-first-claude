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73152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9AB0"/>
                </a:solidFill>
                <a:latin typeface="Arial"/>
              </a:rPr>
              <a:t>RESEARCH PRESENTATION  · 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2495" y="457200"/>
            <a:ext cx="4572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889AB0"/>
                </a:solidFill>
                <a:latin typeface="Arial"/>
              </a:rPr>
              <a:t>Adv. Mater.  ·  Dong et al.,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10698480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889AB0"/>
                </a:solidFill>
                <a:latin typeface="Arial"/>
              </a:rPr>
              <a:t>WATER-ENHANCING GELS  ·  ADVANCED MATERIALS 2024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11247120" cy="10972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FFFFFF"/>
                </a:solidFill>
                <a:latin typeface="Arial"/>
              </a:rPr>
              <a:t>Protecting Against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4928" b="1" i="0">
                <a:solidFill>
                  <a:srgbClr val="D4A574"/>
                </a:solidFill>
                <a:latin typeface="Arial"/>
              </a:rPr>
              <a:t>Heat-Activated Silica Aerogels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Next-generation fire-retardant gel of cellulosic polymers × colloidal silica particles</a:t>
            </a:r>
          </a:p>
          <a:p>
            <a:pPr algn="ctr"/>
            <a:r>
              <a:rPr sz="1680" b="0" i="0">
                <a:solidFill>
                  <a:srgbClr val="B8CCE2"/>
                </a:solidFill>
                <a:latin typeface="Arial"/>
              </a:rPr>
              <a:t>that self-foams upon heating to form an aerogel insulating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86400"/>
            <a:ext cx="1124712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889CB4"/>
                </a:solidFill>
                <a:latin typeface="Arial"/>
              </a:rPr>
              <a:t>Materials Chemistry / Fire Protection Eng.    ·    Stanford University, Appel Lab    ·    Adv. Mater. 36, 2407375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731520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67788"/>
                </a:solidFill>
                <a:latin typeface="Arial"/>
              </a:rPr>
              <a:t>DOI: 10.1002/adma.202407375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 / 36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Contents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Presentation Outline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Current state of wildfires, limitations of existing technologies (Phos-Chek, AquaGel-K), and innovation of this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4–7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62807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687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45687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45687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Materials &amp;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45687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Cellulosic polymers, CSP, formulations (5 types), evaluation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45687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9–14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9855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2735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2735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2735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Results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2735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Rheology, combustion tests, foaming index, SEM observation, mechanism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2735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16–33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6903" y="859536"/>
            <a:ext cx="2769031" cy="384048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9783" y="1088136"/>
            <a:ext cx="2403271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9783" y="163677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PART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9783" y="1956816"/>
            <a:ext cx="240327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016" b="1" i="0">
                <a:solidFill>
                  <a:srgbClr val="1E293B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9783" y="2459736"/>
            <a:ext cx="2403271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Implementation scenarios, comparison with existing products, conclusions and future prospects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9783" y="4288536"/>
            <a:ext cx="240327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0" i="0">
                <a:solidFill>
                  <a:srgbClr val="64748B"/>
                </a:solidFill>
                <a:latin typeface="Arial"/>
              </a:rPr>
              <a:t>Slides 35–36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64608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4864608"/>
            <a:ext cx="54864" cy="502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4864608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4864608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Key Message: Foaming upon heating + sintering of silica particles spontaneously forms an aerogel layer, achieving longer protection than commercial products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Wildfire damage under climate change and the fundamental limitations of existing fire retardant technologies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Wildfire 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12464" y="4572000"/>
            <a:ext cx="411480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12464" y="4572000"/>
            <a:ext cx="411480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Existing WEG / Retardants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4572000"/>
            <a:ext cx="323697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73568" y="4572000"/>
            <a:ext cx="323697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Research Innovation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 / 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1/4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Growing Severity of Wildfire Damage and WUI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4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6459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538953" cy="10058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7616" b="1" i="0">
                <a:solidFill>
                  <a:srgbClr val="1E293B"/>
                </a:solidFill>
                <a:latin typeface="Arial"/>
              </a:rPr>
              <a:t>5×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84708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Increase in large-scale wildfires (past 30 years)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213969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Driven by climate change and prolonged drought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560320"/>
            <a:ext cx="3527659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761488"/>
            <a:ext cx="45720" cy="1463040"/>
          </a:xfrm>
          <a:prstGeom prst="rect">
            <a:avLst/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2761488"/>
            <a:ext cx="4538953" cy="8229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4480" b="1" i="0">
                <a:solidFill>
                  <a:srgbClr val="1E293B"/>
                </a:solidFill>
                <a:latin typeface="Arial"/>
              </a:rPr>
              <a:t>45 million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3584448"/>
            <a:ext cx="4538953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34155"/>
                </a:solidFill>
                <a:latin typeface="Arial"/>
              </a:rPr>
              <a:t>U.S. WUI residents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" y="3877056"/>
            <a:ext cx="453895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High-risk population at the wildland–urban interface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4315968"/>
            <a:ext cx="423319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80560"/>
            <a:ext cx="453895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Extended dry and high-wind seasons mean</a:t>
            </a:r>
          </a:p>
          <a:p>
            <a:pPr algn="l"/>
            <a:r>
              <a:rPr sz="1344" b="0" i="1">
                <a:solidFill>
                  <a:srgbClr val="475569"/>
                </a:solidFill>
                <a:latin typeface="Arial"/>
              </a:rPr>
              <a:t>conventional firefighting strategies can no longer keep pace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2185" y="859536"/>
            <a:ext cx="6573749" cy="57607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1913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2185" y="859536"/>
            <a:ext cx="6573749" cy="57607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2185" y="6656832"/>
            <a:ext cx="657374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Wildfire / WUI boundary zone (photo)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2/4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Approach: 4-Stage Protection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32004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3200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0965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Gel application → flame contact → heat-activated aerogel formation → structural protection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49107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49107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71367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Gel Application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Spray cellulosic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onto buildings and vegetation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446155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46155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68415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62807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Flame Contact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2807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Moisture evaporates; gel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foams and particles aggregate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43203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3203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5463" y="4507992"/>
            <a:ext cx="54864" cy="18288"/>
          </a:xfrm>
          <a:prstGeom prst="rect">
            <a:avLst/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59855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Aerogel Formation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59855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Silica particles sinter into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a porous insulating layer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0251" y="4315968"/>
            <a:ext cx="402336" cy="402336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0251" y="4315968"/>
            <a:ext cx="402336" cy="402336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792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6903" y="4846320"/>
            <a:ext cx="276903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Sustained Protection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6903" y="5138928"/>
            <a:ext cx="2769031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Ultra-low thermal conductivity</a:t>
            </a:r>
          </a:p>
          <a:p>
            <a:pPr algn="ctr"/>
            <a:r>
              <a:rPr sz="1232" b="0" i="0">
                <a:solidFill>
                  <a:srgbClr val="475569"/>
                </a:solidFill>
                <a:latin typeface="Arial"/>
              </a:rPr>
              <a:t>layer shields the substrate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3/4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Existing Wildfire Protection Methods and Their Fundamental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Water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H₂O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Runs off and evaporates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instantly — no persistence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71951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71951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1679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1679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3391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Phos-Chek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3391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Ammonium phosphate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63391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Chemical residue persists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in soil and water systems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8143" y="859536"/>
            <a:ext cx="2741599" cy="3657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87871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F5F8FC"/>
          </a:solidFill>
          <a:ln w="889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7871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AAB4C0"/>
                </a:solidFill>
                <a:latin typeface="Arial"/>
              </a:rPr>
              <a:t>(photo)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9583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9583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Cross-linked polyacrylate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9583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Protection lost the moment</a:t>
            </a:r>
          </a:p>
          <a:p>
            <a:pPr algn="ctr"/>
            <a:r>
              <a:rPr sz="1344" b="0" i="0">
                <a:solidFill>
                  <a:srgbClr val="A05656"/>
                </a:solidFill>
                <a:latin typeface="Arial"/>
              </a:rPr>
              <a:t>water evaporates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84335" y="859536"/>
            <a:ext cx="2741599" cy="5248656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84335" y="859536"/>
            <a:ext cx="2741599" cy="36576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94063" y="969264"/>
            <a:ext cx="2522143" cy="2514600"/>
          </a:xfrm>
          <a:prstGeom prst="roundRect">
            <a:avLst>
              <a:gd name="adj" fmla="val 3000"/>
            </a:avLst>
          </a:prstGeom>
          <a:solidFill>
            <a:srgbClr val="2A3C54"/>
          </a:solidFill>
          <a:ln w="8890">
            <a:solidFill>
              <a:srgbClr val="445E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94063" y="969264"/>
            <a:ext cx="2522143" cy="25146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0" i="0">
                <a:solidFill>
                  <a:srgbClr val="88A0B8"/>
                </a:solidFill>
                <a:latin typeface="Arial"/>
              </a:rPr>
              <a:t>(photo)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611880"/>
            <a:ext cx="2558719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FFFFFF"/>
                </a:solidFill>
                <a:latin typeface="Arial"/>
              </a:rPr>
              <a:t>WEG (This Work)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922776"/>
            <a:ext cx="2558719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A0B8D0"/>
                </a:solidFill>
                <a:latin typeface="Arial"/>
              </a:rPr>
              <a:t>Cellulosic + Silica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75775" y="4197096"/>
            <a:ext cx="2558719" cy="18379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Aerogel layer continues</a:t>
            </a:r>
          </a:p>
          <a:p>
            <a:pPr algn="ctr"/>
            <a:r>
              <a:rPr sz="1344" b="1" i="0">
                <a:solidFill>
                  <a:srgbClr val="5B8C5A"/>
                </a:solidFill>
                <a:latin typeface="Arial"/>
              </a:rPr>
              <a:t>protecting after water loss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236208"/>
            <a:ext cx="1146017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345936"/>
            <a:ext cx="11460175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Challenge: Existing WEGs are mere "water carriers" — protection vanishes the moment moisture is lost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Background 4/4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Research Core: Heat-Activated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7 /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859536"/>
            <a:ext cx="45720" cy="138988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8595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1E293B"/>
                </a:solidFill>
                <a:latin typeface="Arial"/>
              </a:rPr>
              <a:t>Heat-Activated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4080546" cy="47548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1" i="1">
                <a:solidFill>
                  <a:srgbClr val="3B5174"/>
                </a:solidFill>
                <a:latin typeface="Arial"/>
              </a:rPr>
              <a:t>Aerogel Formation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10512"/>
            <a:ext cx="4080546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Flame contact triggers the gel to transform into an aerogel insulator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" y="2267712"/>
            <a:ext cx="3608367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4505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Beyond water dependence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27066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Heat-activated solid protective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1363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1363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Sustainable materials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33924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Naturally derived, food-grade components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22192"/>
            <a:ext cx="40233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3822192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Drop-in compatible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078224"/>
            <a:ext cx="3824514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Sprayable fluid — no new infrastructure needed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93778" y="859536"/>
            <a:ext cx="7032156" cy="57607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0350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Concept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3778" y="859536"/>
            <a:ext cx="7032156" cy="57607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93778" y="6656832"/>
            <a:ext cx="70321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Heat trigger transforms the gel into a porous aerogel insulating layer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Materials &amp;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Novel gel design combining cellulosic polymers and colloidal silica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Polymer Components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1376" y="4572000"/>
            <a:ext cx="470001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51376" y="4572000"/>
            <a:ext cx="470001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Silica Particles &amp; Surfactant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7696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Formulations (5 types)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819887" y="4572000"/>
            <a:ext cx="309067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19887" y="4572000"/>
            <a:ext cx="309067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Evaluation Methods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8 / 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1/6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Cellulosic Polymers 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06070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HEC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9961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Hydroxyethyl cellulose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77393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Base viscosity-building backbone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76148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77977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98094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41985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cellulose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4440" y="369417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Gels on heating (thermoreversible) — key to flame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681728"/>
            <a:ext cx="6193368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700016"/>
            <a:ext cx="822960" cy="1920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6048" b="1" i="0">
                <a:solidFill>
                  <a:srgbClr val="E2E8F0"/>
                </a:solidFill>
                <a:latin typeface="Arial"/>
              </a:rPr>
              <a:t>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4901184"/>
            <a:ext cx="532468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1E293B"/>
                </a:solidFill>
                <a:latin typeface="Arial"/>
              </a:rPr>
              <a:t>MHEC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340096"/>
            <a:ext cx="5324688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Methyl 2-hydroxyethyl cellulose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614416"/>
            <a:ext cx="5324688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Hybrid combining the traits of A and 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42008" y="859536"/>
            <a:ext cx="5083926" cy="57607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17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1b/c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2008" y="859536"/>
            <a:ext cx="5083926" cy="57607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2008" y="6656832"/>
            <a:ext cx="50839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Chemical structures and CSP mixing scheme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2/6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Methyl Cellulose (MC) Thermal Gelation: Key Property for Flame Protection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409444" cy="2468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Photo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409444" cy="2468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364992"/>
            <a:ext cx="540944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MC sol (room temp) → gel (after heating) — visual comparison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511296"/>
            <a:ext cx="4868499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67588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LCST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8" y="367588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~55°C gelation onset (1 wt% aqueous solution)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4164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Decomp.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8" y="404164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~300°C thermal decomposition of organic component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407408"/>
            <a:ext cx="80467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3B5174"/>
                </a:solidFill>
                <a:latin typeface="Arial"/>
              </a:rPr>
              <a:t>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07008" y="4407408"/>
            <a:ext cx="456819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Liquid at room temp → instant gel on flame contact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5808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610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LCST (Gelation onset)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610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~55°C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610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1 wt% MC aqueous solution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4451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7253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 decomposition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253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~300°C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253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TGA measurement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0944" y="859536"/>
            <a:ext cx="1894990" cy="128016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960" y="969264"/>
            <a:ext cx="1638958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CSP sintering onset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960" y="1225296"/>
            <a:ext cx="1638958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~200°C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960" y="1645920"/>
            <a:ext cx="16389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Inter-particle neck formation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58084" y="2414016"/>
            <a:ext cx="5867851" cy="246888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40964" y="2578608"/>
            <a:ext cx="55020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B8D0"/>
                </a:solidFill>
                <a:latin typeface="Arial"/>
              </a:rPr>
              <a:t>Temperature-dependent Process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40964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2404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~55°C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2404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MC gelation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2404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Structure fixed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0746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402186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3626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~100°C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3626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Moisture evaporation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3626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Foaming &amp; expansion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71969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63409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54849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~200°C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4849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CSP sintering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54849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Grain boundary formation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3192" y="3008376"/>
            <a:ext cx="91440" cy="1783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667890"/>
                </a:solidFill>
                <a:latin typeface="Arial"/>
              </a:rPr>
              <a:t>▶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24632" y="3008376"/>
            <a:ext cx="1169782" cy="1783080"/>
          </a:xfrm>
          <a:prstGeom prst="roundRect">
            <a:avLst>
              <a:gd name="adj" fmla="val 4000"/>
            </a:avLst>
          </a:prstGeom>
          <a:solidFill>
            <a:srgbClr val="2C3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16072" y="3136392"/>
            <a:ext cx="98690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D4A574"/>
                </a:solidFill>
                <a:latin typeface="Arial"/>
              </a:rPr>
              <a:t>&gt;300°C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16072" y="3465576"/>
            <a:ext cx="986902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Organic decomposition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6072" y="3922776"/>
            <a:ext cx="986902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B0C0D0"/>
                </a:solidFill>
                <a:latin typeface="Arial"/>
              </a:rPr>
              <a:t>Pure silica layer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3/6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Colloidal Silica Particles (CSP) and Surfactant (SDS)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CSP particles (22 nm, monodisperse)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CSP — Colloidal Silica Particles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LUDOX TM-50 (stock 50 wt%) → diluted to 15 wt% (pH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Particle size: 22 nm (monodisperse)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Formulation concentration: 5 wt% in gel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Sinters upon heating → transforms into silica aerogel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8143" y="859536"/>
            <a:ext cx="5647791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7871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SEM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8143" y="859536"/>
            <a:ext cx="5647791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8143" y="3090672"/>
            <a:ext cx="564779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 structure variation by SDS concentration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8143" y="3218688"/>
            <a:ext cx="5647791" cy="31089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SDS — Sodium Dodecyl Sulfate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8143" y="3566160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9311" y="3566160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Anionic surfactant (additive)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8143" y="3877056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79311" y="3877056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Adding SDS did not improve Foaming Index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8143" y="4187952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79311" y="4187952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Addition levels: 0.1 wt% and 0.5 wt%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8143" y="4498848"/>
            <a:ext cx="182880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79311" y="4498848"/>
            <a:ext cx="54466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Higher SDS concentration coarsens bubble size (SEM)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6053328"/>
            <a:ext cx="11460175" cy="6583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6053328"/>
            <a:ext cx="54864" cy="658368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6053328"/>
            <a:ext cx="365760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6053328"/>
            <a:ext cx="10774375" cy="65836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The sintering temperature range of CSP overlaps with cellulose thermal decomposition — synchronized response forms the insulating layer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4/6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Five Formulations Evaluated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12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Control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AquaGel-K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0.5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Commercial WEG benchmark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6627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8067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48067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48067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HEC+MC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47494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8934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8934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MHEC / CSP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8934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MHEC 1 wt%</a:t>
            </a:r>
          </a:p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CSP 5 wt%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38361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9801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801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801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0.1 wt%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29228" y="859536"/>
            <a:ext cx="1999427" cy="1737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889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20668" y="1005840"/>
            <a:ext cx="18165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1" i="0">
                <a:solidFill>
                  <a:srgbClr val="3B5174"/>
                </a:solidFill>
                <a:latin typeface="Arial"/>
              </a:rPr>
              <a:t>Formula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0668" y="136245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456" b="1" i="0">
                <a:solidFill>
                  <a:srgbClr val="1E293B"/>
                </a:solidFill>
                <a:latin typeface="Arial"/>
              </a:rPr>
              <a:t>HEC+MC / CSP / SDS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20668" y="1956816"/>
            <a:ext cx="1816547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0">
                <a:solidFill>
                  <a:srgbClr val="64748B"/>
                </a:solidFill>
                <a:latin typeface="Arial"/>
              </a:rPr>
              <a:t>+ SDS 0.5 wt%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Formulation Design Intent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4930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4930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Comparing functional differences by varying polymer type (HEC+MC vs MHEC)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37673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37673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Verifying the effect on foam structure with two SDS concentration levels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04164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04164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Direct comparison with commercial AquaGel-K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2962656"/>
            <a:ext cx="5638647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296265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12724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Notation Guide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493008"/>
            <a:ext cx="5272887" cy="16459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HEC+MC/CSP/SDS 1-5-0.1</a:t>
            </a:r>
          </a:p>
          <a:p>
            <a:pPr algn="l"/>
            <a:r>
              <a:rPr sz="1568" b="0" i="0">
                <a:solidFill>
                  <a:srgbClr val="475569"/>
                </a:solidFill>
                <a:latin typeface="Arial"/>
              </a:rPr>
              <a:t>→ HEC+MC 1 wt% ／ CSP 5 wt% ／ SDS 0.1 wt%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5/6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Overview of Evaluation Methods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Rheological Measurements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Oscillatory frequency sweep (G', G'')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Steady-flow sweep (viscosity vs. shear rate)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Herschel-Bulkley model fitting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31538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31538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4418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BURN 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4418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Combustion Test (Time-to-char)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4418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5586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Whitewood plywood heated with MAP-Pro torch (~2054°C)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4418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5586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Time to charring onset 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4418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5586" y="217627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Photographic comparison at 120 s / 300 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7316" y="8595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7316" y="8595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80196" y="10241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80196" y="12618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Index Measurement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019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81364" y="16276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Foamed layer thickness measured after combustion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019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81364" y="19019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Ratio to initial thickness = Foaming Index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SEM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SEM Morphological Observation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 structure by SDS concentration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Sintering progression by burn time (0/1/2/4 min)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31538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1538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14418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SPECTROSCOPY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14418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Spectroscopic Analysis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14418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15586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 (chemical bonding)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1441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615586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 (surface composition)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97316" y="3831336"/>
            <a:ext cx="3728618" cy="2788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97316" y="3831336"/>
            <a:ext cx="372861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280196" y="3995928"/>
            <a:ext cx="336285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THERMAL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80196" y="4233672"/>
            <a:ext cx="336285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Thermal Analysis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0196" y="45994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81364" y="459943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TGA (thermogravimetric analysis)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0196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1364" y="4873752"/>
            <a:ext cx="316169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DSC (differential scanning calorimetry)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Materials 6/6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Adhesion and Surface Wettability: Properties Essential for Implementation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WETTING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Contact Angle Measurement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Contact angle evaluation on wood, concrete, and metal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WEG shows low contact angle → high wettability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shows particularly high affinity at cellulose-wood interface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ADHESION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Vertical Surface Adhesion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applied to vertically oriented substrate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≫ G'' → resists gravity without flowing down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Vertical surface retention equal to or better than AquaGel-K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SPRAY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Spray Application Suitability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Viscosity drops sharply under high shear (inside nozzle)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Quickly recovers high viscosity upon reaching substrate → maintains adhesion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Fully compatible with existing fire hoses and nozzles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442569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42569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442569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Rheological design (low n, high G') simultaneously achieves spray suitability and adhesion retention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Rheological properties, combustion performance, foam structure, and aerogel formation mechanism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162763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162763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Rheology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8833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8833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Combustion Test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4572000"/>
            <a:ext cx="2359152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0" y="4572000"/>
            <a:ext cx="2359152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4572000"/>
            <a:ext cx="2651760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1856" y="4572000"/>
            <a:ext cx="2651760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SEM Observation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15 / 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①: Oscillatory Moduli G' / G''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2a–b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Angular frequency vs Storage modulus G' · Loss modulus G''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04101" y="859536"/>
            <a:ext cx="4721833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981" y="1024128"/>
            <a:ext cx="4356073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KEY OBSERVATION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86981" y="1261872"/>
            <a:ext cx="4356073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Key Observation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86981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149" y="162763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G' &gt; G'' for all formulations → solid-like (gel) behavior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6981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88149" y="190195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 frequency dependence → stable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6981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149" y="2176272"/>
            <a:ext cx="415490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AquaGel-K (G'=457 Pa) shows higher G' than WEG (46/26 Pa); all formulations exhibit gel behavior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04101" y="3648456"/>
            <a:ext cx="4721833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04101" y="36484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981" y="36484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461" y="3648456"/>
            <a:ext cx="4036033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Clearly formed gel network; does not flow off after application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2/11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②: Shear Thinning and Power-law 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555461" cy="4389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2c–d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555461" cy="4389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285232"/>
            <a:ext cx="6555461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Viscosity vs. shear rate (shear-thinning behavior)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04101" y="85953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32117" y="96926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32117" y="122529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117" y="164592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HEC+MC/CSP — strong shear thinning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04101" y="2093976"/>
            <a:ext cx="472183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32117" y="2203704"/>
            <a:ext cx="446580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Flow index 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2117" y="2459736"/>
            <a:ext cx="446580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3B5174"/>
                </a:solidFill>
                <a:latin typeface="Arial"/>
              </a:rPr>
              <a:t>n &lt;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2117" y="2880360"/>
            <a:ext cx="446580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MHEC/CSP — shear thinning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04101" y="3419856"/>
            <a:ext cx="4721833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41261" y="3557016"/>
            <a:ext cx="4447513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 &lt; 1 = shear-thinning</a:t>
            </a:r>
          </a:p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Lower values → better flow at high shear → excellent sprayability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5431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431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431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31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High viscosity at rest for adhesion, low viscosity during spraying — flow properties compatible with existing firefighting equipment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3/11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③: Static Yield Stress and Long-term Stability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18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59436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4864" cy="59436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859536"/>
            <a:ext cx="365760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859536"/>
            <a:ext cx="10774375" cy="5943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Static yield stress: stress at the G'/G'' crossover (σ_s) from amplitude sweep — minimum stress to initiate flow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1636776"/>
            <a:ext cx="11460175" cy="50292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63677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361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(fresh)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08204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Static yield stress (455 days)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2789" y="163677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Note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3969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3969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0361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33.34 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8204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68.9 Pa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2789" y="213969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Gel strength increases over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642616"/>
            <a:ext cx="11460175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64261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0361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B5174"/>
                </a:solidFill>
                <a:latin typeface="Arial"/>
              </a:rPr>
              <a:t>3.31 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08204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4.56 Pa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2789" y="264261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Long-term stability confirmed (455 days)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45536"/>
            <a:ext cx="11460175" cy="50292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145536"/>
            <a:ext cx="3554979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AquaGel-K (Commercial control)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0361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08204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2789" y="3145536"/>
            <a:ext cx="251314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Reference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Static Yield Stress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0352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Measured at G'/G'' crossover from amplitude sweep. HEC+MC/CSP: 33.34 Pa; MHEC/CSP: 3.31 Pa (fresh)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31538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96130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Long-term Stability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96130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MHEC/CSP shows only minor change after 455 days (3.31→4.56 Pa). Demonstrates shelf stability for practical use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3922776"/>
            <a:ext cx="3728618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61908" y="4069080"/>
            <a:ext cx="3399434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HEC+MC vs MHEC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1908" y="4434840"/>
            <a:ext cx="3399434" cy="10515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 system shows ~10× higher yield stress, better for vertical surface adhesion. MHEC simpler to manufacture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4/11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Rheology ④: Storage Modulus G' and Viscoelasticity (tan δ)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19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G' Storage Modulus (1 rad/s)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286000" y="1344168"/>
            <a:ext cx="34669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44287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25.6 Pa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0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286000" y="1801368"/>
            <a:ext cx="666711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44287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46.4 Pa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86000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86000" y="2258568"/>
            <a:ext cx="253350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4287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456.8 Pa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277977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All formulations show G'&gt;G'' (gel behavior). AquaGel-K has the highest G' but also larger tan δ (more fluid-like)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33007" y="859536"/>
            <a:ext cx="559292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Loss tangent tan δ = G''/G' (elastic-dominated = &lt;1)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3007" y="12710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3247" y="13441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153247" y="1344168"/>
            <a:ext cx="1120075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11535" y="12710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0.168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33007" y="17282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53247" y="18013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53247" y="1801368"/>
            <a:ext cx="1466766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11535" y="17282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0.219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33007" y="2185416"/>
            <a:ext cx="18288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153247" y="2258568"/>
            <a:ext cx="2666847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11535" y="2185416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0.400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33007" y="2779776"/>
            <a:ext cx="5592927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33007" y="27797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15887" y="27797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27367" y="2779776"/>
            <a:ext cx="4907127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All formulations: tan δ &lt; 1 (gel behavior). AquaGel-K most elastic (0.168); MHEC system most fluid-like (0.400)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5/11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HEC+MC vs MHEC: Comparison of Two Systems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HEC + MC Mixed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HEC (non-thermal gelation) + MC (thermal gelation, LCST)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 provides room-temperature viscosity and adhesion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MC maintains structure during heating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Strong shear thinning (n &lt; 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7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Foaming Index ≈ 2.2–2.6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Good compatibility with SDS; excellent for optimizing foam structure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859536"/>
            <a:ext cx="5638647" cy="43891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87287" y="8595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70167" y="1024128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MHEC Single-Polymer System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0167" y="1362456"/>
            <a:ext cx="5272887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0" i="1">
                <a:solidFill>
                  <a:srgbClr val="475569"/>
                </a:solidFill>
                <a:latin typeface="Arial"/>
              </a:rPr>
              <a:t>MHEC (integrates HEC+MC functions into a single molecule)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1607" y="186537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90207" y="186537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Carries both hydroxyethyl and methyl groups on the same 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223113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90207" y="223113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Achieves equivalent viscoelasticity and thermal response with a single polymer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1607" y="2596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90207" y="259689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Shear thinning (n &lt; 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1607" y="2962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0207" y="296265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Time to char &gt; 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1607" y="332841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90207" y="3328416"/>
            <a:ext cx="49528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Advantage of simplified formulation and quality control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70167" y="3831336"/>
            <a:ext cx="5272887" cy="4572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61607" y="3877056"/>
            <a:ext cx="5090007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→ Advantageous for scale-up and manufacturing cost reduction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65760" y="547725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5477256"/>
            <a:ext cx="54864" cy="73152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47725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⚖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47725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Both systems significantly outperform commercial AquaGel-K. HEC+MC excels in foam optimization; MHEC excels in manufacturing simplicity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6/11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Combustion Test Setup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6211656" cy="420624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6211656" cy="4206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102352"/>
            <a:ext cx="621165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Experimental setup for combustion testing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60296" y="859536"/>
            <a:ext cx="5065638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60296" y="859536"/>
            <a:ext cx="5065638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3176" y="1024128"/>
            <a:ext cx="4699878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EXPERIMENTAL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176" y="1261872"/>
            <a:ext cx="4699878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◆ Test Conditions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3176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44344" y="162763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Substrate: whitewood plywood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3176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44344" y="190195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application: uniformly applied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3176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4344" y="217627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Flame source: MAP-Pro torch (~2054°C)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3176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44344" y="245059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Measurement: time until substrate charring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3176" y="27249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44344" y="2724912"/>
            <a:ext cx="449871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Photographs taken at 120 s and 300 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60296" y="4242816"/>
            <a:ext cx="506563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760296" y="424281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3176" y="424281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4656" y="4242816"/>
            <a:ext cx="437983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Time to char = time required for wood surface to char (longer = better protection)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7/11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 to Char: Quantitative Comparison of 5 Formulations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22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7013868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Time to char (time to charring onset)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134416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34640" y="1344168"/>
            <a:ext cx="13790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788" y="127101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~0.3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77393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(commercial)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184708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834640" y="1847088"/>
            <a:ext cx="689541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788" y="177393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~1.5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27685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235000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834640" y="2350008"/>
            <a:ext cx="2241010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3788" y="227685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277977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85292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834640" y="285292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788" y="277977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282696"/>
            <a:ext cx="23774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34640" y="3355848"/>
            <a:ext cx="3447708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2834640" y="3355848"/>
            <a:ext cx="3102937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788" y="3282696"/>
            <a:ext cx="10058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&gt;7 min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" y="3922776"/>
            <a:ext cx="7013868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65760" y="392277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392277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3922776"/>
            <a:ext cx="6328068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This work's WEG achieves 3–6× longer protection than commercial AquaGel-K (n≥3 for all tests)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62508" y="859536"/>
            <a:ext cx="4263426" cy="475488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72236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62508" y="859536"/>
            <a:ext cx="4263426" cy="47548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62508" y="5650992"/>
            <a:ext cx="426342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Time-to-char bar chart (n≥3, error bars = standard deviation)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Time-lapse Observation of Combustion Process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Sequential photographs during flame contact for each formulation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552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Immediately evaporates and runs off under direct flame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Wood surface chars in ~0.3 min (~18 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A05656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protective layer formed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849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308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965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825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Retains water but ends when water evaporates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2965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5825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Chars in ~1.5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965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9F7639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5825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solid protective layer formed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91220" y="3511296"/>
            <a:ext cx="3734714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5812" y="3675888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2388" y="410565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20988" y="4105656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Gel foams and expands simultaneously with water evaporation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2388" y="448970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0988" y="4489704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aerogel layer provides continued protection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92388" y="48737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20988" y="4873752"/>
            <a:ext cx="3140354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Charring prevented for &gt;7 min (HEC+MC)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8/11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Surface Condition Comparison at 120 s / 300 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3d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Surface condition comparison: 120 s (top) and 300 s (bottom)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A05656"/>
                </a:solidFill>
                <a:latin typeface="Arial"/>
              </a:rPr>
              <a:t>Water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charring already beginning over wide area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entire surface blackened, severe damage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A05656"/>
                </a:solidFill>
                <a:latin typeface="Arial"/>
              </a:rPr>
              <a:t>Time to char: ~0.3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308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9F7639"/>
                </a:solidFill>
                <a:latin typeface="Arial"/>
              </a:rPr>
              <a:t>AquaGel-K (commercial)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965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gel drying, partial charring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2965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no protective layer, partial charring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9308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9F7639"/>
                </a:solidFill>
                <a:latin typeface="Arial"/>
              </a:rPr>
              <a:t>Time to char: ~1.5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1220" y="341985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5812" y="3566160"/>
            <a:ext cx="3405530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This Work WEG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2388" y="396849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120 s: aerogel layer forming and expanding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92388" y="4379976"/>
            <a:ext cx="3332378" cy="29260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• 300 s: surface nearly intact, layer remains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55812" y="5614416"/>
            <a:ext cx="340553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3B5174"/>
                </a:solidFill>
                <a:latin typeface="Arial"/>
              </a:rPr>
              <a:t>Time to char: &gt;7 min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KEY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47120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4560" b="1" i="0">
                <a:solidFill>
                  <a:srgbClr val="D4A574"/>
                </a:solidFill>
                <a:latin typeface="Arial"/>
              </a:rPr>
              <a:t>&gt;7</a:t>
            </a:r>
            <a:r>
              <a:rPr sz="6720" b="0" i="0">
                <a:solidFill>
                  <a:srgbClr val="C89A68"/>
                </a:solidFill>
                <a:latin typeface="Arial"/>
              </a:rPr>
              <a:t>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912" b="1" i="0">
                <a:solidFill>
                  <a:srgbClr val="FFFFFF"/>
                </a:solidFill>
                <a:latin typeface="Arial"/>
              </a:rPr>
              <a:t>Time to Char of This Work's WEG (HEC+MC/CSP)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09160"/>
            <a:ext cx="9418320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0" i="0">
                <a:solidFill>
                  <a:srgbClr val="9CB4CC"/>
                </a:solidFill>
                <a:latin typeface="Arial"/>
              </a:rPr>
              <a:t>Achieved 3–6× longer protection than commercial AquaGel-K (~1.5 min) — n≥3 for all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53212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Water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556869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931920" y="5568696"/>
            <a:ext cx="256032" cy="164592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69880" y="553212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~0.3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585216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AquaGel-K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588873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931920" y="5888736"/>
            <a:ext cx="1280160" cy="164592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585216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~1.5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6172200"/>
            <a:ext cx="15544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This Work WEG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31920" y="6208776"/>
            <a:ext cx="6400800" cy="164592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31920" y="6208776"/>
            <a:ext cx="6080760" cy="164592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69880" y="6172200"/>
            <a:ext cx="91440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25 / 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Foaming Index Comparison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26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Appearance of foamed layer after combustion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859536"/>
            <a:ext cx="5638647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7015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859536"/>
            <a:ext cx="5638647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87287" y="2999232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Foaming Index for each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Foaming Index (post-combustion thickness / initial thickness)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73989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381304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920240" y="3813048"/>
            <a:ext cx="62480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35727" y="373989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15137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MHEC/CSP 1-5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422452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920240" y="4224528"/>
            <a:ext cx="1655745" cy="146304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35727" y="415137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≈2.1×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6285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HEC+MC/CSP/SDS 1-5-0.1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920240" y="463600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920240" y="4636008"/>
            <a:ext cx="1874428" cy="146304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35727" y="456285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≈2.3×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974336"/>
            <a:ext cx="146304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1-5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20240" y="5047488"/>
            <a:ext cx="3124047" cy="146304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920240" y="5047488"/>
            <a:ext cx="2124352" cy="146304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35727" y="4974336"/>
            <a:ext cx="868680" cy="2743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475569"/>
                </a:solidFill>
                <a:latin typeface="Arial"/>
              </a:rPr>
              <a:t>≈2.6×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87287" y="33741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Insulating Effect from Foaming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3007" y="3739896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607" y="3739896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Expands to &gt;2× initial thickness → heat conduction path extended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33007" y="4123944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7" y="4123944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Air trapped in pores enhances thermal insulation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33007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1607" y="4507992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AquaGel-K does not foam → collapses flat under flame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3007" y="4892040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1607" y="4892040"/>
            <a:ext cx="531860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34155"/>
                </a:solidFill>
                <a:latin typeface="Arial"/>
              </a:rPr>
              <a:t>HEC+MC/CSP without SDS achieves the highest foaming index (≈2.6)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9/11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Effect of SDS Concentration on Aerogel Microstructure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27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74320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4c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743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3931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FE-SEM images by SDS concentration (0%, 0.1%, 0.5%)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3B5174"/>
                </a:solidFill>
                <a:latin typeface="Arial"/>
              </a:rPr>
              <a:t>0% SDS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Highest foaming index (≈2.6). No SDS yields maximum expansion.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2849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9308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0.1% SDS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308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Uniform fine-bubble structure. Foaming index ≈2.3 (lower than no-SDS).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1220" y="4014216"/>
            <a:ext cx="3734714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55812" y="4215384"/>
            <a:ext cx="3405530" cy="32004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64748B"/>
                </a:solidFill>
                <a:latin typeface="Arial"/>
              </a:rPr>
              <a:t>0.5% SDS (Excess)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5812" y="4700016"/>
            <a:ext cx="340553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Non-uniform and coarsened bubble size. Foaming index further reduced.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10/11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FT-IR &amp; XPS: Chemical Composition Changes (Before/After Combustion)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28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FT-IR Major Peak Assignments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243584"/>
            <a:ext cx="5638647" cy="4572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43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Wavenumber (cm⁻¹)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8426" y="1243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Assignment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9314" y="1243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After combustion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7007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17007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3200–3500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58426" y="17007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O–H stretch (cellulose, water)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9314" y="17007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(dehydration)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1579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1579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2850–2950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58426" y="21579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C–H stretch (methyl groups)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9314" y="21579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Disappears (organic decomposition)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151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26151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1050–1100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8426" y="26151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Si–O–Si stretch (silica)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69314" y="26151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Intensity increases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072384"/>
            <a:ext cx="5638647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0723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800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58426" y="30723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 vibration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69314" y="30723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Becomes distinct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529584"/>
            <a:ext cx="5638647" cy="45720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529584"/>
            <a:ext cx="1209786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450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8426" y="3529584"/>
            <a:ext cx="2619448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Si–O bending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9314" y="3529584"/>
            <a:ext cx="1535092" cy="4572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Sharpens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416966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4169664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6966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416966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Post-combustion spectrum matches pure silica (SiO₂) → aerogel formation chemically confirmed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XPS Surface Elemental Composition (at%)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7287" y="1243584"/>
            <a:ext cx="5638647" cy="64008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78727" y="124358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Formulation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92530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before (at%)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04952" y="124358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C 1s after (at%)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187287" y="1883664"/>
            <a:ext cx="5638647" cy="64008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8727" y="188366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HEC+MC/CSP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2530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25.6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04952" y="188366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14.9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87287" y="2523744"/>
            <a:ext cx="5638647" cy="64008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78727" y="2523744"/>
            <a:ext cx="192236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334155"/>
                </a:solidFill>
                <a:latin typeface="Arial"/>
              </a:rPr>
              <a:t>MHEC/CSP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92530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38.3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952" y="2523744"/>
            <a:ext cx="1720982" cy="64008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A05656"/>
                </a:solidFill>
                <a:latin typeface="Arial"/>
              </a:rPr>
              <a:t>4.8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87287" y="330098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187287" y="3300984"/>
            <a:ext cx="54864" cy="77724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70167" y="3300984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📊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81647" y="3300984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Carbon greatly reduced (MHEC: 38.3→4.8 at%) → organic matrix combusted and removed; silica remains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87287" y="4261104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51879" y="4389120"/>
            <a:ext cx="530946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Peak Position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879" y="4645152"/>
            <a:ext cx="5309463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 2p peak: ~103.5 eV (consistent with SiO₂) / O 1s peak: ~533 eV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Results 11/11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TGA/DSC: Thermal Decomposition Profile and Role of Each Component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TGA: Weight Loss Profile (N₂ atmosphere)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271016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50–150°C: Evaporation of free and adsorbed water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545336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65760" y="1545336"/>
            <a:ext cx="1691594" cy="128016"/>
          </a:xfrm>
          <a:prstGeom prst="roundRect">
            <a:avLst>
              <a:gd name="adj" fmla="val 50000"/>
            </a:avLst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837944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200–350°C: Thermal decomposition of HEC/MC organic chains (main weight loss)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112264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2112264"/>
            <a:ext cx="4792850" cy="128016"/>
          </a:xfrm>
          <a:prstGeom prst="roundRect">
            <a:avLst>
              <a:gd name="adj" fmla="val 50000"/>
            </a:avLst>
          </a:prstGeom>
          <a:solidFill>
            <a:srgbClr val="A0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2404872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350–600°C: Oxidation and loss of residual carbon (in air)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679192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5760" y="2679192"/>
            <a:ext cx="2819323" cy="128016"/>
          </a:xfrm>
          <a:prstGeom prst="roundRect">
            <a:avLst>
              <a:gd name="adj" fmla="val 50000"/>
            </a:avLst>
          </a:prstGeom>
          <a:solidFill>
            <a:srgbClr val="9F76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71800"/>
            <a:ext cx="563864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&gt;600°C: Silica residue (~5–8 wt%, no change)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5760" y="3246120"/>
            <a:ext cx="5638647" cy="128016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" y="3246120"/>
            <a:ext cx="451091" cy="128016"/>
          </a:xfrm>
          <a:prstGeom prst="roundRect">
            <a:avLst>
              <a:gd name="adj" fmla="val 50000"/>
            </a:avLst>
          </a:prstGeom>
          <a:solidFill>
            <a:srgbClr val="4A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859536"/>
            <a:ext cx="563864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DSC: Thermal Event Assignments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1271016"/>
            <a:ext cx="5638647" cy="36576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8727" y="127101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Temperature 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62582" y="127101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Event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30291" y="127101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FFFFFF"/>
                </a:solidFill>
                <a:latin typeface="Arial"/>
              </a:rPr>
              <a:t>ΔH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7287" y="163677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78727" y="163677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~100°C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62582" y="163677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Endothermic: water evaporation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30291" y="163677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Endothermic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87287" y="2002536"/>
            <a:ext cx="5638647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727" y="200253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~55–80°C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62582" y="200253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MC gelation transition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30291" y="200253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5B8C5A"/>
                </a:solidFill>
                <a:latin typeface="Arial"/>
              </a:rPr>
              <a:t>Slightly exothermic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87287" y="2368296"/>
            <a:ext cx="5638647" cy="365760"/>
          </a:xfrm>
          <a:prstGeom prst="rect">
            <a:avLst/>
          </a:prstGeom>
          <a:solidFill>
            <a:srgbClr val="F8FAFC"/>
          </a:solidFill>
          <a:ln w="381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78727" y="2368296"/>
            <a:ext cx="1392414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~250–300°C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62582" y="2368296"/>
            <a:ext cx="2876269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34155"/>
                </a:solidFill>
                <a:latin typeface="Arial"/>
              </a:rPr>
              <a:t>Exothermic: oxidative decomposition of organic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30291" y="2368296"/>
            <a:ext cx="1095643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A05656"/>
                </a:solidFill>
                <a:latin typeface="Arial"/>
              </a:rPr>
              <a:t>Exothermic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87287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15303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Final silica residue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15303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4A7C8C"/>
                </a:solidFill>
                <a:latin typeface="Arial"/>
              </a:rPr>
              <a:t>~5–8 wt%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303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Equivalent to CSP 5 wt%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5191" y="3008376"/>
            <a:ext cx="2750743" cy="1097280"/>
          </a:xfrm>
          <a:prstGeom prst="roundRect">
            <a:avLst>
              <a:gd name="adj" fmla="val 3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03207" y="3118104"/>
            <a:ext cx="2494711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Cellulose decomposition peak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03207" y="3374136"/>
            <a:ext cx="2494711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240" b="1" i="0">
                <a:solidFill>
                  <a:srgbClr val="A05656"/>
                </a:solidFill>
                <a:latin typeface="Arial"/>
              </a:rPr>
              <a:t>~280°C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03207" y="3794760"/>
            <a:ext cx="249471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008" b="0" i="0">
                <a:solidFill>
                  <a:srgbClr val="64748B"/>
                </a:solidFill>
                <a:latin typeface="Arial"/>
              </a:rPr>
              <a:t>Common to HEC/MC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87287" y="4288536"/>
            <a:ext cx="5638647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87287" y="4288536"/>
            <a:ext cx="54864" cy="77724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70167" y="4288536"/>
            <a:ext cx="365760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81647" y="4288536"/>
            <a:ext cx="4952847" cy="77724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CSP sintering (~200°C+) and cellulose decomposition (~280°C+) overlap in temperature → synchronized aerogel formation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Mechanism of Silica Aerogel Formation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30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9456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945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09067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3-stage schematic of WEG → silica aerogel transformation by flame activation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Unsintered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Silica particles dispersed independently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fills the interstices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2849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2849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1137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Grain boundary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137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253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Particles approach as water evaporates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1137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253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Grain boundaries form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1137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1253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Initial neck formation begins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91220" y="3465576"/>
            <a:ext cx="3734714" cy="25603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91220" y="346557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4100" y="363016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PHASE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386791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Necking &amp; porosity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4100" y="42336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75268" y="42336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Necks grow and strengthen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4100" y="45079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5268" y="450799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Porosity decreases, skeleton complete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4100" y="478231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75268" y="478231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SiO₂ aerogel layer established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Supplementary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Sintering Progression with Burn Time (SEM)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31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11460175" cy="2103120"/>
          </a:xfrm>
          <a:prstGeom prst="roundRect">
            <a:avLst>
              <a:gd name="adj" fmla="val 2000"/>
            </a:avLst>
          </a:prstGeom>
          <a:solidFill>
            <a:srgbClr val="F5F8FC"/>
          </a:solidFill>
          <a:ln w="12700">
            <a:solidFill>
              <a:srgbClr val="C0D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969264"/>
            <a:ext cx="868680" cy="29260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232" b="1" i="0">
                <a:solidFill>
                  <a:srgbClr val="FFFFFF"/>
                </a:solidFill>
                <a:latin typeface="Arial"/>
              </a:rPr>
              <a:t>Fig. 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59536"/>
            <a:ext cx="11460175" cy="21031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AAB4C0"/>
                </a:solidFill>
                <a:latin typeface="Arial"/>
              </a:rPr>
              <a:t>(Paste paper figure here)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999232"/>
            <a:ext cx="11460175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120" b="0" i="1">
                <a:solidFill>
                  <a:srgbClr val="64748B"/>
                </a:solidFill>
                <a:latin typeface="Arial"/>
              </a:rPr>
              <a:t>Cross-section SEM images of HEC+MC/CSP 1-5 after 0, 1, 2, and 4 min heating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0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Unheated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Spherical particles dispersed independently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No inter-particle bonding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fills the matrix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62807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9111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1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9111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Early sintering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45687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28567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Grain boundaries appear between particles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45687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28567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Initial necks 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45687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28567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Most moisture evaporated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59855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6159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2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6159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64748B"/>
                </a:solidFill>
                <a:latin typeface="Arial"/>
              </a:rPr>
              <a:t>Sintering in progress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2735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25615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Neck regions expand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25615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Continuous network forms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64748B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25615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Porosity decreasing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56903" y="3374136"/>
            <a:ext cx="2769031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3B51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03207" y="3520440"/>
            <a:ext cx="2476423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64748B"/>
                </a:solidFill>
                <a:latin typeface="Arial"/>
              </a:rPr>
              <a:t>4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03207" y="3813048"/>
            <a:ext cx="2476423" cy="384048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3B5174"/>
                </a:solidFill>
                <a:latin typeface="Arial"/>
              </a:rPr>
              <a:t>Aerogel complete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9783" y="433425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22663" y="433425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Dense SiO₂ skeleton complete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9783" y="470001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22663" y="470001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High mechanical strength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5065776"/>
            <a:ext cx="164592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422663" y="5065776"/>
            <a:ext cx="225696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Functions as insulating layer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08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62495" y="457200"/>
            <a:ext cx="4572000" cy="6400800"/>
          </a:xfrm>
          <a:prstGeom prst="rect">
            <a:avLst/>
          </a:prstGeom>
          <a:noFill/>
        </p:spPr>
        <p:txBody>
          <a:bodyPr wrap="square" anchor="b" lIns="36000" rIns="36000" tIns="18000" bIns="18000">
            <a:spAutoFit/>
          </a:bodyPr>
          <a:lstStyle/>
          <a:p>
            <a:pPr algn="r"/>
            <a:r>
              <a:rPr sz="26880" b="1" i="0">
                <a:solidFill>
                  <a:srgbClr val="243044"/>
                </a:solidFill>
                <a:latin typeface="Arial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9144000" cy="3657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88A4C0"/>
                </a:solidFill>
                <a:latin typeface="Arial"/>
              </a:rPr>
              <a:t>Part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914400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5824" b="1" i="0">
                <a:solidFill>
                  <a:srgbClr val="FFFFFF"/>
                </a:solidFill>
                <a:latin typeface="Arial"/>
              </a:rPr>
              <a:t>Discussion &amp; Conclusion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83280"/>
            <a:ext cx="9144000" cy="9144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904" b="0" i="0">
                <a:solidFill>
                  <a:srgbClr val="9CB4CC"/>
                </a:solidFill>
                <a:latin typeface="Arial"/>
              </a:rPr>
              <a:t>Implementation scenarios, comprehensive comparison with existing products, research significance and future prospects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572000"/>
            <a:ext cx="3968496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968496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Implementation Scenarios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4572000"/>
            <a:ext cx="3675887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0" y="4572000"/>
            <a:ext cx="3675887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Performance Comparison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51391" y="4572000"/>
            <a:ext cx="1481328" cy="384048"/>
          </a:xfrm>
          <a:prstGeom prst="roundRect">
            <a:avLst>
              <a:gd name="adj" fmla="val 40000"/>
            </a:avLst>
          </a:prstGeom>
          <a:solidFill>
            <a:srgbClr val="2A384E"/>
          </a:solidFill>
          <a:ln w="6350">
            <a:solidFill>
              <a:srgbClr val="445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51391" y="4572000"/>
            <a:ext cx="1481328" cy="384048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344" b="0" i="0">
                <a:solidFill>
                  <a:srgbClr val="C0D0E0"/>
                </a:solidFill>
                <a:latin typeface="Arial"/>
              </a:rPr>
              <a:t>Summary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67788"/>
                </a:solidFill>
                <a:latin typeface="Arial"/>
              </a:rPr>
              <a:t>32 / 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Discussion 1/3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Implementation Scenarios: WEG Deployment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33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Pre-protection of WUI Structures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building exteriors and roofs before wildfire season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Can be applied by helicopter or ground hose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Protective function remains even after drying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2849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2849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137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1137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Protection of Critical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137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253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Power towers, substations, and communication base stations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1137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253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Strongly adheres to metal structures as well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137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253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Prevents power outages and communication disruption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91220" y="859536"/>
            <a:ext cx="3734714" cy="32918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91220" y="859536"/>
            <a:ext cx="3734714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4100" y="1024128"/>
            <a:ext cx="3368954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SCENARIO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4100" y="1261872"/>
            <a:ext cx="3368954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Fire Break Formation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410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5268" y="162763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Pre-applied to vegetation along potential spread paths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410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5268" y="190195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No environmental burden unlike Phos-Chek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410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75268" y="2176272"/>
            <a:ext cx="3167786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and silica have low environmental persistence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5760" y="4425696"/>
            <a:ext cx="5638647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553712"/>
            <a:ext cx="5272887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1" i="0">
                <a:solidFill>
                  <a:srgbClr val="64748B"/>
                </a:solidFill>
                <a:latin typeface="Arial"/>
              </a:rPr>
              <a:t>Advantages Over Existing Methods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" y="4837176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Water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48840" y="4837176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Far greater protection (water chars at ~0.3 min)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5093208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AquaGel-K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48840" y="5093208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3–6× longer protection + continues after water evaporation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" y="5349240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vs Phos-Chek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48840" y="5349240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No residual contamination in soil or water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4360" y="5605272"/>
            <a:ext cx="1463040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64748B"/>
                </a:solidFill>
                <a:latin typeface="Arial"/>
              </a:rPr>
              <a:t>Spray compatibility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148840" y="5605272"/>
            <a:ext cx="3626967" cy="2286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5B8C5A"/>
                </a:solidFill>
                <a:latin typeface="Arial"/>
              </a:rPr>
              <a:t>Usable with existing equipment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87287" y="4700016"/>
            <a:ext cx="5638647" cy="9144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87287" y="4700016"/>
            <a:ext cx="54864" cy="914400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70167" y="4700016"/>
            <a:ext cx="365760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3B5174"/>
                </a:solidFill>
                <a:latin typeface="Arial"/>
              </a:rPr>
              <a:t>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81647" y="4700016"/>
            <a:ext cx="4952847" cy="9144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1E293B"/>
                </a:solidFill>
                <a:latin typeface="Arial"/>
              </a:rPr>
              <a:t>Flow properties (shear thinning) compatible with both aerial and ground application are key to practical deployment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1/2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Key Demonstrated Results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34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RHEOLOGY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Rheology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 &gt; G'', no crossover (gel)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G': HEC+MC≈46, MHEC≈26 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Shear-thinning (HB) → sprayable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tan δ &lt; 1, solid-like gel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62807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62807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45687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FIRE PROTECTION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45687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Fire Protection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45687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46855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HEC+MC/CSP: &gt;7 min to char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45687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46855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MHEC/CSP: &gt;5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45687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46855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3–6× more effective than commercial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45687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6855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Water ~0.3, AquaGel-K ~1.5 min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59855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59855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42735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FOAMING / SEM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2735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Foaming &amp; Structure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2735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3903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Foaming Index up to ≈2.6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2735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43903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AquaGel-K does not foam (≈0)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42735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3903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Porous silica film on burning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42735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43903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Particles sinter after 2 min (SEM)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056903" y="859536"/>
            <a:ext cx="2769031" cy="420624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056903" y="859536"/>
            <a:ext cx="2769031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39783" y="1024128"/>
            <a:ext cx="2403271" cy="219456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CHEMISTRY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39783" y="1261872"/>
            <a:ext cx="2403271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Chemical Change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9783" y="162763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40951" y="162763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FT-IR: CH/SiO ratio drops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239783" y="190195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40951" y="190195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XPS: large carbon decrease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9783" y="217627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40951" y="217627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MHEC/CSP C 38.3%→4.8%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39783" y="2450592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440951" y="2450592"/>
            <a:ext cx="2202103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232" b="0" i="0">
                <a:solidFill>
                  <a:srgbClr val="475569"/>
                </a:solidFill>
                <a:latin typeface="Arial"/>
              </a:rPr>
              <a:t>Silica (SiO₂) remains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65760" y="5294376"/>
            <a:ext cx="11460175" cy="7315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294376"/>
            <a:ext cx="54864" cy="7315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365760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◆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294376"/>
            <a:ext cx="10774375" cy="7315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On burning, water evaporates while the gel converts into a porous silica aerogel — insulating the substrate even after desiccation (a mechanism absent in commercial WEGs)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21792"/>
            <a:ext cx="12191695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28016"/>
            <a:ext cx="2194560" cy="36576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88A4C4"/>
                </a:solidFill>
                <a:latin typeface="Arial"/>
              </a:rPr>
              <a:t>Summary 2/2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6040" y="182880"/>
            <a:ext cx="10972" cy="292608"/>
          </a:xfrm>
          <a:prstGeom prst="rect">
            <a:avLst/>
          </a:prstGeom>
          <a:solidFill>
            <a:srgbClr val="445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91440"/>
            <a:ext cx="908273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2688" b="1" i="0">
                <a:solidFill>
                  <a:srgbClr val="FFFFFF"/>
                </a:solidFill>
                <a:latin typeface="Arial"/>
              </a:rPr>
              <a:t>Conclusions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11535" y="6547104"/>
            <a:ext cx="114300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64748B"/>
                </a:solidFill>
                <a:latin typeface="Arial"/>
              </a:rPr>
              <a:t>35 / 36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3–6× more protective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HEC+MC/CSP &gt;7 min, MHEC/CSP &gt;5 min to char. Protects substrates far longer under flame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62807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7399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7399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7399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Self-forming aerogel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7399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Heat dehydrates the gel and sinters CSP → forms a porous silica aerogel insulating layer in situ (protection continues after drying)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4447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24447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24447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Compatible with spray infrastructure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4447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Shear-thinning, sprayable fluid combining strong substrate adherence and wetting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56903" y="859536"/>
            <a:ext cx="2769031" cy="22860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5" y="1005840"/>
            <a:ext cx="2439847" cy="256032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120" b="1" i="0">
                <a:solidFill>
                  <a:srgbClr val="64748B"/>
                </a:solidFill>
                <a:latin typeface="Arial"/>
              </a:rPr>
              <a:t>RESULT 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5" y="1316736"/>
            <a:ext cx="54864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2464" b="0" i="0">
                <a:solidFill>
                  <a:srgbClr val="3B5174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5" y="1865376"/>
            <a:ext cx="2439847" cy="4114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680" b="1" i="0">
                <a:solidFill>
                  <a:srgbClr val="1E293B"/>
                </a:solidFill>
                <a:latin typeface="Arial"/>
              </a:rPr>
              <a:t>Sustainable, safe materials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21495" y="2368296"/>
            <a:ext cx="2439847" cy="64008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Cellulose derivatives — Earth's most abundant biopolymer; biodegradability confirmed in prior study; silica is benign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5760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Core Mechanism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Water rapidly evaporates on flame contact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CSP sinters, forming inter-particle necks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Porous silica aerogel insulating layer forms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87287" y="3374136"/>
            <a:ext cx="5638647" cy="18288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87287" y="3374136"/>
            <a:ext cx="5638647" cy="36576"/>
          </a:xfrm>
          <a:prstGeom prst="rect">
            <a:avLst/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70167" y="3538728"/>
            <a:ext cx="5272887" cy="32918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568" b="1" i="0">
                <a:solidFill>
                  <a:srgbClr val="1E293B"/>
                </a:solidFill>
                <a:latin typeface="Arial"/>
              </a:rPr>
              <a:t>Significance Stated in the Paper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70167" y="390448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1335" y="390448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PP platform as a basis for diverse fire retardants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0167" y="417880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71335" y="417880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Amenable to modular manufacturing &amp; large scale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70167" y="4453128"/>
            <a:ext cx="182880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3B5174"/>
                </a:solidFill>
                <a:latin typeface="Arial"/>
              </a:rPr>
              <a:t>•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71335" y="4453128"/>
            <a:ext cx="5071719" cy="27432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/>
            <a:r>
              <a:rPr sz="1344" b="0" i="0">
                <a:solidFill>
                  <a:srgbClr val="475569"/>
                </a:solidFill>
                <a:latin typeface="Arial"/>
              </a:rPr>
              <a:t>Fire retardancy retained after 455-day aging (MHEC/CSP)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65760" y="5385816"/>
            <a:ext cx="11460175" cy="50292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5385816"/>
            <a:ext cx="54864" cy="502920"/>
          </a:xfrm>
          <a:prstGeom prst="rect">
            <a:avLst/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5385816"/>
            <a:ext cx="365760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568" b="0" i="0">
                <a:solidFill>
                  <a:srgbClr val="D4A574"/>
                </a:solidFill>
                <a:latin typeface="Arial"/>
              </a:rPr>
              <a:t>"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5385816"/>
            <a:ext cx="10774375" cy="50292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456" b="1" i="0">
                <a:solidFill>
                  <a:srgbClr val="FFFFFF"/>
                </a:solidFill>
                <a:latin typeface="Arial"/>
              </a:rPr>
              <a:t>From "water carrier" to "heat-self-transforming fire-retardant material" — a next-gen WEG that stays effective even after drying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568" b="1" i="0">
                <a:solidFill>
                  <a:srgbClr val="88A4C0"/>
                </a:solidFill>
                <a:latin typeface="Arial"/>
              </a:rPr>
              <a:t>RESEARCH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1828800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ctr"/>
            <a:r>
              <a:rPr sz="11200" b="1" i="0">
                <a:solidFill>
                  <a:srgbClr val="D4A574"/>
                </a:solidFill>
                <a:latin typeface="Arial"/>
              </a:rPr>
              <a:t>3–6</a:t>
            </a:r>
            <a:r>
              <a:rPr sz="7280" b="1" i="0">
                <a:solidFill>
                  <a:srgbClr val="C89A68"/>
                </a:solidFill>
                <a:latin typeface="Arial"/>
              </a:rPr>
              <a:t>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2464" b="1" i="0">
                <a:solidFill>
                  <a:srgbClr val="FFFFFF"/>
                </a:solidFill>
                <a:latin typeface="Arial"/>
              </a:rPr>
              <a:t>Time to Char Improvement vs. Commercial WEG (AquaGel-K)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86200"/>
            <a:ext cx="9418320" cy="128016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From "water carrier" to "self-transforming fire-retardant material"</a:t>
            </a:r>
          </a:p>
          <a:p>
            <a:pPr algn="ctr"/>
            <a:r>
              <a:rPr sz="1680" b="0" i="0">
                <a:solidFill>
                  <a:srgbClr val="A8BCD4"/>
                </a:solidFill>
                <a:latin typeface="Arial"/>
              </a:rPr>
              <a:t>The new WEG design paradigm opens a pathway to practical technology protecting critical infrastructure from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5486400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Time to char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5522976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63440" y="5522976"/>
            <a:ext cx="4517136" cy="146304"/>
          </a:xfrm>
          <a:prstGeom prst="roundRect">
            <a:avLst>
              <a:gd name="adj" fmla="val 50000"/>
            </a:avLst>
          </a:prstGeom>
          <a:solidFill>
            <a:srgbClr val="D4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55480" y="5486400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&gt;7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5779008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Foaming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5815584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40" y="5815584"/>
            <a:ext cx="3233318" cy="146304"/>
          </a:xfrm>
          <a:prstGeom prst="roundRect">
            <a:avLst>
              <a:gd name="adj" fmla="val 50000"/>
            </a:avLst>
          </a:prstGeom>
          <a:solidFill>
            <a:srgbClr val="3B51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55480" y="5779008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≈2.6×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6071616"/>
            <a:ext cx="18288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r"/>
            <a:r>
              <a:rPr sz="1232" b="0" i="0">
                <a:solidFill>
                  <a:srgbClr val="C0D0E0"/>
                </a:solidFill>
                <a:latin typeface="Arial"/>
              </a:rPr>
              <a:t>Shear-thinning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6108192"/>
            <a:ext cx="4754880" cy="146304"/>
          </a:xfrm>
          <a:prstGeom prst="roundRect">
            <a:avLst>
              <a:gd name="adj" fmla="val 50000"/>
            </a:avLst>
          </a:prstGeom>
          <a:solidFill>
            <a:srgbClr val="2C3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6108192"/>
            <a:ext cx="2852928" cy="146304"/>
          </a:xfrm>
          <a:prstGeom prst="roundRect">
            <a:avLst>
              <a:gd name="adj" fmla="val 50000"/>
            </a:avLst>
          </a:prstGeom>
          <a:solidFill>
            <a:srgbClr val="AAB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55480" y="6071616"/>
            <a:ext cx="914400" cy="256032"/>
          </a:xfrm>
          <a:prstGeom prst="rect">
            <a:avLst/>
          </a:prstGeom>
          <a:noFill/>
        </p:spPr>
        <p:txBody>
          <a:bodyPr wrap="square" anchor="ctr" lIns="36000" rIns="36000" tIns="18000" bIns="18000">
            <a:spAutoFit/>
          </a:bodyPr>
          <a:lstStyle/>
          <a:p>
            <a:pPr algn="l"/>
            <a:r>
              <a:rPr sz="1232" b="1" i="0">
                <a:solidFill>
                  <a:srgbClr val="C0D0E0"/>
                </a:solidFill>
                <a:latin typeface="Arial"/>
              </a:rPr>
              <a:t>n &lt;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528816"/>
            <a:ext cx="1097280" cy="237744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/>
            <a:r>
              <a:rPr sz="1120" b="0" i="0">
                <a:solidFill>
                  <a:srgbClr val="556677"/>
                </a:solidFill>
                <a:latin typeface="Arial"/>
              </a:rPr>
              <a:t>36 / 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