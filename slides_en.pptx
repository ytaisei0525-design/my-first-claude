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18–34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36–39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A8D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65741"/>
            <a:ext cx="3320186" cy="237378"/>
          </a:xfrm>
          <a:prstGeom prst="rect">
            <a:avLst/>
          </a:prstGeom>
          <a:solidFill>
            <a:srgbClr val="6AA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865741"/>
            <a:ext cx="3320186" cy="16459"/>
          </a:xfrm>
          <a:prstGeom prst="rect">
            <a:avLst/>
          </a:prstGeom>
          <a:solidFill>
            <a:srgbClr val="4E8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0658" y="1261506"/>
            <a:ext cx="996055" cy="8631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9554" y="1175186"/>
            <a:ext cx="332018" cy="237378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3860" y="1153607"/>
            <a:ext cx="132807" cy="12947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10705" y="1498884"/>
            <a:ext cx="132807" cy="9495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09521" y="1595993"/>
            <a:ext cx="119526" cy="8416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75136" y="1520464"/>
            <a:ext cx="126167" cy="8847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18" y="1725472"/>
            <a:ext cx="106245" cy="75529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474348" y="1649943"/>
            <a:ext cx="112886" cy="79845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08733" y="1779422"/>
            <a:ext cx="99605" cy="71213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07155" y="1563624"/>
            <a:ext cx="92965" cy="6689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Phos-Chek (phosphate slurry)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2874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35754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BE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02158" y="1563624"/>
            <a:ext cx="232413" cy="431596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01763" y="1412565"/>
            <a:ext cx="332018" cy="302117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7378" y="1488094"/>
            <a:ext cx="132807" cy="151058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033387" y="1261506"/>
            <a:ext cx="464826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65406" y="1175186"/>
            <a:ext cx="531229" cy="34527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763828" y="122913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29049" y="1175186"/>
            <a:ext cx="498027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94269" y="1239926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26288" y="119676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58307" y="1283086"/>
            <a:ext cx="398422" cy="25895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99397" y="1498884"/>
            <a:ext cx="498027" cy="32369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564617" y="1434144"/>
            <a:ext cx="531229" cy="34527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963040" y="1498884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28260" y="1434144"/>
            <a:ext cx="464826" cy="30211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693481" y="1498884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8701" y="1412565"/>
            <a:ext cx="398422" cy="258958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57518" y="1347825"/>
            <a:ext cx="332018" cy="21579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35754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35754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5754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5754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Class A foam / legacy AFFF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5754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5754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5754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35754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35754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5754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39988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322868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322868" y="1973640"/>
            <a:ext cx="3320186" cy="129479"/>
          </a:xfrm>
          <a:prstGeom prst="rect">
            <a:avLst/>
          </a:prstGeom>
          <a:solidFill>
            <a:srgbClr val="2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352126" y="1477304"/>
            <a:ext cx="1261670" cy="561075"/>
          </a:xfrm>
          <a:prstGeom prst="ellipse">
            <a:avLst/>
          </a:prstGeom>
          <a:solidFill>
            <a:srgbClr val="4AA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451732" y="1542044"/>
            <a:ext cx="1062459" cy="431596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Isosceles Triangle 70"/>
          <p:cNvSpPr/>
          <p:nvPr/>
        </p:nvSpPr>
        <p:spPr>
          <a:xfrm>
            <a:off x="9385328" y="1218346"/>
            <a:ext cx="1195267" cy="345277"/>
          </a:xfrm>
          <a:prstGeom prst="triangle">
            <a:avLst/>
          </a:prstGeom>
          <a:solidFill>
            <a:srgbClr val="CC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55797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08920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34217" y="1792370"/>
            <a:ext cx="297488" cy="181270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654887" y="1239926"/>
            <a:ext cx="92965" cy="8200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820896" y="1477304"/>
            <a:ext cx="79684" cy="6905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986905" y="1347825"/>
            <a:ext cx="86324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0979017" y="1261506"/>
            <a:ext cx="86324" cy="7984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11825" y="1477304"/>
            <a:ext cx="79684" cy="7121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846210" y="1606783"/>
            <a:ext cx="92965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2868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2868" y="2724912"/>
            <a:ext cx="3320186" cy="10972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22868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Example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22868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8E2EE"/>
                </a:solidFill>
                <a:latin typeface="Arial"/>
              </a:rPr>
              <a:t>Barricade / Thermo-Gel / AquaGel-K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22868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2868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22868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22868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22868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2868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5760" y="6053328"/>
            <a:ext cx="11460175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" y="6053328"/>
            <a:ext cx="54864" cy="4572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6053328"/>
            <a:ext cx="365760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0120" y="6053328"/>
            <a:ext cx="107743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Predecessor Work: PNP Gel Platform (Yu et al., PNAS 2016)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same HEC+MC/CSP platform was already established in 2016 as a carrier for ammonium polyphosphate fire retardants (Phos-Chek LC95A) — this work builds on that foundation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572768"/>
            <a:ext cx="5592927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Established in Yu et al., PNAS 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Foundational properties of PNP gel (HEC+MC + CSP)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PP interactions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2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Cellulose chains selectively adsorb onto CSP (noncovalent, multivalent)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Shear thinning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4832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Viscosity drops at high shear (suitable for spraying and pipeline pumping)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4832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Gel structure rapidly recovers after stress release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5216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Scalability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4832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Linearly scalable from 0.5 mL to 15 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APP carrier use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4832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Carries Phos-Chek LC95A; improves adhesion &amp; rain resistance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3007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33007" y="1572768"/>
            <a:ext cx="5592927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New capabilities gained in this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2463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FFFFFF"/>
                </a:solidFill>
                <a:latin typeface="Arial"/>
              </a:rPr>
              <a:t>The gel itself transforms into an insulating layer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52463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2463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Stand-alone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2079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Suppresses fire without depending on APP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52463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2463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Heat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2079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Flame contact → water evaporation → CSP sintering → porous silica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52463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2463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Aerogel formation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2079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Forms a highly insulating porous silica layer in situ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52463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52463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Dry resistance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2079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Overcomes the fatal flaw of conventional WEGs ("dry = useless")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52463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52463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Long-term stability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2079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Yield stress retained after 455 days (see Supplement 3/3)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5760" y="5577840"/>
            <a:ext cx="11460175" cy="1060704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5577840"/>
            <a:ext cx="73152" cy="106070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40"/>
            <a:ext cx="2194560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577840"/>
            <a:ext cx="9357055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The innovation: from "carrier of chemicals" to "material that itself becomes a thermal barrier" — redefining the PP gel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9 / 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Material Composition: Sustainable &amp; High-Performance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34155"/>
                </a:solidFill>
                <a:latin typeface="Arial"/>
              </a:rPr>
              <a:t>Three building blocks — skeleton, function, and bonding — combine biodegradability with high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637178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3B5174"/>
                </a:solidFill>
                <a:latin typeface="Arial"/>
              </a:rPr>
              <a:t>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Cellulose Derivatives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Plant-based biopolymers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Plant-derived biopolymers that form the backbone of the gel network.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3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HEC, MC, MHEC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Bio.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Highly biodegradable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6776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&amp; structure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7258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7258" y="1444752"/>
            <a:ext cx="3637178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7258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4A7C8C"/>
                </a:solidFill>
                <a:latin typeface="Arial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6714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Colloidal Silica (CSP)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6714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69866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6714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The key component that interacts dynamically with polymers and forms aerogel under heat.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96714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6714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8274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~22 nm monodisperse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6714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6714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Sinter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48274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silica skeleton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6714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6714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Role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48274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Source of aerogel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8756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8756" y="1444752"/>
            <a:ext cx="3637178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8756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9F7639"/>
                </a:solidFill>
                <a:latin typeface="Arial"/>
              </a:rPr>
              <a:t>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08212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PP Interaction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8212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Polymer–Particle Interaction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81364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8212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Builds the network via dynamic, multivalent hydrogen bonds — no covalent bonds required.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08212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8212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Bonds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59772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Dynamic H-bonds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08212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8212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Self-heal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59772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recovers after strain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8212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8212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Sprayable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59772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Easy spray application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Mechanism: Spray, Adhesion, and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 temperature, but shear and self-healing govern the spray-to-adhesion behavior.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2659303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At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Gel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High-viscosity elastic gel. G' &gt; G'' holds 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Yield stress ~33 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5063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9383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9383" y="1463040"/>
            <a:ext cx="2659303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2263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2263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Spraying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2263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Sol-like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82263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2263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 strain lowers viscosity; the gel flows.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2263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2263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Shear-thinning (viscosity drops)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8687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3007" y="1463040"/>
            <a:ext cx="2659303" cy="54864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887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5B8C5A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5887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On wall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5887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Self-healing gel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5887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5887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Strain release instantly restores the gel network.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15887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5887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5B8C5A"/>
                </a:solidFill>
                <a:latin typeface="Arial"/>
              </a:rPr>
              <a:t>G' recovery ~90%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2311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6631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6631" y="1463040"/>
            <a:ext cx="2659303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9511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9511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9511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Aerogel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49511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49511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into a porous silica layer.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49511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9511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Acts as thermal barrier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846320"/>
            <a:ext cx="11460175" cy="175564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846320"/>
            <a:ext cx="73152" cy="175564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4846320"/>
            <a:ext cx="2194560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9357055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Rather than relying on MC's thermal response (LCST), rheology alone achieves "spray → stick → set" — the core of this material.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Design: Shear-Thinning and Self-Healing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— shear-thinning behavior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Shear-thinning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67588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sharply at high shear — fluidizes during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Yield stress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04164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~33 Pa (dynamic, HB fit) — gel structure maintained at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40740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~90% after strain removal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Viscosity response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reversible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Low at high shear → recovers at rest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Dynamic yield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~33 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(HB fit)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G'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~90%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After 1000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Spray-to-Flame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At 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&gt; G''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Spraying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Shear-thinning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Low viscosity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On wall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Self-healing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recovery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Flame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Aerogel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Porous silica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 Translates Directly into Field 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41148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Rheological Design (measured properties)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9824" y="859536"/>
            <a:ext cx="637611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Expected Field Performance (behavior in use)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243584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243584"/>
            <a:ext cx="54864" cy="1207008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408176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Shear-thinning behavior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883664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sharply at high shear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45152" y="1645920"/>
            <a:ext cx="640080" cy="402336"/>
          </a:xfrm>
          <a:prstGeom prst="rightArrow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49824" y="1243584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0992" y="1389888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4A7C8C"/>
                </a:solidFill>
                <a:latin typeface="Arial"/>
              </a:rPr>
              <a:t>Sprayable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0992" y="1810512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under nozzle's high shear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Deployable with existing hoses/nozzles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633472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54864" cy="1207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798064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High Storage Modulus G' (G' ≫ G'')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273552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Holds gel state at rest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645152" y="3035808"/>
            <a:ext cx="640080" cy="402336"/>
          </a:xfrm>
          <a:prstGeom prst="rightArrow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49824" y="2633472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50992" y="2779776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3B5174"/>
                </a:solidFill>
                <a:latin typeface="Arial"/>
              </a:rPr>
              <a:t>No run-off on vertical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200400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Retains shape and adheres after application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Holds on vertical substrates (wood, walls)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023360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54864" cy="12070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187952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Self-healing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663440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instantly after step-strain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645152" y="4425696"/>
            <a:ext cx="640080" cy="402336"/>
          </a:xfrm>
          <a:prstGeom prst="rightArrow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49824" y="4023360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0992" y="4169664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D4A574"/>
                </a:solidFill>
                <a:latin typeface="Arial"/>
              </a:rPr>
              <a:t>Forms protective layer on landing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50992" y="4590288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Re-gels immediately after spraying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Fire layer maintained against wind/rain/gravity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089904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089904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089904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089904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These field performances are inferred from measured rheology. No independent contact-angle or adhesion-force tests were performed in this paper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18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Viscoelasticity &amp; Shear-Thinning (Fig. 2a–c)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20359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20359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G' / G'' (viscoelasticity at rest)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5575" y="859536"/>
            <a:ext cx="5620359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1530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530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5575" y="859536"/>
            <a:ext cx="5620359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5575" y="4096512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Shear rate vs viscosity (shear-thinning)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261104"/>
            <a:ext cx="5620359" cy="9144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261104"/>
            <a:ext cx="54864" cy="91440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370832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4A7C8C"/>
                </a:solidFill>
                <a:latin typeface="Arial"/>
              </a:rPr>
              <a:t>At rest: G' &gt; G'' → solid-like (gel) behavior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00016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Low frequency dependence, stable network → does not flow off after application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5575" y="4261104"/>
            <a:ext cx="5620359" cy="9144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5575" y="4261104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8455" y="4370832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3B5174"/>
                </a:solidFill>
                <a:latin typeface="Arial"/>
              </a:rPr>
              <a:t>Under high shear: viscosity drops sharply (shear-thinning)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455" y="4700016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High shear through the nozzle lowers viscosity → enables spray application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5340096"/>
            <a:ext cx="11460175" cy="512064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5340096"/>
            <a:ext cx="54864" cy="5120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340096"/>
            <a:ext cx="365760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340096"/>
            <a:ext cx="10774375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at rest (no dripping) + low viscosity when sprayed (deliverable) — the basis of spray application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Static &amp; Dynamic Yield Stress vs AquaGel-K (Fig. 2d, S3)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Yield stress = stress needed to initiate / maintain flow. Evaluated as static (onset = adhesion) and dynamic (maintain = spraying)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609344"/>
            <a:ext cx="4492630" cy="15544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1719072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171907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Fig.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609344"/>
            <a:ext cx="4492630" cy="15544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200400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Amplitude sweep: G'/G'' crossover (static yield stress)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300984"/>
            <a:ext cx="4492630" cy="15544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3410712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341071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00984"/>
            <a:ext cx="4492630" cy="15544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892040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via HB fit (bar chart)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7846" y="1609344"/>
            <a:ext cx="6748089" cy="15544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77846" y="1609344"/>
            <a:ext cx="54864" cy="155448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9014" y="1719072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Static yield stress σ_static (onset = adhesion)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9014" y="2066544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Measured: stress at G' / G'' crossover in an amplitude (LAOS) sweep (S3)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79014" y="2377440"/>
            <a:ext cx="6437193" cy="7315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WEG shows higher static yield stress than AquaGel-K</a:t>
            </a:r>
          </a:p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→ reluctant to flow off vertical/elevated fuel surfaces, adheres strongly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7846" y="3300984"/>
            <a:ext cx="6748089" cy="15544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77846" y="3300984"/>
            <a:ext cx="54864" cy="155448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79014" y="3410712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Dynamic yield stress σ_dynamic (maintain = spraying)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79014" y="3758184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Measured: HB-model fit of the flow sweep (100→0.01 s⁻¹) (2d)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9014" y="4069080"/>
            <a:ext cx="6437193" cy="7315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Orders of magnitude above AquaGel-K (0.05 Pa reference line)</a:t>
            </a:r>
          </a:p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→ sprayable within pump pressure yet resistant to flowing off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5056632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5056632"/>
            <a:ext cx="54864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056632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056632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For both static and dynamic yield stress, WEG greatly exceeds commercial AquaGel-K. Their small difference (weak thixotropy) lets the network re-form instantly, maintaining adhesion self-healingly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Aging of Dynamic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Dynamic yield stress: obtained by fitting the steady-shear flow sweep to the Herschel–Bulkley model (σ_d) — stress to maintain flow (Fig. S7)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Dynamic yield stress (Day 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Dynamic yield stress (Day 455)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Dynamic Yield Stress (HB fit)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Obtained by fitting the steady-shear flow sweep to the HB model. HEC+MC/CSP: 33.34 Pa; MHEC/CSP: 3.31 Pa (Day 1)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stiffens with aging (33.34→68.9 Pa). MHEC changes gently and is simpler to manufacture (single polymer)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Self-healing: Instant G' / G'' Recovery via Step-strain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Step-strain Protocol (ω = 1 rad/s)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31673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16736"/>
            <a:ext cx="45720" cy="9601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38988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38988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Low strain (γ = 1%)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68249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preserved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&gt; G'' (gel state)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36829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368296"/>
            <a:ext cx="45720" cy="9601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244144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44144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High strain (γ = 500%)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273405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broken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&lt; G'' (liquid state)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419856"/>
            <a:ext cx="45720" cy="9601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49300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49300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Return to low strain (γ = 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78561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Particle-polymer interactions reform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recovers instantly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/ G'' Time-series (cyclic step-strain)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007" y="1271016"/>
            <a:ext cx="5592927" cy="31089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(step-strain)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3007" y="1271016"/>
            <a:ext cx="5592927" cy="31089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3007" y="4416552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γ=1%→500%→1% cycle: G' recovers immediately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3007" y="4562856"/>
            <a:ext cx="5592927" cy="1005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3007" y="4562856"/>
            <a:ext cx="45720" cy="10058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7599" y="4654296"/>
            <a:ext cx="533689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POINT: Guarantees instant adhesion after spraying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7599" y="4946904"/>
            <a:ext cx="533689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Viscosity drops at nozzle's high shear → G' recovers instantly on substrate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Holds on vertical surfaces without dripping (self-healing = key to deployability)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108192"/>
            <a:ext cx="11460175" cy="5486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108192"/>
            <a:ext cx="54864" cy="5486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108192"/>
            <a:ext cx="365760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108192"/>
            <a:ext cx="10774375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Reversible network via noncovalent bonds (H-bonds, multivalent interactions) → Self-healing demonstrated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Shear-thinning (low viscosity at high shear)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Shear-thinning behavior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Goal Was Better Foaming &amp; Wetting — But Results Were Mixed (Fig. 2e–h)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8229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82296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32688"/>
            <a:ext cx="53734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4A7C8C"/>
                </a:solidFill>
                <a:latin typeface="Arial"/>
              </a:rPr>
              <a:t>Why SDS was added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25296"/>
            <a:ext cx="53734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Surfactant SDS (0 / 0.1 / 0.5 wt%) was added to HEC+MC/CSP to improve wetting on fuel surfaces and promote stable foam-layer formation during combustion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8143" y="859536"/>
            <a:ext cx="5647791" cy="8229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8143" y="859536"/>
            <a:ext cx="54864" cy="8229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1023" y="932688"/>
            <a:ext cx="53734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Expected 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023" y="1225296"/>
            <a:ext cx="53734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① Lower gel viscosity to improve sprayability  ② Stabilise bubbles to increase Foaming Index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1828800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1938528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93852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1828800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739895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/ G'' vs angular frequency (SAOS, 3 SDS levels)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8143" y="1828800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7871" y="1938528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7871" y="193852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8143" y="1828800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3739895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and tan δ bar chart (at 1 rad/s)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3867911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5488" y="3977639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977639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867911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779006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 shear rate (Herschel–Bulkley fit)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8143" y="3867911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87871" y="3977639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7871" y="3977639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3867911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8143" y="5779006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by SDS level (0.05 Pa reference)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5888734"/>
            <a:ext cx="5647791" cy="76809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524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5888734"/>
            <a:ext cx="54864" cy="768098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943598"/>
            <a:ext cx="537347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1" i="0">
                <a:solidFill>
                  <a:srgbClr val="9F7639"/>
                </a:solidFill>
                <a:latin typeface="Arial"/>
              </a:rPr>
              <a:t>Rheology: concentration-dependent but limited benefit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199630"/>
            <a:ext cx="5373471" cy="42062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rises slightly at 0.1 wt% but drops again at 0.5 wt%; yield stress also decreases. Overall, SDS addition negatively affects gel stiffness and adhesion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8143" y="5888734"/>
            <a:ext cx="5647791" cy="76809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5240">
            <a:solidFill>
              <a:srgbClr val="A0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78143" y="5888734"/>
            <a:ext cx="54864" cy="768098"/>
          </a:xfrm>
          <a:prstGeom prst="rect">
            <a:avLst/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61023" y="5943598"/>
            <a:ext cx="537347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1" i="0">
                <a:solidFill>
                  <a:srgbClr val="A05656"/>
                </a:solidFill>
                <a:latin typeface="Arial"/>
              </a:rPr>
              <a:t>Foaming: Foaming Index actually decreased (Fig. 4)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61023" y="6199630"/>
            <a:ext cx="5373471" cy="42062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SDS caused bubble coarsening and non-uniform foam structure, lowering the Foaming Index. The original goal of enhancing foam formation was not achieved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30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Expected to Improve Foaming — But the Opposite Occurred (Fig. 4)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Hypothesis (purpose of SDS)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Surfactant SDS promotes bubble formation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increases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Thicker aerogel insulation layer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33723" y="1161288"/>
            <a:ext cx="640080" cy="402336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49927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016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1095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1095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0 / 0.1 / 0.5 wt% added to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HEC+MC/CSP; combustion tested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quantified (Fig. 4a/4b)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17891" y="1161288"/>
            <a:ext cx="640080" cy="402336"/>
          </a:xfrm>
          <a:prstGeom prst="rightArrow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34095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1778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34095" y="859536"/>
            <a:ext cx="54864" cy="10058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5263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Result (opposite of expected)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5263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addition reduced Foaming Index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2.6 (0%) → 2.3 (0.1%) → even lower (0.5%)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did not improve foaming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Foamed layer appearance after combustion (by SDS level)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7287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7287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per formulation (quantified)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297680"/>
            <a:ext cx="5730087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59028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 (SDS 0%)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668" y="459028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495604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83280" y="502920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383280" y="5029200"/>
            <a:ext cx="2712114" cy="14630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668" y="495604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32180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80" y="539496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383280" y="5394960"/>
            <a:ext cx="2219002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668" y="532180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even lower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568756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(reference)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76072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383280" y="5760720"/>
            <a:ext cx="6163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56668" y="568756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6144768"/>
            <a:ext cx="11460175" cy="530352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6144768"/>
            <a:ext cx="54864" cy="53035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6144768"/>
            <a:ext cx="365760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!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6144768"/>
            <a:ext cx="10774375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SDS did not improve foaming — instead coarsened bubble structure (Fig. 4c SEM) → explains the Foaming Index decrease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(fresh)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68407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455)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8407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8407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(455 days aged)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MHEC Advantages: Long-term Stability and 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37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54864" cy="25603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① Gentle aging behavior (SI Fig. S7)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43584"/>
            <a:ext cx="54191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Yield stress change: Day 1 → Day 455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6420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 / CSP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3852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38528"/>
            <a:ext cx="1800705" cy="201168"/>
          </a:xfrm>
          <a:prstGeom prst="roundRect">
            <a:avLst>
              <a:gd name="adj" fmla="val 4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9073" y="186537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+38 %</a:t>
            </a:r>
          </a:p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(3.31 → 4.56 Pa)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8716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 / CSP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3239" y="268833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+107 %</a:t>
            </a:r>
          </a:p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(33.3 → 68.9 Pa)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401568"/>
            <a:ext cx="5419191" cy="822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016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511296"/>
            <a:ext cx="5181447" cy="6583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MHEC system remains primarily noncovalent → properties stable over 1+ year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(HEC+MC system undergoes Si–O covalent condensation → stiffness increases)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89120"/>
            <a:ext cx="523631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64748B"/>
                </a:solidFill>
                <a:latin typeface="Arial"/>
              </a:rPr>
              <a:t>Source: SI Fig. S7 (flow sweep · HB model fit)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547872"/>
            <a:ext cx="5602071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57600"/>
            <a:ext cx="541919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A7C8C"/>
                </a:solidFill>
                <a:latin typeface="Arial"/>
              </a:rPr>
              <a:t>Why stable: Si–O covalent condensation is suppressed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50208"/>
            <a:ext cx="541919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In HEC+MC/CSP, Si–O condensation between CSP and polymer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progresses over time, increasing stiffness. In MHEC/CSP,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this condensation is suppressed, giving gentle property drift.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23863" y="859536"/>
            <a:ext cx="54864" cy="384048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6743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② Manufacturing cost &amp; quality control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303" y="1335024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1607" y="1444752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Single polymer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1607" y="1737360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need to source and blend HEC + MC separately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Fewer raw material types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15303" y="2304288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1607" y="2414016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Simplified formulation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706624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mixing ratio tuning or homogenization of 2 components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Reduced batch-to-batch variability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15303" y="3273552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61607" y="3383280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Lower QC burden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1607" y="3675888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raw material specification to manage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Cost advantage becomes clear at scale-up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303" y="4242816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61607" y="4352544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Logistics / storage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1607" y="4645152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material to store and transport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Streamlined supply chain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5925312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925312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925312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5925312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Note: No quantitative cost comparison data is reported in this paper. MHEC's advantage is based on its single-polymer nature and measured aging stability (SI Fig. S7).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39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demonstrated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42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