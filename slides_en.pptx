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Viscosity drops at high shear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(viscosity drops)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 — fluidizes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(dynamic, HB fit)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Viscosity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Low at high shear → recovers at 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Dynamic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(HB fit)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Shear-thinning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Viscoelasticity &amp; Shear-Thinning (Fig. 2a–c)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G' / G'' (viscoelasticity at rest)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Shear rate vs viscosity (shear-thinning)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261104"/>
            <a:ext cx="54864" cy="91440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4A7C8C"/>
                </a:solidFill>
                <a:latin typeface="Arial"/>
              </a:rPr>
              <a:t>At rest: G' &gt; G'' → solid-like (gel)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Low frequency dependence, stable network → does not flow off after application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575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5575" y="4261104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3B5174"/>
                </a:solidFill>
                <a:latin typeface="Arial"/>
              </a:rPr>
              <a:t>Under high shear: viscosity drops sharply (shear-thinning)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High shear through the nozzle lowers viscosity → enables spray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4009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40096"/>
            <a:ext cx="54864" cy="5120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4009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at rest (no dripping) + low viscosity when sprayed (deliverable) — the basis of spray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Static &amp; Dynamic Yield Stress vs AquaGel-K (Fig. 2d, S3)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flow. Evaluated as static (onset = adhesion) and dynamic (maintain = spraying)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Fig.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20040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Amplitude sweep: G'/G'' crossover (static yield stress)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30098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0098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via HB fit (bar chart)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(onset = adhesion)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206654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an amplitude (LAOS) sweep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237744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WEG shows higher static yield stress than AquaGel-K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reluctant to flow off vertical/elevated fuel surfaces, adheres strongly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 (maintain = spraying)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HB-model fit of the flow sweep (100→0.01 s⁻¹) (2d)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Orders of magnitude above AquaGel-K (0.05 Pa reference line)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sprayable within pump pressure yet resistant to flowing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For both static and dynamic yield stress, WEG greatly exceeds commercial AquaGel-K. Their small difference (weak thixotropy) lets the network re-form instantly, maintaining adhesion self-healingly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9F7639"/>
                </a:solidFill>
                <a:latin typeface="Arial"/>
              </a:rPr>
              <a:t>68.9 Pa (+107%)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Stiffens markedly with aging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 (+38%)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Only minor change → stable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(low viscosity at high shear)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Goal Was Better Foaming &amp; Wetting — But Results Were Mixed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82296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4A7C8C"/>
                </a:solidFill>
                <a:latin typeface="Arial"/>
              </a:rPr>
              <a:t>Why SDS was added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(0 / 0.1 / 0.5 wt%) was added to HEC+MC/CSP to improve wetting on fuel surfaces and promote stable foam-layer formation during combustion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3" y="859536"/>
            <a:ext cx="54864" cy="8229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Expected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① Lower gel viscosity to improve sprayability  ② Stabilise bubbles to increase Foaming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8143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8143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level (0.05 Pa reference)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5888734"/>
            <a:ext cx="54864" cy="768098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9F7639"/>
                </a:solidFill>
                <a:latin typeface="Arial"/>
              </a:rPr>
              <a:t>Rheology: concentration-dependent but limited benefit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rises slightly at 0.1 wt% but drops again at 0.5 wt%; yield stress also decreases. Overall, SDS addition negatively affects gel stiffness and adhesion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8143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A0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8143" y="5888734"/>
            <a:ext cx="54864" cy="768098"/>
          </a:xfrm>
          <a:prstGeom prst="rect">
            <a:avLst/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1023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A05656"/>
                </a:solidFill>
                <a:latin typeface="Arial"/>
              </a:rPr>
              <a:t>Foaming: Foaming Index actually decreased (Fig. 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1023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SDS caused bubble coarsening and non-uniform foam structure, lowering the Foaming Index. The original goal of enhancing foam formation was not achieved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FT-IR ATR (Fig. S13)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25296"/>
            <a:ext cx="5620359" cy="32461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25296"/>
            <a:ext cx="1430740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Band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9380" y="1225296"/>
            <a:ext cx="2601648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469" y="1225296"/>
            <a:ext cx="1313649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burn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49908"/>
            <a:ext cx="5620359" cy="324612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549908"/>
            <a:ext cx="1430740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79380" y="1549908"/>
            <a:ext cx="2601648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(cellulose /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469" y="1549908"/>
            <a:ext cx="1313649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Lost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874520"/>
            <a:ext cx="5620359" cy="32461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874520"/>
            <a:ext cx="1430740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79380" y="1874520"/>
            <a:ext cx="2601648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(organics)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469" y="1874520"/>
            <a:ext cx="1313649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Lost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199132"/>
            <a:ext cx="5620359" cy="324612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199132"/>
            <a:ext cx="1430740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79380" y="2199132"/>
            <a:ext cx="2601648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2469" y="2199132"/>
            <a:ext cx="1313649" cy="32461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Dominant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2724912"/>
            <a:ext cx="5620359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CH : SiO peak-area ratio (lyophilized → combusted)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017520"/>
            <a:ext cx="5620359" cy="3200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017520"/>
            <a:ext cx="2358460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100" y="3017520"/>
            <a:ext cx="1493789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Before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2329" y="3017520"/>
            <a:ext cx="1493789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37560"/>
            <a:ext cx="5620359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337560"/>
            <a:ext cx="2358460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100" y="3337560"/>
            <a:ext cx="1493789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0.1242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2329" y="3337560"/>
            <a:ext cx="1493789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0.0581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657600"/>
            <a:ext cx="5620359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657600"/>
            <a:ext cx="2358460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100" y="3657600"/>
            <a:ext cx="1493789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0.0768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92329" y="3657600"/>
            <a:ext cx="1493789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0.0635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114800"/>
            <a:ext cx="5620359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114800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14800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114800"/>
            <a:ext cx="4934559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CH:SiO ratio drops after burn → cellulose consumed, silica framework remains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5029199"/>
            <a:ext cx="5620359" cy="12984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5488" y="5138927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5138927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5029199"/>
            <a:ext cx="5620359" cy="12984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364223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FT-IR ATR spectra: lyophilized vs combusted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5575" y="859536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XPS Elemental Composition (Fig. S14)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05575" y="1225296"/>
            <a:ext cx="5620359" cy="3200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97015" y="1225296"/>
            <a:ext cx="2391974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80430" y="1225296"/>
            <a:ext cx="1477032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before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48902" y="1225296"/>
            <a:ext cx="1477032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after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5575" y="1545336"/>
            <a:ext cx="5620359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97015" y="1545336"/>
            <a:ext cx="2391974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80430" y="1545336"/>
            <a:ext cx="1477032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 at%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48902" y="1545336"/>
            <a:ext cx="1477032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 at%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05575" y="1865376"/>
            <a:ext cx="5620359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7015" y="1865376"/>
            <a:ext cx="2391974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80430" y="1865376"/>
            <a:ext cx="1477032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 at%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48902" y="1865376"/>
            <a:ext cx="1477032" cy="3200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 at%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05575" y="2386584"/>
            <a:ext cx="2737027" cy="96012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33591" y="2496312"/>
            <a:ext cx="2480995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Carbon (MHEC)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33591" y="2752344"/>
            <a:ext cx="2480995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38.3→4.8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33591" y="3172968"/>
            <a:ext cx="248099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at% · burned away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088907" y="2386584"/>
            <a:ext cx="2737027" cy="96012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16923" y="2496312"/>
            <a:ext cx="2480995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Si / O fraction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16923" y="2752344"/>
            <a:ext cx="2480995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increase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16923" y="3172968"/>
            <a:ext cx="248099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→ SiO₂ enriched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205575" y="3538728"/>
            <a:ext cx="5620359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05575" y="3538728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88455" y="3538728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99935" y="3538728"/>
            <a:ext cx="4934559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C combusted away; Si &amp; O dominate → silica aerogel confirmed at composition level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05575" y="5029199"/>
            <a:ext cx="5620359" cy="12984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15303" y="5138927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15303" y="5138927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05575" y="5029199"/>
            <a:ext cx="5620359" cy="12984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05575" y="6364223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XPS stacked composition (O / Na / Si / C), pre/post burn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TGA: Water Retention and Fire Retardancy (Fig. S12)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20359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① Water content  (RT→200°C, 20°C/min, hold 200°C / 20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5620359" cy="39319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80160"/>
            <a:ext cx="2474376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Gel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3016" y="1280160"/>
            <a:ext cx="1863467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Water 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7923" y="1280160"/>
            <a:ext cx="1008195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Solid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673352"/>
            <a:ext cx="5620359" cy="393192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673352"/>
            <a:ext cx="2474376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3016" y="1673352"/>
            <a:ext cx="1863467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90.56 wt%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7923" y="1673352"/>
            <a:ext cx="1008195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9.44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066544"/>
            <a:ext cx="5620359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66544"/>
            <a:ext cx="2474376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3016" y="2066544"/>
            <a:ext cx="1863467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7A99"/>
                </a:solidFill>
                <a:latin typeface="Arial"/>
              </a:rPr>
              <a:t>93.44 wt%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7923" y="2066544"/>
            <a:ext cx="1008195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6.56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59736"/>
            <a:ext cx="5620359" cy="393192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459736"/>
            <a:ext cx="2474376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3016" y="2459736"/>
            <a:ext cx="1863467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91.46 wt%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77923" y="2459736"/>
            <a:ext cx="1008195" cy="39319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8.54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017520"/>
            <a:ext cx="5620359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017520"/>
            <a:ext cx="54864" cy="84124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017520"/>
            <a:ext cx="365760" cy="8412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017520"/>
            <a:ext cx="4934559" cy="8412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three gels hold comparable water → PP gels match the commercial product in water retention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059936"/>
            <a:ext cx="5620359" cy="138988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5488" y="41696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41696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S12a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059936"/>
            <a:ext cx="5620359" cy="13898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486400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Weight (%) vs Temperature: water loss up to 200°C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5575" y="859536"/>
            <a:ext cx="5620359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② Wood flour + gel  (250→500°C, hold 500°C / 5 min)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05575" y="1280160"/>
            <a:ext cx="5620359" cy="157276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05575" y="1280160"/>
            <a:ext cx="5620359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8455" y="1444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9623" y="1444752"/>
            <a:ext cx="50534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Wood flour, +AquaGel-K, +HEC+MC/CSP, +MHEC/CSP compared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8455" y="17190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9623" y="1719072"/>
            <a:ext cx="50534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Similar weight-loss across 250–500°C for all treatments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8455" y="19933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9623" y="1993392"/>
            <a:ext cx="50534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Water-based retardancy comparable for WEG and conventional gels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05575" y="3017520"/>
            <a:ext cx="5620359" cy="84124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05575" y="3017520"/>
            <a:ext cx="54864" cy="8412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88455" y="3017520"/>
            <a:ext cx="365760" cy="8412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99935" y="3017520"/>
            <a:ext cx="4934559" cy="8412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Hydrogel→aerogel transition is NOT seen in TGA (slow ramp) — rapid flame heating is required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05575" y="4059936"/>
            <a:ext cx="5620359" cy="138988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15303" y="41696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15303" y="41696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S12b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05575" y="4059936"/>
            <a:ext cx="5620359" cy="13898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05575" y="5486400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Weight (%) vs Temperature: 250–500°C combustion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siloxane (Si–O–Si) condensation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condensation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Why Gels Stiffen with Aging: Dynamic-to-Covalent Transition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39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676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67665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67665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67665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Over time, reversible polymer–particle H-bonds partly condense into irreversible siloxane (Si–O–Si) bonds → gels stiffen, yet fire performance stays unchanged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737360"/>
            <a:ext cx="3698138" cy="2057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865376"/>
            <a:ext cx="344210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DAY 1 · FRESH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103120"/>
            <a:ext cx="344210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Reversible H-bonds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432304"/>
            <a:ext cx="3442106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PP interaction: cellulose –OH ··· HO–Si (silanol) on CSP.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Fully dynamic and self-healing; shear-thinning enabled.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3042" y="1737360"/>
            <a:ext cx="164592" cy="2057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1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6778" y="1737360"/>
            <a:ext cx="3698138" cy="2057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4794" y="1865376"/>
            <a:ext cx="344210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AGING · ~15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4794" y="2103120"/>
            <a:ext cx="344210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Condensation begins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4794" y="2432304"/>
            <a:ext cx="3442106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Dehydration of –OH + HO–Si → Si–O–Si (siloxane) covalent bonds start to form. Confirmed by FT-IR ATR (Fig. S6).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4060" y="1737360"/>
            <a:ext cx="164592" cy="2057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1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1737360"/>
            <a:ext cx="3698138" cy="20574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5812" y="1865376"/>
            <a:ext cx="344210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B8D0"/>
                </a:solidFill>
                <a:latin typeface="Arial"/>
              </a:rPr>
              <a:t>DAY 455 · AGED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5812" y="2103120"/>
            <a:ext cx="344210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Non-ergodic 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5812" y="2432304"/>
            <a:ext cx="3442106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0D0E0"/>
                </a:solidFill>
                <a:latin typeface="Arial"/>
              </a:rPr>
              <a:t>Covalent crosslinks accumulate → stiffness and yield stress rise. The transition is irreversible (Fig. S4).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105656"/>
            <a:ext cx="5638647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" y="4215384"/>
            <a:ext cx="5382615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HEC+MC/CSP — many free –OH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4471416"/>
            <a:ext cx="5382615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9F7639"/>
                </a:solidFill>
                <a:latin typeface="Arial"/>
              </a:rPr>
              <a:t>+107 %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892040"/>
            <a:ext cx="538261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Yield stress 33.3 → 68.9 Pa @ Day 455 · Fig. S7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87287" y="4105656"/>
            <a:ext cx="5638647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5303" y="4215384"/>
            <a:ext cx="5382615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MHEC/CSP — few free –OH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5303" y="4471416"/>
            <a:ext cx="5382615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+38 %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303" y="4892040"/>
            <a:ext cx="538261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Yield stress 3.31 → 4.56 Pa @ Day 455 · Fig. S7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5477256"/>
            <a:ext cx="11460175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MHEC's methyl + hydroxyethyl substitution leaves fewer free –OH groups → siloxane condensation suppressed → gentler aging (Ref: Sen et al., ACS Appl. Mater. Interfaces 2024).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40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35424"/>
            <a:ext cx="52728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882896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882896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Far longer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184648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184648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3–6× longer + continues after water evaporates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486400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5486400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No residual soil / water contamination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788152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Spray compat.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5788152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60857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60857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60857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60857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87287" y="5614416"/>
            <a:ext cx="5638647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1">
                <a:solidFill>
                  <a:srgbClr val="64748B"/>
                </a:solidFill>
                <a:latin typeface="Arial"/>
              </a:rPr>
              <a:t>* Protection-time comparisons vs water / AquaGel-K are measured (Fig. 3). Phos-Chek is positioned qualitatively (environmental persistence), not by direct burn testing.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Comparison with Existing Products: Only WEG Meets Every Requirement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120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WEG (PP hydrogel) simultaneously satisfies requirements that water and commercial AquaGel-K each meet only partially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72768"/>
            <a:ext cx="2377440" cy="8686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572768"/>
            <a:ext cx="2157984" cy="868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Product ＼ Requirement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9776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Long flame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protection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6989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3565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Protects after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drying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0778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7354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Sprayable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84567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21143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Low environ.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persistence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98356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34932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Forms foam /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insulating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12145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48721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Long-term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stability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441448"/>
            <a:ext cx="2377440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441448"/>
            <a:ext cx="54864" cy="65836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441448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1E293B"/>
                </a:solidFill>
                <a:latin typeface="Arial"/>
              </a:rPr>
              <a:t>WEG (this work)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6989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6989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70778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70778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84567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84567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98356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98356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12145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12145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099816"/>
            <a:ext cx="237744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099816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0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6989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56989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70778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70778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84567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84567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98356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8356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12145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12145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758184"/>
            <a:ext cx="237744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3758184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0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0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6989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56989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70778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770778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84567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84567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798356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8356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312145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12145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excellent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3347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capable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0624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371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limited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2648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7395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not feasible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4928616"/>
            <a:ext cx="1146017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1">
                <a:solidFill>
                  <a:srgbClr val="64748B"/>
                </a:solidFill>
                <a:latin typeface="Arial"/>
              </a:rPr>
              <a:t>* Flame-protection and foaming comparisons are measured in this paper (Fig. 3, 4). Long-term stability: WEG measured at 455 days (SI Fig. S7); AquaGel-K not tested for aging in this study (△).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Conclusions: Core Mechanism and Four Outcomes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43 /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Core mechanism: the gel "self-transforms" upon flame contact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243584"/>
            <a:ext cx="3545738" cy="45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Water evaporates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vaporises water in the gel (endothermic)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suppresses substrate heating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1498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2978" y="1243584"/>
            <a:ext cx="3545738" cy="45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7570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7570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CSP sinters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7570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under heat,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forming inter-particle necks (bridges)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8716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80196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80196" y="1243584"/>
            <a:ext cx="3545738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4788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4788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Aerogel insulation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4788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 porous silica aerogel forms in situ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insulates the substrate even after drying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0837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Four key outcomes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374136"/>
            <a:ext cx="54864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3–6×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protection time vs commercial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62807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62807" y="3374136"/>
            <a:ext cx="54864" cy="1188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45687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Self-forming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5687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aerogel insulation in situ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9855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9855" y="3374136"/>
            <a:ext cx="54864" cy="1188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2735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compatible with existing infra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6903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56903" y="3374136"/>
            <a:ext cx="54864" cy="1188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783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9F7639"/>
                </a:solidFill>
                <a:latin typeface="Arial"/>
              </a:rPr>
              <a:t>Sustainable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9783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cellulose-based, safe materials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476402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5760" y="4764024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76402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76402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demonstrated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44 /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