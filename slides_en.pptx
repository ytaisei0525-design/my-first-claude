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Viscosity drops at high shear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(viscosity drops)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 — fluidizes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(dynamic, HB fit)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Viscosity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reversible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Low at high shear → recovers at rest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Dynamic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(HB fit)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 Translates Directly into Field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1148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Rheological Design (measured properties)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9824" y="859536"/>
            <a:ext cx="637611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Expected Field Performance (behavior in use)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243584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243584"/>
            <a:ext cx="54864" cy="1207008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408176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Shear-thinning behavior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83664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sharply at high shear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45152" y="1645920"/>
            <a:ext cx="640080" cy="402336"/>
          </a:xfrm>
          <a:prstGeom prst="rightArrow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49824" y="1243584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1389888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1810512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under nozzle's high shear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Deployable with existing hoses/nozzles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633472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54864" cy="1207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High Storage Modulus G' (G' ≫ G'')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273552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Holds gel state at rest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45152" y="3035808"/>
            <a:ext cx="640080" cy="402336"/>
          </a:xfrm>
          <a:prstGeom prst="rightArrow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49824" y="2633472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2779776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3B5174"/>
                </a:solidFill>
                <a:latin typeface="Arial"/>
              </a:rPr>
              <a:t>No run-off on vertical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200400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Retains shape and adheres after application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Holds on vertical substrates (wood, walls)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23360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54864" cy="12070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187952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Self-healing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663440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instantly after step-strain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45152" y="4425696"/>
            <a:ext cx="640080" cy="402336"/>
          </a:xfrm>
          <a:prstGeom prst="rightArrow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49824" y="4023360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4169664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D4A574"/>
                </a:solidFill>
                <a:latin typeface="Arial"/>
              </a:rPr>
              <a:t>Forms protective layer on landing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0992" y="4590288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Re-gels immediately after spraying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Fire layer maintained against wind/rain/gravity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08990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089904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08990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08990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These field performances are inferred from measured rheology. No independent contact-angle or adhesion-force tests were performed in this 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Viscoelasticity &amp; Shear-Thinning (Fig. 2a–c)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G' / G'' (viscoelasticity at rest)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859536"/>
            <a:ext cx="5620359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530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575" y="859536"/>
            <a:ext cx="5620359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575" y="4096512"/>
            <a:ext cx="562035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Shear rate vs viscosity (shear-thinning)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261104"/>
            <a:ext cx="54864" cy="91440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4A7C8C"/>
                </a:solidFill>
                <a:latin typeface="Arial"/>
              </a:rPr>
              <a:t>At rest: G' &gt; G'' → solid-like (gel) behavior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Low frequency dependence, stable network → does not flow off after application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5575" y="4261104"/>
            <a:ext cx="5620359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5575" y="4261104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8455" y="4370832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00" b="1" i="0">
                <a:solidFill>
                  <a:srgbClr val="3B5174"/>
                </a:solidFill>
                <a:latin typeface="Arial"/>
              </a:rPr>
              <a:t>Under high shear: viscosity drops sharply (shear-thinning)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4700016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High shear through the nozzle lowers viscosity → enables spray application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340096"/>
            <a:ext cx="11460175" cy="512064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340096"/>
            <a:ext cx="54864" cy="51206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340096"/>
            <a:ext cx="365760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340096"/>
            <a:ext cx="10774375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at rest (no dripping) + low viscosity when sprayed (deliverable) — the basis of spray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Static &amp; Dynamic Yield Stress vs AquaGel-K (Fig. 2d, S3)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Yield stress = stress needed to initiate / maintain flow. Evaluated as static (onset = adhesion) and dynamic (maintain = spraying)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60934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71907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Fig.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60934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20040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Amplitude sweep: G'/G'' crossover (static yield stress)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300984"/>
            <a:ext cx="4492630" cy="15544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341071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00984"/>
            <a:ext cx="4492630" cy="15544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92040"/>
            <a:ext cx="44926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via HB fit (bar chart)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7846" y="160934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77846" y="1609344"/>
            <a:ext cx="54864" cy="155448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9014" y="171907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Static yield stress σ_static (onset = adhesion)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9014" y="206654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stress at G' / G'' crossover in an amplitude (LAOS) sweep (S3)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9014" y="237744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WEG shows higher static yield stress than AquaGel-K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reluctant to flow off vertical/elevated fuel surfaces, adheres strongly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7846" y="3300984"/>
            <a:ext cx="6748089" cy="15544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77846" y="3300984"/>
            <a:ext cx="54864" cy="155448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79014" y="3410712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Dynamic yield stress σ_dynamic (maintain = spraying)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79014" y="3758184"/>
            <a:ext cx="643719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Measured: HB-model fit of the flow sweep (100→0.01 s⁻¹) (2d)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9014" y="4069080"/>
            <a:ext cx="6437193" cy="7315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Orders of magnitude above AquaGel-K (0.05 Pa reference line)</a:t>
            </a:r>
          </a:p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→ sprayable within pump pressure yet resistant to flowing off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5056632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056632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056632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056632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For both static and dynamic yield stress, WEG greatly exceeds commercial AquaGel-K. Their small difference (weak thixotropy) lets the network re-form instantly, maintaining adhesion self-healingly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Aging of Dynamic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Dynamic yield stress: obtained by fitting the steady-shear flow sweep to the Herschel–Bulkley model (σ_d) — stress to maintain flow (Fig. S7)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Dynamic yield stress (Day 455)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Dynamic Yield Stress (HB fit)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Obtained by fitting the steady-shear flow sweep to the HB model. HEC+MC/CSP: 33.34 Pa; MHEC/CSP: 3.31 Pa (Day 1)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stiffens with aging (33.34→68.9 Pa). MHEC changes gently and is simpler to manufacture (single polymer)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Self-healing: Instant G' / G'' Recovery via Step-strain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Step-strain Protocol (ω = 1 rad/s)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1673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16736"/>
            <a:ext cx="45720" cy="9601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8988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38988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Low strain (γ = 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68249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preserved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&gt; G'' (gel state)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6829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68296"/>
            <a:ext cx="45720" cy="9601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44144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44144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High strain (γ = 500%)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73405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broken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&lt; G'' (liquid state)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419856"/>
            <a:ext cx="45720" cy="9601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9300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9300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Return to low strain (γ = 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8561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Particle-polymer interactions reform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recovers instantly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/ G'' Time-series (cyclic step-strain)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1271016"/>
            <a:ext cx="5592927" cy="3108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(step-strain)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007" y="1271016"/>
            <a:ext cx="5592927" cy="3108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4416552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γ=1%→500%→1% cycle: G' recovers immediately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562856"/>
            <a:ext cx="5592927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62856"/>
            <a:ext cx="45720" cy="10058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4654296"/>
            <a:ext cx="533689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POINT: Guarantees instant adhesion after spraying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7599" y="4946904"/>
            <a:ext cx="533689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Viscosity drops at nozzle's high shear → G' recovers instantly on substrate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Holds on vertical surfaces without dripping (self-healing = key to deployability)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108192"/>
            <a:ext cx="11460175" cy="5486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108192"/>
            <a:ext cx="54864" cy="5486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108192"/>
            <a:ext cx="365760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08192"/>
            <a:ext cx="10774375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Reversible network via noncovalent bonds (H-bonds, multivalent interactions) → Self-healing demonstrated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(low viscosity at high shear)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Shear-thinning behavior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Goal Was Better Foaming &amp; Wetting — But Results Were Mixed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8229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82296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932688"/>
            <a:ext cx="53734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4A7C8C"/>
                </a:solidFill>
                <a:latin typeface="Arial"/>
              </a:rPr>
              <a:t>Why SDS was added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25296"/>
            <a:ext cx="53734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(0 / 0.1 / 0.5 wt%) was added to HEC+MC/CSP to improve wetting on fuel surfaces and promote stable foam-layer formation during combustion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859536"/>
            <a:ext cx="5647791" cy="8229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8143" y="859536"/>
            <a:ext cx="54864" cy="8229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1023" y="932688"/>
            <a:ext cx="53734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Expected 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023" y="1225296"/>
            <a:ext cx="53734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① Lower gel viscosity to improve sprayability  ② Stabilise bubbles to increase Foaming Index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828800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1938528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93852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1828800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739895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1828800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7871" y="1938528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7871" y="193852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8143" y="1828800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3739895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867911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5488" y="3977639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977639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867911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779006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8143" y="3867911"/>
            <a:ext cx="5647791" cy="1874519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87871" y="3977639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7871" y="3977639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3867911"/>
            <a:ext cx="5647791" cy="187451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8143" y="5779006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level (0.05 Pa reference)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5888734"/>
            <a:ext cx="5647791" cy="76809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524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5888734"/>
            <a:ext cx="54864" cy="768098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943598"/>
            <a:ext cx="537347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9F7639"/>
                </a:solidFill>
                <a:latin typeface="Arial"/>
              </a:rPr>
              <a:t>Rheology: concentration-dependent but limited benefit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199630"/>
            <a:ext cx="5373471" cy="42062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rises slightly at 0.1 wt% but drops again at 0.5 wt%; yield stress also decreases. Overall, SDS addition negatively affects gel stiffness and adhesion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8143" y="5888734"/>
            <a:ext cx="5647791" cy="76809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5240">
            <a:solidFill>
              <a:srgbClr val="A0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8143" y="5888734"/>
            <a:ext cx="54864" cy="768098"/>
          </a:xfrm>
          <a:prstGeom prst="rect">
            <a:avLst/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61023" y="5943598"/>
            <a:ext cx="537347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A05656"/>
                </a:solidFill>
                <a:latin typeface="Arial"/>
              </a:rPr>
              <a:t>Foaming: Foaming Index actually decreased (Fig. 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61023" y="6199630"/>
            <a:ext cx="5373471" cy="42062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SDS caused bubble coarsening and non-uniform foam structure, lowering the Foaming Index. The original goal of enhancing foam formation was not achieved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Expected to Improve Foaming — But the Opposite Occurred (Fig.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Hypothesis (purpose of SDS)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promotes bubble formation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increases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Thicker aerogel insulation layer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33723" y="1161288"/>
            <a:ext cx="640080" cy="402336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9927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1095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095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0 / 0.1 / 0.5 wt% added to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HEC+MC/CSP; combustion tested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quantified (Fig. 4a/4b)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17891" y="1161288"/>
            <a:ext cx="640080" cy="402336"/>
          </a:xfrm>
          <a:prstGeom prst="rightArrow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34095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1778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34095" y="859536"/>
            <a:ext cx="54864" cy="10058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5263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Result (opposite of expected)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5263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addition reduced Foaming Index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2.6 (0%) → 2.3 (0.1%) → even lower (0.5%)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did not improve foaming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Foamed layer appearance after combustion (by SDS 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7287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7287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per formulation (quantified)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297680"/>
            <a:ext cx="5730087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59028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 (SDS 0%)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668" y="459028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95604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83280" y="502920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383280" y="5029200"/>
            <a:ext cx="2712114" cy="14630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668" y="495604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32180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539496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383280" y="5394960"/>
            <a:ext cx="2219002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668" y="532180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even lower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68756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(reference)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76072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383280" y="5760720"/>
            <a:ext cx="6163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6668" y="568756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6144768"/>
            <a:ext cx="11460175" cy="53035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6144768"/>
            <a:ext cx="54864" cy="5303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6144768"/>
            <a:ext cx="365760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6144768"/>
            <a:ext cx="10774375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SDS did not improve foaming — instead coarsened bubble structure (Fig. 4c SEM) → explains the Foaming Index decrease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(fresh)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8407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455)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8407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8407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(455 days aged)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MHEC Advantages: Long-term Stability and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54864" cy="25603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① Gentle aging behavior (SI Fig. S7)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54191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Yield stress change: Day 1 → Day 455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6420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 / CSP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3852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38528"/>
            <a:ext cx="1800705" cy="201168"/>
          </a:xfrm>
          <a:prstGeom prst="roundRect">
            <a:avLst>
              <a:gd name="adj" fmla="val 4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9073" y="186537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+38 %</a:t>
            </a:r>
          </a:p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(3.31 → 4.56 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8716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 / CSP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3239" y="268833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+107 %</a:t>
            </a:r>
          </a:p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(33.3 → 68.9 Pa)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01568"/>
            <a:ext cx="5419191" cy="822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016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511296"/>
            <a:ext cx="5181447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MHEC system remains primarily noncovalent → properties stable over 1+ year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(HEC+MC system undergoes Si–O covalent condensation → stiffness increases)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523631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64748B"/>
                </a:solidFill>
                <a:latin typeface="Arial"/>
              </a:rPr>
              <a:t>Source: SI Fig. S7 (flow sweep · HB model fit)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47872"/>
            <a:ext cx="5602071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541919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A7C8C"/>
                </a:solidFill>
                <a:latin typeface="Arial"/>
              </a:rPr>
              <a:t>Why stable: Si–O covalent condensation is suppressed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50208"/>
            <a:ext cx="541919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In HEC+MC/CSP, Si–O condensation between CSP and polymer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progresses over time, increasing stiffness. In MHEC/CSP,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this condensation is suppressed, giving gentle property drift.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3863" y="859536"/>
            <a:ext cx="54864" cy="384048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6743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② Manufacturing cost &amp; quality 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303" y="1335024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1607" y="1444752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Single polymer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1607" y="1737360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need to source and blend HEC + MC separately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Fewer raw material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15303" y="2304288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607" y="2414016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Simplified formulation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706624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mixing ratio tuning or homogenization of 2 components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Reduced batch-to-batch variability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15303" y="3273552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1607" y="3383280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Lower QC burden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675888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raw material specification to manage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Cost advantage becomes clear at scale-up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303" y="4242816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7" y="4352544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Logistics / storage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7" y="4645152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material to store and transport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Streamlined supply chain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5925312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925312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925312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925312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Note: No quantitative cost comparison data is reported in this paper. MHEC's advantage is based on its single-polymer nature and measured aging stability (SI Fig. S7).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35424"/>
            <a:ext cx="52728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882896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882896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Far longer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184648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184648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3–6× longer + continues after water evaporates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5486400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5486400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No residual soil / water contamination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5788152"/>
            <a:ext cx="146304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64748B"/>
                </a:solidFill>
                <a:latin typeface="Arial"/>
              </a:rPr>
              <a:t>Spray compat.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5788152"/>
            <a:ext cx="3764128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60857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60857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60857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60857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87287" y="5614416"/>
            <a:ext cx="5638647" cy="502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1">
                <a:solidFill>
                  <a:srgbClr val="64748B"/>
                </a:solidFill>
                <a:latin typeface="Arial"/>
              </a:rPr>
              <a:t>* Protection-time comparisons vs water / AquaGel-K are measured (Fig. 3). Phos-Chek is positioned qualitatively (environmental persistence), not by direct burn testing.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Comparison with Existing Products: Only WEG Meets Every Requirement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1206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120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WEG (PP hydrogel) simultaneously satisfies requirements that water and commercial AquaGel-K each meet only partially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572768"/>
            <a:ext cx="2377440" cy="8686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572768"/>
            <a:ext cx="2157984" cy="868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Product ＼ Requirement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9776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Long flame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protection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6989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3565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Protects after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drying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70778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7354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Sprayable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84567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21143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Low environ.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persistence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98356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34932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Forms foam /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insulating layer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12145" y="1572768"/>
            <a:ext cx="1513789" cy="868680"/>
          </a:xfrm>
          <a:prstGeom prst="rect">
            <a:avLst/>
          </a:prstGeom>
          <a:solidFill>
            <a:srgbClr val="1E293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48721" y="1618488"/>
            <a:ext cx="144063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Long-term</a:t>
            </a:r>
          </a:p>
          <a:p>
            <a:pPr algn="ctr"/>
            <a:r>
              <a:rPr sz="1064" b="1" i="0">
                <a:solidFill>
                  <a:srgbClr val="FFFFFF"/>
                </a:solidFill>
                <a:latin typeface="Arial"/>
              </a:rPr>
              <a:t>stability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441448"/>
            <a:ext cx="2377440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441448"/>
            <a:ext cx="54864" cy="65836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2441448"/>
            <a:ext cx="210312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1" i="0">
                <a:solidFill>
                  <a:srgbClr val="1E293B"/>
                </a:solidFill>
                <a:latin typeface="Arial"/>
              </a:rPr>
              <a:t>WEG (this work)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6989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56989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70778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70778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84567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84567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98356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98356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312145" y="2441448"/>
            <a:ext cx="1513789" cy="658368"/>
          </a:xfrm>
          <a:prstGeom prst="rect">
            <a:avLst/>
          </a:prstGeom>
          <a:solidFill>
            <a:srgbClr val="ECF2F8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12145" y="2441448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099816"/>
            <a:ext cx="237744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099816"/>
            <a:ext cx="210312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0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0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9F7639"/>
                </a:solidFill>
                <a:latin typeface="Arial"/>
              </a:rPr>
              <a:t>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6989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56989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70778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70778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84567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84567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98356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8356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12145" y="3099816"/>
            <a:ext cx="1513789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312145" y="3099816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9F7639"/>
                </a:solidFill>
                <a:latin typeface="Arial"/>
              </a:rPr>
              <a:t>△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758184"/>
            <a:ext cx="2377440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3758184"/>
            <a:ext cx="210312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334155"/>
                </a:solidFill>
                <a:latin typeface="Arial"/>
              </a:rPr>
              <a:t>Water only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0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0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56989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256989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770778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770778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84567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84567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798356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98356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312145" y="3758184"/>
            <a:ext cx="1513789" cy="658368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312145" y="3758184"/>
            <a:ext cx="1513789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4562856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5B8C5A"/>
                </a:solidFill>
                <a:latin typeface="Arial"/>
              </a:rPr>
              <a:t>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3232" y="45628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excellent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562856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5B8C5A"/>
                </a:solidFill>
                <a:latin typeface="Arial"/>
              </a:rPr>
              <a:t>○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633472" y="45628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capable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06240" y="4562856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9F7639"/>
                </a:solidFill>
                <a:latin typeface="Arial"/>
              </a:rPr>
              <a:t>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53712" y="45628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limited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26480" y="4562856"/>
            <a:ext cx="36576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A05656"/>
                </a:solidFill>
                <a:latin typeface="Arial"/>
              </a:rPr>
              <a:t>×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73952" y="4562856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not feasible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" y="4928616"/>
            <a:ext cx="1146017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64" b="0" i="1">
                <a:solidFill>
                  <a:srgbClr val="64748B"/>
                </a:solidFill>
                <a:latin typeface="Arial"/>
              </a:rPr>
              <a:t>* Flame-protection and foaming comparisons are measured in this paper (Fig. 3, 4). Long-term stability: WEG measured at 455 days (SI Fig. S7); AquaGel-K not tested for aging in this study (△).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Conclusions: Core Mechanism and Four Outcomes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Core mechanism: the gel "self-transforms" upon flame contact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243584"/>
            <a:ext cx="3545738" cy="457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Water evaporates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vaporises water in the gel (endothermic)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→ suppresses substrate heating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1498" y="1243584"/>
            <a:ext cx="411480" cy="1508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AB4C0"/>
                </a:solidFill>
                <a:latin typeface="Arial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2978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2978" y="1243584"/>
            <a:ext cx="3545738" cy="457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7570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7570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CSP sinters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7570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under heat,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forming inter-particle necks (bridges)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8716" y="1243584"/>
            <a:ext cx="411480" cy="1508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016" b="1" i="0">
                <a:solidFill>
                  <a:srgbClr val="AAB4C0"/>
                </a:solidFill>
                <a:latin typeface="Arial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80196" y="1243584"/>
            <a:ext cx="3545738" cy="1508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80196" y="1243584"/>
            <a:ext cx="3545738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4788" y="1371600"/>
            <a:ext cx="321655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4788" y="1645920"/>
            <a:ext cx="32165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Aerogel insulation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4788" y="2029968"/>
            <a:ext cx="3216554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 porous silica aerogel forms in situ</a:t>
            </a:r>
          </a:p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→ insulates the substrate even after drying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008376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Four key outcomes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3374136"/>
            <a:ext cx="54864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3–6×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protection time vs commercial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62807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62807" y="3374136"/>
            <a:ext cx="54864" cy="1188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45687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Self-forming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45687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aerogel insulation in situ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59855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59855" y="3374136"/>
            <a:ext cx="54864" cy="11887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2735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compatible with existing infra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6903" y="3374136"/>
            <a:ext cx="2769031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56903" y="3374136"/>
            <a:ext cx="54864" cy="11887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783" y="3520440"/>
            <a:ext cx="2458135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9F7639"/>
                </a:solidFill>
                <a:latin typeface="Arial"/>
              </a:rPr>
              <a:t>Sustainable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9783" y="4050792"/>
            <a:ext cx="2458135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88" b="0" i="0">
                <a:solidFill>
                  <a:srgbClr val="475569"/>
                </a:solidFill>
                <a:latin typeface="Arial"/>
              </a:rPr>
              <a:t>cellulose-based, safe materials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5760" y="476402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5760" y="4764024"/>
            <a:ext cx="54864" cy="56692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76402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76402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demonstrated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42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