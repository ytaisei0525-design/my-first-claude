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9AB0"/>
                </a:solidFill>
                <a:latin typeface="Noto Sans JP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889AB0"/>
                </a:solidFill>
                <a:latin typeface="Noto Sans JP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00" b="1" i="0">
                <a:solidFill>
                  <a:srgbClr val="889AB0"/>
                </a:solidFill>
                <a:latin typeface="Noto Sans JP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Noto Sans JP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400" b="1" i="0">
                <a:solidFill>
                  <a:srgbClr val="D4A574"/>
                </a:solidFill>
                <a:latin typeface="Noto Sans JP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0" i="0">
                <a:solidFill>
                  <a:srgbClr val="B8CCE2"/>
                </a:solidFill>
                <a:latin typeface="Noto Sans JP"/>
              </a:rPr>
              <a:t>Next-generation fire-retardant gel of cellulosic polymers × colloidal silica particles</a:t>
            </a:r>
          </a:p>
          <a:p>
            <a:pPr algn="ctr"/>
            <a:r>
              <a:rPr sz="1500" b="0" i="0">
                <a:solidFill>
                  <a:srgbClr val="B8CCE2"/>
                </a:solidFill>
                <a:latin typeface="Noto Sans JP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889CB4"/>
                </a:solidFill>
                <a:latin typeface="Noto Sans JP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Noto Sans JP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67788"/>
                </a:solidFill>
                <a:latin typeface="Noto Sans JP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3B5174"/>
                </a:solidFill>
                <a:latin typeface="Noto Sans JP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E293B"/>
                </a:solidFill>
                <a:latin typeface="Noto Sans JP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Noto Sans JP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3B5174"/>
                </a:solidFill>
                <a:latin typeface="Noto Sans JP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E293B"/>
                </a:solidFill>
                <a:latin typeface="Noto Sans JP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Noto Sans JP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3B5174"/>
                </a:solidFill>
                <a:latin typeface="Noto Sans JP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E293B"/>
                </a:solidFill>
                <a:latin typeface="Noto Sans JP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Noto Sans JP"/>
              </a:rPr>
              <a:t>Slides 16–33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3B5174"/>
                </a:solidFill>
                <a:latin typeface="Noto Sans JP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E293B"/>
                </a:solidFill>
                <a:latin typeface="Noto Sans JP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Noto Sans JP"/>
              </a:rPr>
              <a:t>Slides 35–36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4000" b="1" i="0">
                <a:solidFill>
                  <a:srgbClr val="243044"/>
                </a:solidFill>
                <a:latin typeface="Noto Sans JP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88A4C0"/>
                </a:solidFill>
                <a:latin typeface="Noto Sans JP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Noto Sans JP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00" b="0" i="0">
                <a:solidFill>
                  <a:srgbClr val="9CB4CC"/>
                </a:solidFill>
                <a:latin typeface="Noto Sans JP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67788"/>
                </a:solidFill>
                <a:latin typeface="Noto Sans JP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600" b="1" i="0">
                <a:solidFill>
                  <a:srgbClr val="1E293B"/>
                </a:solidFill>
                <a:latin typeface="Noto Sans JP"/>
              </a:rPr>
              <a:t>5</a:t>
            </a:r>
            <a:r>
              <a:rPr sz="2000" b="0" i="0">
                <a:solidFill>
                  <a:srgbClr val="475569"/>
                </a:solidFill>
                <a:latin typeface="Noto Sans JP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00" b="1" i="0">
                <a:solidFill>
                  <a:srgbClr val="334155"/>
                </a:solidFill>
                <a:latin typeface="Noto Sans JP"/>
              </a:rPr>
              <a:t>Increase in Large-Scale Wildfires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Burned area expansion over past 30 years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196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196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000" b="1" i="0">
                <a:solidFill>
                  <a:srgbClr val="1E293B"/>
                </a:solidFill>
                <a:latin typeface="Noto Sans JP"/>
              </a:rPr>
              <a:t>400</a:t>
            </a:r>
            <a:r>
              <a:rPr sz="1800" b="0" i="0">
                <a:solidFill>
                  <a:srgbClr val="475569"/>
                </a:solidFill>
                <a:latin typeface="Noto Sans JP"/>
              </a:rPr>
              <a:t>M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636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00" b="1" i="0">
                <a:solidFill>
                  <a:srgbClr val="334155"/>
                </a:solidFill>
                <a:latin typeface="Noto Sans JP"/>
              </a:rPr>
              <a:t>Annual Burned Area (Global)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5636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Caused by climate change and drought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2632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632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200" b="1" i="0">
                <a:solidFill>
                  <a:srgbClr val="1E293B"/>
                </a:solidFill>
                <a:latin typeface="Noto Sans JP"/>
              </a:rPr>
              <a:t>45M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4072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00" b="1" i="0">
                <a:solidFill>
                  <a:srgbClr val="334155"/>
                </a:solidFill>
                <a:latin typeface="Noto Sans JP"/>
              </a:rPr>
              <a:t>U.S. WUI Residents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4072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High-risk population in interface zone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596896"/>
            <a:ext cx="701386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24912"/>
            <a:ext cx="66481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Terminology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80944"/>
            <a:ext cx="6648108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Noto Sans JP"/>
              </a:rPr>
              <a:t>WUI (Wildland-Urban Interface): The boundary zone between wildland and urban areas. A high-risk region where wildfire damage directly threatens residential structures.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75888"/>
            <a:ext cx="7013868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675888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75888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675888"/>
            <a:ext cx="6328068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Climate change extends dry and high-wind periods → Conventional firefighting strategies cannot keep pace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62508" y="859536"/>
            <a:ext cx="426342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3c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2508" y="859536"/>
            <a:ext cx="426342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508" y="510235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Combustion process under direct flame contact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Fire-retardant 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STEP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Noto Sans JP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Spray application of cellulosic gel 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2807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62807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45687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Noto Sans JP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5687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Moisture evaporates while gel 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9855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9855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STEP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Noto Sans JP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Silica particles sinter to form a porous aerogel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6903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6903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9783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STEP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9783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Noto Sans JP"/>
              </a:rPr>
              <a:t>Sustained Protection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Ultra-low thermal conductivity insulating layer continuously protects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6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7472275" cy="58521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8401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Main 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3337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8273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Limitation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444752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Water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8401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H₂O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3337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Cooling by latent heat of evaporation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8273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A05656"/>
                </a:solidFill>
                <a:latin typeface="Noto Sans JP"/>
              </a:rPr>
              <a:t>Immediately runs off and evaporates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29968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8401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3337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Direct application to trees and ground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8273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A05656"/>
                </a:solidFill>
                <a:latin typeface="Noto Sans JP"/>
              </a:rPr>
              <a:t>Residual contamination in soil and water systems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15184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AquaGel-K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8401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Cross-linked polyacrylate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3337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Retains water at high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8273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A05656"/>
                </a:solidFill>
                <a:latin typeface="Noto Sans JP"/>
              </a:rPr>
              <a:t>Function lost after water evaporation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200400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B5174"/>
                </a:solidFill>
                <a:latin typeface="Noto Sans JP"/>
              </a:rPr>
              <a:t>This Work WEG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8401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Cellulosic + Silica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3337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Forms aerogel layer upon heating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8273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5B8C5A"/>
                </a:solidFill>
                <a:latin typeface="Noto Sans JP"/>
              </a:rPr>
              <a:t>Continues protecting after water evaporation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986784"/>
            <a:ext cx="7472275" cy="640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3986784"/>
            <a:ext cx="54864" cy="64008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986784"/>
            <a:ext cx="365760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D4A574"/>
                </a:solidFill>
                <a:latin typeface="Noto Sans JP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986784"/>
            <a:ext cx="6786475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JP"/>
              </a:rPr>
              <a:t>Challenge: Existing WEGs are mere "water carriers" — protection is lost simultaneously with moisture loss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20915" y="859536"/>
            <a:ext cx="3805019" cy="3840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3d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20915" y="859536"/>
            <a:ext cx="3805019" cy="3840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0915" y="4736592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Comparison at 300 s: Water vs. This Work WEG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32832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DESIGN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Design Concept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Cellulosic polymers (HEC, MC, MHEC) form water-soluble gel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Colloidal silica particles (CSP) uniformly dispersed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Water foams upon heating to form porous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Silica particles sinter and convert to aerogel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210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498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A0B8D0"/>
                </a:solidFill>
                <a:latin typeface="Noto Sans JP"/>
              </a:rPr>
              <a:t>INNOVATION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498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Noto Sans JP"/>
              </a:rPr>
              <a:t>Three Innovation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498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D4A574"/>
                </a:solidFill>
                <a:latin typeface="Noto Sans JP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14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  <a:latin typeface="Noto Sans JP"/>
              </a:rPr>
              <a:t>Breaking free from water dependence: heat-activated solid protective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498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D4A574"/>
                </a:solidFill>
                <a:latin typeface="Noto Sans JP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14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  <a:latin typeface="Noto Sans JP"/>
              </a:rPr>
              <a:t>Sustainable: naturally derived, food-grade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498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D4A574"/>
                </a:solidFill>
                <a:latin typeface="Noto Sans JP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14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  <a:latin typeface="Noto Sans JP"/>
              </a:rPr>
              <a:t>Compatible with existing spray infrastructure: sprayable fluid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197096"/>
            <a:ext cx="678466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41970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970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197096"/>
            <a:ext cx="609886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"Heat-Activated Formation of Silica Aerogels"</a:t>
            </a:r>
          </a:p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— Triggered by flame contact, the gel itself transforms into an aerogel insulator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33305" y="859536"/>
            <a:ext cx="4492630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3305" y="859536"/>
            <a:ext cx="4492630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305" y="5285232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3-stage silica aerogel formation (preview)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4000" b="1" i="0">
                <a:solidFill>
                  <a:srgbClr val="243044"/>
                </a:solidFill>
                <a:latin typeface="Noto Sans JP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88A4C0"/>
                </a:solidFill>
                <a:latin typeface="Noto Sans JP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Noto Sans JP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00" b="0" i="0">
                <a:solidFill>
                  <a:srgbClr val="9CB4CC"/>
                </a:solidFill>
                <a:latin typeface="Noto Sans JP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67788"/>
                </a:solidFill>
                <a:latin typeface="Noto Sans JP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9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Polymer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Noto Sans JP"/>
              </a:rPr>
              <a:t>HEC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Hydroxyethyl cellulose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3B5174"/>
                </a:solidFill>
                <a:latin typeface="Noto Sans JP"/>
              </a:rPr>
              <a:t>→ Base viscosity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849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137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Polymer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37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Noto Sans JP"/>
              </a:rPr>
              <a:t>MC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37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Methyl cellulose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37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3B5174"/>
                </a:solidFill>
                <a:latin typeface="Noto Sans JP"/>
              </a:rPr>
              <a:t>→ Gelation upon heating (thermoreversible)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122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410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Polymer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Noto Sans JP"/>
              </a:rPr>
              <a:t>MHEC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Methyl 2-hydroxyethyl cellulose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410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3B5174"/>
                </a:solidFill>
                <a:latin typeface="Noto Sans JP"/>
              </a:rPr>
              <a:t>→ Integrates properties of A and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54096"/>
            <a:ext cx="11460175" cy="3246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1b/c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54096"/>
            <a:ext cx="11460175" cy="3246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33679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Chemical structures of each polymer and mixing scheme with colloidal silica (CSP)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10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0944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04368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THERMAL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504368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Inverse Thermal Response (LCST Behavior)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MC dissolves in cold water (&lt;20°C) to form a low-viscosity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Gelation above LCST upon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MC gelation onset: approx. 50–60°C (concentration-dependent)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Liquid at room temperature → instantaneous gelation upon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242816"/>
            <a:ext cx="5409444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42816"/>
            <a:ext cx="4723644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MC gelates in the initial stage of flame contact → maintains foamed structure while CSP is fixed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LCST (Gelation onset)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3B5174"/>
                </a:solidFill>
                <a:latin typeface="Noto Sans JP"/>
              </a:rPr>
              <a:t>~55°C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Noto Sans JP"/>
              </a:rPr>
              <a:t>1 wt% MC aqueous solution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Thermal decomposition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A05656"/>
                </a:solidFill>
                <a:latin typeface="Noto Sans JP"/>
              </a:rPr>
              <a:t>~300°C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Noto Sans JP"/>
              </a:rPr>
              <a:t>TGA measurement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CSP sintering onset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4A7C8C"/>
                </a:solidFill>
                <a:latin typeface="Noto Sans JP"/>
              </a:rPr>
              <a:t>~200°C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Noto Sans JP"/>
              </a:rPr>
              <a:t>Inter-particle neck formation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A0B8D0"/>
                </a:solidFill>
                <a:latin typeface="Noto Sans JP"/>
              </a:rPr>
              <a:t>Temperature-dependent Process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D4A574"/>
                </a:solidFill>
                <a:latin typeface="Noto Sans JP"/>
              </a:rPr>
              <a:t>~55°C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JP"/>
              </a:rPr>
              <a:t>MC gelation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B0C0D0"/>
                </a:solidFill>
                <a:latin typeface="Noto Sans JP"/>
              </a:rPr>
              <a:t>Structure fixed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667890"/>
                </a:solidFill>
                <a:latin typeface="Noto Sans JP"/>
              </a:rPr>
              <a:t>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D4A574"/>
                </a:solidFill>
                <a:latin typeface="Noto Sans JP"/>
              </a:rPr>
              <a:t>~100°C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JP"/>
              </a:rPr>
              <a:t>Moisture evaporation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B0C0D0"/>
                </a:solidFill>
                <a:latin typeface="Noto Sans JP"/>
              </a:rPr>
              <a:t>Foaming &amp; expansion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667890"/>
                </a:solidFill>
                <a:latin typeface="Noto Sans JP"/>
              </a:rPr>
              <a:t>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D4A574"/>
                </a:solidFill>
                <a:latin typeface="Noto Sans JP"/>
              </a:rPr>
              <a:t>~200°C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JP"/>
              </a:rPr>
              <a:t>CSP sintering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B0C0D0"/>
                </a:solidFill>
                <a:latin typeface="Noto Sans JP"/>
              </a:rPr>
              <a:t>Grain boundary formation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667890"/>
                </a:solidFill>
                <a:latin typeface="Noto Sans JP"/>
              </a:rPr>
              <a:t>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D4A574"/>
                </a:solidFill>
                <a:latin typeface="Noto Sans JP"/>
              </a:rPr>
              <a:t>&gt;300°C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JP"/>
              </a:rPr>
              <a:t>Organic decomposition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B0C0D0"/>
                </a:solidFill>
                <a:latin typeface="Noto Sans JP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11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0" i="0">
                <a:solidFill>
                  <a:srgbClr val="3B5174"/>
                </a:solidFill>
                <a:latin typeface="Noto Sans JP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CSP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E293B"/>
                </a:solidFill>
                <a:latin typeface="Noto Sans JP"/>
              </a:rPr>
              <a:t>Colloidal Silica Particles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Noto Sans JP"/>
              </a:rPr>
              <a:t>Stock solution: colloidal dispersion at 12 wt% in 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Noto Sans JP"/>
              </a:rPr>
              <a:t>Particle size: monodisperse silica of tens of nanometers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Noto Sans JP"/>
              </a:rPr>
              <a:t>Formulation concentration: 5 wt% in gel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Noto Sans JP"/>
              </a:rPr>
              <a:t>Sinters upon heating → transforms into silica aerogel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0" i="0">
                <a:solidFill>
                  <a:srgbClr val="3B5174"/>
                </a:solidFill>
                <a:latin typeface="Noto Sans JP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6823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SDS (Additive)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6823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E293B"/>
                </a:solidFill>
                <a:latin typeface="Noto Sans JP"/>
              </a:rPr>
              <a:t>Sodium Dodecyl Sulfate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063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Noto Sans JP"/>
              </a:rPr>
              <a:t>Anionic surfactant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063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Noto Sans JP"/>
              </a:rPr>
              <a:t>Role: promotes foaming and enhances porous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2463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1063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Noto Sans JP"/>
              </a:rPr>
              <a:t>Addition levels: two concentrations of 0.1 wt% and 0.5 wt%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1063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Noto Sans JP"/>
              </a:rPr>
              <a:t>SEM confirms control of bubble size and distribution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97433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497433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7433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97433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The sintering temperature range of CSP overlaps with the thermal decomposition temperature of cellulose, enabling synchronized thermal response to form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12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 i="0">
                <a:solidFill>
                  <a:srgbClr val="3B5174"/>
                </a:solidFill>
                <a:latin typeface="Noto Sans JP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1" i="0">
                <a:solidFill>
                  <a:srgbClr val="1E293B"/>
                </a:solidFill>
                <a:latin typeface="Noto Sans JP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0.5 wt%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 i="0">
                <a:solidFill>
                  <a:srgbClr val="3B5174"/>
                </a:solidFill>
                <a:latin typeface="Noto Sans JP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1" i="0">
                <a:solidFill>
                  <a:srgbClr val="1E293B"/>
                </a:solidFill>
                <a:latin typeface="Noto Sans JP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HEC+MC 1 wt%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 i="0">
                <a:solidFill>
                  <a:srgbClr val="3B5174"/>
                </a:solidFill>
                <a:latin typeface="Noto Sans JP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1" i="0">
                <a:solidFill>
                  <a:srgbClr val="1E293B"/>
                </a:solidFill>
                <a:latin typeface="Noto Sans JP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MHEC 1 wt%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 i="0">
                <a:solidFill>
                  <a:srgbClr val="3B5174"/>
                </a:solidFill>
                <a:latin typeface="Noto Sans JP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1" i="0">
                <a:solidFill>
                  <a:srgbClr val="1E293B"/>
                </a:solidFill>
                <a:latin typeface="Noto Sans JP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1" i="0">
                <a:solidFill>
                  <a:srgbClr val="3B5174"/>
                </a:solidFill>
                <a:latin typeface="Noto Sans JP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1" i="0">
                <a:solidFill>
                  <a:srgbClr val="1E293B"/>
                </a:solidFill>
                <a:latin typeface="Noto Sans JP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Noto Sans JP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Comparing functional differences by varying polymer type (HEC+MC vs MHEC)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Verifying the effect on foam structure with two SDS concentration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Direct comparison with commercial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493008"/>
            <a:ext cx="5272887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Noto Sans JP"/>
              </a:rPr>
              <a:t>HEC+MC/CSP/SDS 1-5-0.1</a:t>
            </a:r>
          </a:p>
          <a:p>
            <a:pPr algn="l"/>
            <a:r>
              <a:rPr sz="1400" b="0" i="0">
                <a:solidFill>
                  <a:srgbClr val="475569"/>
                </a:solidFill>
                <a:latin typeface="Noto Sans JP"/>
              </a:rPr>
              <a:t>→ HEC+MC 1 wt% ／ CSP 5 wt% ／ SDS 0.1 wt%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13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Rheological Measurements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Oscillatory frequency sweep (G', G'')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Steady-flow sweep (viscosity vs. shear 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Herschel-Bulkley model fitting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1538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1538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4418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BURN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4418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Combustion Test (Time-to-char)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4418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586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Wood heated with butane burner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4418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Time to charring onset 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4418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5586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Photographic comparison at 120 s / 300 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7316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7316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FOAMING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0196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Foaming Index Measurement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19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1364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Foamed layer thickness measured after combustion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019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1364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Ratio to initial thickness = Foaming Index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SEM Morphological Observation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Foam structure by SDS concentration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Sintering progression by burn time (0/1/2/4 min)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31538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1538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4418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SPECTROSCOPY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4418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Spectroscopic Analysis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4418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5586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FT-IR (chemical bonding)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441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5586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XPS (surface composition)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7316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7316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0196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THERMAL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80196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Thermal Analysis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0196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1364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TGA (thermogravimetric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0196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1364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DSC (differential scanning 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14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WETTING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Contact Angle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Contact angle evaluation on wood, concrete, and metal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WEG shows low contact angle → high wettability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HEC+MC shows particularly high affinity at cellulose-wood interface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ADHESION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Vertical Surface Adhesion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Gel applied to vertically oriented substrate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G' ≫ G'' → resists gravity without flowing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Vertical surface retention equal to or better than AquaGel-K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SPRAY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Spray Application Suitability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Viscosity drops sharply under high shear (inside nozzle)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Quickly recovers high viscosity upon reaching substrate → maintains adhesion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Fully compatible with existing fire hoses and nozzles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4256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4256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42569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4000" b="1" i="0">
                <a:solidFill>
                  <a:srgbClr val="243044"/>
                </a:solidFill>
                <a:latin typeface="Noto Sans JP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88A4C0"/>
                </a:solidFill>
                <a:latin typeface="Noto Sans JP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Noto Sans JP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00" b="0" i="0">
                <a:solidFill>
                  <a:srgbClr val="9CB4CC"/>
                </a:solidFill>
                <a:latin typeface="Noto Sans JP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67788"/>
                </a:solidFill>
                <a:latin typeface="Noto Sans JP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16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This work's WEG shows higher elasticity than AquaGel-K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17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Power-law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3B5174"/>
                </a:solidFill>
                <a:latin typeface="Noto Sans JP"/>
              </a:rPr>
              <a:t>0.108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Noto Sans JP"/>
              </a:rPr>
              <a:t>HEC+MC/CSP 1-5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Power-law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3B5174"/>
                </a:solidFill>
                <a:latin typeface="Noto Sans JP"/>
              </a:rPr>
              <a:t>0.188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Noto Sans JP"/>
              </a:rPr>
              <a:t>MHEC/CSP 1-5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n &lt; 1 = shear-thinning</a:t>
            </a:r>
          </a:p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Rheology ③: Herschel-Bulkley Model Parameters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18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σ = τ₀ + K · γ̇ⁿ  （τ₀：降伏応力, K：稠度係数, n：流動指数）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4343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3934" y="16367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τ₀ (Pa)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3963" y="16367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K (Pa·sⁿ)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3993" y="16367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25684" y="16367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R²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7111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07111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AquaGel-K (Commercial control)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3934" y="207111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0.31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3963" y="207111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0.85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3993" y="207111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0.52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25684" y="207111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5B8C5A"/>
                </a:solidFill>
                <a:latin typeface="Noto Sans JP"/>
              </a:rPr>
              <a:t>&gt;0.99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05456"/>
            <a:ext cx="11460175" cy="4343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50545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34155"/>
                </a:solidFill>
                <a:latin typeface="Noto Sans JP"/>
              </a:rPr>
              <a:t>HEC+MC/CSP 1-5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3934" y="250545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34155"/>
                </a:solidFill>
                <a:latin typeface="Noto Sans JP"/>
              </a:rPr>
              <a:t>0.59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3963" y="250545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34155"/>
                </a:solidFill>
                <a:latin typeface="Noto Sans JP"/>
              </a:rPr>
              <a:t>2.04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3993" y="250545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B08442"/>
                </a:solidFill>
                <a:latin typeface="Noto Sans JP"/>
              </a:rPr>
              <a:t>0.108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25684" y="250545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5B8C5A"/>
                </a:solidFill>
                <a:latin typeface="Noto Sans JP"/>
              </a:rPr>
              <a:t>&gt;0.99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93979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3979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HEC+MC/CSP/SDS 1-5-0.1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3934" y="293979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0.54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23963" y="293979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1.87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3993" y="293979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0.115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25684" y="293979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5B8C5A"/>
                </a:solidFill>
                <a:latin typeface="Noto Sans JP"/>
              </a:rPr>
              <a:t>&gt;0.99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374136"/>
            <a:ext cx="11460175" cy="4343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37413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HEC+MC/CSP/SDS 1-5-0.5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3934" y="337413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0.48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3963" y="337413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1.65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3993" y="337413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0.122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25684" y="337413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5B8C5A"/>
                </a:solidFill>
                <a:latin typeface="Noto Sans JP"/>
              </a:rPr>
              <a:t>&gt;0.99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80847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80847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34155"/>
                </a:solidFill>
                <a:latin typeface="Noto Sans JP"/>
              </a:rPr>
              <a:t>MHEC/CSP 1-5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3934" y="38084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34155"/>
                </a:solidFill>
                <a:latin typeface="Noto Sans JP"/>
              </a:rPr>
              <a:t>0.41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23963" y="38084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34155"/>
                </a:solidFill>
                <a:latin typeface="Noto Sans JP"/>
              </a:rPr>
              <a:t>1.43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33993" y="38084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B08442"/>
                </a:solidFill>
                <a:latin typeface="Noto Sans JP"/>
              </a:rPr>
              <a:t>0.188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25684" y="38084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5B8C5A"/>
                </a:solidFill>
                <a:latin typeface="Noto Sans JP"/>
              </a:rPr>
              <a:t>&gt;0.99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0352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Yield Stress τ₀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Flow start requires minimum stress. WEG is ~2× AquaGel-K → higher resistance to sagging on vertical surfaces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31538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6130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Flow Index n (&lt;&lt; 1)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96130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n=0.108 for HEC+MC/CSP shows strong shear thinning. Balances low viscosity during spraying and high viscosity at rest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97316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61908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HEC+MC vs MHEC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1908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HEC+MC system shows lower n and higher K → stronger shear thinning. MHEC system achieves similar function with single polymer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Rheology ④: Dynamic Yield Stress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19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Dynamic yield stress (from Amplitude Sweep)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746717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~0.4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2266820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~1.2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+SDS 0.1 wt%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080141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~1.1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6426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MHEC/CSP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0" y="27157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86000" y="2715768"/>
            <a:ext cx="173345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44287" y="26426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~0.9 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2369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2369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2369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2369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Stress at G' = G'' crossover = dynamic yield stress. WEG is ~3× AquaGel-K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Loss tangent tan δ = G''/G' (elastic-dominated = &lt;1)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AquaGel-K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344168"/>
            <a:ext cx="1333423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~0.25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HEC+MC/CSP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1801368"/>
            <a:ext cx="533369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~0.10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+SDS 0.1 wt%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53247" y="2258568"/>
            <a:ext cx="640043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~0.12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26426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MHEC/CSP 1-5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53247" y="27157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53247" y="2715768"/>
            <a:ext cx="800054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11535" y="26426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~0.15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33007" y="32369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33007" y="32369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15887" y="32369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D4A574"/>
                </a:solidFill>
                <a:latin typeface="Noto Sans JP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27367" y="32369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JP"/>
              </a:rPr>
              <a:t>tan δ &lt;&lt; 1 → all formulations show clear gel behavior. Elastic component overwhelmingly dominant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  <a:latin typeface="Noto Sans JP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Lower n=0.108 → stronger shear thinning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Time to char ≈ 9–10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3B5174"/>
                </a:solidFill>
                <a:latin typeface="Noto Sans JP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  <a:latin typeface="Noto Sans JP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n=0.188 (slightly higher than HEC+MC)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Time to char ≈ 10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3B5174"/>
                </a:solidFill>
                <a:latin typeface="Noto Sans JP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Substrate: pine wood thin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Flame source: butane direct flame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22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620587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206862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HEC+MC/CSP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7581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~9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HEC+MC/CSP/SDS 1-5-0.1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MHEC/CSP 1-5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71891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~10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This work's WEG group extends protection ~40% beyond AquaGel-K and ~5× longer than water alone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A05656"/>
                </a:solidFill>
                <a:latin typeface="Noto Sans JP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A05656"/>
                </a:solidFill>
                <a:latin typeface="Noto Sans JP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A05656"/>
                </a:solidFill>
                <a:latin typeface="Noto Sans JP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Wood surface chars in ~2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A05656"/>
                </a:solidFill>
                <a:latin typeface="Noto Sans JP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9F7639"/>
                </a:solidFill>
                <a:latin typeface="Noto Sans JP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9F7639"/>
                </a:solidFill>
                <a:latin typeface="Noto Sans JP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9F7639"/>
                </a:solidFill>
                <a:latin typeface="Noto Sans JP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Chars in ~7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9F7639"/>
                </a:solidFill>
                <a:latin typeface="Noto Sans JP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3B5174"/>
                </a:solidFill>
                <a:latin typeface="Noto Sans JP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Charring prevented for ~10 min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A05656"/>
                </a:solidFill>
                <a:latin typeface="Noto Sans JP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A05656"/>
                </a:solidFill>
                <a:latin typeface="Noto Sans JP"/>
              </a:rPr>
              <a:t>Time to char: ~2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9F7639"/>
                </a:solidFill>
                <a:latin typeface="Noto Sans JP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9F7639"/>
                </a:solidFill>
                <a:latin typeface="Noto Sans JP"/>
              </a:rPr>
              <a:t>Time to char: ~7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3B5174"/>
                </a:solidFill>
                <a:latin typeface="Noto Sans JP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3B5174"/>
                </a:solidFill>
                <a:latin typeface="Noto Sans JP"/>
              </a:rPr>
              <a:t>Time to char: ~10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00" b="1" i="0">
                <a:solidFill>
                  <a:srgbClr val="88A4C0"/>
                </a:solidFill>
                <a:latin typeface="Noto Sans JP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0" b="1" i="0">
                <a:solidFill>
                  <a:srgbClr val="D4A574"/>
                </a:solidFill>
                <a:latin typeface="Noto Sans JP"/>
              </a:rPr>
              <a:t>~10</a:t>
            </a:r>
            <a:r>
              <a:rPr sz="6000" b="0" i="0">
                <a:solidFill>
                  <a:srgbClr val="C89A68"/>
                </a:solidFill>
                <a:latin typeface="Noto Sans JP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Noto Sans JP"/>
              </a:rPr>
              <a:t>Time to Char of This Work's WEG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00" b="0" i="0">
                <a:solidFill>
                  <a:srgbClr val="9CB4CC"/>
                </a:solidFill>
                <a:latin typeface="Noto Sans JP"/>
              </a:rPr>
              <a:t>Achieved ~5× longer protection than water alone (~2 min) and ~1.4× longer than commercial AquaGel-K (~7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C0D0E0"/>
                </a:solidFill>
                <a:latin typeface="Noto Sans JP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C0D0E0"/>
                </a:solidFill>
                <a:latin typeface="Noto Sans JP"/>
              </a:rPr>
              <a:t>~2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C0D0E0"/>
                </a:solidFill>
                <a:latin typeface="Noto Sans JP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384048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C0D0E0"/>
                </a:solidFill>
                <a:latin typeface="Noto Sans JP"/>
              </a:rPr>
              <a:t>~7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C0D0E0"/>
                </a:solidFill>
                <a:latin typeface="Noto Sans JP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C0D0E0"/>
                </a:solidFill>
                <a:latin typeface="Noto Sans JP"/>
              </a:rPr>
              <a:t>~10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556677"/>
                </a:solidFill>
                <a:latin typeface="Noto Sans JP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HEC+MC/CSP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71822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~2.2×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+SDS 0.1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2030630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~2.6×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MHEC/CSP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18119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Noto Sans JP"/>
              </a:rPr>
              <a:t>~2.3×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SDS 0.1 wt% is optimal: forms uniform fine bubbles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Noto Sans JP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Dense silica network. Low porosity.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3B5174"/>
                </a:solidFill>
                <a:latin typeface="Noto Sans JP"/>
              </a:rPr>
              <a:t>0.1% SDS (Optimal)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Uniform fine bubbles. Highest foaming index.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Noto Sans JP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Non-uniform and coarsened bubble size.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28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A05656"/>
                </a:solidFill>
                <a:latin typeface="Noto Sans JP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A05656"/>
                </a:solidFill>
                <a:latin typeface="Noto Sans JP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5B8C5A"/>
                </a:solidFill>
                <a:latin typeface="Noto Sans JP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5B8C5A"/>
                </a:solidFill>
                <a:latin typeface="Noto Sans JP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5B8C5A"/>
                </a:solidFill>
                <a:latin typeface="Noto Sans JP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4800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Element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58276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Before combustion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37825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After combustion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723644"/>
            <a:ext cx="5638647" cy="4800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34155"/>
                </a:solidFill>
                <a:latin typeface="Noto Sans JP"/>
              </a:rPr>
              <a:t>Si 2p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58276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~4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7825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5B8C5A"/>
                </a:solidFill>
                <a:latin typeface="Noto Sans JP"/>
              </a:rPr>
              <a:t>~33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203704"/>
            <a:ext cx="5638647" cy="4800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34155"/>
                </a:solidFill>
                <a:latin typeface="Noto Sans JP"/>
              </a:rPr>
              <a:t>C 1s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58276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~55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7825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A05656"/>
                </a:solidFill>
                <a:latin typeface="Noto Sans JP"/>
              </a:rPr>
              <a:t>~8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7287" y="2683764"/>
            <a:ext cx="5638647" cy="4800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78727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334155"/>
                </a:solidFill>
                <a:latin typeface="Noto Sans JP"/>
              </a:rPr>
              <a:t>O 1s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8276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~41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37825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~59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D4A574"/>
                </a:solidFill>
                <a:latin typeface="Noto Sans JP"/>
              </a:rPr>
              <a:t>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JP"/>
              </a:rPr>
              <a:t>Si concentration increases ~8×, C concentration greatly reduced → organic matrix removed, silica exposed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Peak Position Verification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29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Noto Sans JP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Noto Sans JP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Noto Sans JP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Noto Sans JP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oto Sans JP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5B8C5A"/>
                </a:solidFill>
                <a:latin typeface="Noto Sans JP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Noto Sans JP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A05656"/>
                </a:solidFill>
                <a:latin typeface="Noto Sans JP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4A7C8C"/>
                </a:solidFill>
                <a:latin typeface="Noto Sans JP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Noto Sans JP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A05656"/>
                </a:solidFill>
                <a:latin typeface="Noto Sans JP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Noto Sans JP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Supplementary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30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Supplementary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31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JP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AAB4C0"/>
                </a:solidFill>
                <a:latin typeface="Noto Sans JP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Noto Sans JP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64748B"/>
                </a:solidFill>
                <a:latin typeface="Noto Sans JP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Noto Sans JP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Noto Sans JP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Noto Sans JP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64748B"/>
                </a:solidFill>
                <a:latin typeface="Noto Sans JP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Noto Sans JP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Noto Sans JP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Noto Sans JP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64748B"/>
                </a:solidFill>
                <a:latin typeface="Noto Sans JP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Noto Sans JP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Noto Sans JP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Noto Sans JP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Noto Sans JP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B5174"/>
                </a:solidFill>
                <a:latin typeface="Noto Sans JP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4000" b="1" i="0">
                <a:solidFill>
                  <a:srgbClr val="243044"/>
                </a:solidFill>
                <a:latin typeface="Noto Sans JP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88A4C0"/>
                </a:solidFill>
                <a:latin typeface="Noto Sans JP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Noto Sans JP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00" b="0" i="0">
                <a:solidFill>
                  <a:srgbClr val="9CB4CC"/>
                </a:solidFill>
                <a:latin typeface="Noto Sans JP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C0D0E0"/>
                </a:solidFill>
                <a:latin typeface="Noto Sans JP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67788"/>
                </a:solidFill>
                <a:latin typeface="Noto Sans JP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33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Noto Sans JP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5B8C5A"/>
                </a:solidFill>
                <a:latin typeface="Noto Sans JP"/>
              </a:rPr>
              <a:t>5× longer protection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Noto Sans JP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5B8C5A"/>
                </a:solidFill>
                <a:latin typeface="Noto Sans JP"/>
              </a:rPr>
              <a:t>Continues protecting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Noto Sans JP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5B8C5A"/>
                </a:solidFill>
                <a:latin typeface="Noto Sans JP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Noto Sans JP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5B8C5A"/>
                </a:solidFill>
                <a:latin typeface="Noto Sans JP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Discussion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Current Challenges and Future Research Directions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34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Current Limitations &amp; Challenges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271016"/>
            <a:ext cx="1772869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1399032"/>
            <a:ext cx="151683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1636776"/>
            <a:ext cx="1516837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No field trials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1965960"/>
            <a:ext cx="1516837" cy="12344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Lab scale only. Verification in real environments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8629" y="1271016"/>
            <a:ext cx="137160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Noto Sans JP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75789" y="1271016"/>
            <a:ext cx="1772869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03805" y="1399032"/>
            <a:ext cx="151683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Durability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3805" y="1636776"/>
            <a:ext cx="1516837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Long-term storage stability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3805" y="1965960"/>
            <a:ext cx="1516837" cy="12344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Evaluation of phase separation and sedimentation. Seasonal storage compatibility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8658" y="1271016"/>
            <a:ext cx="137160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Noto Sans JP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85818" y="1271016"/>
            <a:ext cx="1772869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3834" y="1399032"/>
            <a:ext cx="151683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3834" y="1636776"/>
            <a:ext cx="1516837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Mass production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3834" y="1965960"/>
            <a:ext cx="1516837" cy="12344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Noto Sans JP"/>
              </a:rPr>
              <a:t>Establishing raw material costs and large-scale preparation processes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465576"/>
            <a:ext cx="559292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4655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4655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3B5174"/>
                </a:solidFill>
                <a:latin typeface="Noto Sans JP"/>
              </a:rPr>
              <a:t>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465576"/>
            <a:ext cx="490712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Noto Sans JP"/>
              </a:rPr>
              <a:t>Behavior under real-world wind, dryness, and temperature gradients not yet evaluated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Noto Sans JP"/>
              </a:rPr>
              <a:t>Future Research Directions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447" y="136245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B5174"/>
                </a:solidFill>
                <a:latin typeface="Noto Sans JP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36245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Performance validation in large-scale combustion furnaces and outdoor simulated fire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447" y="186537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B5174"/>
                </a:solidFill>
                <a:latin typeface="Noto Sans JP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186537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Adhesion evaluation on different substrates (concrete, metal, vegetation)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447" y="236829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B5174"/>
                </a:solidFill>
                <a:latin typeface="Noto Sans JP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36829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Direct measurement of aerogel thermal conductivity (λ = 0.015–0.040 W/m·K expected)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4447" y="287121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B5174"/>
                </a:solidFill>
                <a:latin typeface="Noto Sans JP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87121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Exploration of SDS alternative surfactants (improved biodegradability)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4447" y="337413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B5174"/>
                </a:solidFill>
                <a:latin typeface="Noto Sans JP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7413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Systematic study of MC/HEC concentration optimization and CSP particle size effects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4447" y="3877056"/>
            <a:ext cx="3657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B5174"/>
                </a:solidFill>
                <a:latin typeface="Noto Sans JP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0207" y="3877056"/>
            <a:ext cx="50442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Noto Sans JP"/>
              </a:rPr>
              <a:t>Waterproofing improvement to eliminate need for reapplication after rainfall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88A4C4"/>
                </a:solidFill>
                <a:latin typeface="Noto Sans JP"/>
              </a:rPr>
              <a:t>Discussion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Noto Sans JP"/>
              </a:rPr>
              <a:t>Research Findings Summary and Outlook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Noto Sans JP"/>
              </a:rPr>
              <a:t>35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3B5174"/>
                </a:solidFill>
                <a:latin typeface="Noto Sans JP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Time to char ~10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~5× water, ~40% longer than AquaGel-K. Greatly extends wood protection time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3B5174"/>
                </a:solidFill>
                <a:latin typeface="Noto Sans JP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CSP heat-activated sintering → porous silica layer continuously insulates even after water evaporation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3B5174"/>
                </a:solidFill>
                <a:latin typeface="Noto Sans JP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Compatible with existing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Shear-thinning fluid with n = 0.108–0.188. Sprayable through existing hoses and nozzles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Noto Sans JP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3B5174"/>
                </a:solidFill>
                <a:latin typeface="Noto Sans JP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Noto Sans JP"/>
              </a:rPr>
              <a:t>Sustainable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Cellulose derivatives are food-grade; silica is a harmless inorganic material. Low environmental impact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Anticipated Implementation Scenarios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Pre-protective application to WUI structures and critical infrastructure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Fire break formation along potential spread paths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Coating of metal structures such as power lines and communication towers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  <a:latin typeface="Noto Sans JP"/>
              </a:rPr>
              <a:t>Future Challenges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Large-scale field spray tests (real-world benchmarking)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Long-term storage stability and cost evaluation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3B5174"/>
                </a:solidFill>
                <a:latin typeface="Noto Sans JP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Noto Sans JP"/>
              </a:rPr>
              <a:t>Environmental impact assessment (biodegradability testing)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D4A574"/>
                </a:solidFill>
                <a:latin typeface="Noto Sans JP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oto Sans JP"/>
              </a:rPr>
              <a:t>From "water carrier" to "self-transforming fire-retardant material" — A new WEG design paradigm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00" b="1" i="0">
                <a:solidFill>
                  <a:srgbClr val="88A4C0"/>
                </a:solidFill>
                <a:latin typeface="Noto Sans JP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0" b="1" i="0">
                <a:solidFill>
                  <a:srgbClr val="D4A574"/>
                </a:solidFill>
                <a:latin typeface="Noto Sans JP"/>
              </a:rPr>
              <a:t>5</a:t>
            </a:r>
            <a:r>
              <a:rPr sz="7500" b="1" i="0">
                <a:solidFill>
                  <a:srgbClr val="C89A68"/>
                </a:solidFill>
                <a:latin typeface="Noto Sans JP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Noto Sans JP"/>
              </a:rPr>
              <a:t>Time to Char Improvement vs. Conventional (Water)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0" i="0">
                <a:solidFill>
                  <a:srgbClr val="A8BCD4"/>
                </a:solidFill>
                <a:latin typeface="Noto Sans JP"/>
              </a:rPr>
              <a:t>From "water carrier" to "self-transforming fire-retardant material"</a:t>
            </a:r>
          </a:p>
          <a:p>
            <a:pPr algn="ctr"/>
            <a:r>
              <a:rPr sz="1500" b="0" i="0">
                <a:solidFill>
                  <a:srgbClr val="A8BCD4"/>
                </a:solidFill>
                <a:latin typeface="Noto Sans JP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C0D0E0"/>
                </a:solidFill>
                <a:latin typeface="Noto Sans JP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C0D0E0"/>
                </a:solidFill>
                <a:latin typeface="Noto Sans JP"/>
              </a:rPr>
              <a:t>~10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C0D0E0"/>
                </a:solidFill>
                <a:latin typeface="Noto Sans JP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090672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C0D0E0"/>
                </a:solidFill>
                <a:latin typeface="Noto Sans JP"/>
              </a:rPr>
              <a:t>~2.6×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C0D0E0"/>
                </a:solidFill>
                <a:latin typeface="Noto Sans JP"/>
              </a:rPr>
              <a:t>Power-law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523036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C0D0E0"/>
                </a:solidFill>
                <a:latin typeface="Noto Sans JP"/>
              </a:rPr>
              <a:t>0.108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000" b="0" i="0">
                <a:solidFill>
                  <a:srgbClr val="556677"/>
                </a:solidFill>
                <a:latin typeface="Noto Sans JP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