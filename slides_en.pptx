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Predecessor Work: PNP Gel Platform (Yu et al., PNAS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same HEC+MC/CSP platform was already established in 2016 as a carrier for ammonium polyphosphate fire retardants (Phos-Chek LC95A) — this work builds on that 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5592927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Established in Yu et al., PNAS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Foundational properties of PNP gel (HEC+MC + CSP)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PP 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Cellulose chains selectively adsorb onto CSP (noncovalent, multivalent)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Shear thinning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2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Power-law n &lt; 1 (suitable for spraying and pipeline pumping)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2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Gel structure rapidly recovers after stress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Linearly scalable from 0.5 mL to 15 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APP carrier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2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Carries Phos-Chek LC95A; improves adhesion &amp; rain resistance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1572768"/>
            <a:ext cx="5592927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New capabilities gained in this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2463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The gel itself transforms into an insulating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2463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Stand-alone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2079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Suppresses fire without depending on 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2463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2463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Heat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2079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Flame contact → water evaporation → CSP sintering → porous silica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2463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2463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Aerogel formation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2079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Forms a highly insulating porous silica layer in situ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52463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2463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Dry resistance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2079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Overcomes the fatal flaw of conventional WEGs ("dry = useless")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52463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2463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Long-term stability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2079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Yield stress retained after 455 days (see Supplement 3/3)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5577840"/>
            <a:ext cx="11460175" cy="106070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577840"/>
            <a:ext cx="73152" cy="106070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2194560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577840"/>
            <a:ext cx="9357055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The innovation: from "carrier of chemicals" to "material that itself becomes a thermal barrier" — redefining the PP gel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n &lt;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Flow index n &lt; 1 — reduced viscosity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&lt;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Strong shear-thinning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 Translates Directly into Field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41148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Rheological Design (measured properties)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9824" y="859536"/>
            <a:ext cx="637611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Expected Field Performance (behavior in use)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243584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243584"/>
            <a:ext cx="54864" cy="1207008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408176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Low Power-law Index 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883664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≪ 1)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45152" y="1645920"/>
            <a:ext cx="640080" cy="402336"/>
          </a:xfrm>
          <a:prstGeom prst="rightArrow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49824" y="1243584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0992" y="1389888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0992" y="1810512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under nozzle's high shear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Deployable with existing hoses/nozzles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633472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54864" cy="1207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High Storage Modulus G' (G' ≫ G'')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273552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Holds gel state at rest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45152" y="3035808"/>
            <a:ext cx="640080" cy="402336"/>
          </a:xfrm>
          <a:prstGeom prst="rightArrow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49824" y="2633472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50992" y="2779776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3B5174"/>
                </a:solidFill>
                <a:latin typeface="Arial"/>
              </a:rPr>
              <a:t>No run-off on vertical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200400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Retains shape and adheres after application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Holds on vertical substrates (wood, walls)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23360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54864" cy="12070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187952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Self-healing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663440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instantly after step-strain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45152" y="4425696"/>
            <a:ext cx="640080" cy="402336"/>
          </a:xfrm>
          <a:prstGeom prst="rightArrow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49824" y="4023360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0992" y="4169664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D4A574"/>
                </a:solidFill>
                <a:latin typeface="Arial"/>
              </a:rPr>
              <a:t>Forms protective layer on landing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50992" y="4590288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Re-gels immediately after spraying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Fire layer maintained against wind/rain/gravity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08990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089904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08990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08990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These field performances are inferred from measured rheology. No independent contact-angle or adhesion-force tests were performed in this paper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Two Yield Stresses — Static (Adhesion) &amp; Dynamic (Spraying)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Yield stress = stress needed to initiate / maintain flow of the gel. Evaluated with two definitions (Fig. 2c–d, S3)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609344"/>
            <a:ext cx="4492630" cy="3246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609344"/>
            <a:ext cx="4492630" cy="3246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89204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Steady-shear flow sweep → dynamic yield stress via HB fit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7846" y="160934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7846" y="1609344"/>
            <a:ext cx="54864" cy="155448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79014" y="171907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Static yield stress σ_static ("absolute" yield stress)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9014" y="2066544"/>
            <a:ext cx="6437193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stress at G' / G'' crossover in a large-amplitude oscillatory shear (LAOS) sweep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9014" y="2505456"/>
            <a:ext cx="6437193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Meaning: stress to initiate flow (start deforming)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Higher = stronger adhesion to vertical/elevated fuel surfaces, reluctant to 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7846" y="330098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77846" y="3300984"/>
            <a:ext cx="54864" cy="155448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9014" y="341071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Dynamic yield stress σ_dynamic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9014" y="375818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fit flow sweep (100→0.01 s⁻¹) to the Herschel–Bulkley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9014" y="406908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Meaning: stress to maintain flow → moderate value enables spraying within pump-pressure limits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Measured (fresh): HEC+MC/CSP 33.34 Pa / MHEC/CSP 3.31 Pa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5056632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5056632"/>
            <a:ext cx="54864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056632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56632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The key to deployability: high static yield stress (adhesion) + moderate dynamic yield stress (spraying). Adding surfactant (SDS) lowers both, affecting adhesion and stability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Aging of Dynamic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Dynamic yield stress: obtained by fitting the steady-shear flow sweep to the Herschel–Bulkley model (σ_d) — stress to maintain flow (Fig. S7)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455)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Dynamic Yield Stress (HB fit)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Obtained by fitting the steady-shear flow sweep to the HB model. HEC+MC/CSP: 33.34 Pa; MHEC/CSP: 3.31 Pa (Day 1)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stiffens with aging (33.34→68.9 Pa). MHEC changes gently and is simpler to manufacture (single polymer)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Self-healing: Instant G' / G'' Recovery via Step-strain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Step-strain Protocol (ω = 1 rad/s)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31673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16736"/>
            <a:ext cx="45720" cy="9601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8988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38988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Low strain (γ = 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68249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preserved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&gt; G'' (gel state)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36829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368296"/>
            <a:ext cx="45720" cy="9601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44144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44144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High strain (γ = 500%)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73405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broken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&lt; G'' (liquid state)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419856"/>
            <a:ext cx="45720" cy="9601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49300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9300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Return to low strain (γ = 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78561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Particle-polymer interactions reform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recovers instantly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/ G'' Time-series (cyclic step-strain)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1271016"/>
            <a:ext cx="5592927" cy="3108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(step-strain)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3007" y="1271016"/>
            <a:ext cx="5592927" cy="3108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4416552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γ=1%→500%→1% cycle: G' recovers immediately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4562856"/>
            <a:ext cx="5592927" cy="1005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562856"/>
            <a:ext cx="45720" cy="10058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7599" y="4654296"/>
            <a:ext cx="533689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POINT: Guarantees instant adhesion after spraying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7599" y="4946904"/>
            <a:ext cx="533689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Viscosity drops at nozzle's high shear → G' recovers instantly on substrate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Holds on vertical surfaces without dripping (self-healing = key to deployability)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108192"/>
            <a:ext cx="11460175" cy="5486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108192"/>
            <a:ext cx="54864" cy="5486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108192"/>
            <a:ext cx="365760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108192"/>
            <a:ext cx="10774375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Reversible network via noncovalent bonds (H-bonds, multivalent interactions) → Self-healing demonstrated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Effect on Rheology (Fig. 2e–h)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4754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4754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Adding SDS to HEC+MC/CSP gels changes properties concentration-dependently — optimized at 0.1 wt% (G'=58.2 Pa), softened at 0.5 wt% (G'=33.8 Pa)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/ G'' vs angular frequency (SAOS, 3 SDS levels)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8143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8143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8143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and tan δ bar chart (at 1 rad/s)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 shear rate (Herschel–Bulkley fit)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8143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8143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by SDS concentration (0.05 Pa reference line)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6236208"/>
            <a:ext cx="11460175" cy="402336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6236208"/>
            <a:ext cx="73152" cy="40233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236208"/>
            <a:ext cx="219456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6236208"/>
            <a:ext cx="9357055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SDS 0.1 wt% is optimal: maximum G' (58.2 Pa), minimum tan δ (0.193), shear thinning maintained — directly governs foam structure control in subsequent slides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Expected to Improve Foaming — But the Opposite Occurred (Fig.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Hypothesis (purpose of SDS)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promotes bubble formation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increases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Thicker aerogel insulation layer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33723" y="1161288"/>
            <a:ext cx="640080" cy="402336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9927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1095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095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0 / 0.1 / 0.5 wt% added to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HEC+MC/CSP; combustion tested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quantified (Fig. 4a/4b)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17891" y="1161288"/>
            <a:ext cx="640080" cy="402336"/>
          </a:xfrm>
          <a:prstGeom prst="rightArrow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34095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1778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34095" y="859536"/>
            <a:ext cx="54864" cy="10058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5263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Result (opposite of expected)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5263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addition reduced Foaming Index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2.6 (0%) → 2.3 (0.1%) → even lower (0.5%)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did not improve foaming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Foamed layer appearance after combustion (by SDS 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7287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7287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per formulation (quantified)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297680"/>
            <a:ext cx="5730087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59028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 (SDS 0%)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668" y="459028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95604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83280" y="502920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383280" y="5029200"/>
            <a:ext cx="2712114" cy="14630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668" y="495604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32180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539496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383280" y="5394960"/>
            <a:ext cx="2219002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668" y="532180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even lower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68756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(reference)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76072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383280" y="5760720"/>
            <a:ext cx="6163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56668" y="568756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6144768"/>
            <a:ext cx="11460175" cy="53035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6144768"/>
            <a:ext cx="54864" cy="5303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6144768"/>
            <a:ext cx="365760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!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6144768"/>
            <a:ext cx="10774375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SDS did not improve foaming — instead coarsened bubble structure (Fig. 4c SEM) → explains the Foaming Index decrease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(fresh)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8407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455)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8407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8407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(455 days aged)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MHEC Advantages: Long-term Stability and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54864" cy="25603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① Gentle aging behavior (SI Fig. S7)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54191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Yield stress change: Day 1 → Day 455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6420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 / CSP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3852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38528"/>
            <a:ext cx="1800705" cy="201168"/>
          </a:xfrm>
          <a:prstGeom prst="roundRect">
            <a:avLst>
              <a:gd name="adj" fmla="val 4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9073" y="186537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+38 %</a:t>
            </a:r>
          </a:p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(3.31 → 4.56 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8716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 / CSP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3239" y="268833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+107 %</a:t>
            </a:r>
          </a:p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(33.3 → 68.9 Pa)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401568"/>
            <a:ext cx="5419191" cy="822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016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511296"/>
            <a:ext cx="5181447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MHEC system remains primarily noncovalent → properties stable over 1+ year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(HEC+MC system undergoes Si–O covalent condensation → stiffness increases)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523631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64748B"/>
                </a:solidFill>
                <a:latin typeface="Arial"/>
              </a:rPr>
              <a:t>Source: SI Fig. S7 (flow sweep · HB model fit)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47872"/>
            <a:ext cx="5602071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57600"/>
            <a:ext cx="541919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A7C8C"/>
                </a:solidFill>
                <a:latin typeface="Arial"/>
              </a:rPr>
              <a:t>Why stable: Si–O covalent condensation is suppressed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50208"/>
            <a:ext cx="541919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In HEC+MC/CSP, Si–O condensation between CSP and polymer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progresses over time, increasing stiffness. In MHEC/CSP,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this condensation is suppressed, giving gentle property drift.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3863" y="859536"/>
            <a:ext cx="54864" cy="384048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6743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② Manufacturing cost &amp; quality control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303" y="1335024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1607" y="1444752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Single polymer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1607" y="1737360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need to source and blend HEC + MC separately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Fewer raw material types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15303" y="2304288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607" y="2414016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Simplified formulation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706624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mixing ratio tuning or homogenization of 2 components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Reduced batch-to-batch variability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15303" y="3273552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1607" y="3383280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Lower QC burden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675888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raw material specification to manage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Cost advantage becomes clear at scale-up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303" y="4242816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1607" y="4352544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Logistics / storage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7" y="4645152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material to store and transport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Streamlined supply chain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5925312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925312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925312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925312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Note: No quantitative cost comparison data is reported in this paper. MHEC's advantage is based on its single-polymer nature and measured aging stability (SI Fig. S7).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42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