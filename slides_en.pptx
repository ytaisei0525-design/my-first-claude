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731520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9AB0"/>
                </a:solidFill>
                <a:latin typeface="Arial"/>
              </a:rPr>
              <a:t>RESEARCH PRESENTATION  ·  2024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62495" y="457200"/>
            <a:ext cx="457200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232" b="0" i="0">
                <a:solidFill>
                  <a:srgbClr val="889AB0"/>
                </a:solidFill>
                <a:latin typeface="Arial"/>
              </a:rPr>
              <a:t>Adv. Mater.  ·  Dong et al., 2024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554480"/>
            <a:ext cx="10698480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344" b="1" i="0">
                <a:solidFill>
                  <a:srgbClr val="889AB0"/>
                </a:solidFill>
                <a:latin typeface="Arial"/>
              </a:rPr>
              <a:t>WATER-ENHANCING GELS  ·  ADVANCED MATERIALS 2024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03120"/>
            <a:ext cx="11247120" cy="10972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4928" b="1" i="0">
                <a:solidFill>
                  <a:srgbClr val="FFFFFF"/>
                </a:solidFill>
                <a:latin typeface="Arial"/>
              </a:rPr>
              <a:t>Protecting Against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926080"/>
            <a:ext cx="11247120" cy="9144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4928" b="1" i="0">
                <a:solidFill>
                  <a:srgbClr val="D4A574"/>
                </a:solidFill>
                <a:latin typeface="Arial"/>
              </a:rPr>
              <a:t>Heat-Activated Silica Aerogels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114800"/>
            <a:ext cx="10332720" cy="9144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680" b="0" i="0">
                <a:solidFill>
                  <a:srgbClr val="B8CCE2"/>
                </a:solidFill>
                <a:latin typeface="Arial"/>
              </a:rPr>
              <a:t>Next-generation fire-retardant gel of cellulosic polymers × colloidal silica particles</a:t>
            </a:r>
          </a:p>
          <a:p>
            <a:pPr algn="ctr"/>
            <a:r>
              <a:rPr sz="1680" b="0" i="0">
                <a:solidFill>
                  <a:srgbClr val="B8CCE2"/>
                </a:solidFill>
                <a:latin typeface="Arial"/>
              </a:rPr>
              <a:t>that self-foams upon heating to form an aerogel insulating layer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486400"/>
            <a:ext cx="1124712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889CB4"/>
                </a:solidFill>
                <a:latin typeface="Arial"/>
              </a:rPr>
              <a:t>Materials Chemistry / Fire Protection Eng.    ·    Stanford University, Appel Lab    ·    Adv. Mater. 36, 2407375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035040"/>
            <a:ext cx="731520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667788"/>
                </a:solidFill>
                <a:latin typeface="Arial"/>
              </a:rPr>
              <a:t>DOI: 10.1002/adma.202407375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11535" y="6528816"/>
            <a:ext cx="109728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67788"/>
                </a:solidFill>
                <a:latin typeface="Arial"/>
              </a:rPr>
              <a:t>1 / 43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Contents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Presentation Outline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2769031" cy="384048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088136"/>
            <a:ext cx="2403271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0" i="0">
                <a:solidFill>
                  <a:srgbClr val="3B5174"/>
                </a:solidFill>
                <a:latin typeface="Arial"/>
              </a:rPr>
              <a:t>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63677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PART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956816"/>
            <a:ext cx="240327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016" b="1" i="0">
                <a:solidFill>
                  <a:srgbClr val="1E293B"/>
                </a:solidFill>
                <a:latin typeface="Arial"/>
              </a:rPr>
              <a:t>Background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459736"/>
            <a:ext cx="2403271" cy="16459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Current state of wildfires, limitations of existing technologies (Phos-Chek, AquaGel-K), and innovation of this research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28853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64748B"/>
                </a:solidFill>
                <a:latin typeface="Arial"/>
              </a:rPr>
              <a:t>Slides 4–7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62807" y="859536"/>
            <a:ext cx="2769031" cy="384048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62807" y="85953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45687" y="1088136"/>
            <a:ext cx="2403271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0" i="0">
                <a:solidFill>
                  <a:srgbClr val="3B5174"/>
                </a:solidFill>
                <a:latin typeface="Arial"/>
              </a:rPr>
              <a:t>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45687" y="163677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PART 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45687" y="1956816"/>
            <a:ext cx="240327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016" b="1" i="0">
                <a:solidFill>
                  <a:srgbClr val="1E293B"/>
                </a:solidFill>
                <a:latin typeface="Arial"/>
              </a:rPr>
              <a:t>Materials &amp; Methods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45687" y="2459736"/>
            <a:ext cx="2403271" cy="16459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Cellulosic polymers, CSP, formulations (5 types), evaluation methods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45687" y="428853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64748B"/>
                </a:solidFill>
                <a:latin typeface="Arial"/>
              </a:rPr>
              <a:t>Slides 9–16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9855" y="859536"/>
            <a:ext cx="2769031" cy="384048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59855" y="85953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42735" y="1088136"/>
            <a:ext cx="2403271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0" i="0">
                <a:solidFill>
                  <a:srgbClr val="3B5174"/>
                </a:solidFill>
                <a:latin typeface="Arial"/>
              </a:rPr>
              <a:t>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42735" y="163677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PART 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42735" y="1956816"/>
            <a:ext cx="240327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016" b="1" i="0">
                <a:solidFill>
                  <a:srgbClr val="1E293B"/>
                </a:solidFill>
                <a:latin typeface="Arial"/>
              </a:rPr>
              <a:t>Results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42735" y="2459736"/>
            <a:ext cx="2403271" cy="16459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Rheology, combustion tests, foaming index, SEM observation, mechanism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42735" y="428853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64748B"/>
                </a:solidFill>
                <a:latin typeface="Arial"/>
              </a:rPr>
              <a:t>Slides 18–34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056903" y="859536"/>
            <a:ext cx="2769031" cy="384048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056903" y="85953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239783" y="1088136"/>
            <a:ext cx="2403271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0" i="0">
                <a:solidFill>
                  <a:srgbClr val="3B5174"/>
                </a:solidFill>
                <a:latin typeface="Arial"/>
              </a:rPr>
              <a:t>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39783" y="163677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PART 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39783" y="1956816"/>
            <a:ext cx="240327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016" b="1" i="0">
                <a:solidFill>
                  <a:srgbClr val="1E293B"/>
                </a:solidFill>
                <a:latin typeface="Arial"/>
              </a:rPr>
              <a:t>Discussion &amp; Conclusion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39783" y="2459736"/>
            <a:ext cx="2403271" cy="16459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Implementation scenarios, comparison with existing products, conclusions and future prospects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39783" y="428853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64748B"/>
                </a:solidFill>
                <a:latin typeface="Arial"/>
              </a:rPr>
              <a:t>Slides 36–39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65760" y="4864608"/>
            <a:ext cx="11460175" cy="5029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65760" y="4864608"/>
            <a:ext cx="54864" cy="50292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8640" y="4864608"/>
            <a:ext cx="365760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ⓘ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0120" y="4864608"/>
            <a:ext cx="1077437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Key Message: Foaming upon heating + sintering of silica particles spontaneously forms an aerogel layer, achieving longer protection than commercial products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B08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62495" y="457200"/>
            <a:ext cx="4572000" cy="6400800"/>
          </a:xfrm>
          <a:prstGeom prst="rect">
            <a:avLst/>
          </a:prstGeom>
          <a:noFill/>
        </p:spPr>
        <p:txBody>
          <a:bodyPr wrap="square" anchor="b" lIns="36000" rIns="36000" tIns="18000" bIns="18000">
            <a:spAutoFit/>
          </a:bodyPr>
          <a:lstStyle/>
          <a:p>
            <a:pPr algn="r"/>
            <a:r>
              <a:rPr sz="26880" b="1" i="0">
                <a:solidFill>
                  <a:srgbClr val="243044"/>
                </a:solidFill>
                <a:latin typeface="Arial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914400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88A4C0"/>
                </a:solidFill>
                <a:latin typeface="Arial"/>
              </a:rPr>
              <a:t>Part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914400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5824" b="1" i="0">
                <a:solidFill>
                  <a:srgbClr val="FFFFFF"/>
                </a:solidFill>
                <a:latin typeface="Arial"/>
              </a:rPr>
              <a:t>Background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383280"/>
            <a:ext cx="9144000" cy="9144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904" b="0" i="0">
                <a:solidFill>
                  <a:srgbClr val="9CB4CC"/>
                </a:solidFill>
                <a:latin typeface="Arial"/>
              </a:rPr>
              <a:t>Wildfire damage under climate change and the fundamental limitations of existing fire retardant technologies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572000"/>
            <a:ext cx="2651760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572000"/>
            <a:ext cx="2651760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Wildfire Status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712464" y="4572000"/>
            <a:ext cx="4114800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12464" y="4572000"/>
            <a:ext cx="4114800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Existing WEG / Retardants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73568" y="4572000"/>
            <a:ext cx="3236976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73568" y="4572000"/>
            <a:ext cx="3236976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Research Innovation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11535" y="6528816"/>
            <a:ext cx="109728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67788"/>
                </a:solidFill>
                <a:latin typeface="Arial"/>
              </a:rPr>
              <a:t>3 / 43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Background 1/5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Growing Severity of Wildfire Damage and WUI Risk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4 / 43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859536"/>
            <a:ext cx="45720" cy="164592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859536"/>
            <a:ext cx="4538953" cy="10058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7616" b="1" i="0">
                <a:solidFill>
                  <a:srgbClr val="1E293B"/>
                </a:solidFill>
                <a:latin typeface="Arial"/>
              </a:rPr>
              <a:t>5×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1847088"/>
            <a:ext cx="4538953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334155"/>
                </a:solidFill>
                <a:latin typeface="Arial"/>
              </a:rPr>
              <a:t>Increase in large-scale wildfires (past 30 years)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2139696"/>
            <a:ext cx="453895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Driven by climate change and fuel accumulation (US/EU/AU)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0352" y="2560320"/>
            <a:ext cx="3527659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5760" y="2761488"/>
            <a:ext cx="45720" cy="1463040"/>
          </a:xfrm>
          <a:prstGeom prst="rect">
            <a:avLst/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2761488"/>
            <a:ext cx="4538953" cy="8229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4480" b="1" i="0">
                <a:solidFill>
                  <a:srgbClr val="1E293B"/>
                </a:solidFill>
                <a:latin typeface="Arial"/>
              </a:rPr>
              <a:t>45 million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3584448"/>
            <a:ext cx="4538953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334155"/>
                </a:solidFill>
                <a:latin typeface="Arial"/>
              </a:rPr>
              <a:t>U.S. WUI residents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" y="3877056"/>
            <a:ext cx="453895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High-risk population at the wildland–urban interface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30352" y="4315968"/>
            <a:ext cx="423319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0352" y="4480560"/>
            <a:ext cx="4538953" cy="6400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1">
                <a:solidFill>
                  <a:srgbClr val="475569"/>
                </a:solidFill>
                <a:latin typeface="Arial"/>
              </a:rPr>
              <a:t>Devastating loss to economy, infrastructure, natural</a:t>
            </a:r>
          </a:p>
          <a:p>
            <a:pPr algn="l"/>
            <a:r>
              <a:rPr sz="1344" b="0" i="1">
                <a:solidFill>
                  <a:srgbClr val="475569"/>
                </a:solidFill>
                <a:latin typeface="Arial"/>
              </a:rPr>
              <a:t>resources and WUI residents — eco-friendly retardants are urgently needed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252185" y="859536"/>
            <a:ext cx="6573749" cy="292608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361913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61913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Image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52185" y="859536"/>
            <a:ext cx="6573749" cy="2926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52185" y="3822192"/>
            <a:ext cx="657374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Wildfire / WUI boundary zone (photo)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252185" y="4206240"/>
            <a:ext cx="6573749" cy="182880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361913" y="4315968"/>
            <a:ext cx="868680" cy="292608"/>
          </a:xfrm>
          <a:prstGeom prst="rect">
            <a:avLst/>
          </a:prstGeom>
          <a:solidFill>
            <a:srgbClr val="B08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361913" y="4315968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Cited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52185" y="4206240"/>
            <a:ext cx="6573749" cy="18288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cited figure here)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61913" y="5687568"/>
            <a:ext cx="635429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1">
                <a:solidFill>
                  <a:srgbClr val="9F7639"/>
                </a:solidFill>
                <a:latin typeface="Arial"/>
              </a:rPr>
              <a:t>Source: ________________ (fill in later)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52185" y="6071616"/>
            <a:ext cx="657374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Year-over-year trend in wildfire scale / annual burned area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Background 2/5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Research Approach: 4-Stage Protection Process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5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320040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1a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11460175" cy="32004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096512"/>
            <a:ext cx="1146017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Gel application → flame contact → heat-activated aerogel formation → structural protection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549107" y="4315968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549107" y="4315968"/>
            <a:ext cx="402336" cy="40233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792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171367" y="4507992"/>
            <a:ext cx="54864" cy="18288"/>
          </a:xfrm>
          <a:prstGeom prst="rect">
            <a:avLst/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4846320"/>
            <a:ext cx="276903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Gel Application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5138928"/>
            <a:ext cx="2769031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232" b="0" i="0">
                <a:solidFill>
                  <a:srgbClr val="475569"/>
                </a:solidFill>
                <a:latin typeface="Arial"/>
              </a:rPr>
              <a:t>Spray cellulosic gel</a:t>
            </a:r>
          </a:p>
          <a:p>
            <a:pPr algn="ctr"/>
            <a:r>
              <a:rPr sz="1232" b="0" i="0">
                <a:solidFill>
                  <a:srgbClr val="475569"/>
                </a:solidFill>
                <a:latin typeface="Arial"/>
              </a:rPr>
              <a:t>onto buildings and vegetation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46155" y="4315968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46155" y="4315968"/>
            <a:ext cx="402336" cy="40233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792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68415" y="4507992"/>
            <a:ext cx="54864" cy="18288"/>
          </a:xfrm>
          <a:prstGeom prst="rect">
            <a:avLst/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62807" y="4846320"/>
            <a:ext cx="276903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Flame Contact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62807" y="5138928"/>
            <a:ext cx="2769031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232" b="0" i="0">
                <a:solidFill>
                  <a:srgbClr val="475569"/>
                </a:solidFill>
                <a:latin typeface="Arial"/>
              </a:rPr>
              <a:t>Moisture evaporates; gel</a:t>
            </a:r>
          </a:p>
          <a:p>
            <a:pPr algn="ctr"/>
            <a:r>
              <a:rPr sz="1232" b="0" i="0">
                <a:solidFill>
                  <a:srgbClr val="475569"/>
                </a:solidFill>
                <a:latin typeface="Arial"/>
              </a:rPr>
              <a:t>foams and particles aggregate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43203" y="4315968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43203" y="4315968"/>
            <a:ext cx="402336" cy="40233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792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965463" y="4507992"/>
            <a:ext cx="54864" cy="18288"/>
          </a:xfrm>
          <a:prstGeom prst="rect">
            <a:avLst/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59855" y="4846320"/>
            <a:ext cx="276903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Aerogel Formation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59855" y="5138928"/>
            <a:ext cx="2769031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232" b="0" i="0">
                <a:solidFill>
                  <a:srgbClr val="475569"/>
                </a:solidFill>
                <a:latin typeface="Arial"/>
              </a:rPr>
              <a:t>Silica particles sinter into</a:t>
            </a:r>
          </a:p>
          <a:p>
            <a:pPr algn="ctr"/>
            <a:r>
              <a:rPr sz="1232" b="0" i="0">
                <a:solidFill>
                  <a:srgbClr val="475569"/>
                </a:solidFill>
                <a:latin typeface="Arial"/>
              </a:rPr>
              <a:t>a porous insulating layer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240251" y="4315968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240251" y="4315968"/>
            <a:ext cx="402336" cy="40233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792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56903" y="4846320"/>
            <a:ext cx="276903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Sustained Protection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56903" y="5138928"/>
            <a:ext cx="2769031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232" b="0" i="0">
                <a:solidFill>
                  <a:srgbClr val="475569"/>
                </a:solidFill>
                <a:latin typeface="Arial"/>
              </a:rPr>
              <a:t>Ultra-low thermal conductivity</a:t>
            </a:r>
          </a:p>
          <a:p>
            <a:pPr algn="ctr"/>
            <a:r>
              <a:rPr sz="1232" b="0" i="0">
                <a:solidFill>
                  <a:srgbClr val="475569"/>
                </a:solidFill>
                <a:latin typeface="Arial"/>
              </a:rPr>
              <a:t>layer shields the substrate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Background 3/5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Existing Wildfire Suppressants and Their Limits (USFS 3 Categories)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6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3685946" cy="5047488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3685946" cy="4572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48640" y="1024128"/>
            <a:ext cx="3320186" cy="1078992"/>
          </a:xfrm>
          <a:prstGeom prst="roundRect">
            <a:avLst>
              <a:gd name="adj" fmla="val 3000"/>
            </a:avLst>
          </a:prstGeom>
          <a:solidFill>
            <a:srgbClr val="A8D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1865741"/>
            <a:ext cx="3320186" cy="237378"/>
          </a:xfrm>
          <a:prstGeom prst="rect">
            <a:avLst/>
          </a:prstGeom>
          <a:solidFill>
            <a:srgbClr val="6AA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1865741"/>
            <a:ext cx="3320186" cy="16459"/>
          </a:xfrm>
          <a:prstGeom prst="rect">
            <a:avLst/>
          </a:prstGeom>
          <a:solidFill>
            <a:srgbClr val="4E88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80658" y="1261506"/>
            <a:ext cx="996055" cy="86319"/>
          </a:xfrm>
          <a:prstGeom prst="rect">
            <a:avLst/>
          </a:prstGeom>
          <a:solidFill>
            <a:srgbClr val="556A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59554" y="1175186"/>
            <a:ext cx="332018" cy="237378"/>
          </a:xfrm>
          <a:prstGeom prst="rect">
            <a:avLst/>
          </a:prstGeom>
          <a:solidFill>
            <a:srgbClr val="556A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13860" y="1153607"/>
            <a:ext cx="132807" cy="129479"/>
          </a:xfrm>
          <a:prstGeom prst="rect">
            <a:avLst/>
          </a:prstGeom>
          <a:solidFill>
            <a:srgbClr val="556A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710705" y="1498884"/>
            <a:ext cx="132807" cy="94951"/>
          </a:xfrm>
          <a:prstGeom prst="ellipse">
            <a:avLst/>
          </a:prstGeom>
          <a:solidFill>
            <a:srgbClr val="C03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009521" y="1595993"/>
            <a:ext cx="119526" cy="84161"/>
          </a:xfrm>
          <a:prstGeom prst="ellipse">
            <a:avLst/>
          </a:prstGeom>
          <a:solidFill>
            <a:srgbClr val="C03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275136" y="1520464"/>
            <a:ext cx="126167" cy="88477"/>
          </a:xfrm>
          <a:prstGeom prst="ellipse">
            <a:avLst/>
          </a:prstGeom>
          <a:solidFill>
            <a:srgbClr val="C03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943118" y="1725472"/>
            <a:ext cx="106245" cy="75529"/>
          </a:xfrm>
          <a:prstGeom prst="ellipse">
            <a:avLst/>
          </a:prstGeom>
          <a:solidFill>
            <a:srgbClr val="C03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474348" y="1649943"/>
            <a:ext cx="112886" cy="79845"/>
          </a:xfrm>
          <a:prstGeom prst="ellipse">
            <a:avLst/>
          </a:prstGeom>
          <a:solidFill>
            <a:srgbClr val="C03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208733" y="1779422"/>
            <a:ext cx="99605" cy="71213"/>
          </a:xfrm>
          <a:prstGeom prst="ellipse">
            <a:avLst/>
          </a:prstGeom>
          <a:solidFill>
            <a:srgbClr val="C03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2607155" y="1563624"/>
            <a:ext cx="92965" cy="66897"/>
          </a:xfrm>
          <a:prstGeom prst="ellipse">
            <a:avLst/>
          </a:prstGeom>
          <a:solidFill>
            <a:srgbClr val="C03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2212848"/>
            <a:ext cx="3320186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Long-term retardant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2724912"/>
            <a:ext cx="3320186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2816352"/>
            <a:ext cx="3320186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3B5174"/>
                </a:solidFill>
                <a:latin typeface="Arial"/>
              </a:rPr>
              <a:t>Example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2999232"/>
            <a:ext cx="3320186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Phos-Chek (phosphate slurry)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3419856"/>
            <a:ext cx="3320186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64748B"/>
                </a:solidFill>
                <a:latin typeface="Arial"/>
              </a:rPr>
              <a:t>Composition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3602736"/>
            <a:ext cx="3320186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Chemicals such as ammonium phosphate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4041648"/>
            <a:ext cx="3320186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64748B"/>
                </a:solidFill>
                <a:latin typeface="Arial"/>
              </a:rPr>
              <a:t>Effect / retention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4224528"/>
            <a:ext cx="3320186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Effective as long as residue remains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4663440"/>
            <a:ext cx="3320186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A05656"/>
                </a:solidFill>
                <a:latin typeface="Arial"/>
              </a:rPr>
              <a:t>Limitation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4846320"/>
            <a:ext cx="3320186" cy="89611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A05656"/>
                </a:solidFill>
                <a:latin typeface="Arial"/>
              </a:rPr>
              <a:t>Chemical residue left on the target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252874" y="859536"/>
            <a:ext cx="3685946" cy="5047488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252874" y="859536"/>
            <a:ext cx="3685946" cy="4572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4435754" y="1024128"/>
            <a:ext cx="3320186" cy="1078992"/>
          </a:xfrm>
          <a:prstGeom prst="roundRect">
            <a:avLst>
              <a:gd name="adj" fmla="val 3000"/>
            </a:avLst>
          </a:prstGeom>
          <a:solidFill>
            <a:srgbClr val="BEE0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502158" y="1563624"/>
            <a:ext cx="232413" cy="431596"/>
          </a:xfrm>
          <a:prstGeom prst="rect">
            <a:avLst/>
          </a:prstGeom>
          <a:solidFill>
            <a:srgbClr val="2C3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601763" y="1412565"/>
            <a:ext cx="332018" cy="302117"/>
          </a:xfrm>
          <a:prstGeom prst="rect">
            <a:avLst/>
          </a:prstGeom>
          <a:solidFill>
            <a:srgbClr val="2C3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867378" y="1488094"/>
            <a:ext cx="132807" cy="151058"/>
          </a:xfrm>
          <a:prstGeom prst="rect">
            <a:avLst/>
          </a:prstGeom>
          <a:solidFill>
            <a:srgbClr val="2C3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5033387" y="1261506"/>
            <a:ext cx="464826" cy="323697"/>
          </a:xfrm>
          <a:prstGeom prst="ellipse">
            <a:avLst/>
          </a:prstGeom>
          <a:solidFill>
            <a:srgbClr val="F2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5365406" y="1175186"/>
            <a:ext cx="531229" cy="345277"/>
          </a:xfrm>
          <a:prstGeom prst="ellipse">
            <a:avLst/>
          </a:prstGeom>
          <a:solidFill>
            <a:srgbClr val="F2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5763828" y="1229136"/>
            <a:ext cx="464826" cy="302117"/>
          </a:xfrm>
          <a:prstGeom prst="ellipse">
            <a:avLst/>
          </a:prstGeom>
          <a:solidFill>
            <a:srgbClr val="F2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6129049" y="1175186"/>
            <a:ext cx="498027" cy="323697"/>
          </a:xfrm>
          <a:prstGeom prst="ellipse">
            <a:avLst/>
          </a:prstGeom>
          <a:solidFill>
            <a:srgbClr val="F2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6494269" y="1239926"/>
            <a:ext cx="431624" cy="280537"/>
          </a:xfrm>
          <a:prstGeom prst="ellipse">
            <a:avLst/>
          </a:prstGeom>
          <a:solidFill>
            <a:srgbClr val="F2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6826288" y="1196766"/>
            <a:ext cx="464826" cy="302117"/>
          </a:xfrm>
          <a:prstGeom prst="ellipse">
            <a:avLst/>
          </a:prstGeom>
          <a:solidFill>
            <a:srgbClr val="F2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7158307" y="1283086"/>
            <a:ext cx="398422" cy="258958"/>
          </a:xfrm>
          <a:prstGeom prst="ellipse">
            <a:avLst/>
          </a:prstGeom>
          <a:solidFill>
            <a:srgbClr val="F2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5199397" y="1498884"/>
            <a:ext cx="498027" cy="323697"/>
          </a:xfrm>
          <a:prstGeom prst="ellipse">
            <a:avLst/>
          </a:prstGeom>
          <a:solidFill>
            <a:srgbClr val="C8E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5564617" y="1434144"/>
            <a:ext cx="531229" cy="345277"/>
          </a:xfrm>
          <a:prstGeom prst="ellipse">
            <a:avLst/>
          </a:prstGeom>
          <a:solidFill>
            <a:srgbClr val="C8E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5963040" y="1498884"/>
            <a:ext cx="464826" cy="302117"/>
          </a:xfrm>
          <a:prstGeom prst="ellipse">
            <a:avLst/>
          </a:prstGeom>
          <a:solidFill>
            <a:srgbClr val="F2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6328260" y="1434144"/>
            <a:ext cx="464826" cy="302117"/>
          </a:xfrm>
          <a:prstGeom prst="ellipse">
            <a:avLst/>
          </a:prstGeom>
          <a:solidFill>
            <a:srgbClr val="C8E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6693481" y="1498884"/>
            <a:ext cx="431624" cy="280537"/>
          </a:xfrm>
          <a:prstGeom prst="ellipse">
            <a:avLst/>
          </a:prstGeom>
          <a:solidFill>
            <a:srgbClr val="F2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7058701" y="1412565"/>
            <a:ext cx="398422" cy="258958"/>
          </a:xfrm>
          <a:prstGeom prst="ellipse">
            <a:avLst/>
          </a:prstGeom>
          <a:solidFill>
            <a:srgbClr val="C8E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7357518" y="1347825"/>
            <a:ext cx="332018" cy="215798"/>
          </a:xfrm>
          <a:prstGeom prst="ellipse">
            <a:avLst/>
          </a:prstGeom>
          <a:solidFill>
            <a:srgbClr val="F2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435754" y="2212848"/>
            <a:ext cx="3320186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Foam suppressant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435754" y="2724912"/>
            <a:ext cx="3320186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435754" y="2816352"/>
            <a:ext cx="3320186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3B5174"/>
                </a:solidFill>
                <a:latin typeface="Arial"/>
              </a:rPr>
              <a:t>Example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435754" y="2999232"/>
            <a:ext cx="3320186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Class A foam / legacy AFFF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435754" y="3419856"/>
            <a:ext cx="3320186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64748B"/>
                </a:solidFill>
                <a:latin typeface="Arial"/>
              </a:rPr>
              <a:t>Composition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5754" y="3602736"/>
            <a:ext cx="3320186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Surfactants (historically fluorinated)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5754" y="4041648"/>
            <a:ext cx="3320186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64748B"/>
                </a:solidFill>
                <a:latin typeface="Arial"/>
              </a:rPr>
              <a:t>Effect / retention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435754" y="4224528"/>
            <a:ext cx="3320186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Water retention 15–30 min (short-term)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435754" y="4663440"/>
            <a:ext cx="3320186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A05656"/>
                </a:solidFill>
                <a:latin typeface="Arial"/>
              </a:rPr>
              <a:t>Limitation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435754" y="4846320"/>
            <a:ext cx="3320186" cy="89611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A05656"/>
                </a:solidFill>
                <a:latin typeface="Arial"/>
              </a:rPr>
              <a:t>Loses effect when dry; fluorinated types bioaccumulate and are toxic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8139988" y="859536"/>
            <a:ext cx="3685946" cy="5047488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8139988" y="859536"/>
            <a:ext cx="3685946" cy="45720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8322868" y="1024128"/>
            <a:ext cx="3320186" cy="1078992"/>
          </a:xfrm>
          <a:prstGeom prst="roundRect">
            <a:avLst>
              <a:gd name="adj" fmla="val 3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8322868" y="1973640"/>
            <a:ext cx="3320186" cy="129479"/>
          </a:xfrm>
          <a:prstGeom prst="rect">
            <a:avLst/>
          </a:prstGeom>
          <a:solidFill>
            <a:srgbClr val="2E4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9352126" y="1477304"/>
            <a:ext cx="1261670" cy="561075"/>
          </a:xfrm>
          <a:prstGeom prst="ellipse">
            <a:avLst/>
          </a:prstGeom>
          <a:solidFill>
            <a:srgbClr val="4AAA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9451732" y="1542044"/>
            <a:ext cx="1062459" cy="431596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Isosceles Triangle 70"/>
          <p:cNvSpPr/>
          <p:nvPr/>
        </p:nvSpPr>
        <p:spPr>
          <a:xfrm>
            <a:off x="9385328" y="1218346"/>
            <a:ext cx="1195267" cy="345277"/>
          </a:xfrm>
          <a:prstGeom prst="triangle">
            <a:avLst/>
          </a:prstGeom>
          <a:solidFill>
            <a:srgbClr val="CCD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9557977" y="1602467"/>
            <a:ext cx="276239" cy="129479"/>
          </a:xfrm>
          <a:prstGeom prst="rect">
            <a:avLst/>
          </a:prstGeom>
          <a:solidFill>
            <a:srgbClr val="70A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10089207" y="1602467"/>
            <a:ext cx="276239" cy="129479"/>
          </a:xfrm>
          <a:prstGeom prst="rect">
            <a:avLst/>
          </a:prstGeom>
          <a:solidFill>
            <a:srgbClr val="70A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9834217" y="1792370"/>
            <a:ext cx="297488" cy="181270"/>
          </a:xfrm>
          <a:prstGeom prst="rect">
            <a:avLst/>
          </a:prstGeom>
          <a:solidFill>
            <a:srgbClr val="70A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8654887" y="1239926"/>
            <a:ext cx="92965" cy="82003"/>
          </a:xfrm>
          <a:prstGeom prst="ellipse">
            <a:avLst/>
          </a:prstGeom>
          <a:solidFill>
            <a:srgbClr val="389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8820896" y="1477304"/>
            <a:ext cx="79684" cy="69055"/>
          </a:xfrm>
          <a:prstGeom prst="ellipse">
            <a:avLst/>
          </a:prstGeom>
          <a:solidFill>
            <a:srgbClr val="389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8986905" y="1347825"/>
            <a:ext cx="86324" cy="75529"/>
          </a:xfrm>
          <a:prstGeom prst="ellipse">
            <a:avLst/>
          </a:prstGeom>
          <a:solidFill>
            <a:srgbClr val="389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10979017" y="1261506"/>
            <a:ext cx="86324" cy="79845"/>
          </a:xfrm>
          <a:prstGeom prst="ellipse">
            <a:avLst/>
          </a:prstGeom>
          <a:solidFill>
            <a:srgbClr val="389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11111825" y="1477304"/>
            <a:ext cx="79684" cy="71213"/>
          </a:xfrm>
          <a:prstGeom prst="ellipse">
            <a:avLst/>
          </a:prstGeom>
          <a:solidFill>
            <a:srgbClr val="389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10846210" y="1606783"/>
            <a:ext cx="92965" cy="75529"/>
          </a:xfrm>
          <a:prstGeom prst="ellipse">
            <a:avLst/>
          </a:prstGeom>
          <a:solidFill>
            <a:srgbClr val="389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322868" y="2212848"/>
            <a:ext cx="3320186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FFFFFF"/>
                </a:solidFill>
                <a:latin typeface="Arial"/>
              </a:rPr>
              <a:t>Water-enhancing gel (WEG)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322868" y="2724912"/>
            <a:ext cx="3320186" cy="10972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322868" y="2816352"/>
            <a:ext cx="3320186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D4A574"/>
                </a:solidFill>
                <a:latin typeface="Arial"/>
              </a:rPr>
              <a:t>Example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322868" y="2999232"/>
            <a:ext cx="3320186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D8E2EE"/>
                </a:solidFill>
                <a:latin typeface="Arial"/>
              </a:rPr>
              <a:t>Barricade / Thermo-Gel / AquaGel-K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322868" y="3419856"/>
            <a:ext cx="3320186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88A0B8"/>
                </a:solidFill>
                <a:latin typeface="Arial"/>
              </a:rPr>
              <a:t>Composition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322868" y="3602736"/>
            <a:ext cx="3320186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D8E2EE"/>
                </a:solidFill>
                <a:latin typeface="Arial"/>
              </a:rPr>
              <a:t>Superabsorbent polymer (eco-friendly)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322868" y="4041648"/>
            <a:ext cx="3320186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88A0B8"/>
                </a:solidFill>
                <a:latin typeface="Arial"/>
              </a:rPr>
              <a:t>Effect / retention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8322868" y="4224528"/>
            <a:ext cx="3320186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D8E2EE"/>
                </a:solidFill>
                <a:latin typeface="Arial"/>
              </a:rPr>
              <a:t>Water retention 30–60 min; protects buildings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8322868" y="4663440"/>
            <a:ext cx="3320186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D4A574"/>
                </a:solidFill>
                <a:latin typeface="Arial"/>
              </a:rPr>
              <a:t>Limitation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322868" y="4846320"/>
            <a:ext cx="3320186" cy="89611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Once dried by heat/wind, effectiveness is completely lost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365760" y="6053328"/>
            <a:ext cx="11460175" cy="4572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365760" y="6053328"/>
            <a:ext cx="54864" cy="45720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548640" y="6053328"/>
            <a:ext cx="365760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→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960120" y="6053328"/>
            <a:ext cx="10774375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This work overcomes the fatal flaw of eco-friendly WEGs: losing all effectiveness once dried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Background 4/5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Predecessor Work: PNP Gel Platform (Yu et al., PNAS 2016)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7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56692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54864" cy="566928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859536"/>
            <a:ext cx="365760" cy="56692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859536"/>
            <a:ext cx="10774375" cy="56692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The same HEC+MC/CSP platform was already established in 2016 as a carrier for ammonium polyphosphate fire retardants (Phos-Chek LC95A) — this work builds on that foundation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760" y="1572768"/>
            <a:ext cx="5592927" cy="384048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5760" y="1572768"/>
            <a:ext cx="5592927" cy="4572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5216" y="1737360"/>
            <a:ext cx="515401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Established in Yu et al., PNAS 2016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5216" y="2029968"/>
            <a:ext cx="5154015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Foundational properties of PNP gel (HEC+MC + CSP)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85216" y="2578608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2578608"/>
            <a:ext cx="14173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008" b="1" i="0">
                <a:solidFill>
                  <a:srgbClr val="3B5174"/>
                </a:solidFill>
                <a:latin typeface="Arial"/>
              </a:rPr>
              <a:t>PP interactions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84832" y="2532888"/>
            <a:ext cx="3690975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Cellulose chains selectively adsorb onto CSP (noncovalent, multivalent)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85216" y="3090672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16" y="3090672"/>
            <a:ext cx="14173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008" b="1" i="0">
                <a:solidFill>
                  <a:srgbClr val="3B5174"/>
                </a:solidFill>
                <a:latin typeface="Arial"/>
              </a:rPr>
              <a:t>Shear thinning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84832" y="3044952"/>
            <a:ext cx="3690975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Viscosity drops at high shear (suitable for spraying and pipeline pumping)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85216" y="3602736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85216" y="3602736"/>
            <a:ext cx="14173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008" b="1" i="0">
                <a:solidFill>
                  <a:srgbClr val="3B5174"/>
                </a:solidFill>
                <a:latin typeface="Arial"/>
              </a:rPr>
              <a:t>Self-healing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84832" y="3557016"/>
            <a:ext cx="3690975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Gel structure rapidly recovers after stress release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85216" y="4114800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85216" y="4114800"/>
            <a:ext cx="14173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008" b="1" i="0">
                <a:solidFill>
                  <a:srgbClr val="3B5174"/>
                </a:solidFill>
                <a:latin typeface="Arial"/>
              </a:rPr>
              <a:t>Scalability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084832" y="4069080"/>
            <a:ext cx="3690975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Linearly scalable from 0.5 mL to 15 L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85216" y="4626864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85216" y="4626864"/>
            <a:ext cx="14173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008" b="1" i="0">
                <a:solidFill>
                  <a:srgbClr val="3B5174"/>
                </a:solidFill>
                <a:latin typeface="Arial"/>
              </a:rPr>
              <a:t>APP carrier use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84832" y="4581144"/>
            <a:ext cx="3690975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Carries Phos-Chek LC95A; improves adhesion &amp; rain resistance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233007" y="1572768"/>
            <a:ext cx="5592927" cy="384048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233007" y="1572768"/>
            <a:ext cx="5592927" cy="45720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52463" y="1737360"/>
            <a:ext cx="515401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D4A574"/>
                </a:solidFill>
                <a:latin typeface="Arial"/>
              </a:rPr>
              <a:t>New capabilities gained in this work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52463" y="2029968"/>
            <a:ext cx="5154015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FFFFFF"/>
                </a:solidFill>
                <a:latin typeface="Arial"/>
              </a:rPr>
              <a:t>The gel itself transforms into an insulating layer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452463" y="2578608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8890">
            <a:solidFill>
              <a:srgbClr val="D4A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52463" y="2578608"/>
            <a:ext cx="14173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008" b="1" i="0">
                <a:solidFill>
                  <a:srgbClr val="D4A574"/>
                </a:solidFill>
                <a:latin typeface="Arial"/>
              </a:rPr>
              <a:t>Stand-alone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52079" y="2532888"/>
            <a:ext cx="3690975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D8E2EE"/>
                </a:solidFill>
                <a:latin typeface="Arial"/>
              </a:rPr>
              <a:t>Suppresses fire without depending on APP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452463" y="3090672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8890">
            <a:solidFill>
              <a:srgbClr val="D4A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52463" y="3090672"/>
            <a:ext cx="14173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008" b="1" i="0">
                <a:solidFill>
                  <a:srgbClr val="D4A574"/>
                </a:solidFill>
                <a:latin typeface="Arial"/>
              </a:rPr>
              <a:t>Heat activation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52079" y="3044952"/>
            <a:ext cx="3690975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D8E2EE"/>
                </a:solidFill>
                <a:latin typeface="Arial"/>
              </a:rPr>
              <a:t>Flame contact → water evaporation → CSP sintering → porous silica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452463" y="3602736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8890">
            <a:solidFill>
              <a:srgbClr val="D4A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52463" y="3602736"/>
            <a:ext cx="14173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008" b="1" i="0">
                <a:solidFill>
                  <a:srgbClr val="D4A574"/>
                </a:solidFill>
                <a:latin typeface="Arial"/>
              </a:rPr>
              <a:t>Aerogel formation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952079" y="3557016"/>
            <a:ext cx="3690975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D8E2EE"/>
                </a:solidFill>
                <a:latin typeface="Arial"/>
              </a:rPr>
              <a:t>Forms a highly insulating porous silica layer in situ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452463" y="4114800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8890">
            <a:solidFill>
              <a:srgbClr val="D4A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52463" y="4114800"/>
            <a:ext cx="14173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008" b="1" i="0">
                <a:solidFill>
                  <a:srgbClr val="D4A574"/>
                </a:solidFill>
                <a:latin typeface="Arial"/>
              </a:rPr>
              <a:t>Dry resistance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952079" y="4069080"/>
            <a:ext cx="3690975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D8E2EE"/>
                </a:solidFill>
                <a:latin typeface="Arial"/>
              </a:rPr>
              <a:t>Overcomes the fatal flaw of conventional WEGs ("dry = useless")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452463" y="4626864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8890">
            <a:solidFill>
              <a:srgbClr val="D4A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452463" y="4626864"/>
            <a:ext cx="14173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008" b="1" i="0">
                <a:solidFill>
                  <a:srgbClr val="D4A574"/>
                </a:solidFill>
                <a:latin typeface="Arial"/>
              </a:rPr>
              <a:t>Long-term stability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952079" y="4581144"/>
            <a:ext cx="3690975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D8E2EE"/>
                </a:solidFill>
                <a:latin typeface="Arial"/>
              </a:rPr>
              <a:t>Yield stress retained after 455 days (see Supplement 3/3)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365760" y="5577840"/>
            <a:ext cx="11460175" cy="1060704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65760" y="5577840"/>
            <a:ext cx="73152" cy="106070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40080" y="5577840"/>
            <a:ext cx="2194560" cy="106070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3B5174"/>
                </a:solidFill>
                <a:latin typeface="Arial"/>
              </a:rPr>
              <a:t>POINT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194560" y="5577840"/>
            <a:ext cx="9357055" cy="106070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0" i="0">
                <a:solidFill>
                  <a:srgbClr val="334155"/>
                </a:solidFill>
                <a:latin typeface="Arial"/>
              </a:rPr>
              <a:t>The innovation: from "carrier of chemicals" to "material that itself becomes a thermal barrier" — redefining the PP gel platform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Background 5/5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Research Core: Heat-Activated Aerogel Formation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8 / 43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859536"/>
            <a:ext cx="45720" cy="1389888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859536"/>
            <a:ext cx="4080546" cy="47548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1" i="1">
                <a:solidFill>
                  <a:srgbClr val="1E293B"/>
                </a:solidFill>
                <a:latin typeface="Arial"/>
              </a:rPr>
              <a:t>Heat-Activated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1316736"/>
            <a:ext cx="4080546" cy="47548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1" i="1">
                <a:solidFill>
                  <a:srgbClr val="3B5174"/>
                </a:solidFill>
                <a:latin typeface="Arial"/>
              </a:rPr>
              <a:t>Aerogel Formation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1810512"/>
            <a:ext cx="4080546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Flame contact triggers the gel to transform into an aerogel insulator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0352" y="2267712"/>
            <a:ext cx="3608367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2450592"/>
            <a:ext cx="40233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B5174"/>
                </a:solidFill>
                <a:latin typeface="Arial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2450592"/>
            <a:ext cx="3824514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Material design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" y="2706624"/>
            <a:ext cx="3824514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Cellulosic biopolymer × colloidal silica, physically crosslinked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3090672"/>
            <a:ext cx="40233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B5174"/>
                </a:solidFill>
                <a:latin typeface="Arial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" y="3090672"/>
            <a:ext cx="3824514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Aerogel formation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" y="3346704"/>
            <a:ext cx="3824514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Flame-driven water loss forms a porous silica network in situ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3730752"/>
            <a:ext cx="40233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B5174"/>
                </a:solidFill>
                <a:latin typeface="Arial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" y="3730752"/>
            <a:ext cx="3824514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Sustained protection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" y="3986784"/>
            <a:ext cx="3824514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Insulating barrier prevents ignition even after water is gone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4370832"/>
            <a:ext cx="40233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B5174"/>
                </a:solidFill>
                <a:latin typeface="Arial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6384" y="4370832"/>
            <a:ext cx="3824514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Applicability &amp; scale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6384" y="4626864"/>
            <a:ext cx="3824514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Tunable flow for spray/pump; suited to large-scale manufacturing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93778" y="859536"/>
            <a:ext cx="7032156" cy="283464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903506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03506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Concept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93778" y="859536"/>
            <a:ext cx="7032156" cy="28346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93778" y="3730752"/>
            <a:ext cx="703215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Heat trigger transforms the gel into a porous aerogel insulating layer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793778" y="4078224"/>
            <a:ext cx="3433782" cy="201168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903506" y="4187952"/>
            <a:ext cx="868680" cy="292608"/>
          </a:xfrm>
          <a:prstGeom prst="rect">
            <a:avLst/>
          </a:prstGeom>
          <a:solidFill>
            <a:srgbClr val="B08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903506" y="4187952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Cited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93778" y="4078224"/>
            <a:ext cx="3433782" cy="20116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cited figure here)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903506" y="5742432"/>
            <a:ext cx="3214326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1">
                <a:solidFill>
                  <a:srgbClr val="9F7639"/>
                </a:solidFill>
                <a:latin typeface="Arial"/>
              </a:rPr>
              <a:t>Source: ________________ (fill in later)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793778" y="6126480"/>
            <a:ext cx="343378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SEM microstructure of silica aerogel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392152" y="4078224"/>
            <a:ext cx="3433782" cy="201168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501880" y="4187952"/>
            <a:ext cx="868680" cy="292608"/>
          </a:xfrm>
          <a:prstGeom prst="rect">
            <a:avLst/>
          </a:prstGeom>
          <a:solidFill>
            <a:srgbClr val="B08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501880" y="4187952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Cited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92152" y="4078224"/>
            <a:ext cx="3433782" cy="20116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cited figure here)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01880" y="5742432"/>
            <a:ext cx="3214326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1">
                <a:solidFill>
                  <a:srgbClr val="9F7639"/>
                </a:solidFill>
                <a:latin typeface="Arial"/>
              </a:rPr>
              <a:t>Source: ________________ (fill in later)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92152" y="6126480"/>
            <a:ext cx="343378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Aerogel thermal-insulation demo (sample over flame, etc.)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B08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62495" y="457200"/>
            <a:ext cx="4572000" cy="6400800"/>
          </a:xfrm>
          <a:prstGeom prst="rect">
            <a:avLst/>
          </a:prstGeom>
          <a:noFill/>
        </p:spPr>
        <p:txBody>
          <a:bodyPr wrap="square" anchor="b" lIns="36000" rIns="36000" tIns="18000" bIns="18000">
            <a:spAutoFit/>
          </a:bodyPr>
          <a:lstStyle/>
          <a:p>
            <a:pPr algn="r"/>
            <a:r>
              <a:rPr sz="26880" b="1" i="0">
                <a:solidFill>
                  <a:srgbClr val="243044"/>
                </a:solidFill>
                <a:latin typeface="Arial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914400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88A4C0"/>
                </a:solidFill>
                <a:latin typeface="Arial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914400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5824" b="1" i="0">
                <a:solidFill>
                  <a:srgbClr val="FFFFFF"/>
                </a:solidFill>
                <a:latin typeface="Arial"/>
              </a:rPr>
              <a:t>Materials &amp; Methods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383280"/>
            <a:ext cx="9144000" cy="9144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904" b="0" i="0">
                <a:solidFill>
                  <a:srgbClr val="9CB4CC"/>
                </a:solidFill>
                <a:latin typeface="Arial"/>
              </a:rPr>
              <a:t>Novel gel design combining cellulosic polymers and colloidal silica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572000"/>
            <a:ext cx="3090672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572000"/>
            <a:ext cx="3090672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Polymer Components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51376" y="4572000"/>
            <a:ext cx="4700016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51376" y="4572000"/>
            <a:ext cx="4700016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Silica Particles &amp; Surfactant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97696" y="4572000"/>
            <a:ext cx="3675887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97696" y="4572000"/>
            <a:ext cx="3675887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Formulations (5 types)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2819887" y="4572000"/>
            <a:ext cx="3090672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819887" y="4572000"/>
            <a:ext cx="3090672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Evaluation Methods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11535" y="6528816"/>
            <a:ext cx="109728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67788"/>
                </a:solidFill>
                <a:latin typeface="Arial"/>
              </a:rPr>
              <a:t>9 / 43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Materials Overview 1/2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Material Composition: Sustainable &amp; High-Performance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10 / 43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859536"/>
            <a:ext cx="11460175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34155"/>
                </a:solidFill>
                <a:latin typeface="Arial"/>
              </a:rPr>
              <a:t>Three building blocks — skeleton, function, and bonding — combine biodegradability with high performance.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1444752"/>
            <a:ext cx="3637178" cy="5138928"/>
          </a:xfrm>
          <a:prstGeom prst="roundRect">
            <a:avLst>
              <a:gd name="adj" fmla="val 35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" y="1444752"/>
            <a:ext cx="3637178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1719072"/>
            <a:ext cx="3637178" cy="51206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3360" b="0" i="0">
                <a:solidFill>
                  <a:srgbClr val="3B5174"/>
                </a:solidFill>
                <a:latin typeface="Arial"/>
              </a:rPr>
              <a:t>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16" y="2286000"/>
            <a:ext cx="3198266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792" b="1" i="0">
                <a:solidFill>
                  <a:srgbClr val="1E293B"/>
                </a:solidFill>
                <a:latin typeface="Arial"/>
              </a:rPr>
              <a:t>Cellulose Derivatives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" y="2670048"/>
            <a:ext cx="3198266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Plant-based biopolymers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2999232"/>
            <a:ext cx="3051962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5216" y="3127248"/>
            <a:ext cx="3198266" cy="10058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475569"/>
                </a:solidFill>
                <a:latin typeface="Arial"/>
              </a:rPr>
              <a:t>Plant-derived biopolymers that form the backbone of the gel network.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85216" y="4279392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4279392"/>
            <a:ext cx="9601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3B5174"/>
                </a:solidFill>
                <a:latin typeface="Arial"/>
              </a:rPr>
              <a:t>3 types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36776" y="4242816"/>
            <a:ext cx="2146706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HEC, MC, MHEC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85216" y="4956048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16" y="4956048"/>
            <a:ext cx="9601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3B5174"/>
                </a:solidFill>
                <a:latin typeface="Arial"/>
              </a:rPr>
              <a:t>Bio.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36776" y="4919472"/>
            <a:ext cx="2146706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Highly biodegradable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85216" y="5632704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85216" y="5632704"/>
            <a:ext cx="9601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3B5174"/>
                </a:solidFill>
                <a:latin typeface="Arial"/>
              </a:rPr>
              <a:t>Role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36776" y="5596128"/>
            <a:ext cx="2146706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Viscosity &amp; structure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277258" y="1444752"/>
            <a:ext cx="3637178" cy="5138928"/>
          </a:xfrm>
          <a:prstGeom prst="roundRect">
            <a:avLst>
              <a:gd name="adj" fmla="val 35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277258" y="1444752"/>
            <a:ext cx="3637178" cy="54864"/>
          </a:xfrm>
          <a:prstGeom prst="rect">
            <a:avLst/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277258" y="1719072"/>
            <a:ext cx="3637178" cy="51206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3360" b="0" i="0">
                <a:solidFill>
                  <a:srgbClr val="4A7C8C"/>
                </a:solidFill>
                <a:latin typeface="Arial"/>
              </a:rPr>
              <a:t>◎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96714" y="2286000"/>
            <a:ext cx="3198266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792" b="1" i="0">
                <a:solidFill>
                  <a:srgbClr val="1E293B"/>
                </a:solidFill>
                <a:latin typeface="Arial"/>
              </a:rPr>
              <a:t>Colloidal Silica (CSP)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96714" y="2670048"/>
            <a:ext cx="3198266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Colloidal Silica Particles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69866" y="2999232"/>
            <a:ext cx="3051962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496714" y="3127248"/>
            <a:ext cx="3198266" cy="10058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475569"/>
                </a:solidFill>
                <a:latin typeface="Arial"/>
              </a:rPr>
              <a:t>The key component that interacts dynamically with polymers and forms aerogel under heat.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496714" y="4279392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4A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96714" y="4279392"/>
            <a:ext cx="9601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4A7C8C"/>
                </a:solidFill>
                <a:latin typeface="Arial"/>
              </a:rPr>
              <a:t>Size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548274" y="4242816"/>
            <a:ext cx="2146706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~22 nm monodisperse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496714" y="4956048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4A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496714" y="4956048"/>
            <a:ext cx="9601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4A7C8C"/>
                </a:solidFill>
                <a:latin typeface="Arial"/>
              </a:rPr>
              <a:t>Sinter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548274" y="4919472"/>
            <a:ext cx="2146706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Forms silica skeleton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496714" y="5632704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4A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496714" y="5632704"/>
            <a:ext cx="9601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4A7C8C"/>
                </a:solidFill>
                <a:latin typeface="Arial"/>
              </a:rPr>
              <a:t>Role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548274" y="5596128"/>
            <a:ext cx="2146706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Source of aerogel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188756" y="1444752"/>
            <a:ext cx="3637178" cy="5138928"/>
          </a:xfrm>
          <a:prstGeom prst="roundRect">
            <a:avLst>
              <a:gd name="adj" fmla="val 35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188756" y="1444752"/>
            <a:ext cx="3637178" cy="54864"/>
          </a:xfrm>
          <a:prstGeom prst="rect">
            <a:avLst/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188756" y="1719072"/>
            <a:ext cx="3637178" cy="51206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3360" b="0" i="0">
                <a:solidFill>
                  <a:srgbClr val="9F7639"/>
                </a:solidFill>
                <a:latin typeface="Arial"/>
              </a:rPr>
              <a:t>⬡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08212" y="2286000"/>
            <a:ext cx="3198266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792" b="1" i="0">
                <a:solidFill>
                  <a:srgbClr val="1E293B"/>
                </a:solidFill>
                <a:latin typeface="Arial"/>
              </a:rPr>
              <a:t>PP Interaction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08212" y="2670048"/>
            <a:ext cx="3198266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Polymer–Particle Interaction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481364" y="2999232"/>
            <a:ext cx="3051962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408212" y="3127248"/>
            <a:ext cx="3198266" cy="10058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475569"/>
                </a:solidFill>
                <a:latin typeface="Arial"/>
              </a:rPr>
              <a:t>Builds the network via dynamic, multivalent hydrogen bonds — no covalent bonds required.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408212" y="4279392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9F7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408212" y="4279392"/>
            <a:ext cx="9601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9F7639"/>
                </a:solidFill>
                <a:latin typeface="Arial"/>
              </a:rPr>
              <a:t>Bonds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459772" y="4242816"/>
            <a:ext cx="2146706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Dynamic H-bonds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408212" y="4956048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9F7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408212" y="4956048"/>
            <a:ext cx="9601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9F7639"/>
                </a:solidFill>
                <a:latin typeface="Arial"/>
              </a:rPr>
              <a:t>Self-heal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459772" y="4919472"/>
            <a:ext cx="2146706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Gel recovers after strain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8408212" y="5632704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9F7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408212" y="5632704"/>
            <a:ext cx="9601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9F7639"/>
                </a:solidFill>
                <a:latin typeface="Arial"/>
              </a:rPr>
              <a:t>Sprayable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459772" y="5596128"/>
            <a:ext cx="2146706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Easy spray application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Materials Overview 2/2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Mechanism: Spray, Adhesion, and Flame Protection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11 / 43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859536"/>
            <a:ext cx="11460175" cy="47548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Not temperature, but shear and self-healing govern the spray-to-adhesion behavior.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1463040"/>
            <a:ext cx="2659303" cy="32004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" y="1463040"/>
            <a:ext cx="2659303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627632"/>
            <a:ext cx="2293543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3B5174"/>
                </a:solidFill>
                <a:latin typeface="Arial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956816"/>
            <a:ext cx="229354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At rest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304288"/>
            <a:ext cx="2293543" cy="51206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1E293B"/>
                </a:solidFill>
                <a:latin typeface="Arial"/>
              </a:rPr>
              <a:t>Gel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2907792"/>
            <a:ext cx="2293543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3035808"/>
            <a:ext cx="2293543" cy="10058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High-viscosity elastic gel. G' &gt; G'' holds structure.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078224"/>
            <a:ext cx="2293543" cy="4206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4078224"/>
            <a:ext cx="2293543" cy="42062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3B5174"/>
                </a:solidFill>
                <a:latin typeface="Arial"/>
              </a:rPr>
              <a:t>Yield stress ~33 Pa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25063" y="1463040"/>
            <a:ext cx="274320" cy="32004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2240" b="0" i="0">
                <a:solidFill>
                  <a:srgbClr val="AAB4C0"/>
                </a:solidFill>
                <a:latin typeface="Arial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99383" y="1463040"/>
            <a:ext cx="2659303" cy="32004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299383" y="1463040"/>
            <a:ext cx="2659303" cy="54864"/>
          </a:xfrm>
          <a:prstGeom prst="rect">
            <a:avLst/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482263" y="1627632"/>
            <a:ext cx="2293543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4A7C8C"/>
                </a:solidFill>
                <a:latin typeface="Arial"/>
              </a:rPr>
              <a:t>02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82263" y="1956816"/>
            <a:ext cx="229354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Spraying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82263" y="2304288"/>
            <a:ext cx="2293543" cy="51206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1E293B"/>
                </a:solidFill>
                <a:latin typeface="Arial"/>
              </a:rPr>
              <a:t>Sol-like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82263" y="2907792"/>
            <a:ext cx="2293543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482263" y="3035808"/>
            <a:ext cx="2293543" cy="10058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Shear strain lowers viscosity; the gel flows.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482263" y="4078224"/>
            <a:ext cx="2293543" cy="4206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4A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482263" y="4078224"/>
            <a:ext cx="2293543" cy="42062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4A7C8C"/>
                </a:solidFill>
                <a:latin typeface="Arial"/>
              </a:rPr>
              <a:t>Shear-thinning (viscosity drops)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58687" y="1463040"/>
            <a:ext cx="274320" cy="32004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2240" b="0" i="0">
                <a:solidFill>
                  <a:srgbClr val="AAB4C0"/>
                </a:solidFill>
                <a:latin typeface="Arial"/>
              </a:rPr>
              <a:t>→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33007" y="1463040"/>
            <a:ext cx="2659303" cy="32004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233007" y="1463040"/>
            <a:ext cx="2659303" cy="54864"/>
          </a:xfrm>
          <a:prstGeom prst="rect">
            <a:avLst/>
          </a:prstGeom>
          <a:solidFill>
            <a:srgbClr val="5B8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15887" y="1627632"/>
            <a:ext cx="2293543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5B8C5A"/>
                </a:solidFill>
                <a:latin typeface="Arial"/>
              </a:rPr>
              <a:t>03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15887" y="1956816"/>
            <a:ext cx="229354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On wall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15887" y="2304288"/>
            <a:ext cx="2293543" cy="51206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1E293B"/>
                </a:solidFill>
                <a:latin typeface="Arial"/>
              </a:rPr>
              <a:t>Self-healing gel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15887" y="2907792"/>
            <a:ext cx="2293543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15887" y="3035808"/>
            <a:ext cx="2293543" cy="10058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Strain release instantly restores the gel network.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415887" y="4078224"/>
            <a:ext cx="2293543" cy="4206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5B8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15887" y="4078224"/>
            <a:ext cx="2293543" cy="42062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5B8C5A"/>
                </a:solidFill>
                <a:latin typeface="Arial"/>
              </a:rPr>
              <a:t>G' recovery ~90%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892311" y="1463040"/>
            <a:ext cx="274320" cy="32004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2240" b="0" i="0">
                <a:solidFill>
                  <a:srgbClr val="AAB4C0"/>
                </a:solidFill>
                <a:latin typeface="Arial"/>
              </a:rPr>
              <a:t>→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166631" y="1463040"/>
            <a:ext cx="2659303" cy="32004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166631" y="1463040"/>
            <a:ext cx="2659303" cy="54864"/>
          </a:xfrm>
          <a:prstGeom prst="rect">
            <a:avLst/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349511" y="1627632"/>
            <a:ext cx="2293543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9F7639"/>
                </a:solidFill>
                <a:latin typeface="Arial"/>
              </a:rPr>
              <a:t>04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49511" y="1956816"/>
            <a:ext cx="229354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Flame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349511" y="2304288"/>
            <a:ext cx="2293543" cy="51206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1E293B"/>
                </a:solidFill>
                <a:latin typeface="Arial"/>
              </a:rPr>
              <a:t>Aerogel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349511" y="2907792"/>
            <a:ext cx="2293543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349511" y="3035808"/>
            <a:ext cx="2293543" cy="10058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CSP sinters into a porous silica layer.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349511" y="4078224"/>
            <a:ext cx="2293543" cy="4206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9F7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49511" y="4078224"/>
            <a:ext cx="2293543" cy="42062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9F7639"/>
                </a:solidFill>
                <a:latin typeface="Arial"/>
              </a:rPr>
              <a:t>Acts as thermal barrier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65760" y="4846320"/>
            <a:ext cx="11460175" cy="1755648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65760" y="4846320"/>
            <a:ext cx="73152" cy="1755648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40080" y="4846320"/>
            <a:ext cx="2194560" cy="17556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D4A574"/>
                </a:solidFill>
                <a:latin typeface="Arial"/>
              </a:rPr>
              <a:t>POINT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194560" y="4846320"/>
            <a:ext cx="9357055" cy="17556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0" i="0">
                <a:solidFill>
                  <a:srgbClr val="FFFFFF"/>
                </a:solidFill>
                <a:latin typeface="Arial"/>
              </a:rPr>
              <a:t>Rather than relying on MC's thermal response (LCST), rheology alone achieves "spray → stick → set" — the core of this material.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Materials 1/6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Cellulosic Polymers Used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12 / 43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859536"/>
            <a:ext cx="822960" cy="1920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6048" b="1" i="0">
                <a:solidFill>
                  <a:srgbClr val="E2E8F0"/>
                </a:solidFill>
                <a:latin typeface="Arial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1060704"/>
            <a:ext cx="5324688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1E293B"/>
                </a:solidFill>
                <a:latin typeface="Arial"/>
              </a:rPr>
              <a:t>HEC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1499616"/>
            <a:ext cx="5324688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Hydroxyethyl cellulose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1773936"/>
            <a:ext cx="5324688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3B5174"/>
                </a:solidFill>
                <a:latin typeface="Arial"/>
              </a:rPr>
              <a:t>Base viscosity-building backbone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761488"/>
            <a:ext cx="6193368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2779776"/>
            <a:ext cx="822960" cy="1920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6048" b="1" i="0">
                <a:solidFill>
                  <a:srgbClr val="E2E8F0"/>
                </a:solidFill>
                <a:latin typeface="Arial"/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2980944"/>
            <a:ext cx="5324688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1E293B"/>
                </a:solidFill>
                <a:latin typeface="Arial"/>
              </a:rPr>
              <a:t>MC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3419856"/>
            <a:ext cx="5324688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Methyl cellulose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4440" y="3694176"/>
            <a:ext cx="5324688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3B5174"/>
                </a:solidFill>
                <a:latin typeface="Arial"/>
              </a:rPr>
              <a:t>Gels on heating (thermoreversible) — key to flame protection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4681728"/>
            <a:ext cx="6193368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4700016"/>
            <a:ext cx="822960" cy="1920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6048" b="1" i="0">
                <a:solidFill>
                  <a:srgbClr val="E2E8F0"/>
                </a:solidFill>
                <a:latin typeface="Arial"/>
              </a:rPr>
              <a:t>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34440" y="4901184"/>
            <a:ext cx="5324688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1E293B"/>
                </a:solidFill>
                <a:latin typeface="Arial"/>
              </a:rPr>
              <a:t>MHEC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5340096"/>
            <a:ext cx="5324688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Methyl 2-hydroxyethyl cellulose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614416"/>
            <a:ext cx="5324688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3B5174"/>
                </a:solidFill>
                <a:latin typeface="Arial"/>
              </a:rPr>
              <a:t>Hybrid combining the traits of A and B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742008" y="859536"/>
            <a:ext cx="5083926" cy="301752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851736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1736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1b/c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42008" y="859536"/>
            <a:ext cx="5083926" cy="3017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42008" y="3913632"/>
            <a:ext cx="508392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Chemical structures and CSP mixing scheme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742008" y="4297680"/>
            <a:ext cx="5083926" cy="182880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851736" y="4407408"/>
            <a:ext cx="868680" cy="292608"/>
          </a:xfrm>
          <a:prstGeom prst="rect">
            <a:avLst/>
          </a:prstGeom>
          <a:solidFill>
            <a:srgbClr val="B08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1736" y="4407408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Cited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42008" y="4297680"/>
            <a:ext cx="5083926" cy="18288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cited figure here)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1736" y="5779008"/>
            <a:ext cx="486447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1">
                <a:solidFill>
                  <a:srgbClr val="9F7639"/>
                </a:solidFill>
                <a:latin typeface="Arial"/>
              </a:rPr>
              <a:t>Source: ________________ (fill in later)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42008" y="6163056"/>
            <a:ext cx="508392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Molecular structure of cellulose (reference)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Materials 2/6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Rheological Design: Shear-Thinning and Self-Healing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13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5409444" cy="246888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5409444" cy="24688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364992"/>
            <a:ext cx="540944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Viscosity vs. shear rate — shear-thinning behavior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3511296"/>
            <a:ext cx="4868499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3675888"/>
            <a:ext cx="105156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3B5174"/>
                </a:solidFill>
                <a:latin typeface="Arial"/>
              </a:rPr>
              <a:t>Shear-thinning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53896" y="3675888"/>
            <a:ext cx="4321308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Viscosity drops sharply at high shear — fluidizes during spraying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4041648"/>
            <a:ext cx="105156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3B5174"/>
                </a:solidFill>
                <a:latin typeface="Arial"/>
              </a:rPr>
              <a:t>Yield stress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53896" y="4041648"/>
            <a:ext cx="4321308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~33 Pa (dynamic, HB fit) — gel structure maintained at rest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4407408"/>
            <a:ext cx="105156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3B5174"/>
                </a:solidFill>
                <a:latin typeface="Arial"/>
              </a:rPr>
              <a:t>Self-healing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53896" y="4407408"/>
            <a:ext cx="4321308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G' recovers ~90% after strain removal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58084" y="859536"/>
            <a:ext cx="1894990" cy="128016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86100" y="969264"/>
            <a:ext cx="1638958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Viscosity response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86100" y="1225296"/>
            <a:ext cx="1638958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3B5174"/>
                </a:solidFill>
                <a:latin typeface="Arial"/>
              </a:rPr>
              <a:t>reversible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86100" y="1645920"/>
            <a:ext cx="1638958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Low at high shear → recovers at rest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944514" y="859536"/>
            <a:ext cx="1894990" cy="128016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72530" y="969264"/>
            <a:ext cx="1638958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Dynamic yield stress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72530" y="1225296"/>
            <a:ext cx="1638958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4A7C8C"/>
                </a:solidFill>
                <a:latin typeface="Arial"/>
              </a:rPr>
              <a:t>~33 Pa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72530" y="1645920"/>
            <a:ext cx="1638958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HEC+MC/CSP (HB fit)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930944" y="859536"/>
            <a:ext cx="1894990" cy="128016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58960" y="969264"/>
            <a:ext cx="1638958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G' recovery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960" y="1225296"/>
            <a:ext cx="1638958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5B8C5A"/>
                </a:solidFill>
                <a:latin typeface="Arial"/>
              </a:rPr>
              <a:t>~90%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58960" y="1645920"/>
            <a:ext cx="1638958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After 1000 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958084" y="2414016"/>
            <a:ext cx="5867851" cy="246888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40964" y="2578608"/>
            <a:ext cx="550209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A0B8D0"/>
                </a:solidFill>
                <a:latin typeface="Arial"/>
              </a:rPr>
              <a:t>Spray-to-Flame Process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40964" y="3008376"/>
            <a:ext cx="1169782" cy="1783080"/>
          </a:xfrm>
          <a:prstGeom prst="roundRect">
            <a:avLst>
              <a:gd name="adj" fmla="val 4000"/>
            </a:avLst>
          </a:prstGeom>
          <a:solidFill>
            <a:srgbClr val="2C3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32404" y="3136392"/>
            <a:ext cx="98690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D4A574"/>
                </a:solidFill>
                <a:latin typeface="Arial"/>
              </a:rPr>
              <a:t>At rest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32404" y="3465576"/>
            <a:ext cx="986902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Gel state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32404" y="3922776"/>
            <a:ext cx="986902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B0C0D0"/>
                </a:solidFill>
                <a:latin typeface="Arial"/>
              </a:rPr>
              <a:t>G' &gt; G''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10746" y="3008376"/>
            <a:ext cx="91440" cy="1783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667890"/>
                </a:solidFill>
                <a:latin typeface="Arial"/>
              </a:rPr>
              <a:t>▶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402186" y="3008376"/>
            <a:ext cx="1169782" cy="1783080"/>
          </a:xfrm>
          <a:prstGeom prst="roundRect">
            <a:avLst>
              <a:gd name="adj" fmla="val 4000"/>
            </a:avLst>
          </a:prstGeom>
          <a:solidFill>
            <a:srgbClr val="2C3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493626" y="3136392"/>
            <a:ext cx="98690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D4A574"/>
                </a:solidFill>
                <a:latin typeface="Arial"/>
              </a:rPr>
              <a:t>Spraying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493626" y="3465576"/>
            <a:ext cx="986902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Shear-thinning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493626" y="3922776"/>
            <a:ext cx="986902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B0C0D0"/>
                </a:solidFill>
                <a:latin typeface="Arial"/>
              </a:rPr>
              <a:t>Low viscosity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571969" y="3008376"/>
            <a:ext cx="91440" cy="1783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667890"/>
                </a:solidFill>
                <a:latin typeface="Arial"/>
              </a:rPr>
              <a:t>▶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663409" y="3008376"/>
            <a:ext cx="1169782" cy="1783080"/>
          </a:xfrm>
          <a:prstGeom prst="roundRect">
            <a:avLst>
              <a:gd name="adj" fmla="val 4000"/>
            </a:avLst>
          </a:prstGeom>
          <a:solidFill>
            <a:srgbClr val="2C3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754849" y="3136392"/>
            <a:ext cx="98690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D4A574"/>
                </a:solidFill>
                <a:latin typeface="Arial"/>
              </a:rPr>
              <a:t>On wall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754849" y="3465576"/>
            <a:ext cx="986902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Self-healing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754849" y="3922776"/>
            <a:ext cx="986902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B0C0D0"/>
                </a:solidFill>
                <a:latin typeface="Arial"/>
              </a:rPr>
              <a:t>G' recovery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833192" y="3008376"/>
            <a:ext cx="91440" cy="1783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667890"/>
                </a:solidFill>
                <a:latin typeface="Arial"/>
              </a:rPr>
              <a:t>▶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924632" y="3008376"/>
            <a:ext cx="1169782" cy="1783080"/>
          </a:xfrm>
          <a:prstGeom prst="roundRect">
            <a:avLst>
              <a:gd name="adj" fmla="val 4000"/>
            </a:avLst>
          </a:prstGeom>
          <a:solidFill>
            <a:srgbClr val="2C3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016072" y="3136392"/>
            <a:ext cx="98690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D4A574"/>
                </a:solidFill>
                <a:latin typeface="Arial"/>
              </a:rPr>
              <a:t>Flame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016072" y="3465576"/>
            <a:ext cx="986902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Aerogel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016072" y="3922776"/>
            <a:ext cx="986902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B0C0D0"/>
                </a:solidFill>
                <a:latin typeface="Arial"/>
              </a:rPr>
              <a:t>Porous silica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Materials 3/6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Colloidal Silica Particles (CSP) and Surfactant (SDS)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14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5647791" cy="219456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TEM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5647791" cy="21945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90672"/>
            <a:ext cx="564779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CSP particles (22 nm, monodisperse)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3218688"/>
            <a:ext cx="5647791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CSP — Colloidal Silica Particles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3566160"/>
            <a:ext cx="18288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566160"/>
            <a:ext cx="54466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LUDOX TM-50 (stock 50 wt%) → diluted to 15 wt% (pH 9)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3877056"/>
            <a:ext cx="18288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3877056"/>
            <a:ext cx="54466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Particle size: 22 nm (monodisperse)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4187952"/>
            <a:ext cx="18288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4187952"/>
            <a:ext cx="54466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Formulation concentration: 5 wt% in gel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4498848"/>
            <a:ext cx="18288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4498848"/>
            <a:ext cx="54466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Sinters upon heating → transforms into silica aerogel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8143" y="859536"/>
            <a:ext cx="5647791" cy="219456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87871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87871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SEM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78143" y="859536"/>
            <a:ext cx="5647791" cy="21945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78143" y="3090672"/>
            <a:ext cx="564779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Foam structure variation by SDS concentration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78143" y="3218688"/>
            <a:ext cx="5647791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SDS — Sodium Dodecyl Sulfate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78143" y="3566160"/>
            <a:ext cx="18288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79311" y="3566160"/>
            <a:ext cx="54466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Anionic surfactant (additive)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78143" y="3877056"/>
            <a:ext cx="18288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79311" y="3877056"/>
            <a:ext cx="54466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Adding SDS did not improve Foaming Index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78143" y="4187952"/>
            <a:ext cx="18288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79311" y="4187952"/>
            <a:ext cx="54466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Addition levels: 0.1 wt% and 0.5 wt%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78143" y="4498848"/>
            <a:ext cx="18288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79311" y="4498848"/>
            <a:ext cx="54466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Higher SDS concentration coarsens bubble size (SEM)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65760" y="6053328"/>
            <a:ext cx="11460175" cy="6583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65760" y="6053328"/>
            <a:ext cx="54864" cy="658368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8640" y="6053328"/>
            <a:ext cx="365760" cy="65836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💡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0120" y="6053328"/>
            <a:ext cx="10774375" cy="65836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The sintering temperature range of CSP overlaps with cellulose thermal decomposition — synchronized response forms the insulating layer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Materials 4/6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Five Formulations Evaluated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15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999427" cy="1737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005840"/>
            <a:ext cx="18165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3B5174"/>
                </a:solidFill>
                <a:latin typeface="Arial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36245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AquaGel-K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195681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0.5 wt%</a:t>
            </a:r>
          </a:p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Commercial WEG benchmark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456627" y="859536"/>
            <a:ext cx="1999427" cy="17373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48067" y="1005840"/>
            <a:ext cx="18165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3B5174"/>
                </a:solidFill>
                <a:latin typeface="Arial"/>
              </a:rPr>
              <a:t>Formula 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48067" y="136245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HEC+MC / CSP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48067" y="195681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HEC+MC 1 wt%</a:t>
            </a:r>
          </a:p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CSP 5 wt%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47494" y="859536"/>
            <a:ext cx="1999427" cy="17373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38934" y="1005840"/>
            <a:ext cx="18165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3B5174"/>
                </a:solidFill>
                <a:latin typeface="Arial"/>
              </a:rPr>
              <a:t>Formula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38934" y="136245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MHEC / CSP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38934" y="195681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MHEC 1 wt%</a:t>
            </a:r>
          </a:p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CSP 5 wt%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38361" y="859536"/>
            <a:ext cx="1999427" cy="17373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29801" y="1005840"/>
            <a:ext cx="18165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3B5174"/>
                </a:solidFill>
                <a:latin typeface="Arial"/>
              </a:rPr>
              <a:t>Formula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9801" y="136245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HEC+MC / CSP / SDS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29801" y="195681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+ SDS 0.1 wt%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29228" y="859536"/>
            <a:ext cx="1999427" cy="17373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820668" y="1005840"/>
            <a:ext cx="18165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3B5174"/>
                </a:solidFill>
                <a:latin typeface="Arial"/>
              </a:rPr>
              <a:t>Formula 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20668" y="136245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HEC+MC / CSP / SDS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20668" y="195681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+ SDS 0.5 wt%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65760" y="2962656"/>
            <a:ext cx="3710330" cy="22860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5760" y="2962656"/>
            <a:ext cx="3710330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3127248"/>
            <a:ext cx="3344570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Formulation Design Intent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349300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9808" y="3493008"/>
            <a:ext cx="314340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Compare functional differences by polymer type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376732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9808" y="3767328"/>
            <a:ext cx="314340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Verify foam structure at two SDS levels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404164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9808" y="4041648"/>
            <a:ext cx="314340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Direct comparison with AquaGel-K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240682" y="2962656"/>
            <a:ext cx="3710330" cy="22860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240682" y="2962656"/>
            <a:ext cx="3710330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423562" y="3127248"/>
            <a:ext cx="3344570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Notation Guide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423562" y="3493008"/>
            <a:ext cx="3344570" cy="16459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0" i="0">
                <a:solidFill>
                  <a:srgbClr val="475569"/>
                </a:solidFill>
                <a:latin typeface="Arial"/>
              </a:rPr>
              <a:t>HEC+MC/CSP/SDS 1-5-0.1</a:t>
            </a:r>
          </a:p>
          <a:p>
            <a:pPr algn="l"/>
            <a:r>
              <a:rPr sz="1456" b="0" i="0">
                <a:solidFill>
                  <a:srgbClr val="475569"/>
                </a:solidFill>
                <a:latin typeface="Arial"/>
              </a:rPr>
              <a:t>→ HEC+MC 1 wt%</a:t>
            </a:r>
          </a:p>
          <a:p>
            <a:pPr algn="l"/>
            <a:r>
              <a:rPr sz="1456" b="0" i="0">
                <a:solidFill>
                  <a:srgbClr val="475569"/>
                </a:solidFill>
                <a:latin typeface="Arial"/>
              </a:rPr>
              <a:t>／ CSP 5 wt%</a:t>
            </a:r>
          </a:p>
          <a:p>
            <a:pPr algn="l"/>
            <a:r>
              <a:rPr sz="1456" b="0" i="0">
                <a:solidFill>
                  <a:srgbClr val="475569"/>
                </a:solidFill>
                <a:latin typeface="Arial"/>
              </a:rPr>
              <a:t>／ SDS 0.1 wt%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115604" y="2962656"/>
            <a:ext cx="3710330" cy="1975104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225332" y="307238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225332" y="307238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Photo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15604" y="2962656"/>
            <a:ext cx="3710330" cy="197510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15604" y="4974336"/>
            <a:ext cx="371033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Appearance of the five formulations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Materials 5/6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Overview of Evaluation Methods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16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3805019" cy="5449824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Setup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3805019" cy="544982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345936"/>
            <a:ext cx="380501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Combustion test setup (MAP-Pro torch / plywood substrate)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53659" y="859536"/>
            <a:ext cx="3667557" cy="1798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53659" y="859536"/>
            <a:ext cx="366755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36539" y="1024128"/>
            <a:ext cx="3301797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RHEOLOGY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36539" y="1261872"/>
            <a:ext cx="3301797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Rheological Measurements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6539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37707" y="162763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Oscillatory sweep (G', G'')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36539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37707" y="190195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Steady-flow sweep (viscosity)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36539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37707" y="217627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Herschel-Bulkley fitting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58377" y="859536"/>
            <a:ext cx="3667557" cy="1798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158377" y="859536"/>
            <a:ext cx="366755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41257" y="1024128"/>
            <a:ext cx="3301797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BURN TEST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41257" y="1261872"/>
            <a:ext cx="3301797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Combustion Test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41257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42425" y="162763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MAP-Pro torch (~2054°C)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41257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42425" y="190195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Time to charring onset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41257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42425" y="217627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Compare at 120/300 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353659" y="2840736"/>
            <a:ext cx="3667557" cy="1798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353659" y="2840736"/>
            <a:ext cx="366755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36539" y="3005328"/>
            <a:ext cx="3301797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FOAMING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36539" y="3243072"/>
            <a:ext cx="3301797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Foaming Index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36539" y="36088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737707" y="360883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Foamed layer thickness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36539" y="38831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737707" y="388315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Ratio to initial = Foaming Index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158377" y="2840736"/>
            <a:ext cx="3667557" cy="1798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158377" y="2840736"/>
            <a:ext cx="366755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341257" y="3005328"/>
            <a:ext cx="3301797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SEM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41257" y="3243072"/>
            <a:ext cx="3301797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SEM Observation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341257" y="36088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542425" y="360883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Foam structure by SDS level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41257" y="38831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542425" y="388315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Sintering by burn time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353659" y="4821936"/>
            <a:ext cx="3667557" cy="1798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4353659" y="4821936"/>
            <a:ext cx="366755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536539" y="4986528"/>
            <a:ext cx="3301797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SPECTROSCOPY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36539" y="5224272"/>
            <a:ext cx="3301797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Spectroscopy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536539" y="55900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737707" y="559003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FT-IR (chemical bonding)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536539" y="58643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737707" y="586435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XPS (surface composition)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158377" y="4821936"/>
            <a:ext cx="3667557" cy="1798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8158377" y="4821936"/>
            <a:ext cx="366755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341257" y="4986528"/>
            <a:ext cx="3301797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THERMAL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341257" y="5224272"/>
            <a:ext cx="3301797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Thermal Analysis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341257" y="55900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542425" y="559003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TGA (thermogravimetric)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341257" y="58643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42425" y="586435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DSC (calorimetry)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Materials 6/6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Rheological Design Translates Directly into Field Performance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17 / 43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859536"/>
            <a:ext cx="411480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Rheological Design (measured properties)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49824" y="859536"/>
            <a:ext cx="637611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Expected Field Performance (behavior in use)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243584"/>
            <a:ext cx="4114800" cy="1207008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65760" y="1243584"/>
            <a:ext cx="54864" cy="1207008"/>
          </a:xfrm>
          <a:prstGeom prst="rect">
            <a:avLst/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1408176"/>
            <a:ext cx="3803904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Shear-thinning behavior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1883664"/>
            <a:ext cx="3803904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Viscosity drops sharply at high shear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4645152" y="1645920"/>
            <a:ext cx="640080" cy="402336"/>
          </a:xfrm>
          <a:prstGeom prst="rightArrow">
            <a:avLst/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449824" y="1243584"/>
            <a:ext cx="6376111" cy="12070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4A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50992" y="1389888"/>
            <a:ext cx="6065215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4A7C8C"/>
                </a:solidFill>
                <a:latin typeface="Arial"/>
              </a:rPr>
              <a:t>Sprayable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50992" y="1810512"/>
            <a:ext cx="6065215" cy="56692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Viscosity drops under nozzle's high shear</a:t>
            </a:r>
          </a:p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→ Deployable with existing hoses/nozzles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5760" y="2633472"/>
            <a:ext cx="4114800" cy="1207008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65760" y="2633472"/>
            <a:ext cx="54864" cy="1207008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2798064"/>
            <a:ext cx="3803904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High Storage Modulus G' (G' ≫ G'')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3273552"/>
            <a:ext cx="3803904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Holds gel state at rest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4645152" y="3035808"/>
            <a:ext cx="640080" cy="402336"/>
          </a:xfrm>
          <a:prstGeom prst="rightArrow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5449824" y="2633472"/>
            <a:ext cx="6376111" cy="12070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50992" y="2779776"/>
            <a:ext cx="6065215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3B5174"/>
                </a:solidFill>
                <a:latin typeface="Arial"/>
              </a:rPr>
              <a:t>No run-off on vertical surfaces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50992" y="3200400"/>
            <a:ext cx="6065215" cy="56692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Retains shape and adheres after application</a:t>
            </a:r>
          </a:p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→ Holds on vertical substrates (wood, walls)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65760" y="4023360"/>
            <a:ext cx="4114800" cy="1207008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65760" y="4023360"/>
            <a:ext cx="54864" cy="1207008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66928" y="4187952"/>
            <a:ext cx="3803904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Self-healing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4663440"/>
            <a:ext cx="3803904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G' recovers instantly after step-strain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4645152" y="4425696"/>
            <a:ext cx="640080" cy="402336"/>
          </a:xfrm>
          <a:prstGeom prst="rightArrow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5449824" y="4023360"/>
            <a:ext cx="6376111" cy="12070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4A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50992" y="4169664"/>
            <a:ext cx="6065215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D4A574"/>
                </a:solidFill>
                <a:latin typeface="Arial"/>
              </a:rPr>
              <a:t>Forms protective layer on landing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50992" y="4590288"/>
            <a:ext cx="6065215" cy="56692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Re-gels immediately after spraying</a:t>
            </a:r>
          </a:p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→ Fire layer maintained against wind/rain/gravity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65760" y="6089904"/>
            <a:ext cx="11460175" cy="56692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65760" y="6089904"/>
            <a:ext cx="54864" cy="566928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6089904"/>
            <a:ext cx="365760" cy="56692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ⓘ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0120" y="6089904"/>
            <a:ext cx="10774375" cy="56692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These field performances are inferred from measured rheology. No independent contact-angle or adhesion-force tests were performed in this paper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B08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62495" y="457200"/>
            <a:ext cx="4572000" cy="6400800"/>
          </a:xfrm>
          <a:prstGeom prst="rect">
            <a:avLst/>
          </a:prstGeom>
          <a:noFill/>
        </p:spPr>
        <p:txBody>
          <a:bodyPr wrap="square" anchor="b" lIns="36000" rIns="36000" tIns="18000" bIns="18000">
            <a:spAutoFit/>
          </a:bodyPr>
          <a:lstStyle/>
          <a:p>
            <a:pPr algn="r"/>
            <a:r>
              <a:rPr sz="26880" b="1" i="0">
                <a:solidFill>
                  <a:srgbClr val="243044"/>
                </a:solidFill>
                <a:latin typeface="Arial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914400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88A4C0"/>
                </a:solidFill>
                <a:latin typeface="Arial"/>
              </a:rPr>
              <a:t>Part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914400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5824" b="1" i="0">
                <a:solidFill>
                  <a:srgbClr val="FFFFFF"/>
                </a:solidFill>
                <a:latin typeface="Arial"/>
              </a:rPr>
              <a:t>Results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383280"/>
            <a:ext cx="9144000" cy="9144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904" b="0" i="0">
                <a:solidFill>
                  <a:srgbClr val="9CB4CC"/>
                </a:solidFill>
                <a:latin typeface="Arial"/>
              </a:rPr>
              <a:t>Rheological properties, combustion performance, foam structure, and aerogel formation mechanism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572000"/>
            <a:ext cx="1627632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572000"/>
            <a:ext cx="1627632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Rheology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88336" y="4572000"/>
            <a:ext cx="2651760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88336" y="4572000"/>
            <a:ext cx="2651760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Combustion Test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0" y="4572000"/>
            <a:ext cx="2359152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0" y="4572000"/>
            <a:ext cx="2359152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Foaming Index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91856" y="4572000"/>
            <a:ext cx="2651760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91856" y="4572000"/>
            <a:ext cx="2651760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SEM Observation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11535" y="6528816"/>
            <a:ext cx="109728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67788"/>
                </a:solidFill>
                <a:latin typeface="Arial"/>
              </a:rPr>
              <a:t>18 / 43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1/15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Rheology ①: Viscoelasticity &amp; Shear-Thinning (Fig. 2a–c)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19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5620359" cy="320040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2a–b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5620359" cy="32004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096512"/>
            <a:ext cx="562035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Angular frequency vs G' / G'' (viscoelasticity at rest)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05575" y="859536"/>
            <a:ext cx="5620359" cy="320040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15303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15303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2c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05575" y="859536"/>
            <a:ext cx="5620359" cy="32004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05575" y="4096512"/>
            <a:ext cx="562035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Shear rate vs viscosity (shear-thinning)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5760" y="4261104"/>
            <a:ext cx="5620359" cy="914400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 w="15240">
            <a:solidFill>
              <a:srgbClr val="4A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65760" y="4261104"/>
            <a:ext cx="54864" cy="914400"/>
          </a:xfrm>
          <a:prstGeom prst="rect">
            <a:avLst/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4370832"/>
            <a:ext cx="530946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00" b="1" i="0">
                <a:solidFill>
                  <a:srgbClr val="4A7C8C"/>
                </a:solidFill>
                <a:latin typeface="Arial"/>
              </a:rPr>
              <a:t>At rest: G' &gt; G'' → solid-like (gel) behavior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700016"/>
            <a:ext cx="5309463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88" b="0" i="0">
                <a:solidFill>
                  <a:srgbClr val="334155"/>
                </a:solidFill>
                <a:latin typeface="Arial"/>
              </a:rPr>
              <a:t>Low frequency dependence, stable network → does not flow off after application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05575" y="4261104"/>
            <a:ext cx="5620359" cy="914400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 w="1524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05575" y="4261104"/>
            <a:ext cx="54864" cy="91440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88455" y="4370832"/>
            <a:ext cx="530946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00" b="1" i="0">
                <a:solidFill>
                  <a:srgbClr val="3B5174"/>
                </a:solidFill>
                <a:latin typeface="Arial"/>
              </a:rPr>
              <a:t>Under high shear: viscosity drops sharply (shear-thinning)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88455" y="4700016"/>
            <a:ext cx="5309463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88" b="0" i="0">
                <a:solidFill>
                  <a:srgbClr val="334155"/>
                </a:solidFill>
                <a:latin typeface="Arial"/>
              </a:rPr>
              <a:t>High shear through the nozzle lowers viscosity → enables spray application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65760" y="5340096"/>
            <a:ext cx="11460175" cy="512064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65760" y="5340096"/>
            <a:ext cx="54864" cy="512064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8640" y="5340096"/>
            <a:ext cx="365760" cy="51206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D4A574"/>
                </a:solidFill>
                <a:latin typeface="Arial"/>
              </a:rPr>
              <a:t>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0120" y="5340096"/>
            <a:ext cx="10774375" cy="51206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Gel at rest (no dripping) + low viscosity when sprayed (deliverable) — the basis of spray application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2/15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Rheology ②: Static &amp; Dynamic Yield Stress vs AquaGel-K (Fig. 2d, S3)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20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56692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54864" cy="566928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859536"/>
            <a:ext cx="365760" cy="56692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859536"/>
            <a:ext cx="10774375" cy="56692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Yield stress = stress needed to initiate / maintain flow. Evaluated as static (onset = adhesion) and dynamic (maintain = spraying)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760" y="1609344"/>
            <a:ext cx="4492630" cy="155448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75488" y="1719072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5488" y="1719072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SI Fig. S3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1609344"/>
            <a:ext cx="4492630" cy="15544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3200400"/>
            <a:ext cx="449263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Amplitude sweep: G'/G'' crossover (static yield stress)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" y="3300984"/>
            <a:ext cx="4492630" cy="155448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75488" y="3410712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5488" y="3410712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2d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3300984"/>
            <a:ext cx="4492630" cy="15544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4892040"/>
            <a:ext cx="449263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Dynamic yield stress via HB fit (bar chart)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77846" y="1609344"/>
            <a:ext cx="6748089" cy="1554480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 w="15240">
            <a:solidFill>
              <a:srgbClr val="4A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77846" y="1609344"/>
            <a:ext cx="54864" cy="1554480"/>
          </a:xfrm>
          <a:prstGeom prst="rect">
            <a:avLst/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279014" y="1719072"/>
            <a:ext cx="643719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4A7C8C"/>
                </a:solidFill>
                <a:latin typeface="Arial"/>
              </a:rPr>
              <a:t>Static yield stress σ_static (onset = adhesion)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79014" y="2066544"/>
            <a:ext cx="643719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88" b="0" i="0">
                <a:solidFill>
                  <a:srgbClr val="334155"/>
                </a:solidFill>
                <a:latin typeface="Arial"/>
              </a:rPr>
              <a:t>Measured: stress at G' / G'' crossover in an amplitude (LAOS) sweep (S3)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79014" y="2377440"/>
            <a:ext cx="6437193" cy="7315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88" b="0" i="0">
                <a:solidFill>
                  <a:srgbClr val="475569"/>
                </a:solidFill>
                <a:latin typeface="Arial"/>
              </a:rPr>
              <a:t>WEG shows higher static yield stress than AquaGel-K</a:t>
            </a:r>
          </a:p>
          <a:p>
            <a:pPr algn="l"/>
            <a:r>
              <a:rPr sz="1288" b="0" i="0">
                <a:solidFill>
                  <a:srgbClr val="475569"/>
                </a:solidFill>
                <a:latin typeface="Arial"/>
              </a:rPr>
              <a:t>→ reluctant to flow off vertical/elevated fuel surfaces, adheres strongly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77846" y="3300984"/>
            <a:ext cx="6748089" cy="1554480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 w="1524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077846" y="3300984"/>
            <a:ext cx="54864" cy="155448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279014" y="3410712"/>
            <a:ext cx="643719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3B5174"/>
                </a:solidFill>
                <a:latin typeface="Arial"/>
              </a:rPr>
              <a:t>Dynamic yield stress σ_dynamic (maintain = spraying)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79014" y="3758184"/>
            <a:ext cx="643719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88" b="0" i="0">
                <a:solidFill>
                  <a:srgbClr val="334155"/>
                </a:solidFill>
                <a:latin typeface="Arial"/>
              </a:rPr>
              <a:t>Measured: HB-model fit of the flow sweep (100→0.01 s⁻¹) (2d)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79014" y="4069080"/>
            <a:ext cx="6437193" cy="7315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88" b="0" i="0">
                <a:solidFill>
                  <a:srgbClr val="475569"/>
                </a:solidFill>
                <a:latin typeface="Arial"/>
              </a:rPr>
              <a:t>Orders of magnitude above AquaGel-K (0.05 Pa reference line)</a:t>
            </a:r>
          </a:p>
          <a:p>
            <a:pPr algn="l"/>
            <a:r>
              <a:rPr sz="1288" b="0" i="0">
                <a:solidFill>
                  <a:srgbClr val="475569"/>
                </a:solidFill>
                <a:latin typeface="Arial"/>
              </a:rPr>
              <a:t>→ sprayable within pump pressure yet resistant to flowing off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65760" y="5056632"/>
            <a:ext cx="11460175" cy="566928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65760" y="5056632"/>
            <a:ext cx="54864" cy="566928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5056632"/>
            <a:ext cx="365760" cy="56692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D4A574"/>
                </a:solidFill>
                <a:latin typeface="Arial"/>
              </a:rPr>
              <a:t>✓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0120" y="5056632"/>
            <a:ext cx="10774375" cy="56692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For both static and dynamic yield stress, WEG greatly exceeds commercial AquaGel-K. Their small difference (weak thixotropy) lets the network re-form instantly, maintaining adhesion self-healingly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3/15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Rheology ③: Aging of Dynamic Yield Stress and Long-term Stability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21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5943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54864" cy="59436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859536"/>
            <a:ext cx="365760" cy="5943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859536"/>
            <a:ext cx="10774375" cy="5943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Dynamic yield stress: obtained by fitting the steady-shear flow sweep to the Herschel–Bulkley model (σ_d) — stress to maintain flow (Fig. S7)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1636776"/>
            <a:ext cx="11460175" cy="50292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1636776"/>
            <a:ext cx="3554979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Formulation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03619" y="163677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Dynamic yield stress (Day 1)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08204" y="163677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Dynamic yield stress (Day 455)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12789" y="163677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Note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2139696"/>
            <a:ext cx="11460175" cy="50292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2139696"/>
            <a:ext cx="3554979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34155"/>
                </a:solidFill>
                <a:latin typeface="Arial"/>
              </a:rPr>
              <a:t>HEC+MC/CSP 1-5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03619" y="213969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B5174"/>
                </a:solidFill>
                <a:latin typeface="Arial"/>
              </a:rPr>
              <a:t>33.34 Pa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08204" y="213969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9F7639"/>
                </a:solidFill>
                <a:latin typeface="Arial"/>
              </a:rPr>
              <a:t>68.9 Pa (+107%)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12789" y="213969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Stiffens markedly with aging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2642616"/>
            <a:ext cx="11460175" cy="50292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2642616"/>
            <a:ext cx="3554979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34155"/>
                </a:solidFill>
                <a:latin typeface="Arial"/>
              </a:rPr>
              <a:t>MHEC/CSP 1-5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03619" y="264261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B5174"/>
                </a:solidFill>
                <a:latin typeface="Arial"/>
              </a:rPr>
              <a:t>3.31 Pa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08204" y="264261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5B8C5A"/>
                </a:solidFill>
                <a:latin typeface="Arial"/>
              </a:rPr>
              <a:t>4.56 Pa (+38%)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12789" y="264261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Only minor change → stable (455 days)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3145536"/>
            <a:ext cx="11460175" cy="50292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145536"/>
            <a:ext cx="3554979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AquaGel-K (Commercial control)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03619" y="314553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08204" y="314553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—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12789" y="314553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Reference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65760" y="3922776"/>
            <a:ext cx="3728618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0352" y="4069080"/>
            <a:ext cx="3399434" cy="3200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Dynamic Yield Stress (HB fit)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0352" y="4434840"/>
            <a:ext cx="3399434" cy="10515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Obtained by fitting the steady-shear flow sweep to the HB model. HEC+MC/CSP: 33.34 Pa; MHEC/CSP: 3.31 Pa (Day 1)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231538" y="3922776"/>
            <a:ext cx="3728618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396130" y="4069080"/>
            <a:ext cx="3399434" cy="3200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Long-term Stability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396130" y="4434840"/>
            <a:ext cx="3399434" cy="10515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MHEC/CSP shows only minor change after 455 days (3.31→4.56 Pa). Demonstrates shelf stability for practical use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097316" y="3922776"/>
            <a:ext cx="3728618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261908" y="4069080"/>
            <a:ext cx="3399434" cy="3200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HEC+MC vs MHEC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61908" y="4434840"/>
            <a:ext cx="3399434" cy="10515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HEC+MC stiffens with aging (33.34→68.9 Pa). MHEC changes gently and is simpler to manufacture (single polymer)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4/15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Rheology ④: Storage Modulus G' and Viscoelasticity (tan δ)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22 / 43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859536"/>
            <a:ext cx="559292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G' Storage Modulus (1 rad/s)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271016"/>
            <a:ext cx="18288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MHEC/CSP 1-5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286000" y="1344168"/>
            <a:ext cx="26668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286000" y="1344168"/>
            <a:ext cx="346690" cy="146304"/>
          </a:xfrm>
          <a:prstGeom prst="roundRect">
            <a:avLst>
              <a:gd name="adj" fmla="val 50000"/>
            </a:avLst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44287" y="1271016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25.6 Pa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1728216"/>
            <a:ext cx="18288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HEC+MC/CSP 1-5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286000" y="1801368"/>
            <a:ext cx="26668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286000" y="1801368"/>
            <a:ext cx="666711" cy="146304"/>
          </a:xfrm>
          <a:prstGeom prst="roundRect">
            <a:avLst>
              <a:gd name="adj" fmla="val 50000"/>
            </a:avLst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44287" y="1728216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46.4 Pa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2185416"/>
            <a:ext cx="18288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AquaGel-K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286000" y="2258568"/>
            <a:ext cx="26668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286000" y="2258568"/>
            <a:ext cx="2533505" cy="146304"/>
          </a:xfrm>
          <a:prstGeom prst="roundRect">
            <a:avLst>
              <a:gd name="adj" fmla="val 50000"/>
            </a:avLst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44287" y="2185416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456.8 Pa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5760" y="2779776"/>
            <a:ext cx="5592927" cy="7315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65760" y="2779776"/>
            <a:ext cx="54864" cy="73152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2779776"/>
            <a:ext cx="365760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" y="2779776"/>
            <a:ext cx="4907127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All formulations show G'&gt;G'' (gel behavior). AquaGel-K has the highest G' but also larger tan δ (more fluid-like)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33007" y="859536"/>
            <a:ext cx="559292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Loss tangent tan δ = G''/G' (elastic-dominated = &lt;1)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33007" y="1271016"/>
            <a:ext cx="18288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AquaGel-K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153247" y="1344168"/>
            <a:ext cx="26668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153247" y="1344168"/>
            <a:ext cx="1120075" cy="146304"/>
          </a:xfrm>
          <a:prstGeom prst="roundRect">
            <a:avLst>
              <a:gd name="adj" fmla="val 50000"/>
            </a:avLst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911535" y="1271016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0.168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33007" y="1728216"/>
            <a:ext cx="18288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HEC+MC/CSP 1-5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153247" y="1801368"/>
            <a:ext cx="26668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8153247" y="1801368"/>
            <a:ext cx="1466766" cy="146304"/>
          </a:xfrm>
          <a:prstGeom prst="roundRect">
            <a:avLst>
              <a:gd name="adj" fmla="val 50000"/>
            </a:avLst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911535" y="1728216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0.219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33007" y="2185416"/>
            <a:ext cx="18288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MHEC/CSP 1-5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153247" y="2258568"/>
            <a:ext cx="26668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8153247" y="2258568"/>
            <a:ext cx="2666847" cy="146304"/>
          </a:xfrm>
          <a:prstGeom prst="roundRect">
            <a:avLst>
              <a:gd name="adj" fmla="val 50000"/>
            </a:avLst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911535" y="2185416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0.400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233007" y="2779776"/>
            <a:ext cx="5592927" cy="73152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233007" y="2779776"/>
            <a:ext cx="54864" cy="731520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15887" y="2779776"/>
            <a:ext cx="365760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D4A574"/>
                </a:solidFill>
                <a:latin typeface="Arial"/>
              </a:rPr>
              <a:t>✓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27367" y="2779776"/>
            <a:ext cx="4907127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All formulations: tan δ &lt; 1 (gel behavior). AquaGel-K most elastic (0.168); MHEC system most fluid-like (0.400)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5/15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Self-healing: Instant G' / G'' Recovery via Step-strain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23 / 43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859536"/>
            <a:ext cx="559292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Step-strain Protocol (ω = 1 rad/s)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1316736"/>
            <a:ext cx="5592927" cy="9601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" y="1316736"/>
            <a:ext cx="45720" cy="960120"/>
          </a:xfrm>
          <a:prstGeom prst="rect">
            <a:avLst/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52" y="1389888"/>
            <a:ext cx="73152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4A7C8C"/>
                </a:solidFill>
                <a:latin typeface="Arial"/>
              </a:rPr>
              <a:t>Step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1389888"/>
            <a:ext cx="458708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1E293B"/>
                </a:solidFill>
                <a:latin typeface="Arial"/>
              </a:rPr>
              <a:t>Low strain (γ = 1%)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1682496"/>
            <a:ext cx="5336895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Network preserved</a:t>
            </a:r>
          </a:p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G' &gt; G'' (gel state)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" y="2368296"/>
            <a:ext cx="5592927" cy="9601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65760" y="2368296"/>
            <a:ext cx="45720" cy="960120"/>
          </a:xfrm>
          <a:prstGeom prst="rect">
            <a:avLst/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0352" y="2441448"/>
            <a:ext cx="73152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9F7639"/>
                </a:solidFill>
                <a:latin typeface="Arial"/>
              </a:rPr>
              <a:t>Step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2441448"/>
            <a:ext cx="458708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1E293B"/>
                </a:solidFill>
                <a:latin typeface="Arial"/>
              </a:rPr>
              <a:t>High strain (γ = 500%)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352" y="2734056"/>
            <a:ext cx="5336895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Network broken</a:t>
            </a:r>
          </a:p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G' &lt; G'' (liquid state)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" y="3419856"/>
            <a:ext cx="5592927" cy="9601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3419856"/>
            <a:ext cx="45720" cy="96012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0352" y="3493008"/>
            <a:ext cx="73152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3B5174"/>
                </a:solidFill>
                <a:latin typeface="Arial"/>
              </a:rPr>
              <a:t>Step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0160" y="3493008"/>
            <a:ext cx="458708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1E293B"/>
                </a:solidFill>
                <a:latin typeface="Arial"/>
              </a:rPr>
              <a:t>Return to low strain (γ = 1%)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" y="3785616"/>
            <a:ext cx="5336895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Particle-polymer interactions reform</a:t>
            </a:r>
          </a:p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G' recovers instantly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33007" y="859536"/>
            <a:ext cx="559292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G' / G'' Time-series (cyclic step-strain)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33007" y="1271016"/>
            <a:ext cx="5592927" cy="310896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42735" y="138074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42735" y="138074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SI (step-strain)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33007" y="1271016"/>
            <a:ext cx="5592927" cy="31089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33007" y="4416552"/>
            <a:ext cx="559292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γ=1%→500%→1% cycle: G' recovers immediately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33007" y="4562856"/>
            <a:ext cx="5592927" cy="100584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3007" y="4562856"/>
            <a:ext cx="45720" cy="100584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97599" y="4654296"/>
            <a:ext cx="533689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3B5174"/>
                </a:solidFill>
                <a:latin typeface="Arial"/>
              </a:rPr>
              <a:t>POINT: Guarantees instant adhesion after spraying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97599" y="4946904"/>
            <a:ext cx="5336895" cy="56692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Viscosity drops at nozzle's high shear → G' recovers instantly on substrate</a:t>
            </a:r>
          </a:p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→ Holds on vertical surfaces without dripping (self-healing = key to deployability)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65760" y="6108192"/>
            <a:ext cx="11460175" cy="5486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65760" y="6108192"/>
            <a:ext cx="54864" cy="54864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6108192"/>
            <a:ext cx="365760" cy="5486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✓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0120" y="6108192"/>
            <a:ext cx="10774375" cy="5486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Reversible network via noncovalent bonds (H-bonds, multivalent interactions) → Self-healing demonstrated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6/15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HEC+MC vs MHEC: Comparison of Two Systems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24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5638647" cy="43891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563864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024128"/>
            <a:ext cx="527288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HEC + MC Mixed System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362456"/>
            <a:ext cx="5272887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0" i="1">
                <a:solidFill>
                  <a:srgbClr val="475569"/>
                </a:solidFill>
                <a:latin typeface="Arial"/>
              </a:rPr>
              <a:t>HEC (non-thermal gelation) + MC (thermal gelation, LCST)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186537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186537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 provides room-temperature viscosity and adhesion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223113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223113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MC maintains structure during heating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259689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259689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Shear-thinning (low viscosity at high shear)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296265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296265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Time to char &gt; 7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332841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332841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Foaming Index ≈ 2.2–2.6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3831336"/>
            <a:ext cx="5272887" cy="4572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3877056"/>
            <a:ext cx="5090007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3B5174"/>
                </a:solidFill>
                <a:latin typeface="Arial"/>
              </a:rPr>
              <a:t>→ Good compatibility with SDS; excellent for optimizing foam structure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87287" y="859536"/>
            <a:ext cx="5638647" cy="43891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87287" y="859536"/>
            <a:ext cx="563864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70167" y="1024128"/>
            <a:ext cx="527288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MHEC Single-Polymer System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70167" y="1362456"/>
            <a:ext cx="5272887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0" i="1">
                <a:solidFill>
                  <a:srgbClr val="475569"/>
                </a:solidFill>
                <a:latin typeface="Arial"/>
              </a:rPr>
              <a:t>MHEC (integrates HEC+MC functions into a single molecule)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61607" y="186537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90207" y="186537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Carries both hydroxyethyl and methyl groups on the same chain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61607" y="223113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90207" y="223113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Achieves equivalent viscoelasticity and thermal response with a single polymer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61607" y="259689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90207" y="259689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Shear-thinning behavior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61607" y="296265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90207" y="296265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Time to char &gt; 5 min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61607" y="332841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90207" y="332841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Advantage of simplified formulation and quality control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370167" y="3831336"/>
            <a:ext cx="5272887" cy="4572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61607" y="3877056"/>
            <a:ext cx="5090007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3B5174"/>
                </a:solidFill>
                <a:latin typeface="Arial"/>
              </a:rPr>
              <a:t>→ Advantageous for scale-up and manufacturing cost reduction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65760" y="5477256"/>
            <a:ext cx="11460175" cy="7315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65760" y="5477256"/>
            <a:ext cx="54864" cy="73152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48640" y="5477256"/>
            <a:ext cx="365760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⚖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0120" y="5477256"/>
            <a:ext cx="10774375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Both systems significantly outperform commercial AquaGel-K. HEC+MC excels in foam optimization; MHEC excels in manufacturing simplicity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7/15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SDS Addition: Goal Was Better Foaming &amp; Wetting — But Results Were Mixed (Fig. 2e–h)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25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5647791" cy="822960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 w="15240">
            <a:solidFill>
              <a:srgbClr val="4A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54864" cy="822960"/>
          </a:xfrm>
          <a:prstGeom prst="rect">
            <a:avLst/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932688"/>
            <a:ext cx="5373471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4A7C8C"/>
                </a:solidFill>
                <a:latin typeface="Arial"/>
              </a:rPr>
              <a:t>Why SDS was added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225296"/>
            <a:ext cx="537347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Surfactant SDS (0 / 0.1 / 0.5 wt%) was added to HEC+MC/CSP to improve wetting on fuel surfaces and promote stable foam-layer formation during combustion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8143" y="859536"/>
            <a:ext cx="5647791" cy="822960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 w="1524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8143" y="859536"/>
            <a:ext cx="54864" cy="82296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61023" y="932688"/>
            <a:ext cx="5373471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3B5174"/>
                </a:solidFill>
                <a:latin typeface="Arial"/>
              </a:rPr>
              <a:t>Expected outcome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61023" y="1225296"/>
            <a:ext cx="537347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① Lower gel viscosity to improve sprayability  ② Stabilise bubbles to increase Foaming Index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1828800"/>
            <a:ext cx="5647791" cy="1874519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75488" y="1938528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5488" y="1938528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2e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1828800"/>
            <a:ext cx="5647791" cy="1874519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3739895"/>
            <a:ext cx="564779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G' / G'' vs angular frequency (SAOS, 3 SDS levels)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78143" y="1828800"/>
            <a:ext cx="5647791" cy="1874519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87871" y="1938528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87871" y="1938528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2f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78143" y="1828800"/>
            <a:ext cx="5647791" cy="1874519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78143" y="3739895"/>
            <a:ext cx="564779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G' and tan δ bar chart (at 1 rad/s)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65760" y="3867911"/>
            <a:ext cx="5647791" cy="1874519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75488" y="3977639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75488" y="3977639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2g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3867911"/>
            <a:ext cx="5647791" cy="1874519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" y="5779006"/>
            <a:ext cx="564779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Viscosity vs shear rate (Herschel–Bulkley fit)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178143" y="3867911"/>
            <a:ext cx="5647791" cy="1874519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287871" y="3977639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87871" y="3977639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2h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78143" y="3867911"/>
            <a:ext cx="5647791" cy="1874519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78143" y="5779006"/>
            <a:ext cx="564779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Dynamic yield stress by SDS level (0.05 Pa reference)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65760" y="5888734"/>
            <a:ext cx="5647791" cy="768098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15240">
            <a:solidFill>
              <a:srgbClr val="9F7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65760" y="5888734"/>
            <a:ext cx="54864" cy="768098"/>
          </a:xfrm>
          <a:prstGeom prst="rect">
            <a:avLst/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8640" y="5943598"/>
            <a:ext cx="5373471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88" b="1" i="0">
                <a:solidFill>
                  <a:srgbClr val="9F7639"/>
                </a:solidFill>
                <a:latin typeface="Arial"/>
              </a:rPr>
              <a:t>Rheology: concentration-dependent but limited benefit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40" y="6199630"/>
            <a:ext cx="5373471" cy="42062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G' rises slightly at 0.1 wt% but drops again at 0.5 wt%; yield stress also decreases. Overall, SDS addition negatively affects gel stiffness and adhesion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178143" y="5888734"/>
            <a:ext cx="5647791" cy="768098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15240">
            <a:solidFill>
              <a:srgbClr val="A056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178143" y="5888734"/>
            <a:ext cx="54864" cy="768098"/>
          </a:xfrm>
          <a:prstGeom prst="rect">
            <a:avLst/>
          </a:prstGeom>
          <a:solidFill>
            <a:srgbClr val="A0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361023" y="5943598"/>
            <a:ext cx="5373471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88" b="1" i="0">
                <a:solidFill>
                  <a:srgbClr val="A05656"/>
                </a:solidFill>
                <a:latin typeface="Arial"/>
              </a:rPr>
              <a:t>Foaming: Foaming Index actually decreased (Fig. 4)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61023" y="6199630"/>
            <a:ext cx="5373471" cy="42062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SDS caused bubble coarsening and non-uniform foam structure, lowering the Foaming Index. The original goal of enhancing foam formation was not achieved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8/15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Combustion Test Setup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26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6211656" cy="420624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3a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6211656" cy="4206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5102352"/>
            <a:ext cx="621165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Experimental setup for combustion testing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760296" y="859536"/>
            <a:ext cx="5065638" cy="32004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760296" y="859536"/>
            <a:ext cx="5065638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43176" y="1024128"/>
            <a:ext cx="4699878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EXPERIMENTAL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3176" y="1261872"/>
            <a:ext cx="4699878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◆ Test Conditions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3176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44344" y="1627632"/>
            <a:ext cx="449871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Substrate: whitewood plywood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3176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44344" y="1901952"/>
            <a:ext cx="449871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Gel application: uniformly applied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43176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44344" y="2176272"/>
            <a:ext cx="449871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Flame source: MAP-Pro torch (~2054°C)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3176" y="24505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44344" y="2450592"/>
            <a:ext cx="449871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Measurement: time until substrate charring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43176" y="272491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44344" y="2724912"/>
            <a:ext cx="449871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Photographs taken at 120 s and 300 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760296" y="4242816"/>
            <a:ext cx="5065638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760296" y="4242816"/>
            <a:ext cx="54864" cy="77724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43176" y="4242816"/>
            <a:ext cx="365760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⏱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54656" y="4242816"/>
            <a:ext cx="4379838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Time to char = time required for wood surface to char (longer = better protection)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9/15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Time to Char: Quantitative Comparison of 5 Formulations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27 / 43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859536"/>
            <a:ext cx="7013868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Time to char (time to charring onset)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271016"/>
            <a:ext cx="23774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Water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34640" y="1344168"/>
            <a:ext cx="3447708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834640" y="1344168"/>
            <a:ext cx="137908" cy="146304"/>
          </a:xfrm>
          <a:prstGeom prst="roundRect">
            <a:avLst>
              <a:gd name="adj" fmla="val 50000"/>
            </a:avLst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3788" y="1271016"/>
            <a:ext cx="10058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~0.3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1773936"/>
            <a:ext cx="23774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AquaGel-K (commercial)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834640" y="1847088"/>
            <a:ext cx="3447708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834640" y="1847088"/>
            <a:ext cx="689541" cy="146304"/>
          </a:xfrm>
          <a:prstGeom prst="roundRect">
            <a:avLst>
              <a:gd name="adj" fmla="val 50000"/>
            </a:avLst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73788" y="1773936"/>
            <a:ext cx="10058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~1.5 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2276856"/>
            <a:ext cx="23774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MHEC/CSP 1-5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834640" y="2350008"/>
            <a:ext cx="3447708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834640" y="2350008"/>
            <a:ext cx="2241010" cy="146304"/>
          </a:xfrm>
          <a:prstGeom prst="roundRect">
            <a:avLst>
              <a:gd name="adj" fmla="val 50000"/>
            </a:avLst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73788" y="2276856"/>
            <a:ext cx="10058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&gt;5 min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2779776"/>
            <a:ext cx="23774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HEC+MC/CSP 1-5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834640" y="2852928"/>
            <a:ext cx="3447708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2834640" y="2852928"/>
            <a:ext cx="3102937" cy="146304"/>
          </a:xfrm>
          <a:prstGeom prst="roundRect">
            <a:avLst>
              <a:gd name="adj" fmla="val 50000"/>
            </a:avLst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73788" y="2779776"/>
            <a:ext cx="10058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&gt;7 min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3282696"/>
            <a:ext cx="23774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HEC+MC/CSP/SDS 1-5-0.1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834640" y="3355848"/>
            <a:ext cx="3447708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2834640" y="3355848"/>
            <a:ext cx="3102937" cy="146304"/>
          </a:xfrm>
          <a:prstGeom prst="roundRect">
            <a:avLst>
              <a:gd name="adj" fmla="val 50000"/>
            </a:avLst>
          </a:prstGeom>
          <a:solidFill>
            <a:srgbClr val="5B7A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788" y="3282696"/>
            <a:ext cx="10058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&gt;7 min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65760" y="3922776"/>
            <a:ext cx="7013868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65760" y="3922776"/>
            <a:ext cx="54864" cy="77724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8640" y="3922776"/>
            <a:ext cx="365760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📊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0120" y="3922776"/>
            <a:ext cx="6328068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This work's WEG achieves 3–6× longer protection than commercial AquaGel-K (n≥3 for all tests)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562508" y="859536"/>
            <a:ext cx="4263426" cy="475488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672236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672236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3b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562508" y="859536"/>
            <a:ext cx="4263426" cy="47548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562508" y="5650992"/>
            <a:ext cx="426342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Time-to-char bar chart (n≥3, error bars = standard deviation)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10/15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Time-lapse Observation of Combustion Process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28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219456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3c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11460175" cy="21945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90672"/>
            <a:ext cx="1146017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Sequential photographs during flame contact for each formulation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3511296"/>
            <a:ext cx="3734714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3675888"/>
            <a:ext cx="3405530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A05656"/>
                </a:solidFill>
                <a:latin typeface="Arial"/>
              </a:rPr>
              <a:t>Water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410565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A05656"/>
                </a:solidFill>
                <a:latin typeface="Arial"/>
              </a:rPr>
              <a:t>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5528" y="4105656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Immediately evaporates and runs off under direct flame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4489704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A05656"/>
                </a:solidFill>
                <a:latin typeface="Arial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5528" y="4489704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Wood surface chars in ~0.3 min (~18 s)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48737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A05656"/>
                </a:solidFill>
                <a:latin typeface="Arial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5528" y="4873752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No protective layer formed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28490" y="3511296"/>
            <a:ext cx="3734714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93082" y="3675888"/>
            <a:ext cx="3405530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9F7639"/>
                </a:solidFill>
                <a:latin typeface="Arial"/>
              </a:rPr>
              <a:t>AquaGel-K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29658" y="410565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9F7639"/>
                </a:solidFill>
                <a:latin typeface="Arial"/>
              </a:rPr>
              <a:t>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58258" y="4105656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Retains water but ends when water evaporates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29658" y="4489704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9F7639"/>
                </a:solidFill>
                <a:latin typeface="Arial"/>
              </a:rPr>
              <a:t>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58258" y="4489704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Chars in ~1.5 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29658" y="48737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9F7639"/>
                </a:solidFill>
                <a:latin typeface="Arial"/>
              </a:rPr>
              <a:t>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58258" y="4873752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No solid protective layer formed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91220" y="3511296"/>
            <a:ext cx="3734714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55812" y="3675888"/>
            <a:ext cx="3405530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3B5174"/>
                </a:solidFill>
                <a:latin typeface="Arial"/>
              </a:rPr>
              <a:t>This Work WEG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92388" y="410565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20988" y="4105656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Gel foams and expands simultaneously with water evaporation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92388" y="4489704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20988" y="4489704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Porous aerogel layer provides continued protection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92388" y="48737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20988" y="4873752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Charring prevented for &gt;7 min (HEC+MC)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11/15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Surface Condition Comparison at 120 s / 300 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29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210312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3d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11460175" cy="2103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999232"/>
            <a:ext cx="1146017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Surface condition comparison: 120 s (top) and 300 s (bottom)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3419856"/>
            <a:ext cx="3734714" cy="2560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3566160"/>
            <a:ext cx="3405530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A05656"/>
                </a:solidFill>
                <a:latin typeface="Arial"/>
              </a:rPr>
              <a:t>Water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968496"/>
            <a:ext cx="3332378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• 120 s: charring already beginning over wide area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4379976"/>
            <a:ext cx="3332378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• 300 s: entire surface blackened, severe damage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" y="5614416"/>
            <a:ext cx="340553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A05656"/>
                </a:solidFill>
                <a:latin typeface="Arial"/>
              </a:rPr>
              <a:t>Time to char: ~0.3 min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28490" y="3419856"/>
            <a:ext cx="3734714" cy="2560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93082" y="3566160"/>
            <a:ext cx="3405530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9F7639"/>
                </a:solidFill>
                <a:latin typeface="Arial"/>
              </a:rPr>
              <a:t>AquaGel-K (commercial)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29658" y="3968496"/>
            <a:ext cx="3332378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• 120 s: gel drying, partial charring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29658" y="4379976"/>
            <a:ext cx="3332378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• 300 s: no protective layer, partial charring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93082" y="5614416"/>
            <a:ext cx="340553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9F7639"/>
                </a:solidFill>
                <a:latin typeface="Arial"/>
              </a:rPr>
              <a:t>Time to char: ~1.5 min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91220" y="3419856"/>
            <a:ext cx="3734714" cy="2560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55812" y="3566160"/>
            <a:ext cx="3405530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3B5174"/>
                </a:solidFill>
                <a:latin typeface="Arial"/>
              </a:rPr>
              <a:t>This Work WEG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92388" y="3968496"/>
            <a:ext cx="3332378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• 120 s: aerogel layer forming and expanding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92388" y="4379976"/>
            <a:ext cx="3332378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• 300 s: surface nearly intact, layer remains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55812" y="5614416"/>
            <a:ext cx="340553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3B5174"/>
                </a:solidFill>
                <a:latin typeface="Arial"/>
              </a:rPr>
              <a:t>Time to char: &gt;7 min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47120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568" b="1" i="0">
                <a:solidFill>
                  <a:srgbClr val="88A4C0"/>
                </a:solidFill>
                <a:latin typeface="Arial"/>
              </a:rPr>
              <a:t>KEY RESULT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737360"/>
            <a:ext cx="11247120" cy="2103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4560" b="1" i="0">
                <a:solidFill>
                  <a:srgbClr val="D4A574"/>
                </a:solidFill>
                <a:latin typeface="Arial"/>
              </a:rPr>
              <a:t>&gt;7</a:t>
            </a:r>
            <a:r>
              <a:rPr sz="6720" b="0" i="0">
                <a:solidFill>
                  <a:srgbClr val="C89A68"/>
                </a:solidFill>
                <a:latin typeface="Arial"/>
              </a:rPr>
              <a:t>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023360"/>
            <a:ext cx="11247120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2912" b="1" i="0">
                <a:solidFill>
                  <a:srgbClr val="FFFFFF"/>
                </a:solidFill>
                <a:latin typeface="Arial"/>
              </a:rPr>
              <a:t>Time to Char of This Work's WEG (HEC+MC/CSP)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709160"/>
            <a:ext cx="9418320" cy="6400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568" b="0" i="0">
                <a:solidFill>
                  <a:srgbClr val="9CB4CC"/>
                </a:solidFill>
                <a:latin typeface="Arial"/>
              </a:rPr>
              <a:t>Achieved 3–6× longer protection than commercial AquaGel-K (~1.5 min) — n≥3 for all tests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0" y="5532120"/>
            <a:ext cx="15544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r"/>
            <a:r>
              <a:rPr sz="1232" b="0" i="0">
                <a:solidFill>
                  <a:srgbClr val="C0D0E0"/>
                </a:solidFill>
                <a:latin typeface="Arial"/>
              </a:rPr>
              <a:t>Water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931920" y="5568696"/>
            <a:ext cx="6400800" cy="164592"/>
          </a:xfrm>
          <a:prstGeom prst="roundRect">
            <a:avLst>
              <a:gd name="adj" fmla="val 50000"/>
            </a:avLst>
          </a:prstGeom>
          <a:solidFill>
            <a:srgbClr val="2C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931920" y="5568696"/>
            <a:ext cx="256032" cy="164592"/>
          </a:xfrm>
          <a:prstGeom prst="roundRect">
            <a:avLst>
              <a:gd name="adj" fmla="val 50000"/>
            </a:avLst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469880" y="5532120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C0D0E0"/>
                </a:solidFill>
                <a:latin typeface="Arial"/>
              </a:rPr>
              <a:t>~0.3 min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6000" y="5852160"/>
            <a:ext cx="15544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r"/>
            <a:r>
              <a:rPr sz="1232" b="0" i="0">
                <a:solidFill>
                  <a:srgbClr val="C0D0E0"/>
                </a:solidFill>
                <a:latin typeface="Arial"/>
              </a:rPr>
              <a:t>AquaGel-K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31920" y="5888736"/>
            <a:ext cx="6400800" cy="164592"/>
          </a:xfrm>
          <a:prstGeom prst="roundRect">
            <a:avLst>
              <a:gd name="adj" fmla="val 50000"/>
            </a:avLst>
          </a:prstGeom>
          <a:solidFill>
            <a:srgbClr val="2C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931920" y="5888736"/>
            <a:ext cx="1280160" cy="164592"/>
          </a:xfrm>
          <a:prstGeom prst="roundRect">
            <a:avLst>
              <a:gd name="adj" fmla="val 50000"/>
            </a:avLst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69880" y="5852160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C0D0E0"/>
                </a:solidFill>
                <a:latin typeface="Arial"/>
              </a:rPr>
              <a:t>~1.5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86000" y="6172200"/>
            <a:ext cx="15544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r"/>
            <a:r>
              <a:rPr sz="1232" b="0" i="0">
                <a:solidFill>
                  <a:srgbClr val="C0D0E0"/>
                </a:solidFill>
                <a:latin typeface="Arial"/>
              </a:rPr>
              <a:t>This Work WEG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931920" y="6208776"/>
            <a:ext cx="6400800" cy="164592"/>
          </a:xfrm>
          <a:prstGeom prst="roundRect">
            <a:avLst>
              <a:gd name="adj" fmla="val 50000"/>
            </a:avLst>
          </a:prstGeom>
          <a:solidFill>
            <a:srgbClr val="2C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931920" y="6208776"/>
            <a:ext cx="6080760" cy="164592"/>
          </a:xfrm>
          <a:prstGeom prst="roundRect">
            <a:avLst>
              <a:gd name="adj" fmla="val 50000"/>
            </a:avLst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469880" y="6172200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C0D0E0"/>
                </a:solidFill>
                <a:latin typeface="Arial"/>
              </a:rPr>
              <a:t>&gt;7 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11535" y="6528816"/>
            <a:ext cx="109728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556677"/>
                </a:solidFill>
                <a:latin typeface="Arial"/>
              </a:rPr>
              <a:t>30 / 43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12/15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SDS Addition: Expected to Improve Foaming — But the Opposite Occurred (Fig. 4)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31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3291840" cy="1005840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 w="15240">
            <a:solidFill>
              <a:srgbClr val="4A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54864" cy="1005840"/>
          </a:xfrm>
          <a:prstGeom prst="rect">
            <a:avLst/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932688"/>
            <a:ext cx="3017520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4A7C8C"/>
                </a:solidFill>
                <a:latin typeface="Arial"/>
              </a:rPr>
              <a:t>Hypothesis (purpose of SDS)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1207008"/>
            <a:ext cx="3017520" cy="58521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Surfactant SDS promotes bubble formation</a:t>
            </a:r>
          </a:p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→ Foaming Index increases</a:t>
            </a:r>
          </a:p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→ Thicker aerogel insulation layer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3733723" y="1161288"/>
            <a:ext cx="640080" cy="402336"/>
          </a:xfrm>
          <a:prstGeom prst="rightArrow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449927" y="859536"/>
            <a:ext cx="3291840" cy="1005840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 w="1016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51095" y="932688"/>
            <a:ext cx="3017520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Experiment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51095" y="1207008"/>
            <a:ext cx="3017520" cy="58521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SDS 0 / 0.1 / 0.5 wt% added to</a:t>
            </a:r>
          </a:p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HEC+MC/CSP; combustion tested</a:t>
            </a:r>
          </a:p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→ Foaming Index quantified (Fig. 4a/4b)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7817891" y="1161288"/>
            <a:ext cx="640080" cy="402336"/>
          </a:xfrm>
          <a:prstGeom prst="rightArrow">
            <a:avLst/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534095" y="859536"/>
            <a:ext cx="3291840" cy="1005840"/>
          </a:xfrm>
          <a:prstGeom prst="roundRect">
            <a:avLst>
              <a:gd name="adj" fmla="val 5000"/>
            </a:avLst>
          </a:prstGeom>
          <a:solidFill>
            <a:srgbClr val="FFF7ED"/>
          </a:solidFill>
          <a:ln w="17780">
            <a:solidFill>
              <a:srgbClr val="9F7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534095" y="859536"/>
            <a:ext cx="54864" cy="1005840"/>
          </a:xfrm>
          <a:prstGeom prst="rect">
            <a:avLst/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35263" y="932688"/>
            <a:ext cx="3017520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9F7639"/>
                </a:solidFill>
                <a:latin typeface="Arial"/>
              </a:rPr>
              <a:t>Result (opposite of expected)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35263" y="1207008"/>
            <a:ext cx="3017520" cy="58521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SDS addition reduced Foaming Index</a:t>
            </a:r>
          </a:p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2.6 (0%) → 2.3 (0.1%) → even lower (0.5%)</a:t>
            </a:r>
          </a:p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SDS did not improve foaming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5760" y="2121408"/>
            <a:ext cx="5638647" cy="192024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75488" y="2231136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5488" y="2231136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4a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2121408"/>
            <a:ext cx="5638647" cy="1920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4078224"/>
            <a:ext cx="56386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Foamed layer appearance after combustion (by SDS level)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87287" y="2121408"/>
            <a:ext cx="5638647" cy="192024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97015" y="2231136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97015" y="2231136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4b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87287" y="2121408"/>
            <a:ext cx="5638647" cy="1920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87287" y="4078224"/>
            <a:ext cx="56386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Foaming Index per formulation (quantified)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" y="4297680"/>
            <a:ext cx="5730087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Foaming Index (post-combustion thickness / initial thickness)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5760" y="4590288"/>
            <a:ext cx="29260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HEC+MC/CSP 1-5 (SDS 0%)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383280" y="4663440"/>
            <a:ext cx="3081948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3383280" y="4663440"/>
            <a:ext cx="3081948" cy="146304"/>
          </a:xfrm>
          <a:prstGeom prst="roundRect">
            <a:avLst>
              <a:gd name="adj" fmla="val 50000"/>
            </a:avLst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56668" y="4590288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≈2.6×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5760" y="4956048"/>
            <a:ext cx="29260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HEC+MC/CSP/SDS 1-5-0.1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383280" y="5029200"/>
            <a:ext cx="3081948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3383280" y="5029200"/>
            <a:ext cx="2712114" cy="146304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56668" y="4956048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≈2.3×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5760" y="5321808"/>
            <a:ext cx="29260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HEC+MC/CSP/SDS 1-5-0.5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383280" y="5394960"/>
            <a:ext cx="3081948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3383280" y="5394960"/>
            <a:ext cx="2219002" cy="146304"/>
          </a:xfrm>
          <a:prstGeom prst="roundRect">
            <a:avLst>
              <a:gd name="adj" fmla="val 50000"/>
            </a:avLst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556668" y="5321808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even lower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5687568"/>
            <a:ext cx="29260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AquaGel-K (reference)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383280" y="5760720"/>
            <a:ext cx="3081948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3383280" y="5760720"/>
            <a:ext cx="61638" cy="146304"/>
          </a:xfrm>
          <a:prstGeom prst="roundRect">
            <a:avLst>
              <a:gd name="adj" fmla="val 50000"/>
            </a:avLst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556668" y="5687568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≈0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65760" y="6144768"/>
            <a:ext cx="11460175" cy="530352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65760" y="6144768"/>
            <a:ext cx="54864" cy="530352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48640" y="6144768"/>
            <a:ext cx="365760" cy="53035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D4A574"/>
                </a:solidFill>
                <a:latin typeface="Arial"/>
              </a:rPr>
              <a:t>!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60120" y="6144768"/>
            <a:ext cx="10774375" cy="53035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SDS did not improve foaming — instead coarsened bubble structure (Fig. 4c SEM) → explains the Foaming Index decrease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13/15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Effect of SDS Concentration on Aerogel Microstructure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32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274320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4c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11460175" cy="2743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639312"/>
            <a:ext cx="1146017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FE-SEM images by SDS concentration (0%, 0.1%, 0.5%)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4014216"/>
            <a:ext cx="3734714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4215384"/>
            <a:ext cx="3405530" cy="3200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3B5174"/>
                </a:solidFill>
                <a:latin typeface="Arial"/>
              </a:rPr>
              <a:t>0% SDS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4700016"/>
            <a:ext cx="340553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Highest foaming index (≈2.6). No SDS yields maximum expansion.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28490" y="4014216"/>
            <a:ext cx="3734714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93082" y="4215384"/>
            <a:ext cx="3405530" cy="3200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64748B"/>
                </a:solidFill>
                <a:latin typeface="Arial"/>
              </a:rPr>
              <a:t>0.1% SDS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93082" y="4700016"/>
            <a:ext cx="340553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Uniform fine-bubble structure. Foaming index ≈2.3 (lower than no-SDS).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91220" y="4014216"/>
            <a:ext cx="3734714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55812" y="4215384"/>
            <a:ext cx="3405530" cy="3200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64748B"/>
                </a:solidFill>
                <a:latin typeface="Arial"/>
              </a:rPr>
              <a:t>0.5% SDS (Excess)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55812" y="4700016"/>
            <a:ext cx="340553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Non-uniform and coarsened bubble size. Foaming index further reduced.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14/15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FT-IR &amp; XPS: Chemical Composition Changes (Before/After Combustion)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33 / 43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859536"/>
            <a:ext cx="56386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FT-IR Major Peak Assignments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1243584"/>
            <a:ext cx="5638647" cy="4572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1243584"/>
            <a:ext cx="1209786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Wavenumber (cm⁻¹)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58426" y="1243584"/>
            <a:ext cx="2619448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Assignment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69314" y="1243584"/>
            <a:ext cx="1535092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After combustion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1700784"/>
            <a:ext cx="5638647" cy="45720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1700784"/>
            <a:ext cx="1209786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3200–3500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58426" y="1700784"/>
            <a:ext cx="2619448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O–H stretch (cellulose, water)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69314" y="1700784"/>
            <a:ext cx="1535092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A05656"/>
                </a:solidFill>
                <a:latin typeface="Arial"/>
              </a:rPr>
              <a:t>Disappears (dehydration)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2157984"/>
            <a:ext cx="5638647" cy="45720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2157984"/>
            <a:ext cx="1209786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2850–2950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58426" y="2157984"/>
            <a:ext cx="2619448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C–H stretch (methyl groups)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69314" y="2157984"/>
            <a:ext cx="1535092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A05656"/>
                </a:solidFill>
                <a:latin typeface="Arial"/>
              </a:rPr>
              <a:t>Disappears (organic decomposition)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2615184"/>
            <a:ext cx="5638647" cy="45720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2615184"/>
            <a:ext cx="1209786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1050–1100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58426" y="2615184"/>
            <a:ext cx="2619448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Si–O–Si stretch (silica)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69314" y="2615184"/>
            <a:ext cx="1535092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5B8C5A"/>
                </a:solidFill>
                <a:latin typeface="Arial"/>
              </a:rPr>
              <a:t>Intensity increases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3072384"/>
            <a:ext cx="5638647" cy="45720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3072384"/>
            <a:ext cx="1209786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800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758426" y="3072384"/>
            <a:ext cx="2619448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Si–O bending vibration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69314" y="3072384"/>
            <a:ext cx="1535092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5B8C5A"/>
                </a:solidFill>
                <a:latin typeface="Arial"/>
              </a:rPr>
              <a:t>Becomes distinct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3529584"/>
            <a:ext cx="5638647" cy="45720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7200" y="3529584"/>
            <a:ext cx="1209786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450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58426" y="3529584"/>
            <a:ext cx="2619448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Si–O bending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69314" y="3529584"/>
            <a:ext cx="1535092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5B8C5A"/>
                </a:solidFill>
                <a:latin typeface="Arial"/>
              </a:rPr>
              <a:t>Sharpens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65760" y="4169664"/>
            <a:ext cx="5638647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65760" y="4169664"/>
            <a:ext cx="54864" cy="77724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8640" y="4169664"/>
            <a:ext cx="365760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🔥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0120" y="4169664"/>
            <a:ext cx="4952847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Post-combustion spectrum matches pure silica (SiO₂) → aerogel formation chemically confirmed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87287" y="859536"/>
            <a:ext cx="56386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XPS Surface Elemental Composition (at%)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187287" y="1243584"/>
            <a:ext cx="5638647" cy="64008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278727" y="1243584"/>
            <a:ext cx="192236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Formulation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92530" y="1243584"/>
            <a:ext cx="172098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C 1s before (at%)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04952" y="1243584"/>
            <a:ext cx="172098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C 1s after (at%)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187287" y="1883664"/>
            <a:ext cx="5638647" cy="64008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278727" y="1883664"/>
            <a:ext cx="192236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34155"/>
                </a:solidFill>
                <a:latin typeface="Arial"/>
              </a:rPr>
              <a:t>HEC+MC/CSP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92530" y="1883664"/>
            <a:ext cx="172098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25.6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104952" y="1883664"/>
            <a:ext cx="172098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A05656"/>
                </a:solidFill>
                <a:latin typeface="Arial"/>
              </a:rPr>
              <a:t>14.9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187287" y="2523744"/>
            <a:ext cx="5638647" cy="64008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278727" y="2523744"/>
            <a:ext cx="192236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34155"/>
                </a:solidFill>
                <a:latin typeface="Arial"/>
              </a:rPr>
              <a:t>MHEC/CSP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92530" y="2523744"/>
            <a:ext cx="172098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38.3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104952" y="2523744"/>
            <a:ext cx="172098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A05656"/>
                </a:solidFill>
                <a:latin typeface="Arial"/>
              </a:rPr>
              <a:t>4.8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187287" y="3300984"/>
            <a:ext cx="5638647" cy="77724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187287" y="3300984"/>
            <a:ext cx="54864" cy="777240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70167" y="3300984"/>
            <a:ext cx="365760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D4A574"/>
                </a:solidFill>
                <a:latin typeface="Arial"/>
              </a:rPr>
              <a:t>📊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781647" y="3300984"/>
            <a:ext cx="4952847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Carbon greatly reduced (MHEC: 38.3→4.8 at%) → organic matrix combusted and removed; silica remains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187287" y="4261104"/>
            <a:ext cx="5638647" cy="777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351879" y="4389120"/>
            <a:ext cx="530946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Peak Position Verification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51879" y="4645152"/>
            <a:ext cx="5309463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Si 2p peak: ~103.5 eV (consistent with SiO₂) / O 1s peak: ~533 eV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15/15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TGA/DSC: Thermal Decomposition and Component Roles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34 / 43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859536"/>
            <a:ext cx="56386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TGA: Weight Loss Profile (N₂ atmosphere)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271016"/>
            <a:ext cx="5638647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50–150°C: Evaporation of free and adsorbed water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545336"/>
            <a:ext cx="5638647" cy="12801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65760" y="1545336"/>
            <a:ext cx="1691594" cy="128016"/>
          </a:xfrm>
          <a:prstGeom prst="roundRect">
            <a:avLst>
              <a:gd name="adj" fmla="val 50000"/>
            </a:avLst>
          </a:prstGeom>
          <a:solidFill>
            <a:srgbClr val="5B7A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1837944"/>
            <a:ext cx="5638647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200–350°C: HEC/MC organic-chain decomposition (main loss)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2112264"/>
            <a:ext cx="5638647" cy="12801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65760" y="2112264"/>
            <a:ext cx="4792850" cy="128016"/>
          </a:xfrm>
          <a:prstGeom prst="roundRect">
            <a:avLst>
              <a:gd name="adj" fmla="val 50000"/>
            </a:avLst>
          </a:prstGeom>
          <a:solidFill>
            <a:srgbClr val="A0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2404872"/>
            <a:ext cx="5638647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350–600°C: Oxidation and loss of residual carbon (in air)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2679192"/>
            <a:ext cx="5638647" cy="12801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65760" y="2679192"/>
            <a:ext cx="2819323" cy="128016"/>
          </a:xfrm>
          <a:prstGeom prst="roundRect">
            <a:avLst>
              <a:gd name="adj" fmla="val 50000"/>
            </a:avLst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2971800"/>
            <a:ext cx="5638647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&gt;600°C: Silica residue (~5–8 wt%, no change)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" y="3246120"/>
            <a:ext cx="5638647" cy="12801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65760" y="3246120"/>
            <a:ext cx="451091" cy="128016"/>
          </a:xfrm>
          <a:prstGeom prst="roundRect">
            <a:avLst>
              <a:gd name="adj" fmla="val 50000"/>
            </a:avLst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87287" y="859536"/>
            <a:ext cx="56386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DSC: Thermal Event Assignments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87287" y="1271016"/>
            <a:ext cx="5638647" cy="36576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78727" y="1271016"/>
            <a:ext cx="1392414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Temperature range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62582" y="1271016"/>
            <a:ext cx="2876269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Event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30291" y="1271016"/>
            <a:ext cx="1095643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ΔH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87287" y="1636776"/>
            <a:ext cx="5638647" cy="36576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78727" y="1636776"/>
            <a:ext cx="1392414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~100°C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62582" y="1636776"/>
            <a:ext cx="2876269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Endothermic: water evaporation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730291" y="1636776"/>
            <a:ext cx="1095643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Endothermic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87287" y="2002536"/>
            <a:ext cx="5638647" cy="36576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78727" y="2002536"/>
            <a:ext cx="1392414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~55–80°C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62582" y="2002536"/>
            <a:ext cx="2876269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Exothermic: MC gelation transition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730291" y="2002536"/>
            <a:ext cx="1095643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5B8C5A"/>
                </a:solidFill>
                <a:latin typeface="Arial"/>
              </a:rPr>
              <a:t>Slightly exothermic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87287" y="2368296"/>
            <a:ext cx="5638647" cy="36576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78727" y="2368296"/>
            <a:ext cx="1392414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~250–300°C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62582" y="2368296"/>
            <a:ext cx="2876269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Exothermic: oxidative decomposition of organic chains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730291" y="2368296"/>
            <a:ext cx="1095643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A05656"/>
                </a:solidFill>
                <a:latin typeface="Arial"/>
              </a:rPr>
              <a:t>Exothermic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187287" y="3008376"/>
            <a:ext cx="2750743" cy="109728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15303" y="3118104"/>
            <a:ext cx="2494711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Final silica residue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15303" y="3374136"/>
            <a:ext cx="249471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4A7C8C"/>
                </a:solidFill>
                <a:latin typeface="Arial"/>
              </a:rPr>
              <a:t>~5–8 wt%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15303" y="3794760"/>
            <a:ext cx="2494711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Equivalent to CSP 5 wt%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075191" y="3008376"/>
            <a:ext cx="2750743" cy="109728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203207" y="3118104"/>
            <a:ext cx="2494711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Cellulose decomposition peak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203207" y="3374136"/>
            <a:ext cx="249471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A05656"/>
                </a:solidFill>
                <a:latin typeface="Arial"/>
              </a:rPr>
              <a:t>~280°C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203207" y="3794760"/>
            <a:ext cx="2494711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Common to HEC/MC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187287" y="4288536"/>
            <a:ext cx="5638647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187287" y="4288536"/>
            <a:ext cx="54864" cy="77724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370167" y="4288536"/>
            <a:ext cx="365760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🌡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781647" y="4288536"/>
            <a:ext cx="4952847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CSP sintering (~200°C+) and cellulose decomposition (~280°C+) overlap in temperature → synchronized aerogel formation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Supplementary 1/3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Mechanism of Silica Aerogel Formation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35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219456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5a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11460175" cy="21945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90672"/>
            <a:ext cx="1146017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3-stage schematic of WEG → silica aerogel transformation by flame activation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3465576"/>
            <a:ext cx="3734714" cy="2560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3465576"/>
            <a:ext cx="3734714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3630168"/>
            <a:ext cx="336895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PHASE 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3867912"/>
            <a:ext cx="336895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Unsintered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2336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423367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Silica particles dispersed independently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5079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450799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Water fills the interstices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78231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8" y="478231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No inter-particle bonding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28490" y="3465576"/>
            <a:ext cx="3734714" cy="2560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28490" y="3465576"/>
            <a:ext cx="3734714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11370" y="3630168"/>
            <a:ext cx="336895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PHASE 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11370" y="3867912"/>
            <a:ext cx="336895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Grain boundary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11370" y="42336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12538" y="423367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Particles approach as water evaporates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11370" y="45079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12538" y="450799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Grain boundaries form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11370" y="478231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12538" y="478231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Initial neck formation begins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091220" y="3465576"/>
            <a:ext cx="3734714" cy="2560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091220" y="3465576"/>
            <a:ext cx="3734714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74100" y="3630168"/>
            <a:ext cx="336895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PHASE 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74100" y="3867912"/>
            <a:ext cx="336895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Necking &amp; porosity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74100" y="42336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75268" y="423367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Necks grow and strengthen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74100" y="45079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75268" y="450799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Porosity decreases, skeleton complete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74100" y="478231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475268" y="478231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SiO₂ aerogel layer established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Supplementary 2/3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Sintering Progression with Burn Time (SEM)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36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210312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5b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11460175" cy="2103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999232"/>
            <a:ext cx="1146017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Cross-section SEM images of HEC+MC/CSP 1-5 after 0, 1, 2, and 4 min heating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3374136"/>
            <a:ext cx="2769031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064" y="3520440"/>
            <a:ext cx="24764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0 min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" y="3813048"/>
            <a:ext cx="2476423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64748B"/>
                </a:solidFill>
                <a:latin typeface="Arial"/>
              </a:rPr>
              <a:t>Unheated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33425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33425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Spherical particles dispersed independently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70001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70001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No inter-particle bonding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06577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06577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Water fills the matrix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62807" y="3374136"/>
            <a:ext cx="2769031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09111" y="3520440"/>
            <a:ext cx="24764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1 min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09111" y="3813048"/>
            <a:ext cx="2476423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64748B"/>
                </a:solidFill>
                <a:latin typeface="Arial"/>
              </a:rPr>
              <a:t>Early sintering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45687" y="433425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28567" y="433425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Grain boundaries appear between particles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45687" y="470001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28567" y="470001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Initial necks form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45687" y="506577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28567" y="506577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Most moisture evaporated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159855" y="3374136"/>
            <a:ext cx="2769031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6159" y="3520440"/>
            <a:ext cx="24764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2 min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6159" y="3813048"/>
            <a:ext cx="2476423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64748B"/>
                </a:solidFill>
                <a:latin typeface="Arial"/>
              </a:rPr>
              <a:t>Sintering in progress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42735" y="433425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25615" y="433425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Neck regions expand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42735" y="470001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25615" y="470001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Continuous network forms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42735" y="506577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25615" y="506577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Porosity decreasing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056903" y="3374136"/>
            <a:ext cx="2769031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203207" y="3520440"/>
            <a:ext cx="24764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4 min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03207" y="3813048"/>
            <a:ext cx="2476423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3B5174"/>
                </a:solidFill>
                <a:latin typeface="Arial"/>
              </a:rPr>
              <a:t>Aerogel complete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239783" y="433425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22663" y="433425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Dense SiO₂ skeleton complete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239783" y="470001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422663" y="470001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High mechanical strength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39783" y="506577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422663" y="506577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Functions as insulating layer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Supplementary 3/3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Aging &amp; Long-Term Stability: Performance Retained Beyond One Year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38 / 43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859536"/>
            <a:ext cx="45720" cy="932688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859536"/>
            <a:ext cx="3851343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Aging Mechanism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1225296"/>
            <a:ext cx="3851343" cy="60350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Transition from reversible (hydrogen) bonding</a:t>
            </a:r>
          </a:p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to irreversible covalent (Si–O) conjugation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0352" y="1993392"/>
            <a:ext cx="3413544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0352" y="2194560"/>
            <a:ext cx="385134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3B5174"/>
                </a:solidFill>
                <a:latin typeface="Arial"/>
              </a:rPr>
              <a:t>HEC+MC / CSP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2468880"/>
            <a:ext cx="3851343" cy="42062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Extensive covalent conjugation → stiffens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3035808"/>
            <a:ext cx="385134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4A7C8C"/>
                </a:solidFill>
                <a:latin typeface="Arial"/>
              </a:rPr>
              <a:t>MHEC / CSP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3310128"/>
            <a:ext cx="3851343" cy="42062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Stays largely reversible → subtle change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" y="3877056"/>
            <a:ext cx="385134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1">
                <a:solidFill>
                  <a:srgbClr val="64748B"/>
                </a:solidFill>
                <a:latin typeface="Arial"/>
              </a:rPr>
              <a:t>Fig. S4 / S6 (interfacial chemistry)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64575" y="859536"/>
            <a:ext cx="3557528" cy="137160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92591" y="969264"/>
            <a:ext cx="3301496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Modulus (20-day aging)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92591" y="1225296"/>
            <a:ext cx="3301496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3B5174"/>
                </a:solidFill>
                <a:latin typeface="Arial"/>
              </a:rPr>
              <a:t>~1000 Pa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92591" y="1645920"/>
            <a:ext cx="3301496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HEC+MC/CSP · Fig S5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68407" y="859536"/>
            <a:ext cx="3557528" cy="137160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96423" y="969264"/>
            <a:ext cx="3301496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Yield stress Day1→Day455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96423" y="1225296"/>
            <a:ext cx="3301496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B08442"/>
                </a:solidFill>
                <a:latin typeface="Arial"/>
              </a:rPr>
              <a:t>33 → 69 Pa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96423" y="1645920"/>
            <a:ext cx="3301496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HEC+MC/CSP · Fig S7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64575" y="2487168"/>
            <a:ext cx="3557528" cy="210312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674303" y="2596896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74303" y="2596896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S7 (Day 1)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64575" y="2487168"/>
            <a:ext cx="3557528" cy="2103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64575" y="4626864"/>
            <a:ext cx="3557528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Flow sweep · HB fit (fresh)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268407" y="2487168"/>
            <a:ext cx="3557528" cy="210312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378135" y="2596896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378135" y="2596896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S7 (Day 455)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68407" y="2487168"/>
            <a:ext cx="3557528" cy="2103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68407" y="4626864"/>
            <a:ext cx="3557528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Flow sweep · HB fit (455 days aged)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65760" y="5907024"/>
            <a:ext cx="11460175" cy="749808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65760" y="5907024"/>
            <a:ext cx="54864" cy="749808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8640" y="5907024"/>
            <a:ext cx="365760" cy="7498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D4A574"/>
                </a:solidFill>
                <a:latin typeface="Arial"/>
              </a:rPr>
              <a:t>✓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0120" y="5907024"/>
            <a:ext cx="10774375" cy="7498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After Day 455 (~15 months), combustion behavior and aerogel transition remain unchanged — proven shelf stability (Video S5)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Supplementary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MHEC Advantages: Long-term Stability and Cost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37 / 43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859536"/>
            <a:ext cx="54864" cy="2560320"/>
          </a:xfrm>
          <a:prstGeom prst="rect">
            <a:avLst/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859536"/>
            <a:ext cx="5419191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① Gentle aging behavior (SI Fig. S7)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243584"/>
            <a:ext cx="541919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Yield stress change: Day 1 → Day 455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664208"/>
            <a:ext cx="5419191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34155"/>
                </a:solidFill>
                <a:latin typeface="Arial"/>
              </a:rPr>
              <a:t>MHEC / CSP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1938528"/>
            <a:ext cx="5144871" cy="201168"/>
          </a:xfrm>
          <a:prstGeom prst="roundRect">
            <a:avLst>
              <a:gd name="adj" fmla="val 40000"/>
            </a:avLst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48640" y="1938528"/>
            <a:ext cx="1800705" cy="201168"/>
          </a:xfrm>
          <a:prstGeom prst="roundRect">
            <a:avLst>
              <a:gd name="adj" fmla="val 40000"/>
            </a:avLst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459073" y="1865376"/>
            <a:ext cx="128016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4A7C8C"/>
                </a:solidFill>
                <a:latin typeface="Arial"/>
              </a:rPr>
              <a:t>+38 %</a:t>
            </a:r>
          </a:p>
          <a:p>
            <a:pPr algn="l"/>
            <a:r>
              <a:rPr sz="1120" b="1" i="0">
                <a:solidFill>
                  <a:srgbClr val="4A7C8C"/>
                </a:solidFill>
                <a:latin typeface="Arial"/>
              </a:rPr>
              <a:t>(3.31 → 4.56 Pa)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2487168"/>
            <a:ext cx="5419191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34155"/>
                </a:solidFill>
                <a:latin typeface="Arial"/>
              </a:rPr>
              <a:t>HEC+MC / CSP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2761488"/>
            <a:ext cx="5144871" cy="201168"/>
          </a:xfrm>
          <a:prstGeom prst="roundRect">
            <a:avLst>
              <a:gd name="adj" fmla="val 40000"/>
            </a:avLst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48640" y="2761488"/>
            <a:ext cx="5144871" cy="201168"/>
          </a:xfrm>
          <a:prstGeom prst="roundRect">
            <a:avLst>
              <a:gd name="adj" fmla="val 40000"/>
            </a:avLst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03239" y="2688336"/>
            <a:ext cx="128016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9F7639"/>
                </a:solidFill>
                <a:latin typeface="Arial"/>
              </a:rPr>
              <a:t>+107 %</a:t>
            </a:r>
          </a:p>
          <a:p>
            <a:pPr algn="l"/>
            <a:r>
              <a:rPr sz="1120" b="1" i="0">
                <a:solidFill>
                  <a:srgbClr val="9F7639"/>
                </a:solidFill>
                <a:latin typeface="Arial"/>
              </a:rPr>
              <a:t>(33.3 → 68.9 Pa)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401568"/>
            <a:ext cx="5419191" cy="8229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10160">
            <a:solidFill>
              <a:srgbClr val="4A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16" y="3511296"/>
            <a:ext cx="5181447" cy="6583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MHEC system remains primarily noncovalent → properties stable over 1+ year</a:t>
            </a:r>
          </a:p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(HEC+MC system undergoes Si–O covalent condensation → stiffness increases)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389120"/>
            <a:ext cx="5236311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1">
                <a:solidFill>
                  <a:srgbClr val="64748B"/>
                </a:solidFill>
                <a:latin typeface="Arial"/>
              </a:rPr>
              <a:t>Source: SI Fig. S7 (flow sweep · HB model fit)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3547872"/>
            <a:ext cx="5602071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3657600"/>
            <a:ext cx="5419191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A7C8C"/>
                </a:solidFill>
                <a:latin typeface="Arial"/>
              </a:rPr>
              <a:t>Why stable: Si–O covalent condensation is suppressed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3950208"/>
            <a:ext cx="5419191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In HEC+MC/CSP, Si–O condensation between CSP and polymer</a:t>
            </a:r>
          </a:p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progresses over time, increasing stiffness. In MHEC/CSP,</a:t>
            </a:r>
          </a:p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this condensation is suppressed, giving gentle property drift.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23863" y="859536"/>
            <a:ext cx="54864" cy="3840480"/>
          </a:xfrm>
          <a:prstGeom prst="rect">
            <a:avLst/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6743" y="859536"/>
            <a:ext cx="5419191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② Manufacturing cost &amp; quality control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15303" y="1335024"/>
            <a:ext cx="5419191" cy="877824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61607" y="1444752"/>
            <a:ext cx="5144871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9F7639"/>
                </a:solidFill>
                <a:latin typeface="Arial"/>
              </a:rPr>
              <a:t>Single polymer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61607" y="1737360"/>
            <a:ext cx="5144871" cy="42062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No need to source and blend HEC + MC separately</a:t>
            </a:r>
          </a:p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→ Fewer raw material types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15303" y="2304288"/>
            <a:ext cx="5419191" cy="877824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61607" y="2414016"/>
            <a:ext cx="5144871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9F7639"/>
                </a:solidFill>
                <a:latin typeface="Arial"/>
              </a:rPr>
              <a:t>Simplified formulation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61607" y="2706624"/>
            <a:ext cx="5144871" cy="42062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No mixing ratio tuning or homogenization of 2 components</a:t>
            </a:r>
          </a:p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→ Reduced batch-to-batch variability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315303" y="3273552"/>
            <a:ext cx="5419191" cy="877824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61607" y="3383280"/>
            <a:ext cx="5144871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9F7639"/>
                </a:solidFill>
                <a:latin typeface="Arial"/>
              </a:rPr>
              <a:t>Lower QC burden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61607" y="3675888"/>
            <a:ext cx="5144871" cy="42062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Only one raw material specification to manage</a:t>
            </a:r>
          </a:p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→ Cost advantage becomes clear at scale-up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315303" y="4242816"/>
            <a:ext cx="5419191" cy="877824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61607" y="4352544"/>
            <a:ext cx="5144871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9F7639"/>
                </a:solidFill>
                <a:latin typeface="Arial"/>
              </a:rPr>
              <a:t>Logistics / storage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61607" y="4645152"/>
            <a:ext cx="5144871" cy="42062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Only one material to store and transport</a:t>
            </a:r>
          </a:p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→ Streamlined supply chain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65760" y="5925312"/>
            <a:ext cx="11460175" cy="7315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65760" y="5925312"/>
            <a:ext cx="54864" cy="73152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48640" y="5925312"/>
            <a:ext cx="365760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ⓘ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0120" y="5925312"/>
            <a:ext cx="10774375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Note: No quantitative cost comparison data is reported in this paper. MHEC's advantage is based on its single-polymer nature and measured aging stability (SI Fig. S7).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B08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62495" y="457200"/>
            <a:ext cx="4572000" cy="6400800"/>
          </a:xfrm>
          <a:prstGeom prst="rect">
            <a:avLst/>
          </a:prstGeom>
          <a:noFill/>
        </p:spPr>
        <p:txBody>
          <a:bodyPr wrap="square" anchor="b" lIns="36000" rIns="36000" tIns="18000" bIns="18000">
            <a:spAutoFit/>
          </a:bodyPr>
          <a:lstStyle/>
          <a:p>
            <a:pPr algn="r"/>
            <a:r>
              <a:rPr sz="26880" b="1" i="0">
                <a:solidFill>
                  <a:srgbClr val="243044"/>
                </a:solidFill>
                <a:latin typeface="Arial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914400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88A4C0"/>
                </a:solidFill>
                <a:latin typeface="Arial"/>
              </a:rPr>
              <a:t>Part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914400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5824" b="1" i="0">
                <a:solidFill>
                  <a:srgbClr val="FFFFFF"/>
                </a:solidFill>
                <a:latin typeface="Arial"/>
              </a:rPr>
              <a:t>Discussion &amp; Conclusion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383280"/>
            <a:ext cx="9144000" cy="9144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904" b="0" i="0">
                <a:solidFill>
                  <a:srgbClr val="9CB4CC"/>
                </a:solidFill>
                <a:latin typeface="Arial"/>
              </a:rPr>
              <a:t>Implementation scenarios, comprehensive comparison with existing products, research significance and future prospects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572000"/>
            <a:ext cx="3968496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572000"/>
            <a:ext cx="3968496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Implementation Scenarios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4572000"/>
            <a:ext cx="3675887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0" y="4572000"/>
            <a:ext cx="3675887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Performance Comparison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851391" y="4572000"/>
            <a:ext cx="1481328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51391" y="4572000"/>
            <a:ext cx="1481328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Summary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11535" y="6528816"/>
            <a:ext cx="109728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67788"/>
                </a:solidFill>
                <a:latin typeface="Arial"/>
              </a:rPr>
              <a:t>39 / 43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Discussion 1/3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Implementation Scenarios: WEG Deployment Strategy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40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3734714" cy="329184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3734714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024128"/>
            <a:ext cx="336895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SCENARIO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261872"/>
            <a:ext cx="336895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Pre-protection of WUI Structures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162763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Pre-applied to building exteriors and roofs before wildfire season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190195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Can be applied by helicopter or ground hose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17627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Protective function remains even after drying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28490" y="859536"/>
            <a:ext cx="3734714" cy="329184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228490" y="859536"/>
            <a:ext cx="3734714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11370" y="1024128"/>
            <a:ext cx="336895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SCENARIO 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11370" y="1261872"/>
            <a:ext cx="336895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Protection of Critical Infrastructure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11370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12538" y="162763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Power towers, substations, and communication base stations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11370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12538" y="190195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Strongly adheres to metal structures as well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11370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12538" y="217627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Prevents power outages and communication disruption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91220" y="859536"/>
            <a:ext cx="3734714" cy="329184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91220" y="859536"/>
            <a:ext cx="3734714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74100" y="1024128"/>
            <a:ext cx="336895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SCENARIO 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4100" y="1261872"/>
            <a:ext cx="336895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Fire Break Formation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74100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75268" y="162763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Pre-applied to vegetation along potential spread paths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74100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75268" y="190195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No environmental burden unlike Phos-Chek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74100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75268" y="217627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Cellulose and silica have low environmental persistence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65760" y="4425696"/>
            <a:ext cx="5638647" cy="17830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8640" y="4535424"/>
            <a:ext cx="527288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Advantages Over Existing Methods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66928" y="4882896"/>
            <a:ext cx="146304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76" b="0" i="0">
                <a:solidFill>
                  <a:srgbClr val="64748B"/>
                </a:solidFill>
                <a:latin typeface="Arial"/>
              </a:rPr>
              <a:t>vs Water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057400" y="4882896"/>
            <a:ext cx="3764128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5B8C5A"/>
                </a:solidFill>
                <a:latin typeface="Arial"/>
              </a:rPr>
              <a:t>Far longer protection (water chars at ~0.3 min)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6928" y="5184648"/>
            <a:ext cx="146304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76" b="0" i="0">
                <a:solidFill>
                  <a:srgbClr val="64748B"/>
                </a:solidFill>
                <a:latin typeface="Arial"/>
              </a:rPr>
              <a:t>vs AquaGel-K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057400" y="5184648"/>
            <a:ext cx="3764128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5B8C5A"/>
                </a:solidFill>
                <a:latin typeface="Arial"/>
              </a:rPr>
              <a:t>3–6× longer + continues after water evaporates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6928" y="5486400"/>
            <a:ext cx="146304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76" b="0" i="0">
                <a:solidFill>
                  <a:srgbClr val="64748B"/>
                </a:solidFill>
                <a:latin typeface="Arial"/>
              </a:rPr>
              <a:t>vs Phos-Chek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057400" y="5486400"/>
            <a:ext cx="3764128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5B8C5A"/>
                </a:solidFill>
                <a:latin typeface="Arial"/>
              </a:rPr>
              <a:t>No residual soil / water contamination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6928" y="5788152"/>
            <a:ext cx="146304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76" b="0" i="0">
                <a:solidFill>
                  <a:srgbClr val="64748B"/>
                </a:solidFill>
                <a:latin typeface="Arial"/>
              </a:rPr>
              <a:t>Spray compat.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057400" y="5788152"/>
            <a:ext cx="3764128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5B8C5A"/>
                </a:solidFill>
                <a:latin typeface="Arial"/>
              </a:rPr>
              <a:t>Usable with existing equipment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187287" y="4608576"/>
            <a:ext cx="5638647" cy="9144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187287" y="4608576"/>
            <a:ext cx="54864" cy="91440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370167" y="4608576"/>
            <a:ext cx="365760" cy="9144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🚁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781647" y="4608576"/>
            <a:ext cx="4952847" cy="9144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Flow properties (shear thinning) compatible with both aerial and ground application are key to practical deployment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187287" y="5614416"/>
            <a:ext cx="5638647" cy="5029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64" b="0" i="1">
                <a:solidFill>
                  <a:srgbClr val="64748B"/>
                </a:solidFill>
                <a:latin typeface="Arial"/>
              </a:rPr>
              <a:t>* Protection-time comparisons vs water / AquaGel-K are measured (Fig. 3). Phos-Chek is positioned qualitatively (environmental persistence), not by direct burn testing.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Summary 1/2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Comparison with Existing Products: Only WEG Meets Every Requirement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41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512064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54864" cy="5120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859536"/>
            <a:ext cx="365760" cy="51206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859536"/>
            <a:ext cx="10774375" cy="51206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This WEG (PP hydrogel) simultaneously satisfies requirements that water and commercial AquaGel-K each meet only partially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1572768"/>
            <a:ext cx="2377440" cy="86868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5488" y="1572768"/>
            <a:ext cx="2157984" cy="8686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Product ＼ Requirement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0" y="1572768"/>
            <a:ext cx="1513789" cy="868680"/>
          </a:xfrm>
          <a:prstGeom prst="rect">
            <a:avLst/>
          </a:prstGeom>
          <a:solidFill>
            <a:srgbClr val="1E293B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79776" y="1618488"/>
            <a:ext cx="1440637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064" b="1" i="0">
                <a:solidFill>
                  <a:srgbClr val="FFFFFF"/>
                </a:solidFill>
                <a:latin typeface="Arial"/>
              </a:rPr>
              <a:t>Long flame</a:t>
            </a:r>
          </a:p>
          <a:p>
            <a:pPr algn="ctr"/>
            <a:r>
              <a:rPr sz="1064" b="1" i="0">
                <a:solidFill>
                  <a:srgbClr val="FFFFFF"/>
                </a:solidFill>
                <a:latin typeface="Arial"/>
              </a:rPr>
              <a:t>protection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56989" y="1572768"/>
            <a:ext cx="1513789" cy="868680"/>
          </a:xfrm>
          <a:prstGeom prst="rect">
            <a:avLst/>
          </a:prstGeom>
          <a:solidFill>
            <a:srgbClr val="1E293B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93565" y="1618488"/>
            <a:ext cx="1440637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064" b="1" i="0">
                <a:solidFill>
                  <a:srgbClr val="FFFFFF"/>
                </a:solidFill>
                <a:latin typeface="Arial"/>
              </a:rPr>
              <a:t>Protects after</a:t>
            </a:r>
          </a:p>
          <a:p>
            <a:pPr algn="ctr"/>
            <a:r>
              <a:rPr sz="1064" b="1" i="0">
                <a:solidFill>
                  <a:srgbClr val="FFFFFF"/>
                </a:solidFill>
                <a:latin typeface="Arial"/>
              </a:rPr>
              <a:t>drying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70778" y="1572768"/>
            <a:ext cx="1513789" cy="868680"/>
          </a:xfrm>
          <a:prstGeom prst="rect">
            <a:avLst/>
          </a:prstGeom>
          <a:solidFill>
            <a:srgbClr val="1E293B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07354" y="1618488"/>
            <a:ext cx="1440637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064" b="1" i="0">
                <a:solidFill>
                  <a:srgbClr val="FFFFFF"/>
                </a:solidFill>
                <a:latin typeface="Arial"/>
              </a:rPr>
              <a:t>Sprayable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284567" y="1572768"/>
            <a:ext cx="1513789" cy="868680"/>
          </a:xfrm>
          <a:prstGeom prst="rect">
            <a:avLst/>
          </a:prstGeom>
          <a:solidFill>
            <a:srgbClr val="1E293B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21143" y="1618488"/>
            <a:ext cx="1440637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064" b="1" i="0">
                <a:solidFill>
                  <a:srgbClr val="FFFFFF"/>
                </a:solidFill>
                <a:latin typeface="Arial"/>
              </a:rPr>
              <a:t>Low environ.</a:t>
            </a:r>
          </a:p>
          <a:p>
            <a:pPr algn="ctr"/>
            <a:r>
              <a:rPr sz="1064" b="1" i="0">
                <a:solidFill>
                  <a:srgbClr val="FFFFFF"/>
                </a:solidFill>
                <a:latin typeface="Arial"/>
              </a:rPr>
              <a:t>persistence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798356" y="1572768"/>
            <a:ext cx="1513789" cy="868680"/>
          </a:xfrm>
          <a:prstGeom prst="rect">
            <a:avLst/>
          </a:prstGeom>
          <a:solidFill>
            <a:srgbClr val="1E293B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834932" y="1618488"/>
            <a:ext cx="1440637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064" b="1" i="0">
                <a:solidFill>
                  <a:srgbClr val="FFFFFF"/>
                </a:solidFill>
                <a:latin typeface="Arial"/>
              </a:rPr>
              <a:t>Forms foam /</a:t>
            </a:r>
          </a:p>
          <a:p>
            <a:pPr algn="ctr"/>
            <a:r>
              <a:rPr sz="1064" b="1" i="0">
                <a:solidFill>
                  <a:srgbClr val="FFFFFF"/>
                </a:solidFill>
                <a:latin typeface="Arial"/>
              </a:rPr>
              <a:t>insulating layer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312145" y="1572768"/>
            <a:ext cx="1513789" cy="868680"/>
          </a:xfrm>
          <a:prstGeom prst="rect">
            <a:avLst/>
          </a:prstGeom>
          <a:solidFill>
            <a:srgbClr val="1E293B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348721" y="1618488"/>
            <a:ext cx="1440637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064" b="1" i="0">
                <a:solidFill>
                  <a:srgbClr val="FFFFFF"/>
                </a:solidFill>
                <a:latin typeface="Arial"/>
              </a:rPr>
              <a:t>Long-term</a:t>
            </a:r>
          </a:p>
          <a:p>
            <a:pPr algn="ctr"/>
            <a:r>
              <a:rPr sz="1064" b="1" i="0">
                <a:solidFill>
                  <a:srgbClr val="FFFFFF"/>
                </a:solidFill>
                <a:latin typeface="Arial"/>
              </a:rPr>
              <a:t>stability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2441448"/>
            <a:ext cx="2377440" cy="658368"/>
          </a:xfrm>
          <a:prstGeom prst="rect">
            <a:avLst/>
          </a:prstGeom>
          <a:solidFill>
            <a:srgbClr val="ECF2F8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65760" y="2441448"/>
            <a:ext cx="54864" cy="658368"/>
          </a:xfrm>
          <a:prstGeom prst="rect">
            <a:avLst/>
          </a:prstGeom>
          <a:solidFill>
            <a:srgbClr val="5B8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8640" y="2441448"/>
            <a:ext cx="2103120" cy="65836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88" b="1" i="0">
                <a:solidFill>
                  <a:srgbClr val="1E293B"/>
                </a:solidFill>
                <a:latin typeface="Arial"/>
              </a:rPr>
              <a:t>WEG (this work)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43200" y="2441448"/>
            <a:ext cx="1513789" cy="658368"/>
          </a:xfrm>
          <a:prstGeom prst="rect">
            <a:avLst/>
          </a:prstGeom>
          <a:solidFill>
            <a:srgbClr val="ECF2F8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743200" y="2441448"/>
            <a:ext cx="1513789" cy="65836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2016" b="1" i="0">
                <a:solidFill>
                  <a:srgbClr val="5B8C5A"/>
                </a:solidFill>
                <a:latin typeface="Arial"/>
              </a:rPr>
              <a:t>◎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256989" y="2441448"/>
            <a:ext cx="1513789" cy="658368"/>
          </a:xfrm>
          <a:prstGeom prst="rect">
            <a:avLst/>
          </a:prstGeom>
          <a:solidFill>
            <a:srgbClr val="ECF2F8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256989" y="2441448"/>
            <a:ext cx="1513789" cy="65836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2016" b="1" i="0">
                <a:solidFill>
                  <a:srgbClr val="5B8C5A"/>
                </a:solidFill>
                <a:latin typeface="Arial"/>
              </a:rPr>
              <a:t>◎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770778" y="2441448"/>
            <a:ext cx="1513789" cy="658368"/>
          </a:xfrm>
          <a:prstGeom prst="rect">
            <a:avLst/>
          </a:prstGeom>
          <a:solidFill>
            <a:srgbClr val="ECF2F8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770778" y="2441448"/>
            <a:ext cx="1513789" cy="65836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2016" b="1" i="0">
                <a:solidFill>
                  <a:srgbClr val="5B8C5A"/>
                </a:solidFill>
                <a:latin typeface="Arial"/>
              </a:rPr>
              <a:t>○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284567" y="2441448"/>
            <a:ext cx="1513789" cy="658368"/>
          </a:xfrm>
          <a:prstGeom prst="rect">
            <a:avLst/>
          </a:prstGeom>
          <a:solidFill>
            <a:srgbClr val="ECF2F8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284567" y="2441448"/>
            <a:ext cx="1513789" cy="65836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2016" b="1" i="0">
                <a:solidFill>
                  <a:srgbClr val="5B8C5A"/>
                </a:solidFill>
                <a:latin typeface="Arial"/>
              </a:rPr>
              <a:t>○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798356" y="2441448"/>
            <a:ext cx="1513789" cy="658368"/>
          </a:xfrm>
          <a:prstGeom prst="rect">
            <a:avLst/>
          </a:prstGeom>
          <a:solidFill>
            <a:srgbClr val="ECF2F8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798356" y="2441448"/>
            <a:ext cx="1513789" cy="65836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2016" b="1" i="0">
                <a:solidFill>
                  <a:srgbClr val="5B8C5A"/>
                </a:solidFill>
                <a:latin typeface="Arial"/>
              </a:rPr>
              <a:t>◎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0312145" y="2441448"/>
            <a:ext cx="1513789" cy="658368"/>
          </a:xfrm>
          <a:prstGeom prst="rect">
            <a:avLst/>
          </a:prstGeom>
          <a:solidFill>
            <a:srgbClr val="ECF2F8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312145" y="2441448"/>
            <a:ext cx="1513789" cy="65836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2016" b="1" i="0">
                <a:solidFill>
                  <a:srgbClr val="5B8C5A"/>
                </a:solidFill>
                <a:latin typeface="Arial"/>
              </a:rPr>
              <a:t>◎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3099816"/>
            <a:ext cx="2377440" cy="658368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48640" y="3099816"/>
            <a:ext cx="2103120" cy="65836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88" b="0" i="0">
                <a:solidFill>
                  <a:srgbClr val="334155"/>
                </a:solidFill>
                <a:latin typeface="Arial"/>
              </a:rPr>
              <a:t>AquaGel-K (commercial)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743200" y="3099816"/>
            <a:ext cx="1513789" cy="658368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743200" y="3099816"/>
            <a:ext cx="1513789" cy="65836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2016" b="1" i="0">
                <a:solidFill>
                  <a:srgbClr val="9F7639"/>
                </a:solidFill>
                <a:latin typeface="Arial"/>
              </a:rPr>
              <a:t>△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256989" y="3099816"/>
            <a:ext cx="1513789" cy="658368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256989" y="3099816"/>
            <a:ext cx="1513789" cy="65836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2016" b="1" i="0">
                <a:solidFill>
                  <a:srgbClr val="A05656"/>
                </a:solidFill>
                <a:latin typeface="Arial"/>
              </a:rPr>
              <a:t>×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770778" y="3099816"/>
            <a:ext cx="1513789" cy="658368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770778" y="3099816"/>
            <a:ext cx="1513789" cy="65836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2016" b="1" i="0">
                <a:solidFill>
                  <a:srgbClr val="5B8C5A"/>
                </a:solidFill>
                <a:latin typeface="Arial"/>
              </a:rPr>
              <a:t>○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284567" y="3099816"/>
            <a:ext cx="1513789" cy="658368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284567" y="3099816"/>
            <a:ext cx="1513789" cy="65836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2016" b="1" i="0">
                <a:solidFill>
                  <a:srgbClr val="5B8C5A"/>
                </a:solidFill>
                <a:latin typeface="Arial"/>
              </a:rPr>
              <a:t>○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798356" y="3099816"/>
            <a:ext cx="1513789" cy="658368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798356" y="3099816"/>
            <a:ext cx="1513789" cy="65836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2016" b="1" i="0">
                <a:solidFill>
                  <a:srgbClr val="A05656"/>
                </a:solidFill>
                <a:latin typeface="Arial"/>
              </a:rPr>
              <a:t>×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0312145" y="3099816"/>
            <a:ext cx="1513789" cy="658368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0312145" y="3099816"/>
            <a:ext cx="1513789" cy="65836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2016" b="1" i="0">
                <a:solidFill>
                  <a:srgbClr val="9F7639"/>
                </a:solidFill>
                <a:latin typeface="Arial"/>
              </a:rPr>
              <a:t>△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65760" y="3758184"/>
            <a:ext cx="2377440" cy="658368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48640" y="3758184"/>
            <a:ext cx="2103120" cy="65836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88" b="0" i="0">
                <a:solidFill>
                  <a:srgbClr val="334155"/>
                </a:solidFill>
                <a:latin typeface="Arial"/>
              </a:rPr>
              <a:t>Water only</a:t>
            </a:r>
          </a:p>
        </p:txBody>
      </p:sp>
      <p:sp>
        <p:nvSpPr>
          <p:cNvPr id="59" name="Rectangle 58"/>
          <p:cNvSpPr/>
          <p:nvPr/>
        </p:nvSpPr>
        <p:spPr>
          <a:xfrm>
            <a:off x="2743200" y="3758184"/>
            <a:ext cx="1513789" cy="658368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743200" y="3758184"/>
            <a:ext cx="1513789" cy="65836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2016" b="1" i="0">
                <a:solidFill>
                  <a:srgbClr val="A05656"/>
                </a:solidFill>
                <a:latin typeface="Arial"/>
              </a:rPr>
              <a:t>×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256989" y="3758184"/>
            <a:ext cx="1513789" cy="658368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256989" y="3758184"/>
            <a:ext cx="1513789" cy="65836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2016" b="1" i="0">
                <a:solidFill>
                  <a:srgbClr val="A05656"/>
                </a:solidFill>
                <a:latin typeface="Arial"/>
              </a:rPr>
              <a:t>×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770778" y="3758184"/>
            <a:ext cx="1513789" cy="658368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770778" y="3758184"/>
            <a:ext cx="1513789" cy="65836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2016" b="1" i="0">
                <a:solidFill>
                  <a:srgbClr val="5B8C5A"/>
                </a:solidFill>
                <a:latin typeface="Arial"/>
              </a:rPr>
              <a:t>◎</a:t>
            </a:r>
          </a:p>
        </p:txBody>
      </p:sp>
      <p:sp>
        <p:nvSpPr>
          <p:cNvPr id="65" name="Rectangle 64"/>
          <p:cNvSpPr/>
          <p:nvPr/>
        </p:nvSpPr>
        <p:spPr>
          <a:xfrm>
            <a:off x="7284567" y="3758184"/>
            <a:ext cx="1513789" cy="658368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284567" y="3758184"/>
            <a:ext cx="1513789" cy="65836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2016" b="1" i="0">
                <a:solidFill>
                  <a:srgbClr val="5B8C5A"/>
                </a:solidFill>
                <a:latin typeface="Arial"/>
              </a:rPr>
              <a:t>◎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798356" y="3758184"/>
            <a:ext cx="1513789" cy="658368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798356" y="3758184"/>
            <a:ext cx="1513789" cy="65836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2016" b="1" i="0">
                <a:solidFill>
                  <a:srgbClr val="A05656"/>
                </a:solidFill>
                <a:latin typeface="Arial"/>
              </a:rPr>
              <a:t>×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0312145" y="3758184"/>
            <a:ext cx="1513789" cy="658368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0312145" y="3758184"/>
            <a:ext cx="1513789" cy="65836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2016" b="1" i="0">
                <a:solidFill>
                  <a:srgbClr val="A05656"/>
                </a:solidFill>
                <a:latin typeface="Arial"/>
              </a:rPr>
              <a:t>×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5760" y="4562856"/>
            <a:ext cx="36576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5B8C5A"/>
                </a:solidFill>
                <a:latin typeface="Arial"/>
              </a:rPr>
              <a:t>◎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13232" y="4562856"/>
            <a:ext cx="15544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excellent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286000" y="4562856"/>
            <a:ext cx="36576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5B8C5A"/>
                </a:solidFill>
                <a:latin typeface="Arial"/>
              </a:rPr>
              <a:t>○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633472" y="4562856"/>
            <a:ext cx="15544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capable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206240" y="4562856"/>
            <a:ext cx="36576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9F7639"/>
                </a:solidFill>
                <a:latin typeface="Arial"/>
              </a:rPr>
              <a:t>△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53712" y="4562856"/>
            <a:ext cx="15544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limited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126480" y="4562856"/>
            <a:ext cx="36576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A05656"/>
                </a:solidFill>
                <a:latin typeface="Arial"/>
              </a:rPr>
              <a:t>×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473952" y="4562856"/>
            <a:ext cx="15544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not feasible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65760" y="4928616"/>
            <a:ext cx="11460175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64" b="0" i="1">
                <a:solidFill>
                  <a:srgbClr val="64748B"/>
                </a:solidFill>
                <a:latin typeface="Arial"/>
              </a:rPr>
              <a:t>* Flame-protection and foaming comparisons are measured in this paper (Fig. 3, 4). Long-term stability: WEG measured at 455 days (SI Fig. S7); AquaGel-K not tested for aging in this study (△).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Summary 2/2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Conclusions: Core Mechanism and Four Outcomes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42 / 43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859536"/>
            <a:ext cx="1146017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Core mechanism: the gel "self-transforms" upon flame contact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1243584"/>
            <a:ext cx="3545738" cy="150876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" y="1243584"/>
            <a:ext cx="3545738" cy="45720"/>
          </a:xfrm>
          <a:prstGeom prst="rect">
            <a:avLst/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52" y="1371600"/>
            <a:ext cx="3216554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4A7C8C"/>
                </a:solidFill>
                <a:latin typeface="Arial"/>
              </a:rPr>
              <a:t>STEP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1645920"/>
            <a:ext cx="321655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Water evaporates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2029968"/>
            <a:ext cx="3216554" cy="6400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Flame contact vaporises water in the gel (endothermic)</a:t>
            </a:r>
          </a:p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→ suppresses substrate heating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11498" y="1243584"/>
            <a:ext cx="411480" cy="1508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2016" b="1" i="0">
                <a:solidFill>
                  <a:srgbClr val="AAB4C0"/>
                </a:solidFill>
                <a:latin typeface="Arial"/>
              </a:rPr>
              <a:t>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22978" y="1243584"/>
            <a:ext cx="3545738" cy="150876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22978" y="1243584"/>
            <a:ext cx="3545738" cy="45720"/>
          </a:xfrm>
          <a:prstGeom prst="rect">
            <a:avLst/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87570" y="1371600"/>
            <a:ext cx="3216554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9F7639"/>
                </a:solidFill>
                <a:latin typeface="Arial"/>
              </a:rPr>
              <a:t>STEP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7570" y="1645920"/>
            <a:ext cx="321655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CSP sinters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7570" y="2029968"/>
            <a:ext cx="3216554" cy="6400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Silica particles sinter under heat,</a:t>
            </a:r>
          </a:p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forming inter-particle necks (bridges)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8716" y="1243584"/>
            <a:ext cx="411480" cy="1508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2016" b="1" i="0">
                <a:solidFill>
                  <a:srgbClr val="AAB4C0"/>
                </a:solidFill>
                <a:latin typeface="Arial"/>
              </a:rPr>
              <a:t>▶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80196" y="1243584"/>
            <a:ext cx="3545738" cy="150876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280196" y="1243584"/>
            <a:ext cx="3545738" cy="4572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44788" y="1371600"/>
            <a:ext cx="3216554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3B5174"/>
                </a:solidFill>
                <a:latin typeface="Arial"/>
              </a:rPr>
              <a:t>STEP 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44788" y="1645920"/>
            <a:ext cx="321655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Aerogel insulation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44788" y="2029968"/>
            <a:ext cx="3216554" cy="6400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A porous silica aerogel forms in situ</a:t>
            </a:r>
          </a:p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→ insulates the substrate even after drying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3008376"/>
            <a:ext cx="1146017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Four key outcomes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65760" y="3374136"/>
            <a:ext cx="2769031" cy="11887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65760" y="3374136"/>
            <a:ext cx="54864" cy="1188720"/>
          </a:xfrm>
          <a:prstGeom prst="rect">
            <a:avLst/>
          </a:prstGeom>
          <a:solidFill>
            <a:srgbClr val="5B8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8640" y="3520440"/>
            <a:ext cx="2458135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5B8C5A"/>
                </a:solidFill>
                <a:latin typeface="Arial"/>
              </a:rPr>
              <a:t>3–6×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4050792"/>
            <a:ext cx="2458135" cy="42062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88" b="0" i="0">
                <a:solidFill>
                  <a:srgbClr val="475569"/>
                </a:solidFill>
                <a:latin typeface="Arial"/>
              </a:rPr>
              <a:t>protection time vs commercial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262807" y="3374136"/>
            <a:ext cx="2769031" cy="11887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262807" y="3374136"/>
            <a:ext cx="54864" cy="118872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445687" y="3520440"/>
            <a:ext cx="2458135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3B5174"/>
                </a:solidFill>
                <a:latin typeface="Arial"/>
              </a:rPr>
              <a:t>Self-forming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445687" y="4050792"/>
            <a:ext cx="2458135" cy="42062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88" b="0" i="0">
                <a:solidFill>
                  <a:srgbClr val="475569"/>
                </a:solidFill>
                <a:latin typeface="Arial"/>
              </a:rPr>
              <a:t>aerogel insulation in situ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159855" y="3374136"/>
            <a:ext cx="2769031" cy="11887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159855" y="3374136"/>
            <a:ext cx="54864" cy="1188720"/>
          </a:xfrm>
          <a:prstGeom prst="rect">
            <a:avLst/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42735" y="3520440"/>
            <a:ext cx="2458135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4A7C8C"/>
                </a:solidFill>
                <a:latin typeface="Arial"/>
              </a:rPr>
              <a:t>Sprayable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42735" y="4050792"/>
            <a:ext cx="2458135" cy="42062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88" b="0" i="0">
                <a:solidFill>
                  <a:srgbClr val="475569"/>
                </a:solidFill>
                <a:latin typeface="Arial"/>
              </a:rPr>
              <a:t>compatible with existing infra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056903" y="3374136"/>
            <a:ext cx="2769031" cy="11887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056903" y="3374136"/>
            <a:ext cx="54864" cy="1188720"/>
          </a:xfrm>
          <a:prstGeom prst="rect">
            <a:avLst/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239783" y="3520440"/>
            <a:ext cx="2458135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9F7639"/>
                </a:solidFill>
                <a:latin typeface="Arial"/>
              </a:rPr>
              <a:t>Sustainable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39783" y="4050792"/>
            <a:ext cx="2458135" cy="42062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88" b="0" i="0">
                <a:solidFill>
                  <a:srgbClr val="475569"/>
                </a:solidFill>
                <a:latin typeface="Arial"/>
              </a:rPr>
              <a:t>cellulose-based, safe materials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65760" y="4764024"/>
            <a:ext cx="11460175" cy="566928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365760" y="4764024"/>
            <a:ext cx="54864" cy="566928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48640" y="4764024"/>
            <a:ext cx="365760" cy="56692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D4A574"/>
                </a:solidFill>
                <a:latin typeface="Arial"/>
              </a:rPr>
              <a:t>"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60120" y="4764024"/>
            <a:ext cx="10774375" cy="56692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From "water carrier" to "heat-self-transforming fire-retardant material" — a next-gen WEG that stays effective even after drying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11247120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568" b="1" i="0">
                <a:solidFill>
                  <a:srgbClr val="88A4C0"/>
                </a:solidFill>
                <a:latin typeface="Arial"/>
              </a:rPr>
              <a:t>RESEARCH 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247120" cy="18288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0" b="1" i="0">
                <a:solidFill>
                  <a:srgbClr val="D4A574"/>
                </a:solidFill>
                <a:latin typeface="Arial"/>
              </a:rPr>
              <a:t>3–6</a:t>
            </a:r>
            <a:r>
              <a:rPr sz="7280" b="1" i="0">
                <a:solidFill>
                  <a:srgbClr val="C89A68"/>
                </a:solidFill>
                <a:latin typeface="Arial"/>
              </a:rPr>
              <a:t>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91840"/>
            <a:ext cx="11247120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2464" b="1" i="0">
                <a:solidFill>
                  <a:srgbClr val="FFFFFF"/>
                </a:solidFill>
                <a:latin typeface="Arial"/>
              </a:rPr>
              <a:t>Time to Char Improvement vs. Commercial WEG (AquaGel-K)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3886200"/>
            <a:ext cx="941832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680" b="0" i="0">
                <a:solidFill>
                  <a:srgbClr val="A8BCD4"/>
                </a:solidFill>
                <a:latin typeface="Arial"/>
              </a:rPr>
              <a:t>From "water carrier" to "self-transforming fire-retardant material"</a:t>
            </a:r>
          </a:p>
          <a:p>
            <a:pPr algn="ctr"/>
            <a:r>
              <a:rPr sz="1680" b="0" i="0">
                <a:solidFill>
                  <a:srgbClr val="A8BCD4"/>
                </a:solidFill>
                <a:latin typeface="Arial"/>
              </a:rPr>
              <a:t>The new WEG design paradigm opens a pathway to practical technology protecting critical infrastructure from wildfires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5486400"/>
            <a:ext cx="1828800" cy="25603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r"/>
            <a:r>
              <a:rPr sz="1232" b="0" i="0">
                <a:solidFill>
                  <a:srgbClr val="C0D0E0"/>
                </a:solidFill>
                <a:latin typeface="Arial"/>
              </a:rPr>
              <a:t>Time to char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63440" y="5522976"/>
            <a:ext cx="4754880" cy="146304"/>
          </a:xfrm>
          <a:prstGeom prst="roundRect">
            <a:avLst>
              <a:gd name="adj" fmla="val 50000"/>
            </a:avLst>
          </a:prstGeom>
          <a:solidFill>
            <a:srgbClr val="2C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663440" y="5522976"/>
            <a:ext cx="4517136" cy="146304"/>
          </a:xfrm>
          <a:prstGeom prst="roundRect">
            <a:avLst>
              <a:gd name="adj" fmla="val 50000"/>
            </a:avLst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55480" y="5486400"/>
            <a:ext cx="914400" cy="25603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C0D0E0"/>
                </a:solidFill>
                <a:latin typeface="Arial"/>
              </a:rPr>
              <a:t>&gt;7 min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5779008"/>
            <a:ext cx="1828800" cy="25603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r"/>
            <a:r>
              <a:rPr sz="1232" b="0" i="0">
                <a:solidFill>
                  <a:srgbClr val="C0D0E0"/>
                </a:solidFill>
                <a:latin typeface="Arial"/>
              </a:rPr>
              <a:t>Foaming Index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63440" y="5815584"/>
            <a:ext cx="4754880" cy="146304"/>
          </a:xfrm>
          <a:prstGeom prst="roundRect">
            <a:avLst>
              <a:gd name="adj" fmla="val 50000"/>
            </a:avLst>
          </a:prstGeom>
          <a:solidFill>
            <a:srgbClr val="2C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63440" y="5815584"/>
            <a:ext cx="3233318" cy="146304"/>
          </a:xfrm>
          <a:prstGeom prst="roundRect">
            <a:avLst>
              <a:gd name="adj" fmla="val 50000"/>
            </a:avLst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55480" y="5779008"/>
            <a:ext cx="914400" cy="25603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C0D0E0"/>
                </a:solidFill>
                <a:latin typeface="Arial"/>
              </a:rPr>
              <a:t>≈2.6×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0" y="6071616"/>
            <a:ext cx="1828800" cy="25603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r"/>
            <a:r>
              <a:rPr sz="1232" b="0" i="0">
                <a:solidFill>
                  <a:srgbClr val="C0D0E0"/>
                </a:solidFill>
                <a:latin typeface="Arial"/>
              </a:rPr>
              <a:t>Shear-thinning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63440" y="6108192"/>
            <a:ext cx="4754880" cy="146304"/>
          </a:xfrm>
          <a:prstGeom prst="roundRect">
            <a:avLst>
              <a:gd name="adj" fmla="val 50000"/>
            </a:avLst>
          </a:prstGeom>
          <a:solidFill>
            <a:srgbClr val="2C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663440" y="6108192"/>
            <a:ext cx="2852928" cy="146304"/>
          </a:xfrm>
          <a:prstGeom prst="roundRect">
            <a:avLst>
              <a:gd name="adj" fmla="val 50000"/>
            </a:avLst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555480" y="6071616"/>
            <a:ext cx="914400" cy="25603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C0D0E0"/>
                </a:solidFill>
                <a:latin typeface="Arial"/>
              </a:rPr>
              <a:t>demonstrated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11535" y="6528816"/>
            <a:ext cx="109728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556677"/>
                </a:solidFill>
                <a:latin typeface="Arial"/>
              </a:rPr>
              <a:t>42 / 43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