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497433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33856"/>
            <a:ext cx="3283610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865376"/>
            <a:ext cx="328361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1168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23113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74320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96265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493008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712464"/>
            <a:ext cx="3283610" cy="19568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2874" y="859536"/>
            <a:ext cx="3685946" cy="497433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4042" y="1133856"/>
            <a:ext cx="3283610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4042" y="1865376"/>
            <a:ext cx="328361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4042" y="201168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4042" y="223113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4042" y="274320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4042" y="296265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4042" y="3493008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4042" y="3712464"/>
            <a:ext cx="3283610" cy="19568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9988" y="859536"/>
            <a:ext cx="3685946" cy="4974336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1156" y="1133856"/>
            <a:ext cx="3283610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792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1156" y="1865376"/>
            <a:ext cx="3283610" cy="13716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1156" y="201168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1156" y="223113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1156" y="2743200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1156" y="2962656"/>
            <a:ext cx="3283610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1156" y="3493008"/>
            <a:ext cx="3283610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1156" y="3712464"/>
            <a:ext cx="3283610" cy="195681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5998464"/>
            <a:ext cx="11460175" cy="4754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5998464"/>
            <a:ext cx="54864" cy="4754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5998464"/>
            <a:ext cx="365760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998464"/>
            <a:ext cx="107743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37178" cy="53035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37178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225296"/>
            <a:ext cx="3637178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584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65376"/>
            <a:ext cx="3234842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904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14016"/>
            <a:ext cx="308853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560320"/>
            <a:ext cx="3234842" cy="3383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0" i="0">
                <a:solidFill>
                  <a:srgbClr val="475569"/>
                </a:solidFill>
                <a:latin typeface="Arial"/>
              </a:rPr>
              <a:t>Plant-derived biopolymer. Highly biodegradable and forms the scaffold of the gel network.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7258" y="859536"/>
            <a:ext cx="3637178" cy="53035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7258" y="859536"/>
            <a:ext cx="3637178" cy="457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7258" y="1225296"/>
            <a:ext cx="3637178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584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8426" y="1865376"/>
            <a:ext cx="3234842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904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51578" y="2414016"/>
            <a:ext cx="308853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8426" y="2560320"/>
            <a:ext cx="3234842" cy="3383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0" i="0">
                <a:solidFill>
                  <a:srgbClr val="475569"/>
                </a:solidFill>
                <a:latin typeface="Arial"/>
              </a:rPr>
              <a:t>Dynamically interacts with the polymer and forms a silica aerogel upon heat activation.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8756" y="859536"/>
            <a:ext cx="3637178" cy="53035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88756" y="859536"/>
            <a:ext cx="3637178" cy="457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8756" y="1225296"/>
            <a:ext cx="3637178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584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9924" y="1865376"/>
            <a:ext cx="3234842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904" b="1" i="0">
                <a:solidFill>
                  <a:srgbClr val="1E293B"/>
                </a:solidFill>
                <a:latin typeface="Arial"/>
              </a:rPr>
              <a:t>Polymer–Particle (PP) Interaction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63076" y="2414016"/>
            <a:ext cx="308853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9924" y="2560320"/>
            <a:ext cx="3234842" cy="3383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0" i="0">
                <a:solidFill>
                  <a:srgbClr val="475569"/>
                </a:solidFill>
                <a:latin typeface="Arial"/>
              </a:rPr>
              <a:t>Multivalent dynamic interactions provide excellent adhesion and sprayability.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Self-Protection Mechanism via Heat Activation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46761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81328"/>
            <a:ext cx="46761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912" b="1" i="0">
                <a:solidFill>
                  <a:srgbClr val="1E293B"/>
                </a:solidFill>
                <a:latin typeface="Arial"/>
              </a:rPr>
              <a:t>Self-Protection Mechanism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286000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340864"/>
            <a:ext cx="4511521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The biomimetic hydrogel developed in this work transforms into a silica aerogel when exposed to flame.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962656"/>
            <a:ext cx="4511521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Even after complete desiccation, it functions as a robust thermal barrier, shielding the substrate from ignition over extended periods.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85616"/>
            <a:ext cx="1497744" cy="6400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785616"/>
            <a:ext cx="149774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785616"/>
            <a:ext cx="1497744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1E293B"/>
                </a:solidFill>
                <a:latin typeface="Arial"/>
              </a:rPr>
              <a:t>Sol</a:t>
            </a:r>
          </a:p>
          <a:p>
            <a:pPr algn="ctr"/>
            <a:r>
              <a:rPr sz="1120" b="1" i="0">
                <a:solidFill>
                  <a:srgbClr val="1E293B"/>
                </a:solidFill>
                <a:latin typeface="Arial"/>
              </a:rPr>
              <a:t>(spray)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2648" y="3785616"/>
            <a:ext cx="91440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54944" y="3785616"/>
            <a:ext cx="1497744" cy="6400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54944" y="3785616"/>
            <a:ext cx="1497744" cy="36576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54944" y="3785616"/>
            <a:ext cx="1497744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1E293B"/>
                </a:solidFill>
                <a:latin typeface="Arial"/>
              </a:rPr>
              <a:t>Thermal gel</a:t>
            </a:r>
          </a:p>
          <a:p>
            <a:pPr algn="ctr"/>
            <a:r>
              <a:rPr sz="1120" b="1" i="0">
                <a:solidFill>
                  <a:srgbClr val="1E293B"/>
                </a:solidFill>
                <a:latin typeface="Arial"/>
              </a:rPr>
              <a:t>(contact)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1833" y="3785616"/>
            <a:ext cx="91440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44129" y="3785616"/>
            <a:ext cx="1497744" cy="640080"/>
          </a:xfrm>
          <a:prstGeom prst="roundRect">
            <a:avLst>
              <a:gd name="adj" fmla="val 3000"/>
            </a:avLst>
          </a:prstGeom>
          <a:solidFill>
            <a:srgbClr val="F1F5F9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544129" y="3785616"/>
            <a:ext cx="1497744" cy="36576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44129" y="3785616"/>
            <a:ext cx="1497744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1E293B"/>
                </a:solidFill>
                <a:latin typeface="Arial"/>
              </a:rPr>
              <a:t>Aerogel</a:t>
            </a:r>
          </a:p>
          <a:p>
            <a:pPr algn="ctr"/>
            <a:r>
              <a:rPr sz="1120" b="1" i="0">
                <a:solidFill>
                  <a:srgbClr val="1E293B"/>
                </a:solidFill>
                <a:latin typeface="Arial"/>
              </a:rPr>
              <a:t>(protect)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24753" y="859536"/>
            <a:ext cx="6601181" cy="5394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3448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448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24753" y="859536"/>
            <a:ext cx="6601181" cy="5394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24753" y="6291072"/>
            <a:ext cx="660118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Cellulosic polymer × colloidal silica → silica aerogel formation concept schematic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Methyl Cellulose (MC) Thermal Gelation: Key Property for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MC sol (room temp) → gel (after heating) — visual comparison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LCST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367588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~55°C gelation onset (1 wt% aqueous solution)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Decomp.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404164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~300°C thermal decomposition of organic component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8" y="440740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Liquid at room temp → instant gel on flame 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LCST (Gelation onset)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~55°C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1 wt% MC aqueous solution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decomposition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~300°C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TGA 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CSP sintering onset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~200°C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Inter-particle neck formation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Temperature-dependent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~55°C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MC gelation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Structure fixed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~100°C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Moisture evaporation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Foaming &amp; expansion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~200°C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CSP sintering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Grain boundary formation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&gt;300°C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Organic decomposition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Pure silica layer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Contact angle on wood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Contact Angle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Evaluated on wood, concrete, metal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WEG: low contact angle → wettability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HEC+MC: high affinity to wood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849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849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retention on vertical substrate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849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849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Vertical Adhesion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849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65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Applied to vertical substrate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849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965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G' ≫ G'' → no run-off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849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965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Retention ≥ AquaGel-K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122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122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122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Nozzle spraying in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122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Spray Suitability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122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238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drops under high shear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122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38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Recovers high viscosity on landing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122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238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Compatible with existing nozzles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" y="5980176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5980176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980176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980176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7261360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S5/S7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726136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72613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Change in modulus / viscosity with aging (Day 1 vs Day 455)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35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