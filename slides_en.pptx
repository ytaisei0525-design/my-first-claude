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73152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9AB0"/>
                </a:solidFill>
                <a:latin typeface="Arial"/>
              </a:rPr>
              <a:t>RESEARCH PRESENTATION  · 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62495" y="457200"/>
            <a:ext cx="4572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889AB0"/>
                </a:solidFill>
                <a:latin typeface="Arial"/>
              </a:rPr>
              <a:t>Adv. Mater.  ·  Dong et al.,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1" i="0">
                <a:solidFill>
                  <a:srgbClr val="889AB0"/>
                </a:solidFill>
                <a:latin typeface="Arial"/>
              </a:rPr>
              <a:t>WATER-ENHANCING GELS  ·  ADVANCED MATERIALS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11247120" cy="10972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928" b="1" i="0">
                <a:solidFill>
                  <a:srgbClr val="FFFFFF"/>
                </a:solidFill>
                <a:latin typeface="Arial"/>
              </a:rPr>
              <a:t>Protecting Against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26080"/>
            <a:ext cx="1124712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928" b="1" i="0">
                <a:solidFill>
                  <a:srgbClr val="D4A574"/>
                </a:solidFill>
                <a:latin typeface="Arial"/>
              </a:rPr>
              <a:t>Heat-Activated Silica Aerogels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1033272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680" b="0" i="0">
                <a:solidFill>
                  <a:srgbClr val="B8CCE2"/>
                </a:solidFill>
                <a:latin typeface="Arial"/>
              </a:rPr>
              <a:t>Next-generation fire-retardant gel of cellulosic polymers × colloidal silica particles</a:t>
            </a:r>
          </a:p>
          <a:p>
            <a:pPr algn="ctr"/>
            <a:r>
              <a:rPr sz="1680" b="0" i="0">
                <a:solidFill>
                  <a:srgbClr val="B8CCE2"/>
                </a:solidFill>
                <a:latin typeface="Arial"/>
              </a:rPr>
              <a:t>that self-foams upon heating to form an aerogel insulating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889CB4"/>
                </a:solidFill>
                <a:latin typeface="Arial"/>
              </a:rPr>
              <a:t>Materials Chemistry / Fire Protection Eng.    ·    Stanford University, Appel Lab    ·    Adv. Mater. 36, 2407375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035040"/>
            <a:ext cx="731520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67788"/>
                </a:solidFill>
                <a:latin typeface="Arial"/>
              </a:rPr>
              <a:t>DOI: 10.1002/adma.202407375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1 / 36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Contents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Presentation Outline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Background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Current state of wildfires, limitations of existing technologies (Phos-Chek, AquaGel-K), and innovation of this research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4–7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62807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62807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45687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45687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45687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Materials &amp; Methods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45687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Cellulosic polymers, CSP, formulations (5 types), evaluation methods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45687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9–14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9855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59855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42735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2735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2735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Results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2735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Rheology, combustion tests, foaming index, SEM observation, mechanism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2735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16–33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56903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056903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9783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9783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9783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Discussion &amp; Conclusion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9783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Implementation scenarios, comparison with existing products, conclusions and future prospects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39783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35–36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4864608"/>
            <a:ext cx="11460175" cy="5029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4864608"/>
            <a:ext cx="54864" cy="5029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4864608"/>
            <a:ext cx="365760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4864608"/>
            <a:ext cx="1077437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Key Message: Foaming upon heating + sintering of silica particles spontaneously forms an aerogel layer, achieving longer protection than commercial products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Wildfire damage under climate change and the fundamental limitations of existing fire retardant technologies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Wildfire Status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12464" y="4572000"/>
            <a:ext cx="411480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12464" y="4572000"/>
            <a:ext cx="411480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Existing WEG / Retardants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4572000"/>
            <a:ext cx="323697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73568" y="4572000"/>
            <a:ext cx="323697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Research Innovation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3 / 36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1/4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Growing Severity of Wildfire Damage and WUI Risk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276996" cy="1554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042416"/>
            <a:ext cx="2276996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5152" b="1" i="0">
                <a:solidFill>
                  <a:srgbClr val="1E293B"/>
                </a:solidFill>
                <a:latin typeface="Arial"/>
              </a:rPr>
              <a:t>5</a:t>
            </a:r>
            <a:r>
              <a:rPr sz="2240" b="0" i="0">
                <a:solidFill>
                  <a:srgbClr val="475569"/>
                </a:solidFill>
                <a:latin typeface="Arial"/>
              </a:rPr>
              <a:t>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865376"/>
            <a:ext cx="2094116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1" i="0">
                <a:solidFill>
                  <a:srgbClr val="334155"/>
                </a:solidFill>
                <a:latin typeface="Arial"/>
              </a:rPr>
              <a:t>Increase in Large-Scale Wildfires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157984"/>
            <a:ext cx="209411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Burned area expansion over past 30 years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34196" y="859536"/>
            <a:ext cx="2276996" cy="1554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34196" y="1042416"/>
            <a:ext cx="2276996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4480" b="1" i="0">
                <a:solidFill>
                  <a:srgbClr val="1E293B"/>
                </a:solidFill>
                <a:latin typeface="Arial"/>
              </a:rPr>
              <a:t>400</a:t>
            </a:r>
            <a:r>
              <a:rPr sz="2016" b="0" i="0">
                <a:solidFill>
                  <a:srgbClr val="475569"/>
                </a:solidFill>
                <a:latin typeface="Arial"/>
              </a:rPr>
              <a:t>M km²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25636" y="1865376"/>
            <a:ext cx="2094116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1" i="0">
                <a:solidFill>
                  <a:srgbClr val="334155"/>
                </a:solidFill>
                <a:latin typeface="Arial"/>
              </a:rPr>
              <a:t>Annual Burned Area (Global)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25636" y="2157984"/>
            <a:ext cx="209411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Caused by climate change and drought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02632" y="859536"/>
            <a:ext cx="2276996" cy="1554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02632" y="1042416"/>
            <a:ext cx="2276996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4704" b="1" i="0">
                <a:solidFill>
                  <a:srgbClr val="1E293B"/>
                </a:solidFill>
                <a:latin typeface="Arial"/>
              </a:rPr>
              <a:t>45M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94072" y="1865376"/>
            <a:ext cx="2094116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1" i="0">
                <a:solidFill>
                  <a:srgbClr val="334155"/>
                </a:solidFill>
                <a:latin typeface="Arial"/>
              </a:rPr>
              <a:t>U.S. WUI Residents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94072" y="2157984"/>
            <a:ext cx="209411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High-risk population in interface zone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2596896"/>
            <a:ext cx="7013868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724912"/>
            <a:ext cx="664810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Terminology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80944"/>
            <a:ext cx="6648108" cy="502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1E293B"/>
                </a:solidFill>
                <a:latin typeface="Arial"/>
              </a:rPr>
              <a:t>WUI (Wildland-Urban Interface): The boundary zone between wildland and urban areas. A high-risk region where wildfire damage directly threatens residential structures.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3675888"/>
            <a:ext cx="7013868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3675888"/>
            <a:ext cx="54864" cy="59436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675888"/>
            <a:ext cx="365760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3675888"/>
            <a:ext cx="6328068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Climate change extends dry and high-wind periods → Conventional firefighting strategies cannot keep pace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562508" y="859536"/>
            <a:ext cx="4263426" cy="42062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62508" y="859536"/>
            <a:ext cx="4263426" cy="4206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62508" y="5102352"/>
            <a:ext cx="42634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Combustion process under direct flame contact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2/4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Research Approach: 4-Stage Protection 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5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7432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1a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743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63931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Fire-retardant gel application → flame contact → heat-activated aerogel formation → structural protection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4014216"/>
            <a:ext cx="2769031" cy="20116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401421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17880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STEP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41655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792" b="1" i="0">
                <a:solidFill>
                  <a:srgbClr val="1E293B"/>
                </a:solidFill>
                <a:latin typeface="Arial"/>
              </a:rPr>
              <a:t>Gel 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782312"/>
            <a:ext cx="2403271" cy="11338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Spray application of cellulosic gel to buildings and vegetation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62807" y="4014216"/>
            <a:ext cx="2769031" cy="20116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62807" y="401421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45687" y="417880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STEP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45687" y="441655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792" b="1" i="0">
                <a:solidFill>
                  <a:srgbClr val="1E293B"/>
                </a:solidFill>
                <a:latin typeface="Arial"/>
              </a:rPr>
              <a:t>Flame Contact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45687" y="4782312"/>
            <a:ext cx="2403271" cy="11338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Moisture evaporates while gel foams and particles aggregate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59855" y="4014216"/>
            <a:ext cx="2769031" cy="20116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59855" y="401421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2735" y="417880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STEP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2735" y="441655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792" b="1" i="0">
                <a:solidFill>
                  <a:srgbClr val="1E293B"/>
                </a:solidFill>
                <a:latin typeface="Arial"/>
              </a:rPr>
              <a:t>Aerogel Formation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2735" y="4782312"/>
            <a:ext cx="2403271" cy="11338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Silica particles sinter to form a porous aerogel layer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56903" y="4014216"/>
            <a:ext cx="2769031" cy="20116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56903" y="401421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39783" y="417880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STEP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9783" y="441655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792" b="1" i="0">
                <a:solidFill>
                  <a:srgbClr val="1E293B"/>
                </a:solidFill>
                <a:latin typeface="Arial"/>
              </a:rPr>
              <a:t>Sustained Protection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9783" y="4782312"/>
            <a:ext cx="2403271" cy="11338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Ultra-low thermal conductivity insulating layer continuously protects the substrate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3/4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Existing Wildfire Protection Methods and Their Fundamental Limitations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6 /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7472275" cy="585216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859536"/>
            <a:ext cx="1509761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Technology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8401" y="859536"/>
            <a:ext cx="2043495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Main Component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93337" y="859536"/>
            <a:ext cx="2043495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Feature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8273" y="859536"/>
            <a:ext cx="1509761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Limitation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444752"/>
            <a:ext cx="7472275" cy="585216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1444752"/>
            <a:ext cx="1509761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Water 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8401" y="1444752"/>
            <a:ext cx="2043495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H₂O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3337" y="1444752"/>
            <a:ext cx="2043495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Cooling by latent heat of evaporation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28273" y="1444752"/>
            <a:ext cx="1509761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Immediately runs off and evaporates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029968"/>
            <a:ext cx="7472275" cy="585216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2029968"/>
            <a:ext cx="1509761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Phos-Chek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8401" y="2029968"/>
            <a:ext cx="2043495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Ammonium phosphate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3337" y="2029968"/>
            <a:ext cx="2043495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Direct application to trees and ground surface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8273" y="2029968"/>
            <a:ext cx="1509761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Residual contamination in soil and water systems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615184"/>
            <a:ext cx="7472275" cy="585216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2615184"/>
            <a:ext cx="1509761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8401" y="2615184"/>
            <a:ext cx="2043495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Cross-linked polyacrylate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93337" y="2615184"/>
            <a:ext cx="2043495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Retains water at high concentration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28273" y="2615184"/>
            <a:ext cx="1509761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Function lost after water evaporation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3200400"/>
            <a:ext cx="7472275" cy="585216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3200400"/>
            <a:ext cx="1509761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This Work WEG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8401" y="3200400"/>
            <a:ext cx="2043495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Cellulosic + Silica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93337" y="3200400"/>
            <a:ext cx="2043495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Forms aerogel layer upon heating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28273" y="3200400"/>
            <a:ext cx="1509761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Continues protecting after water evaporation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3986784"/>
            <a:ext cx="7472275" cy="6400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5760" y="3986784"/>
            <a:ext cx="54864" cy="64008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3986784"/>
            <a:ext cx="365760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3986784"/>
            <a:ext cx="6786475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Challenge: Existing WEGs are mere "water carriers" — protection is lost simultaneously with moisture loss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20915" y="859536"/>
            <a:ext cx="3805019" cy="38404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130643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30643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20915" y="859536"/>
            <a:ext cx="3805019" cy="38404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20915" y="4736592"/>
            <a:ext cx="38050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Comparison at 300 s: Water vs. This Work WEG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4/4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Research Core: Heat-Activated Aerogel 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7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328324" cy="31089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32832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296256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DESIGN CONCEPT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296256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Design Concept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276139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Cellulosic polymers (HEC, MC, MHEC) form water-soluble gel network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276139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Colloidal silica particles (CSP) uniformly dispersed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276139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foams upon heating to form porous structure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2450592"/>
            <a:ext cx="276139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Silica particles sinter and convert to aerogel layer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22100" y="859536"/>
            <a:ext cx="3328324" cy="310896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04980" y="1024128"/>
            <a:ext cx="296256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A0B8D0"/>
                </a:solidFill>
                <a:latin typeface="Arial"/>
              </a:rPr>
              <a:t>INNOVATION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04980" y="1261872"/>
            <a:ext cx="296256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FFFFFF"/>
                </a:solidFill>
                <a:latin typeface="Arial"/>
              </a:rPr>
              <a:t>Three Innovation Points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0498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D4A574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06148" y="1627632"/>
            <a:ext cx="276139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C8D8E8"/>
                </a:solidFill>
                <a:latin typeface="Arial"/>
              </a:rPr>
              <a:t>Breaking free from water dependence: heat-activated solid protective layer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0498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D4A574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06148" y="1901952"/>
            <a:ext cx="276139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C8D8E8"/>
                </a:solidFill>
                <a:latin typeface="Arial"/>
              </a:rPr>
              <a:t>Sustainable: naturally derived, food-grade materials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0498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D4A574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06148" y="2176272"/>
            <a:ext cx="276139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C8D8E8"/>
                </a:solidFill>
                <a:latin typeface="Arial"/>
              </a:rPr>
              <a:t>Compatible with existing spray infrastructure: sprayable fluid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" y="4197096"/>
            <a:ext cx="6784665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" y="419709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19709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4197096"/>
            <a:ext cx="609886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"Heat-Activated Formation of Silica Aerogels"</a:t>
            </a:r>
          </a:p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— Triggered by flame contact, the gel itself transforms into an aerogel insulator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33305" y="859536"/>
            <a:ext cx="4492630" cy="4389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43033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43033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5a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33305" y="859536"/>
            <a:ext cx="4492630" cy="4389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33305" y="5285232"/>
            <a:ext cx="44926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3-stage silica aerogel formation (preview)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Materials &amp; Methods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Novel gel design combining cellulosic polymers and colloidal silica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309067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09067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Polymer Components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51376" y="4572000"/>
            <a:ext cx="470001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51376" y="4572000"/>
            <a:ext cx="470001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Silica Particles &amp; Surfactant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97696" y="4572000"/>
            <a:ext cx="3675887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97696" y="4572000"/>
            <a:ext cx="3675887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Formulations (5 types)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819887" y="4572000"/>
            <a:ext cx="309067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19887" y="4572000"/>
            <a:ext cx="309067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Evaluation Methods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8 / 36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1/6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Cellulosic Polymers Used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9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734714" cy="1920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987552"/>
            <a:ext cx="3368954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Polymer 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243584"/>
            <a:ext cx="3368954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912" b="1" i="0">
                <a:solidFill>
                  <a:srgbClr val="1E293B"/>
                </a:solidFill>
                <a:latin typeface="Arial"/>
              </a:rPr>
              <a:t>HEC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737360"/>
            <a:ext cx="3368954" cy="5943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Hydroxyethyl cellulose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395728"/>
            <a:ext cx="33689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Base viscosity agent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28490" y="859536"/>
            <a:ext cx="3734714" cy="1920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1370" y="987552"/>
            <a:ext cx="3368954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Polymer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370" y="1243584"/>
            <a:ext cx="3368954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912" b="1" i="0">
                <a:solidFill>
                  <a:srgbClr val="1E293B"/>
                </a:solidFill>
                <a:latin typeface="Arial"/>
              </a:rPr>
              <a:t>MC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370" y="1737360"/>
            <a:ext cx="3368954" cy="5943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Methyl cellulose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1370" y="2395728"/>
            <a:ext cx="33689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Gelation upon heating (thermoreversible)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1220" y="859536"/>
            <a:ext cx="3734714" cy="1920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4100" y="987552"/>
            <a:ext cx="3368954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Polymer 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4100" y="1243584"/>
            <a:ext cx="3368954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912" b="1" i="0">
                <a:solidFill>
                  <a:srgbClr val="1E293B"/>
                </a:solidFill>
                <a:latin typeface="Arial"/>
              </a:rPr>
              <a:t>MHEC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4100" y="1737360"/>
            <a:ext cx="3368954" cy="5943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Methyl 2-hydroxyethyl cellulose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4100" y="2395728"/>
            <a:ext cx="33689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Integrates properties of A and B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3054096"/>
            <a:ext cx="11460175" cy="3246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75488" y="316382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8" y="316382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1b/c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054096"/>
            <a:ext cx="11460175" cy="3246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33679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Chemical structures of each polymer and mixing scheme with colloidal silica (CSP)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2/6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Methyl Cellulose (MC) Thermal Gelation: Key Property for Flame Protection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10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409444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0944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504368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THERMAL RESPONSE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504368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Inverse Thermal Response (LCST Behavior)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484251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MC dissolves in cold water (&lt;20°C) to form a low-viscosity 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484251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Gelation above LCST upon heating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484251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MC gelation onset: approx. 50–60°C (concentration-dependent)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2450592"/>
            <a:ext cx="484251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Liquid at room temperature → instantaneous gelation upon flame contact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4242816"/>
            <a:ext cx="5409444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424281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24281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242816"/>
            <a:ext cx="4723644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MC gelates in the initial stage of flame contact → maintains foamed structure while CSP is fixed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5808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8610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LCST (Gelation onset)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610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~55°C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610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1 wt% MC aqueous solution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4451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7253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Thermal decomposition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7253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A05656"/>
                </a:solidFill>
                <a:latin typeface="Arial"/>
              </a:rPr>
              <a:t>~300°C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7253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TGA measurement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93094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5896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CSP sintering onset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96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4A7C8C"/>
                </a:solidFill>
                <a:latin typeface="Arial"/>
              </a:rPr>
              <a:t>~200°C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96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Inter-particle neck formation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58084" y="2414016"/>
            <a:ext cx="5867851" cy="24688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40964" y="2578608"/>
            <a:ext cx="55020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B8D0"/>
                </a:solidFill>
                <a:latin typeface="Arial"/>
              </a:rPr>
              <a:t>Temperature-dependent Process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40964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32404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~55°C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2404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MC gelation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32404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Structure fixed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0746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402186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493626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~100°C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93626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Moisture evaporation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93626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Foaming &amp; expansion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71969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663409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754849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~200°C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754849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CSP sintering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54849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Grain boundary formation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33192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24632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016072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&gt;300°C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016072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Organic decomposition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016072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Pure silica layer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3/6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Colloidal Silica Particles (CSP) and Surfactant (SDS)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11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4779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64779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4241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3136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060704"/>
            <a:ext cx="464195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CSP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1316736"/>
            <a:ext cx="464195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Colloidal Silica Particles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0482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048256"/>
            <a:ext cx="49619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334155"/>
                </a:solidFill>
                <a:latin typeface="Arial"/>
              </a:rPr>
              <a:t>LUDOX TM-50 (stock 50 wt%) → diluted to 15 wt% (pH 9)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4323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2432304"/>
            <a:ext cx="49619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334155"/>
                </a:solidFill>
                <a:latin typeface="Arial"/>
              </a:rPr>
              <a:t>Particle size: 22 nm (monodisperse)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28163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2816352"/>
            <a:ext cx="49619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334155"/>
                </a:solidFill>
                <a:latin typeface="Arial"/>
              </a:rPr>
              <a:t>Formulation concentration: 5 wt% in gel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20040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3200400"/>
            <a:ext cx="49619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334155"/>
                </a:solidFill>
                <a:latin typeface="Arial"/>
              </a:rPr>
              <a:t>Sinters upon heating → transforms into silica aerogel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8143" y="859536"/>
            <a:ext cx="564779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8143" y="859536"/>
            <a:ext cx="564779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61023" y="104241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3136" b="0" i="0">
                <a:solidFill>
                  <a:srgbClr val="3B5174"/>
                </a:solidFill>
                <a:latin typeface="Arial"/>
              </a:rPr>
              <a:t>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6823" y="1060704"/>
            <a:ext cx="464195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SDS (Additive)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6823" y="1316736"/>
            <a:ext cx="464195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Sodium Dodecyl Sulfate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2463" y="20482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81063" y="2048256"/>
            <a:ext cx="49619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334155"/>
                </a:solidFill>
                <a:latin typeface="Arial"/>
              </a:rPr>
              <a:t>Anionic surfactant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2463" y="24323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81063" y="2432304"/>
            <a:ext cx="49619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334155"/>
                </a:solidFill>
                <a:latin typeface="Arial"/>
              </a:rPr>
              <a:t>Adding SDS did not improve Foaming Index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52463" y="28163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81063" y="2816352"/>
            <a:ext cx="49619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334155"/>
                </a:solidFill>
                <a:latin typeface="Arial"/>
              </a:rPr>
              <a:t>Addition levels: two concentrations of 0.1 wt% and 0.5 wt%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2463" y="320040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81063" y="3200400"/>
            <a:ext cx="49619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334155"/>
                </a:solidFill>
                <a:latin typeface="Arial"/>
              </a:rPr>
              <a:t>Higher SDS concentration coarsens bubble size (SEM)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5760" y="497433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5760" y="497433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497433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497433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 sintering temperature range of CSP overlaps with the thermal decomposition temperature of cellulose, enabling synchronized thermal response to form the insulating layer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4/6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Five Formulations Evaluated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12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AquaGel-K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0.5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Commercial WEG benchmark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56627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48067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8067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8067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HEC+MC 1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CSP 5 wt%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47494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8934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38934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MHEC / CSP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8934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MHEC 1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CSP 5 wt%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38361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801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801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 / SDS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9801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+ SDS 0.1 wt%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29228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20668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20668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 / SDS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0668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+ SDS 0.5 wt%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2962656"/>
            <a:ext cx="5638647" cy="2286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296265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12724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Formulation Design Intent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4930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349300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Comparing functional differences by varying polymer type (HEC+MC vs MHEC)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37673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376732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Verifying the effect on foam structure with two SDS concentration levels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04164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04164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Direct comparison with commercial AquaGel-K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87287" y="2962656"/>
            <a:ext cx="5638647" cy="2286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87287" y="296265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70167" y="312724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Notation Guide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167" y="3493008"/>
            <a:ext cx="5272887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475569"/>
                </a:solidFill>
                <a:latin typeface="Arial"/>
              </a:rPr>
              <a:t>HEC+MC/CSP/SDS 1-5-0.1</a:t>
            </a:r>
          </a:p>
          <a:p>
            <a:pPr algn="l"/>
            <a:r>
              <a:rPr sz="1568" b="0" i="0">
                <a:solidFill>
                  <a:srgbClr val="475569"/>
                </a:solidFill>
                <a:latin typeface="Arial"/>
              </a:rPr>
              <a:t>→ HEC+MC 1 wt% ／ CSP 5 wt% ／ SDS 0.1 wt%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5/6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Overview of Evaluation Methods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13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728618" cy="27889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72861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33628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RHEOLOGY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336285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Rheological Measurements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Oscillatory frequency sweep (G', G'')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Steady-flow sweep (viscosity vs. shear rate)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Herschel-Bulkley model fitting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31538" y="859536"/>
            <a:ext cx="3728618" cy="27889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31538" y="859536"/>
            <a:ext cx="372861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14418" y="1024128"/>
            <a:ext cx="33628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BURN TEST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4418" y="1261872"/>
            <a:ext cx="336285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Combustion Test (Time-to-char)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4418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5586" y="162763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Whitewood plywood heated with MAP-Pro torch (~2054°C)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4418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5586" y="190195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Time to charring onset measured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4418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5586" y="217627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Photographic comparison at 120 s / 300 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7316" y="859536"/>
            <a:ext cx="3728618" cy="27889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97316" y="859536"/>
            <a:ext cx="372861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80196" y="1024128"/>
            <a:ext cx="33628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FOAMING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80196" y="1261872"/>
            <a:ext cx="336285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Foaming Index Measurement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80196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81364" y="162763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Foamed layer thickness measured after combustion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80196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81364" y="190195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Ratio to initial thickness = Foaming Index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3831336"/>
            <a:ext cx="3728618" cy="27889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3831336"/>
            <a:ext cx="372861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3995928"/>
            <a:ext cx="33628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SEM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4233672"/>
            <a:ext cx="336285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SEM Morphological Observation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45994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808" y="459943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Foam structure by SDS concentration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8" y="487375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Sintering progression by burn time (0/1/2/4 min)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31538" y="3831336"/>
            <a:ext cx="3728618" cy="27889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231538" y="3831336"/>
            <a:ext cx="372861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14418" y="3995928"/>
            <a:ext cx="33628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SPECTROSCOPY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14418" y="4233672"/>
            <a:ext cx="336285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Spectroscopic Analysis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14418" y="45994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15586" y="459943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FT-IR (chemical bonding)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1441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15586" y="487375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XPS (surface composition)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097316" y="3831336"/>
            <a:ext cx="3728618" cy="27889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097316" y="3831336"/>
            <a:ext cx="372861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280196" y="3995928"/>
            <a:ext cx="33628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THERMAL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80196" y="4233672"/>
            <a:ext cx="336285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Thermal Analysis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80196" y="45994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81364" y="459943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TGA (thermogravimetric analysis)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80196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81364" y="487375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DSC (differential scanning calorimetry)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6/6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Adhesion and Surface Wettability: Properties Essential for Implementation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14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WETTING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Contact Angle Measurement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Contact angle evaluation on wood, concrete, and metal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WEG shows low contact angle → high wettability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HEC+MC shows particularly high affinity at cellulose-wood interface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2849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1137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ADHESION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137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Vertical Surface Adhesion Test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37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253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applied to vertically oriented substrate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137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253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G' ≫ G'' → resists gravity without flowing down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253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Vertical surface retention equal to or better than AquaGel-K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122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9122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410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SPRAY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410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Spray Application Suitability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410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526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Viscosity drops sharply under high shear (inside nozzle)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410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7526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Quickly recovers high viscosity upon reaching substrate → maintains adhesion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526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Fully compatible with existing fire hoses and nozzles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442569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5760" y="442569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442569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" y="442569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Rheological design (low n, high G') simultaneously achieves spray suitability and adhesion retention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Rheological properties, combustion performance, foam structure, and aerogel formation mechanism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162763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162763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Rheology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88336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88336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Combustion Test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4572000"/>
            <a:ext cx="235915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4572000"/>
            <a:ext cx="235915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Foaming Index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1856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SEM Observation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15 / 36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①: Oscillatory Moduli G' / G''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16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555461" cy="4389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2a–b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555461" cy="4389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285232"/>
            <a:ext cx="655546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Angular frequency vs Storage modulus G' · Loss modulus G''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04101" y="859536"/>
            <a:ext cx="4721833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04101" y="859536"/>
            <a:ext cx="4721833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86981" y="1024128"/>
            <a:ext cx="4356073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KEY OBSERVATION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86981" y="1261872"/>
            <a:ext cx="4356073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Key Observation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86981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88149" y="162763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G' &gt; G'' for all formulations → solid-like (gel) behavior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6981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88149" y="190195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Low frequency dependence → stable network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86981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88149" y="217627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AquaGel-K (G'=457 Pa) shows higher G' than WEG (46/26 Pa); all formulations exhibit gel behavior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04101" y="3648456"/>
            <a:ext cx="4721833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04101" y="364845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86981" y="364845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8461" y="3648456"/>
            <a:ext cx="4036033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Clearly formed gel network; does not flow off after application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2/11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②: Shear Thinning and Power-law Index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17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555461" cy="4389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2c–d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555461" cy="4389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285232"/>
            <a:ext cx="655546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Viscosity vs. shear rate (shear-thinning behavior)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04101" y="859536"/>
            <a:ext cx="472183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117" y="969264"/>
            <a:ext cx="446580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Flow index 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117" y="1225296"/>
            <a:ext cx="446580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n &lt;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2117" y="1645920"/>
            <a:ext cx="446580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— strong shear thinning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04101" y="2093976"/>
            <a:ext cx="472183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117" y="2203704"/>
            <a:ext cx="446580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Flow index 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117" y="2459736"/>
            <a:ext cx="446580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n &lt;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32117" y="2880360"/>
            <a:ext cx="446580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MHEC/CSP — shear thinning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04101" y="3419856"/>
            <a:ext cx="4721833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41261" y="3557016"/>
            <a:ext cx="4447513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 &lt; 1 = shear-thinning</a:t>
            </a:r>
          </a:p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Lower values → better flow at high shear → excellent sprayability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5431536"/>
            <a:ext cx="11460175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5431536"/>
            <a:ext cx="54864" cy="59436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431536"/>
            <a:ext cx="365760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431536"/>
            <a:ext cx="10774375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High viscosity at rest for adhesion, low viscosity during spraying — flow properties compatible with existing firefighting equipment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3/11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③: Static Yield Stress and Long-term Stability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18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59436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Static yield stress: stress at the G'/G'' crossover (σ_s) from amplitude sweep — minimum stress to initiate flow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636776"/>
            <a:ext cx="11460175" cy="5029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63677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Formulation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03619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Static yield stress (fresh)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08204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Static yield stress (455 days)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12789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139696"/>
            <a:ext cx="11460175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13969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03619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33.34 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8204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68.9 Pa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12789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Gel strength increases over time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642616"/>
            <a:ext cx="11460175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64261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03619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3.31 Pa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08204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4.56 Pa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12789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Long-term stability confirmed (455 days)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145536"/>
            <a:ext cx="11460175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14553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AquaGel-K (Commercial control)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03619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08204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12789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Reference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Static Yield Stress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0352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Measured at G'/G'' crossover from amplitude sweep. HEC+MC/CSP: 33.34 Pa; MHEC/CSP: 3.31 Pa (fresh)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31538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96130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Long-term Stability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96130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MHEC/CSP shows only minor change after 455 days (3.31→4.56 Pa). Demonstrates shelf stability for practical use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97316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61908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HEC+MC vs MHEC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61908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HEC+MC system shows ~10× higher yield stress, better for vertical surface adhesion. MHEC simpler to manufacture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4/11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④: Storage Modulus G' and Viscoelasticity (tan δ)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19 / 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G' Storage Modulus (1 rad/s)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0" y="13441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286000" y="1344168"/>
            <a:ext cx="346690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44287" y="12710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25.6 Pa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7282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86000" y="18013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286000" y="1801368"/>
            <a:ext cx="666711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44287" y="17282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46.4 Pa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1854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0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286000" y="2258568"/>
            <a:ext cx="2533505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4287" y="21854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456.8 Pa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2779776"/>
            <a:ext cx="5592927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277977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7797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2779776"/>
            <a:ext cx="4907127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All formulations show G'&gt;G'' (gel behavior). AquaGel-K has the highest G' but also larger tan δ (more fluid-like)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33007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Loss tangent tan δ = G''/G' (elastic-dominated = &lt;1)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3007" y="12710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53247" y="13441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153247" y="1344168"/>
            <a:ext cx="1120075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11535" y="12710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0.168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33007" y="17282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53247" y="18013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153247" y="1801368"/>
            <a:ext cx="1466766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11535" y="17282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0.219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3007" y="21854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53247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153247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11535" y="21854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0.400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33007" y="2779776"/>
            <a:ext cx="5592927" cy="7315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33007" y="2779776"/>
            <a:ext cx="54864" cy="7315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15887" y="27797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27367" y="2779776"/>
            <a:ext cx="4907127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All formulations: tan δ &lt; 1 (gel behavior). AquaGel-K most elastic (0.168); MHEC system most fluid-like (0.400)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5/11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HEC+MC vs MHEC: Comparison of Two Systems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20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38647" cy="4389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HEC + MC Mixed System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362456"/>
            <a:ext cx="5272887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1">
                <a:solidFill>
                  <a:srgbClr val="475569"/>
                </a:solidFill>
                <a:latin typeface="Arial"/>
              </a:rPr>
              <a:t>HEC (non-thermal gelation) + MC (thermal gelation, LCST)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86537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186537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 provides room-temperature viscosity and adhesion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23113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23113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MC maintains structure during heating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596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259689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Strong shear thinning (n &lt; 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2962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296265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Time to char &gt; 7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32841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Foaming Index ≈ 2.2–2.6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831336"/>
            <a:ext cx="5272887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877056"/>
            <a:ext cx="5090007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Good compatibility with SDS; excellent for optimizing foam structure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87287" y="859536"/>
            <a:ext cx="5638647" cy="4389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87287" y="8595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70167" y="1024128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MHEC Single-Polymer System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0167" y="1362456"/>
            <a:ext cx="5272887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1">
                <a:solidFill>
                  <a:srgbClr val="475569"/>
                </a:solidFill>
                <a:latin typeface="Arial"/>
              </a:rPr>
              <a:t>MHEC (integrates HEC+MC functions into a single molecule)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1607" y="186537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90207" y="186537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Carries both hydroxyethyl and methyl groups on the same chain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1607" y="223113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90207" y="223113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Achieves equivalent viscoelasticity and thermal response with a single polymer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1607" y="2596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90207" y="259689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Shear thinning (n &lt; 1)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61607" y="2962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90207" y="296265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Time to char &gt; 5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61607" y="332841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90207" y="332841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Advantage of simplified formulation and quality control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70167" y="3831336"/>
            <a:ext cx="5272887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61607" y="3877056"/>
            <a:ext cx="5090007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Advantageous for scale-up and manufacturing cost reduction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47725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547725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47725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547725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Both systems significantly outperform commercial AquaGel-K. HEC+MC excels in foam optimization; MHEC excels in manufacturing simplicity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6/11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Combustion Test Setup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21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211656" cy="42062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211656" cy="4206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102352"/>
            <a:ext cx="621165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Experimental setup for combustion testing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60296" y="859536"/>
            <a:ext cx="5065638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60296" y="859536"/>
            <a:ext cx="506563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3176" y="1024128"/>
            <a:ext cx="469987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EXPERIMENTAL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3176" y="1261872"/>
            <a:ext cx="469987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◆ Test Conditions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3176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44344" y="162763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Substrate: whitewood plywood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3176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44344" y="190195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application: uniformly applied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3176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4344" y="217627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Flame source: MAP-Pro torch (~2054°C)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3176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44344" y="245059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Measurement: time until substrate charring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3176" y="27249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44344" y="272491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Photographs taken at 120 s and 300 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60296" y="4242816"/>
            <a:ext cx="5065638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60296" y="424281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3176" y="424281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54656" y="4242816"/>
            <a:ext cx="4379838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Time to char = time required for wood surface to char (longer = better protection)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7/11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Time to Char: Quantitative Comparison of 5 Formulations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22 / 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701386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Time to char (time to charring onset)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134416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34640" y="1344168"/>
            <a:ext cx="137908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788" y="127101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~0.3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77393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 (commercial)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34640" y="184708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834640" y="1847088"/>
            <a:ext cx="689541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788" y="177393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~1.5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27685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34640" y="235000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834640" y="2350008"/>
            <a:ext cx="2241010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3788" y="227685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&gt;5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277977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34640" y="285292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834640" y="2852928"/>
            <a:ext cx="3102937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3788" y="277977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&gt;7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28269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34640" y="335584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834640" y="3355848"/>
            <a:ext cx="3102937" cy="146304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788" y="328269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&gt;7 min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" y="3922776"/>
            <a:ext cx="7013868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" y="392277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392277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3922776"/>
            <a:ext cx="6328068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This work's WEG achieves 3–6× longer protection than commercial AquaGel-K (n≥3 for all tests)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562508" y="859536"/>
            <a:ext cx="4263426" cy="47548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62508" y="859536"/>
            <a:ext cx="4263426" cy="47548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62508" y="5650992"/>
            <a:ext cx="42634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Time-to-char bar chart (n≥3, error bars = standard deviation)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8/11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Time-lapse Observation of Combustion 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23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Sequential photographs during flame contact for each formulation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A05656"/>
                </a:solidFill>
                <a:latin typeface="Arial"/>
              </a:rPr>
              <a:t>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Immediately evaporates and runs off under direct flame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Wood surface chars in ~0.3 min (~18 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protective layer formed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849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9308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AquaGel-K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2965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5825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Retains water but ends when water evaporates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2965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5825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Chars in ~1.5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2965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5825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solid protective layer formed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9122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5581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This Work WEG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238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2098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foams and expands simultaneously with water evaporation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238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2098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Porous aerogel layer provides continued protection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238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2098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Charring prevented for &gt;7 min (HEC+MC)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8/11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Surface Condition Comparison at 120 s / 300 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24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Surface condition comparison: 120 s (top) and 300 s (bottom)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A05656"/>
                </a:solidFill>
                <a:latin typeface="Arial"/>
              </a:rPr>
              <a:t>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charring already beginning over wide area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entire surface blackened, severe damage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A05656"/>
                </a:solidFill>
                <a:latin typeface="Arial"/>
              </a:rPr>
              <a:t>Time to char: ~0.3 min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308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AquaGel-K (commercial)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965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gel drying, partial charring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965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no protective layer, partial charring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9308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Time to char: ~1.5 min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122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5581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This Work WEG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238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aerogel layer forming and expanding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9238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surface nearly intact, layer remains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5581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Time to char: &gt;7 min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88A4C0"/>
                </a:solidFill>
                <a:latin typeface="Arial"/>
              </a:rPr>
              <a:t>KEY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11247120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4560" b="1" i="0">
                <a:solidFill>
                  <a:srgbClr val="D4A574"/>
                </a:solidFill>
                <a:latin typeface="Arial"/>
              </a:rPr>
              <a:t>&gt;7</a:t>
            </a:r>
            <a:r>
              <a:rPr sz="6720" b="0" i="0">
                <a:solidFill>
                  <a:srgbClr val="C89A68"/>
                </a:solidFill>
                <a:latin typeface="Arial"/>
              </a:rPr>
              <a:t>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11247120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912" b="1" i="0">
                <a:solidFill>
                  <a:srgbClr val="FFFFFF"/>
                </a:solidFill>
                <a:latin typeface="Arial"/>
              </a:rPr>
              <a:t>Time to Char of This Work's WEG (HEC+MC/CSP)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09160"/>
            <a:ext cx="9418320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0" i="0">
                <a:solidFill>
                  <a:srgbClr val="9CB4CC"/>
                </a:solidFill>
                <a:latin typeface="Arial"/>
              </a:rPr>
              <a:t>Achieved 3–6× longer protection than commercial AquaGel-K (~1.5 min) — n≥3 for all tests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553212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Water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31920" y="556869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931920" y="5568696"/>
            <a:ext cx="256032" cy="164592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69880" y="553212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~0.3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585216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AquaGel-K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1920" y="588873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931920" y="5888736"/>
            <a:ext cx="1280160" cy="164592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69880" y="585216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~1.5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617220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This Work WEG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31920" y="620877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931920" y="6208776"/>
            <a:ext cx="6080760" cy="164592"/>
          </a:xfrm>
          <a:prstGeom prst="roundRect">
            <a:avLst>
              <a:gd name="adj" fmla="val 50000"/>
            </a:avLst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69880" y="617220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&gt;7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556677"/>
                </a:solidFill>
                <a:latin typeface="Arial"/>
              </a:rPr>
              <a:t>25 / 36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9/11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Foaming Index Comparison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26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38647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638647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Appearance of foamed layer after combustion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859536"/>
            <a:ext cx="5638647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97015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97015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7287" y="859536"/>
            <a:ext cx="5638647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7287" y="2999232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Foaming Index for each formulation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3741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Foaming Index (post-combustion thickness / initial thickness)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73989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20240" y="381304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920240" y="3813048"/>
            <a:ext cx="62480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35727" y="373989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415137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920240" y="422452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920240" y="4224528"/>
            <a:ext cx="1655745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35727" y="415137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≈2.1×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56285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920240" y="463600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920240" y="4636008"/>
            <a:ext cx="1874428" cy="146304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35727" y="456285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≈2.3×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497433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920240" y="504748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20240" y="5047488"/>
            <a:ext cx="2124352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35727" y="497433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≈2.6×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87287" y="33741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Insulating Effect from Foaming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33007" y="3739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61607" y="3739896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Expands to &gt;2× initial thickness → heat conduction path extended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33007" y="412394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61607" y="4123944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Air trapped in pores enhances thermal insulation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3007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61607" y="4507992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 does not foam → collapses flat under flame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33007" y="489204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61607" y="4892040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without SDS achieves the highest foaming index (≈2.6)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9/11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Effect of SDS Concentration on Aerogel Microstructure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27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7432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743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63931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FE-SEM images by SDS concentration (0%, 0.1%, 0.5%)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0% SDS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Highest foaming index (≈2.6). No SDS yields maximum expansion.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2849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9308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64748B"/>
                </a:solidFill>
                <a:latin typeface="Arial"/>
              </a:rPr>
              <a:t>0.1% SDS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308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Uniform fine-bubble structure. Foaming index ≈2.3 (lower than no-SDS).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122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5581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64748B"/>
                </a:solidFill>
                <a:latin typeface="Arial"/>
              </a:rPr>
              <a:t>0.5% SDS (Excess)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581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Non-uniform and coarsened bubble size. Foaming index further reduced.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10/11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FT-IR &amp; XPS: Chemical Composition Changes (Before/After Combustion)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28 / 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FT-IR Major Peak Assignments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243584"/>
            <a:ext cx="5638647" cy="4572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2435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Wavenumber (cm⁻¹)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8426" y="12435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Assignment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9314" y="12435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After combustion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7007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17007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3200–3500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8426" y="17007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O–H stretch (cellulose, water)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9314" y="17007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Disappears (dehydration)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157984"/>
            <a:ext cx="5638647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1579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2850–2950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58426" y="21579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C–H stretch (methyl groups)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9314" y="21579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Disappears (organic decomposition)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6151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6151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1050–1100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58426" y="26151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Si–O–Si stretch (silica)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69314" y="26151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Intensity increases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072384"/>
            <a:ext cx="5638647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0723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800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8426" y="30723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 bending vibration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69314" y="30723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Becomes distinct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5295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35295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450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58426" y="35295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 bending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69314" y="35295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Sharpens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416966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5760" y="4169664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169664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4169664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Post-combustion spectrum matches pure silica (SiO₂) → aerogel formation chemically confirmed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87287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XPS Surface Elemental Composition (at%)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87287" y="1243584"/>
            <a:ext cx="5638647" cy="64008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78727" y="124358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Formulation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92530" y="124358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C 1s before (at%)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04952" y="124358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C 1s after (at%)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87287" y="1883664"/>
            <a:ext cx="5638647" cy="6400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78727" y="188366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HEC+MC/CSP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92530" y="188366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25.6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04952" y="188366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14.9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87287" y="2523744"/>
            <a:ext cx="5638647" cy="6400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78727" y="252374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MHEC/CSP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92530" y="252374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38.3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04952" y="252374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4.8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87287" y="330098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87287" y="3300984"/>
            <a:ext cx="54864" cy="77724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70167" y="3300984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📊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81647" y="3300984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Carbon greatly reduced (MHEC: 38.3→4.8 at%) → organic matrix combusted and removed; silica remains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87287" y="426110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51879" y="4389120"/>
            <a:ext cx="530946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Peak Position Verification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1879" y="4645152"/>
            <a:ext cx="5309463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 2p peak: ~103.5 eV (consistent with SiO₂) / O 1s peak: ~533 eV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11/11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TGA/DSC: Thermal Decomposition Profile and Role of Each Component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29 / 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TGA: Weight Loss Profile (N₂ atmosphere)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50–150°C: Evaporation of free and adsorbed 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545336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5760" y="1545336"/>
            <a:ext cx="1691594" cy="128016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837944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200–350°C: Thermal decomposition of HEC/MC organic chains (main weight loss)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112264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" y="2112264"/>
            <a:ext cx="4792850" cy="128016"/>
          </a:xfrm>
          <a:prstGeom prst="roundRect">
            <a:avLst>
              <a:gd name="adj" fmla="val 50000"/>
            </a:avLst>
          </a:prstGeom>
          <a:solidFill>
            <a:srgbClr val="A0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404872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350–600°C: Oxidation and loss of residual carbon (in air)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2679192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65760" y="2679192"/>
            <a:ext cx="2819323" cy="128016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971800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&gt;600°C: Silica residue (~5–8 wt%, no change)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246120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65760" y="3246120"/>
            <a:ext cx="451091" cy="128016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7287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DSC: Thermal Event Assignments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7287" y="1271016"/>
            <a:ext cx="5638647" cy="3657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78727" y="127101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Temperature range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62582" y="127101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Event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30291" y="127101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ΔH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7287" y="1636776"/>
            <a:ext cx="5638647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78727" y="163677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~100°C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62582" y="163677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Endothermic: water evaporation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30291" y="163677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Endothermic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87287" y="2002536"/>
            <a:ext cx="5638647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727" y="200253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~55–80°C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62582" y="200253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Exothermic: MC gelation transition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30291" y="200253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Slightly exothermic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87287" y="2368296"/>
            <a:ext cx="5638647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78727" y="236829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~250–300°C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62582" y="236829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Exothermic: oxidative decomposition of organic chains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30291" y="236829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Exothermic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87287" y="3008376"/>
            <a:ext cx="275074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15303" y="3118104"/>
            <a:ext cx="249471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Final silica residue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15303" y="3374136"/>
            <a:ext cx="249471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4A7C8C"/>
                </a:solidFill>
                <a:latin typeface="Arial"/>
              </a:rPr>
              <a:t>~5–8 wt%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15303" y="3794760"/>
            <a:ext cx="249471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Equivalent to CSP 5 wt%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75191" y="3008376"/>
            <a:ext cx="275074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03207" y="3118104"/>
            <a:ext cx="249471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Cellulose decomposition peak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03207" y="3374136"/>
            <a:ext cx="249471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A05656"/>
                </a:solidFill>
                <a:latin typeface="Arial"/>
              </a:rPr>
              <a:t>~280°C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03207" y="3794760"/>
            <a:ext cx="249471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Common to HEC/MC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87287" y="4288536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87287" y="428853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70167" y="428853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81647" y="4288536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CSP sintering (~200°C+) and cellulose decomposition (~280°C+) overlap in temperature → synchronized aerogel formation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Mechanism of Silica Aerogel 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30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5a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3-stage schematic of WEG → silica aerogel transformation by flame activation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Unsintered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Silica particles dispersed independently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Water fills the interstices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inter-particle bonding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2849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2849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1137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Grain boundary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1137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253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Particles approach as water evaporates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137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253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Grain boundaries form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137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253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Initial neck formation begins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9122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9122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410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Necking &amp; porosity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410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7526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Necks grow and strengthen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410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7526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Porosity decreases, skeleton complete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410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7526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SiO₂ aerogel layer established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Sintering Progression with Burn Time (SEM)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31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5b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Cross-section SEM images of HEC+MC/CSP 1-5 after 0, 1, 2, and 4 min heating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0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Unheated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Spherical particles dispersed independently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No inter-particle bonding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fills the matrix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62807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9111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1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09111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Early sintering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45687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28567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Grain boundaries appear between particles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45687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28567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Initial necks form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45687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28567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Most moisture evaporated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59855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6159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2 min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6159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Sintering in progress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2735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25615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Neck regions expand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2735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25615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Continuous network forms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2735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25615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Porosity decreasing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56903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03207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4 min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03207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3B5174"/>
                </a:solidFill>
                <a:latin typeface="Arial"/>
              </a:rPr>
              <a:t>Aerogel complete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39783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22663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Dense SiO₂ skeleton complete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39783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22663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High mechanical strength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9783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22663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Functions as insulating layer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Discussion &amp; 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Implementation scenarios, comprehensive comparison with existing products, research significance and future prospects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396849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96849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Implementation Scenarios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4572000"/>
            <a:ext cx="3675887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0" y="4572000"/>
            <a:ext cx="3675887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Performance Comparison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51391" y="4572000"/>
            <a:ext cx="1481328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51391" y="4572000"/>
            <a:ext cx="1481328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Summary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32 / 36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Discussion 1/3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Implementation Scenarios: WEG Deployment Strategy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33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Pre-protection of WUI Structures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Pre-applied to building exteriors and roofs before wildfire season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Can be applied by helicopter or ground hose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Protective function remains even after drying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2849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1137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137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Protection of Critical Infrastructure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37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253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Power towers, substations, and communication base stations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137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253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Strongly adheres to metal structures as well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253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Prevents power outages and communication disruption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122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9122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410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410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Fire Break Formation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410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526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Pre-applied to vegetation along potential spread paths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410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7526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environmental burden unlike Phos-Chek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526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Cellulose and silica have low environmental persistence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4425696"/>
            <a:ext cx="5638647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4553712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Advantages Over Existing Methods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" y="4837176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Water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48840" y="4837176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Far greater protection (water chars at ~0.3 min)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" y="5093208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AquaGel-K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48840" y="5093208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3–6× longer protection + continues after water evaporation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5349240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Phos-Chek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48840" y="5349240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No residual contamination in soil or water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" y="5605272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Spray compatibility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148840" y="5605272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Usable with existing equipment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87287" y="4700016"/>
            <a:ext cx="5638647" cy="9144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87287" y="4700016"/>
            <a:ext cx="54864" cy="9144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70167" y="4700016"/>
            <a:ext cx="365760" cy="914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🚁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81647" y="4700016"/>
            <a:ext cx="4952847" cy="914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Flow properties (shear thinning) compatible with both aerial and ground application are key to practical deployment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Summary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Key Demonstrated Results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34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RHEOLOGY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Rheology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G' &gt; G'', no crossover (gel)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G': HEC+MC≈46, MHEC≈26 Pa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Shear-thinning (HB) → sprayable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tan δ &lt; 1, solid-like gel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62807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62807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45687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FIRE PROTECTION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45687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Fire Protection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45687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46855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HEC+MC/CSP: &gt;7 min to char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45687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46855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MHEC/CSP: &gt;5 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45687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46855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3–6× more effective than commercial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45687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46855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~0.3, AquaGel-K ~1.5 min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59855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59855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42735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FOAMING / SEM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42735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Foaming &amp; Structure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2735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43903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Foaming Index up to ≈2.6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2735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43903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AquaGel-K does not foam (≈0)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42735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43903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Porous silica film on burning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42735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43903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Particles sinter after 2 min (SEM)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056903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056903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39783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CHEMISTRY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9783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Chemical Change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9783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40951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FT-IR: CH/SiO ratio drops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39783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40951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XPS: large carbon decrease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39783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40951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MHEC/CSP C 38.3%→4.8%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9783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40951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Silica (SiO₂) remains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65760" y="529437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65760" y="5294376"/>
            <a:ext cx="54864" cy="7315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52943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◆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0120" y="529437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On burning, water evaporates while the gel converts into a porous silica aerogel — insulating the substrate even after desiccation (a mechanism absent in commercial WEGs)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Summary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Conclusions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35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3–6× more protective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HEC+MC/CSP &gt;7 min, MHEC/CSP &gt;5 min to char. Protects substrates far longer under flame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62807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7399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7399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7399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Self-forming aerogel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7399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Heat dehydrates the gel and sinters CSP → forms a porous silica aerogel insulating layer in situ (protection continues after drying)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4447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24447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24447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Compatible with spray infrastructure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4447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Shear-thinning, sprayable fluid combining strong substrate adherence and wetting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56903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21495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21495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1495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Sustainable, safe materials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21495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Cellulose derivatives — Earth's most abundant biopolymer; biodegradability confirmed in prior study; silica is benign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3374136"/>
            <a:ext cx="5638647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33741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53872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Core Mechanism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90448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390448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Water rapidly evaporates on flame contact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1788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417880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CSP sinters, forming inter-particle necks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4531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45312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Porous silica aerogel insulating layer forms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87287" y="3374136"/>
            <a:ext cx="5638647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87287" y="33741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70167" y="353872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Significance Stated in the Paper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167" y="390448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71335" y="390448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PP platform as a basis for diverse fire retardants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0167" y="41788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71335" y="417880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Amenable to modular manufacturing &amp; large scale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167" y="44531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71335" y="445312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Fire retardancy retained after 455-day aging (MHEC/CSP)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65760" y="5385816"/>
            <a:ext cx="11460175" cy="5029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5760" y="5385816"/>
            <a:ext cx="54864" cy="5029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5385816"/>
            <a:ext cx="365760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"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" y="5385816"/>
            <a:ext cx="1077437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From "water carrier" to "heat-self-transforming fire-retardant material" — a next-gen WEG that stays effective even after drying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88A4C0"/>
                </a:solidFill>
                <a:latin typeface="Arial"/>
              </a:rPr>
              <a:t>RESEARCH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0" b="1" i="0">
                <a:solidFill>
                  <a:srgbClr val="D4A574"/>
                </a:solidFill>
                <a:latin typeface="Arial"/>
              </a:rPr>
              <a:t>3–6</a:t>
            </a:r>
            <a:r>
              <a:rPr sz="7280" b="1" i="0">
                <a:solidFill>
                  <a:srgbClr val="C89A68"/>
                </a:solidFill>
                <a:latin typeface="Arial"/>
              </a:rPr>
              <a:t>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464" b="1" i="0">
                <a:solidFill>
                  <a:srgbClr val="FFFFFF"/>
                </a:solidFill>
                <a:latin typeface="Arial"/>
              </a:rPr>
              <a:t>Time to Char Improvement vs. Commercial WEG (AquaGel-K)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886200"/>
            <a:ext cx="941832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680" b="0" i="0">
                <a:solidFill>
                  <a:srgbClr val="A8BCD4"/>
                </a:solidFill>
                <a:latin typeface="Arial"/>
              </a:rPr>
              <a:t>From "water carrier" to "self-transforming fire-retardant material"</a:t>
            </a:r>
          </a:p>
          <a:p>
            <a:pPr algn="ctr"/>
            <a:r>
              <a:rPr sz="1680" b="0" i="0">
                <a:solidFill>
                  <a:srgbClr val="A8BCD4"/>
                </a:solidFill>
                <a:latin typeface="Arial"/>
              </a:rPr>
              <a:t>The new WEG design paradigm opens a pathway to practical technology protecting critical infrastructure from wildfires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5486400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Time to char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5522976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63440" y="5522976"/>
            <a:ext cx="4517136" cy="146304"/>
          </a:xfrm>
          <a:prstGeom prst="roundRect">
            <a:avLst>
              <a:gd name="adj" fmla="val 50000"/>
            </a:avLst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55480" y="5486400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&gt;7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5779008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Foaming Index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5815584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63440" y="5815584"/>
            <a:ext cx="3233318" cy="146304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55480" y="5779008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≈2.6×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6071616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Shear-thinning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6108192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63440" y="6108192"/>
            <a:ext cx="2852928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55480" y="6071616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n &lt;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556677"/>
                </a:solidFill>
                <a:latin typeface="Arial"/>
              </a:rPr>
              <a:t>36 / 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