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16–33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35–36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276996" cy="1554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42416"/>
            <a:ext cx="2276996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5152" b="1" i="0">
                <a:solidFill>
                  <a:srgbClr val="1E293B"/>
                </a:solidFill>
                <a:latin typeface="Arial"/>
              </a:rPr>
              <a:t>5</a:t>
            </a:r>
            <a:r>
              <a:rPr sz="2240" b="0" i="0">
                <a:solidFill>
                  <a:srgbClr val="475569"/>
                </a:solidFill>
                <a:latin typeface="Arial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865376"/>
            <a:ext cx="2094116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334155"/>
                </a:solidFill>
                <a:latin typeface="Arial"/>
              </a:rPr>
              <a:t>Increase in Large-Scale Wildfires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57984"/>
            <a:ext cx="20941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Burned area expansion over past 30 years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34196" y="859536"/>
            <a:ext cx="2276996" cy="1554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34196" y="1042416"/>
            <a:ext cx="2276996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4480" b="1" i="0">
                <a:solidFill>
                  <a:srgbClr val="1E293B"/>
                </a:solidFill>
                <a:latin typeface="Arial"/>
              </a:rPr>
              <a:t>400</a:t>
            </a:r>
            <a:r>
              <a:rPr sz="2016" b="0" i="0">
                <a:solidFill>
                  <a:srgbClr val="475569"/>
                </a:solidFill>
                <a:latin typeface="Arial"/>
              </a:rPr>
              <a:t>M km²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25636" y="1865376"/>
            <a:ext cx="2094116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334155"/>
                </a:solidFill>
                <a:latin typeface="Arial"/>
              </a:rPr>
              <a:t>Annual Burned Area (Global)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25636" y="2157984"/>
            <a:ext cx="20941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Caused by climate change and drought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02632" y="859536"/>
            <a:ext cx="2276996" cy="1554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02632" y="1042416"/>
            <a:ext cx="2276996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4704" b="1" i="0">
                <a:solidFill>
                  <a:srgbClr val="1E293B"/>
                </a:solidFill>
                <a:latin typeface="Arial"/>
              </a:rPr>
              <a:t>45M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4072" y="1865376"/>
            <a:ext cx="2094116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4072" y="2157984"/>
            <a:ext cx="20941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High-risk population in interface zone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596896"/>
            <a:ext cx="7013868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24912"/>
            <a:ext cx="66481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Terminology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80944"/>
            <a:ext cx="6648108" cy="502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1E293B"/>
                </a:solidFill>
                <a:latin typeface="Arial"/>
              </a:rPr>
              <a:t>WUI (Wildland-Urban Interface): The boundary zone between wildland and urban areas. A high-risk region where wildfire damage directly threatens residential structures.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675888"/>
            <a:ext cx="7013868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675888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675888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675888"/>
            <a:ext cx="6328068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Climate change extends dry and high-wind periods → Conventional firefighting strategies cannot keep pace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62508" y="859536"/>
            <a:ext cx="426342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62508" y="859536"/>
            <a:ext cx="426342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62508" y="510235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process under direct flame contact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Fire-retardant 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2769031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401421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17880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STEP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41655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82312"/>
            <a:ext cx="2403271" cy="11338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Spray application of cellulosic gel 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2807" y="4014216"/>
            <a:ext cx="2769031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62807" y="401421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45687" y="417880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STEP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41655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45687" y="4782312"/>
            <a:ext cx="2403271" cy="11338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Moisture evaporates while gel 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9855" y="4014216"/>
            <a:ext cx="2769031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9855" y="401421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2735" y="417880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STEP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441655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4782312"/>
            <a:ext cx="2403271" cy="11338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sinter to form a porous aerogel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56903" y="4014216"/>
            <a:ext cx="2769031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56903" y="401421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9783" y="417880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STEP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9783" y="441655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4782312"/>
            <a:ext cx="2403271" cy="11338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Ultra-low thermal conductivity insulating layer continuously protects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Protection Methods and Their Fundamental Limitations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7472275" cy="585216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859536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8401" y="859536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Main Component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3337" y="859536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Feature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8273" y="859536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Limitation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444752"/>
            <a:ext cx="7472275" cy="585216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444752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Water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8401" y="1444752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H₂O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3337" y="1444752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Cooling by latent heat of evaporation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8273" y="1444752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Immediately runs off and evaporates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029968"/>
            <a:ext cx="7472275" cy="585216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029968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Phos-Chek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8401" y="2029968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Ammonium phosphate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3337" y="2029968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Direct application to trees and ground surface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8273" y="2029968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Residual contamination in soil and water systems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615184"/>
            <a:ext cx="7472275" cy="585216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615184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8401" y="2615184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Cross-linked polyacrylate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93337" y="2615184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Retains water at high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8273" y="2615184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Function lost after water evaporation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200400"/>
            <a:ext cx="7472275" cy="585216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200400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8401" y="3200400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Cellulosic + Silica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93337" y="3200400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Forms aerogel layer upon heating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8273" y="3200400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Continues protecting after water evaporation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986784"/>
            <a:ext cx="7472275" cy="6400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3986784"/>
            <a:ext cx="54864" cy="64008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986784"/>
            <a:ext cx="365760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3986784"/>
            <a:ext cx="6786475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Challenge: Existing WEGs are mere "water carriers" — protection is lost simultaneously with moisture loss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20915" y="859536"/>
            <a:ext cx="3805019" cy="38404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3064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3064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20915" y="859536"/>
            <a:ext cx="3805019" cy="38404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20915" y="4736592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Comparison at 300 s: Water vs. This Work WEG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328324" cy="31089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32832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96256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DESIGN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96256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Design Concept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Cellulosic polymers (HEC, MC, MHEC) form water-soluble gel network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Colloidal silica particles (CSP) uniformly dispersed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foams upon heating to form porous 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and convert to aerogel layer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22100" y="859536"/>
            <a:ext cx="3328324" cy="31089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04980" y="1024128"/>
            <a:ext cx="296256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A0B8D0"/>
                </a:solidFill>
                <a:latin typeface="Arial"/>
              </a:rPr>
              <a:t>INNOVATION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4980" y="1261872"/>
            <a:ext cx="296256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FFFFFF"/>
                </a:solidFill>
                <a:latin typeface="Arial"/>
              </a:rPr>
              <a:t>Three Innovation Points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498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4A5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148" y="162763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C8D8E8"/>
                </a:solidFill>
                <a:latin typeface="Arial"/>
              </a:rPr>
              <a:t>Breaking free from water dependence: heat-activated solid protective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498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4A5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148" y="190195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C8D8E8"/>
                </a:solidFill>
                <a:latin typeface="Arial"/>
              </a:rPr>
              <a:t>Sustainable: naturally derived, food-grade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498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4A5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148" y="217627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C8D8E8"/>
                </a:solidFill>
                <a:latin typeface="Arial"/>
              </a:rPr>
              <a:t>Compatible with existing spray infrastructure: sprayable fluid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4197096"/>
            <a:ext cx="678466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419709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19709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197096"/>
            <a:ext cx="609886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"Heat-Activated Formation of Silica Aerogels"</a:t>
            </a:r>
          </a:p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— Triggered by flame contact, the gel itself transforms into an aerogel insulator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33305" y="859536"/>
            <a:ext cx="4492630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4303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4303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33305" y="859536"/>
            <a:ext cx="4492630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33305" y="5285232"/>
            <a:ext cx="44926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silica aerogel formation (preview)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8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9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1920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987552"/>
            <a:ext cx="3368954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Polymer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243584"/>
            <a:ext cx="336895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912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37360"/>
            <a:ext cx="3368954" cy="5943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Hydroxyethyl cellulose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395728"/>
            <a:ext cx="33689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Base viscosity agent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8490" y="859536"/>
            <a:ext cx="3734714" cy="1920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1370" y="987552"/>
            <a:ext cx="3368954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Polymer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370" y="1243584"/>
            <a:ext cx="336895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912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370" y="1737360"/>
            <a:ext cx="3368954" cy="5943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Methyl cellulose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370" y="2395728"/>
            <a:ext cx="33689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Gelation upon heating (thermoreversible)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1220" y="859536"/>
            <a:ext cx="3734714" cy="1920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4100" y="987552"/>
            <a:ext cx="3368954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Polymer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1243584"/>
            <a:ext cx="336895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912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1737360"/>
            <a:ext cx="3368954" cy="5943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4100" y="2395728"/>
            <a:ext cx="33689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Integrates properties of A and 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054096"/>
            <a:ext cx="11460175" cy="3246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5488" y="316382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316382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054096"/>
            <a:ext cx="11460175" cy="3246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33679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of each polymer and mixing scheme with colloidal silica (CSP)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Methyl Cellulose (MC) Thermal Gelation: Key Property for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0944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04368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504368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Inverse Thermal Response (LCST Behavior)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48425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MC dissolves in cold water (&lt;20°C) to form a low-viscosity 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48425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Gelation above LCST upon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48425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MC gelation onset: approx. 50–60°C (concentration-dependent)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48425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Liquid at room temperature → instantaneous gelation upon flame contact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242816"/>
            <a:ext cx="5409444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242816"/>
            <a:ext cx="4723644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MC gelates in the initial stage of flame contact → maintains foamed structure while CSP is fixed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LCST (Gelation onset)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~55°C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1 wt% MC aqueous solution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 decomposition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~300°C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TGA measurement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CSP sintering onset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~200°C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Inter-particle neck formation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Temperature-dependent Process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~55°C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MC gelation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Structure fixed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~100°C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Moisture evaporation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Foaming &amp; expansion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~200°C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CSP sintering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Grain boundary formation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&gt;300°C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Organic decomposition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Pure silica layer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4779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4241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3136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060704"/>
            <a:ext cx="464195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CSP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1316736"/>
            <a:ext cx="464195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Colloidal Silica Particles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048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048256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Stock solution: colloidal dispersion at 12 wt% in 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4323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432304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Particle size: monodisperse silica of tens of nanometers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816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816352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20040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200400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8143" y="859536"/>
            <a:ext cx="564779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8143" y="859536"/>
            <a:ext cx="564779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1023" y="104241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3136" b="0" i="0">
                <a:solidFill>
                  <a:srgbClr val="3B5174"/>
                </a:solidFill>
                <a:latin typeface="Arial"/>
              </a:rPr>
              <a:t>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6823" y="1060704"/>
            <a:ext cx="464195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SDS (Additive)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6823" y="1316736"/>
            <a:ext cx="464195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Sodium Dodecyl Sulfate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2048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1063" y="2048256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Anionic surfactant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24323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063" y="2432304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Role: promotes foaming and enhances porous 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2463" y="2816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81063" y="2816352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Addition levels: two concentrations of 0.1 wt% and 0.5 wt%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2463" y="320040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81063" y="3200400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SEM confirms control of bubble size and distribution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497433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497433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97433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497433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the thermal decomposition temperature of cellulose, enabling synchronized thermal response to form the insulating layer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5638647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Comparing functional differences by varying polymer type (HEC+MC vs MHEC)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Verifying the effect on foam structure with two SDS concentration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Direct comparison with commercial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2962656"/>
            <a:ext cx="5638647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296265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12724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493008"/>
            <a:ext cx="5272887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568" b="0" i="0">
                <a:solidFill>
                  <a:srgbClr val="475569"/>
                </a:solidFill>
                <a:latin typeface="Arial"/>
              </a:rPr>
              <a:t>→ HEC+MC 1 wt% ／ CSP 5 wt% ／ SDS 0.1 wt%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Oscillatory frequency sweep (G', G'')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Steady-flow sweep (viscosity vs. shear rate)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Herschel-Bulkley model fitting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1538" y="8595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31538" y="8595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4418" y="10241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4418" y="12618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Combustion Test (Time-to-char)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4418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5586" y="16276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Wood heated with butane burner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4418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5586" y="19019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Time to charring onset 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4418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5586" y="217627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Photographic comparison at 120 s / 300 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7316" y="8595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7316" y="8595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0196" y="10241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0196" y="12618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Index Measurement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019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81364" y="16276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Foamed layer thickness measured after combustion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8019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81364" y="19019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Ratio to initial thickness = Foaming Index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38313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8313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9959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2336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SEM Morphological Observation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5994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5994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 structure by SDS concentration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48737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Sintering progression by burn time (0/1/2/4 min)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31538" y="38313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1538" y="38313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14418" y="39959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14418" y="42336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Spectroscopic Analysis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14418" y="45994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15586" y="45994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1441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15586" y="48737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97316" y="38313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97316" y="38313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80196" y="39959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80196" y="42336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0196" y="45994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81364" y="45994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TGA (thermogravimetric analysis)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80196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81364" y="48737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DSC (differential scanning calorimetry)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Adhesion and Surface Wettability: Properties Essential for Implementation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WETTING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Contact Angle Measurement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Contact angle evaluation on wood, concrete, and metal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WEG shows low contact angle → high wettability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shows particularly high affinity at cellulose-wood interface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ADHESION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Vertical Surface Adhesion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applied to vertically oriented substrate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≫ G'' → resists gravity without flowing down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Vertical surface retention equal to or better than AquaGel-K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SPRAY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Spray Application Suitability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Viscosity drops sharply under high shear (inside nozzle)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Quickly recovers high viscosity upon reaching substrate → maintains adhesion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Fully compatible with existing fire hoses and nozzles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442569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42569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442569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design (low n, high G') simultaneously achieves spray suitability and adhesion retention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15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Oscillatory Moduli G' / G''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Storage modulus G' · Loss modulus G''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04101" y="859536"/>
            <a:ext cx="4721833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981" y="1024128"/>
            <a:ext cx="435607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KEY 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6981" y="1261872"/>
            <a:ext cx="435607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Key Observation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6981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149" y="162763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&gt; G'' for all formulations → solid-like (gel)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6981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149" y="190195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 frequency dependence → stable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6981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149" y="217627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This work's WEG shows higher elasticity than AquaGel-K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101" y="3648456"/>
            <a:ext cx="4721833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101" y="36484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6981" y="36484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461" y="3648456"/>
            <a:ext cx="4036033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Clearly formed gel network; does not flow off after application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Shear Thinning and Power-law Index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17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2c–d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(shear-thinning behavior)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117" y="96926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Power-law index 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117" y="122529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0.108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117" y="164592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1-5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4101" y="209397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117" y="220370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Power-law index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117" y="245973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0.188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2117" y="288036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MHEC/CSP 1-5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04101" y="3419856"/>
            <a:ext cx="472183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1261" y="3557016"/>
            <a:ext cx="44475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 &lt; 1 = shear-thinning</a:t>
            </a:r>
          </a:p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Lower values → better flow at high shear → excellent sprayability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431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431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31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31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High viscosity at rest for adhesion, low viscosity during spraying — flow properties compatible with existing firefighting equipment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Herschel-Bulkley Model Parameters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18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σ = τ₀ + K · γ̇ⁿ  （τ₀：降伏応力, K：稠度係数, n：流動指数）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43434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4365294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3934" y="163677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τ₀ (Pa)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3963" y="163677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K (Pa·sⁿ)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3993" y="163677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25684" y="163677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R²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071116"/>
            <a:ext cx="11460175" cy="4343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071116"/>
            <a:ext cx="4365294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3934" y="207111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0.31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23963" y="207111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0.85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3993" y="207111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0.52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25684" y="207111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&gt;0.99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505456"/>
            <a:ext cx="11460175" cy="4343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505456"/>
            <a:ext cx="4365294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3934" y="250545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0.59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23963" y="250545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2.04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3993" y="250545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B08442"/>
                </a:solidFill>
                <a:latin typeface="Arial"/>
              </a:rPr>
              <a:t>0.108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25684" y="250545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&gt;0.99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2939796"/>
            <a:ext cx="11460175" cy="4343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2939796"/>
            <a:ext cx="4365294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3934" y="293979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0.54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23963" y="293979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1.87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3993" y="293979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0.115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25684" y="293979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&gt;0.99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374136"/>
            <a:ext cx="11460175" cy="4343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374136"/>
            <a:ext cx="4365294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HEC+MC/CSP/SDS 1-5-0.5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13934" y="337413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0.48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23963" y="337413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1.65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33993" y="337413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0.122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25684" y="337413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&gt;0.99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3808476"/>
            <a:ext cx="11460175" cy="4343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3808476"/>
            <a:ext cx="4365294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13934" y="380847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0.41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23963" y="380847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1.43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33993" y="380847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B08442"/>
                </a:solidFill>
                <a:latin typeface="Arial"/>
              </a:rPr>
              <a:t>0.188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25684" y="380847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&gt;0.99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451713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0352" y="466344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Yield Stress τ₀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" y="502920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Flow start requires minimum stress. WEG is ~2× AquaGel-K → higher resistance to sagging on vertical surfaces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31538" y="451713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96130" y="466344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Flow Index n (&lt;&lt; 1)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96130" y="502920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n=0.108 for HEC+MC/CSP shows strong shear thinning. Balances low viscosity during spraying and high viscosity at rest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97316" y="451713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61908" y="466344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61908" y="502920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system shows lower n and higher K → stronger shear thinning. MHEC system achieves similar function with single polymer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Dynamic Yield Stress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Dynamic yield stress (from Amplitude Sweep)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746717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~0.4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2266820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~1.2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+SDS 0.1 wt%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080141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~1.1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6426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86000" y="27157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286000" y="2715768"/>
            <a:ext cx="173345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44287" y="26426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~0.9 Pa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32369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32369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2369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2369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Stress at G' = G'' crossover = dynamic yield stress. WEG is ~3× AquaGel-K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344168"/>
            <a:ext cx="1333423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1801368"/>
            <a:ext cx="533369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+SDS 0.1 wt%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153247" y="2258568"/>
            <a:ext cx="640043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3007" y="26426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53247" y="27157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153247" y="2715768"/>
            <a:ext cx="800054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11535" y="26426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~0.15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33007" y="32369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33007" y="32369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15887" y="32369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27367" y="32369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tan δ &lt;&lt; 1 → all formulations show clear gel behavior. Elastic component overwhelmingly dominant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Lower n=0.108 → stronger shear thinning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≈ 9–10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n=0.188 (slightly higher than HEC+MC)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≈ 10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pine wood thin 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butane direct flame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620587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~2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2068625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7581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~9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71891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~10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group extends protection ~40% beyond AquaGel-K and ~5× longer than water alone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~2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~7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~10 min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~2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~7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~10 min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~10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~5× longer protection than water alone (~2 min) and ~1.4× longer than commercial AquaGel-K (~7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384048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~10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25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Foaming Index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foamed layer after combustion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for each formulation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989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381304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20240" y="3813048"/>
            <a:ext cx="62480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5727" y="373989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5137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422452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0240" y="4224528"/>
            <a:ext cx="171822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35727" y="415137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~2.2×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56285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+SDS 0.1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20240" y="463600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920240" y="4636008"/>
            <a:ext cx="2030630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5727" y="456285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~2.6×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97433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0240" y="504748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20240" y="5047488"/>
            <a:ext cx="18119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35727" y="497433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~2.3×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7287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Insulating Effect from 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3007" y="3739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607" y="3739896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Expands to &gt;2× initial thickness → heat conduction path extended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3007" y="412394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7" y="4123944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Air trapped in pores enhances thermal insulation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3007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1607" y="4507992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does not foam → collapses flat under flame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3007" y="489204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1607" y="4892040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SDS 0.1 wt% is optimal: forms uniform fine bubbles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27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Dense silica network. Low porosity.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0.1% SDS (Optimal)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 bubbles. Highest foaming index.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4800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Element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58276" y="124358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Before combustion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37825" y="124358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723644"/>
            <a:ext cx="5638647" cy="4800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72364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Si 2p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58276" y="172364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37825" y="172364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~33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203704"/>
            <a:ext cx="5638647" cy="4800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20370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C 1s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58276" y="220370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37825" y="220370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~8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87287" y="2683764"/>
            <a:ext cx="5638647" cy="4800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78727" y="268376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O 1s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58276" y="268376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~41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37825" y="268376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~59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Si concentration increases ~8×, C concentration greatly reduced → organic matrix removed, silica exposed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30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32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5× longer protection time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Continues protecting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Current Challenges and Future Research Directions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Current Limitations &amp; Challenges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271016"/>
            <a:ext cx="1772869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1399032"/>
            <a:ext cx="151683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1636776"/>
            <a:ext cx="1516837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No field trials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1965960"/>
            <a:ext cx="1516837" cy="12344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Lab scale only. Verification in real environments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8629" y="1271016"/>
            <a:ext cx="137160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4748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75789" y="1271016"/>
            <a:ext cx="1772869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03805" y="1399032"/>
            <a:ext cx="151683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Durability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03805" y="1636776"/>
            <a:ext cx="1516837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Long-term storage stability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03805" y="1965960"/>
            <a:ext cx="1516837" cy="12344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Evaluation of phase separation and sedimentation. Seasonal storage compatibility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8658" y="1271016"/>
            <a:ext cx="137160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4748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85818" y="1271016"/>
            <a:ext cx="1772869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13834" y="1399032"/>
            <a:ext cx="151683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3834" y="1636776"/>
            <a:ext cx="1516837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Mass production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3834" y="1965960"/>
            <a:ext cx="1516837" cy="12344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Establishing raw material costs and large-scale preparation processes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465576"/>
            <a:ext cx="559292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4655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4655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465576"/>
            <a:ext cx="490712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Behavior under real-world wind, dryness, and temperature gradients not yet evaluated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Future Research Directions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4447" y="1362456"/>
            <a:ext cx="3657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362456"/>
            <a:ext cx="50442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Performance validation in large-scale combustion furnaces and outdoor simulated fire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4447" y="1865376"/>
            <a:ext cx="3657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1865376"/>
            <a:ext cx="50442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Adhesion evaluation on different substrates (concrete, metal, vegetation)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4447" y="2368296"/>
            <a:ext cx="3657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368296"/>
            <a:ext cx="50442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Direct measurement of aerogel thermal conductivity (λ = 0.015–0.040 W/m·K expected)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4447" y="2871216"/>
            <a:ext cx="3657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871216"/>
            <a:ext cx="50442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Exploration of SDS alternative surfactants (improved biodegradability)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4447" y="3374136"/>
            <a:ext cx="3657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74136"/>
            <a:ext cx="50442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Systematic study of MC/HEC concentration optimization and CSP particle size effects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24447" y="3877056"/>
            <a:ext cx="3657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90207" y="3877056"/>
            <a:ext cx="50442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Waterproofing improvement to eliminate need for reapplication after rainfall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Findings Summary and Outlook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35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Time to char ~10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~5× water, ~40% longer than AquaGel-K. Greatly extends wood protection time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heat-activated sintering → porous silica layer continuously insulates even after water evaporation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Compatible with existing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Shear-thinning fluid with n = 0.108–0.188. Sprayable through existing hoses and nozzles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Sustainable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derivatives are food-grade; silica is a harmless inorganic material. Low environmental impact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Anticipated Implementation Scenarios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Pre-protective application to WUI structures and critical infrastructure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Fire break formation along potential spread paths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Coating of metal structures such as power lines and communication towers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Future Challenges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Large-scale field spray tests (real-world benchmarking)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Long-term storage stability and cost evaluation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Environmental impact assessment (biodegradability testing)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"self-transforming fire-retardant material" — A new WEG design paradigm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5</a:t>
            </a:r>
            <a:r>
              <a:rPr sz="840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Conventional (Water)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~10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090672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Power-law 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523036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0.108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36 /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