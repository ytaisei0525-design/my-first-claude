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18–34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36–39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fuel accumulation (US/EU/AU)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Devastating loss to economy, infrastructure, natural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resources and WUI residents — eco-friendly retardants are urgently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29260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2926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382219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252185" y="4206240"/>
            <a:ext cx="6573749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61913" y="431596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2185" y="4206240"/>
            <a:ext cx="6573749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61913" y="5687568"/>
            <a:ext cx="635429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2185" y="6071616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Year-over-year trend in wildfire scale / annual burned area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Suppressants and Their Limits (USFS 3 Categories)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A8D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865741"/>
            <a:ext cx="3320186" cy="237378"/>
          </a:xfrm>
          <a:prstGeom prst="rect">
            <a:avLst/>
          </a:prstGeom>
          <a:solidFill>
            <a:srgbClr val="6AA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65741"/>
            <a:ext cx="3320186" cy="16459"/>
          </a:xfrm>
          <a:prstGeom prst="rect">
            <a:avLst/>
          </a:prstGeom>
          <a:solidFill>
            <a:srgbClr val="4E8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0658" y="1261506"/>
            <a:ext cx="996055" cy="8631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59554" y="1175186"/>
            <a:ext cx="332018" cy="237378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860" y="1153607"/>
            <a:ext cx="132807" cy="129479"/>
          </a:xfrm>
          <a:prstGeom prst="rect">
            <a:avLst/>
          </a:prstGeom>
          <a:solidFill>
            <a:srgbClr val="556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10705" y="1498884"/>
            <a:ext cx="132807" cy="9495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09521" y="1595993"/>
            <a:ext cx="119526" cy="84161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75136" y="1520464"/>
            <a:ext cx="126167" cy="8847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943118" y="1725472"/>
            <a:ext cx="106245" cy="75529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474348" y="1649943"/>
            <a:ext cx="112886" cy="79845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08733" y="1779422"/>
            <a:ext cx="99605" cy="71213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607155" y="1563624"/>
            <a:ext cx="92965" cy="66897"/>
          </a:xfrm>
          <a:prstGeom prst="ellipse">
            <a:avLst/>
          </a:prstGeom>
          <a:solidFill>
            <a:srgbClr val="C03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Long-term retardant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Phos-Chek (phosphate slurry)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Chemicals such as ammonium phosphate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Effective as long as residue remains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Chemical residue left on the target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2874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52874" y="859536"/>
            <a:ext cx="3685946" cy="4572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435754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BEE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02158" y="1563624"/>
            <a:ext cx="232413" cy="431596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01763" y="1412565"/>
            <a:ext cx="332018" cy="302117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7378" y="1488094"/>
            <a:ext cx="132807" cy="151058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33387" y="1261506"/>
            <a:ext cx="464826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65406" y="1175186"/>
            <a:ext cx="531229" cy="34527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763828" y="122913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129049" y="1175186"/>
            <a:ext cx="498027" cy="32369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94269" y="1239926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26288" y="1196766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8307" y="1283086"/>
            <a:ext cx="398422" cy="25895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199397" y="1498884"/>
            <a:ext cx="498027" cy="32369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564617" y="1434144"/>
            <a:ext cx="531229" cy="34527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963040" y="1498884"/>
            <a:ext cx="464826" cy="30211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28260" y="1434144"/>
            <a:ext cx="464826" cy="302117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93481" y="1498884"/>
            <a:ext cx="431624" cy="280537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58701" y="1412565"/>
            <a:ext cx="398422" cy="258958"/>
          </a:xfrm>
          <a:prstGeom prst="ellipse">
            <a:avLst/>
          </a:prstGeom>
          <a:solidFill>
            <a:srgbClr val="C8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357518" y="1347825"/>
            <a:ext cx="332018" cy="215798"/>
          </a:xfrm>
          <a:prstGeom prst="ellipse">
            <a:avLst/>
          </a:prstGeom>
          <a:solidFill>
            <a:srgbClr val="F2F8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35754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Foam suppressant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35754" y="2724912"/>
            <a:ext cx="3320186" cy="10972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5754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3B5174"/>
                </a:solidFill>
                <a:latin typeface="Arial"/>
              </a:rPr>
              <a:t>Example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5754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Class A foam / legacy AFFF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35754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Composition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5754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Surfactants (historically fluorinated)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5754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64748B"/>
                </a:solidFill>
                <a:latin typeface="Arial"/>
              </a:rPr>
              <a:t>Effect / retention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5754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retention 15–30 min (short-term)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35754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A05656"/>
                </a:solidFill>
                <a:latin typeface="Arial"/>
              </a:rPr>
              <a:t>Limitation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5754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Loses effect when dry; fluorinated types bioaccumulate and are toxic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139988" y="859536"/>
            <a:ext cx="3685946" cy="504748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39988" y="859536"/>
            <a:ext cx="3685946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8322868" y="1024128"/>
            <a:ext cx="3320186" cy="1078992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2868" y="1973640"/>
            <a:ext cx="3320186" cy="129479"/>
          </a:xfrm>
          <a:prstGeom prst="rect">
            <a:avLst/>
          </a:prstGeom>
          <a:solidFill>
            <a:srgbClr val="2E4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352126" y="1477304"/>
            <a:ext cx="1261670" cy="561075"/>
          </a:xfrm>
          <a:prstGeom prst="ellipse">
            <a:avLst/>
          </a:prstGeom>
          <a:solidFill>
            <a:srgbClr val="4AAA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451732" y="1542044"/>
            <a:ext cx="1062459" cy="431596"/>
          </a:xfrm>
          <a:prstGeom prst="rect">
            <a:avLst/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Isosceles Triangle 70"/>
          <p:cNvSpPr/>
          <p:nvPr/>
        </p:nvSpPr>
        <p:spPr>
          <a:xfrm>
            <a:off x="9385328" y="1218346"/>
            <a:ext cx="1195267" cy="345277"/>
          </a:xfrm>
          <a:prstGeom prst="triangle">
            <a:avLst/>
          </a:prstGeom>
          <a:solidFill>
            <a:srgbClr val="CC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955797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089207" y="1602467"/>
            <a:ext cx="276239" cy="129479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834217" y="1792370"/>
            <a:ext cx="297488" cy="181270"/>
          </a:xfrm>
          <a:prstGeom prst="rect">
            <a:avLst/>
          </a:prstGeom>
          <a:solidFill>
            <a:srgbClr val="70A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654887" y="1239926"/>
            <a:ext cx="92965" cy="8200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820896" y="1477304"/>
            <a:ext cx="79684" cy="6905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986905" y="1347825"/>
            <a:ext cx="86324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0979017" y="1261506"/>
            <a:ext cx="86324" cy="79845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11825" y="1477304"/>
            <a:ext cx="79684" cy="71213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0846210" y="1606783"/>
            <a:ext cx="92965" cy="75529"/>
          </a:xfrm>
          <a:prstGeom prst="ellipse">
            <a:avLst/>
          </a:prstGeom>
          <a:solidFill>
            <a:srgbClr val="389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2868" y="2212848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FFFFFF"/>
                </a:solidFill>
                <a:latin typeface="Arial"/>
              </a:rPr>
              <a:t>Water-enhancing gel (WEG)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22868" y="2724912"/>
            <a:ext cx="3320186" cy="10972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2868" y="2816352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Example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322868" y="2999232"/>
            <a:ext cx="3320186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8E2EE"/>
                </a:solidFill>
                <a:latin typeface="Arial"/>
              </a:rPr>
              <a:t>Barricade / Thermo-Gel / AquaGel-K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22868" y="3419856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Composition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2868" y="3602736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Superabsorbent polymer (eco-friendly)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22868" y="4041648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88A0B8"/>
                </a:solidFill>
                <a:latin typeface="Arial"/>
              </a:rPr>
              <a:t>Effect / retention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22868" y="4224528"/>
            <a:ext cx="332018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D8E2EE"/>
                </a:solidFill>
                <a:latin typeface="Arial"/>
              </a:rPr>
              <a:t>Water retention 30–60 min; protects buildings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22868" y="4663440"/>
            <a:ext cx="3320186" cy="20116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1" i="0">
                <a:solidFill>
                  <a:srgbClr val="D4A574"/>
                </a:solidFill>
                <a:latin typeface="Arial"/>
              </a:rPr>
              <a:t>Limitation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2868" y="4846320"/>
            <a:ext cx="3320186" cy="89611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Once dried by heat/wind, effectiveness is completely lost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5760" y="6053328"/>
            <a:ext cx="11460175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" y="6053328"/>
            <a:ext cx="54864" cy="4572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6053328"/>
            <a:ext cx="365760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→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0120" y="6053328"/>
            <a:ext cx="107743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 overcomes the fatal flaw of eco-friendly WEGs: losing all effectiveness once dried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Predecessor Work: PNP Gel Platform (Yu et al., PNAS 2016)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669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6692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6692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same HEC+MC/CSP platform was already established in 2016 as a carrier for ammonium polyphosphate fire retardants (Phos-Chek LC95A) — this work builds on that foundation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572768"/>
            <a:ext cx="5592927" cy="457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Established in Yu et al., PNAS 2016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Foundational properties of PNP gel (HEC+MC + CSP)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PP interactions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2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Cellulose chains selectively adsorb onto CSP (noncovalent, multivalent)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Shear thinning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84832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Power-law n &lt; 1 (suitable for spraying and pipeline pumping)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4832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Gel structure rapidly recovers after stress release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85216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84832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Linearly scalable from 0.5 mL to 15 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3B5174"/>
                </a:solidFill>
                <a:latin typeface="Arial"/>
              </a:rPr>
              <a:t>APP carrier use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84832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Carries Phos-Chek LC95A; improves adhesion &amp; rain resistance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1572768"/>
            <a:ext cx="5592927" cy="3840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33007" y="1572768"/>
            <a:ext cx="5592927" cy="457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1737360"/>
            <a:ext cx="515401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New capabilities gained in this 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2463" y="2029968"/>
            <a:ext cx="5154015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FFFFFF"/>
                </a:solidFill>
                <a:latin typeface="Arial"/>
              </a:rPr>
              <a:t>The gel itself transforms into an insulating layer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52463" y="257860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2463" y="2578608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Stand-alone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2079" y="2532888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Suppresses fire without depending on APP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52463" y="309067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2463" y="3090672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Heat activation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2079" y="3044952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Flame contact → water evaporation → CSP sintering → porous silica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52463" y="360273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2463" y="3602736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Aerogel formation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2079" y="3557016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Forms a highly insulating porous silica layer in situ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52463" y="411480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2463" y="4114800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Dry resistance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2079" y="4069080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Overcomes the fatal flaw of conventional WEGs ("dry = useless")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52463" y="46268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8890">
            <a:solidFill>
              <a:srgbClr val="D4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52463" y="4626864"/>
            <a:ext cx="14173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008" b="1" i="0">
                <a:solidFill>
                  <a:srgbClr val="D4A574"/>
                </a:solidFill>
                <a:latin typeface="Arial"/>
              </a:rPr>
              <a:t>Long-term stability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2079" y="4581144"/>
            <a:ext cx="3690975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D8E2EE"/>
                </a:solidFill>
                <a:latin typeface="Arial"/>
              </a:rPr>
              <a:t>Yield stress retained after 455 days (see Supplement 3/3)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65760" y="5577840"/>
            <a:ext cx="11460175" cy="1060704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65760" y="5577840"/>
            <a:ext cx="73152" cy="106070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40"/>
            <a:ext cx="2194560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577840"/>
            <a:ext cx="9357055" cy="10607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334155"/>
                </a:solidFill>
                <a:latin typeface="Arial"/>
              </a:rPr>
              <a:t>The innovation: from "carrier of chemicals" to "material that itself becomes a thermal barrier" — redefining the PP gel platform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5/5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8 /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Material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Cellulosic biopolymer × colloidal silica, physically crosslinked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9067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09067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4670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Flame-driven water loss forms a porous silica network in situ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73075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8678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Insulating barrier prevents ignition even after water is gone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37083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437083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Applicability &amp;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" y="4626864"/>
            <a:ext cx="3824514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Tunable flow for spray/pump; suited to large-scale manufacturing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93778" y="859536"/>
            <a:ext cx="7032156" cy="28346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93778" y="859536"/>
            <a:ext cx="7032156" cy="2834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93778" y="373075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93778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3506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93778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3506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3778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SEM microstructure of silica aerogel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92152" y="4078224"/>
            <a:ext cx="3433782" cy="20116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01880" y="4187952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2152" y="4078224"/>
            <a:ext cx="3433782" cy="20116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1880" y="5742432"/>
            <a:ext cx="321432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2152" y="6126480"/>
            <a:ext cx="343378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Aerogel thermal-insulation demo (sample over flame, etc.)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9 / 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Material Composition: Sustainable &amp; High-Performance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34155"/>
                </a:solidFill>
                <a:latin typeface="Arial"/>
              </a:rPr>
              <a:t>Three building blocks — skeleton, function, and bonding — combine biodegradability with high performance.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44752"/>
            <a:ext cx="3637178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3B5174"/>
                </a:solidFill>
                <a:latin typeface="Arial"/>
              </a:rPr>
              <a:t>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Cellulose Derivatives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Plant-based biopolymers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Plant-derived biopolymers that form the backbone of the gel network.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3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6776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HEC, MC, MHEC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Bio.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36776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Highly biodegradable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216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Role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36776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&amp; structure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7258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77258" y="1444752"/>
            <a:ext cx="3637178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7258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4A7C8C"/>
                </a:solidFill>
                <a:latin typeface="Arial"/>
              </a:rP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6714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Colloidal Silica (CSP)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6714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Colloidal Silica Particles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69866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96714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The key component that interacts dynamically with polymers and forms aerogel under heat.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96714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96714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Size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48274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~22 nm monodisperse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96714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96714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Sinter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48274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Forms silica skeleton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96714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96714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Role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48274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Source of aerogel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8756" y="1444752"/>
            <a:ext cx="3637178" cy="5138928"/>
          </a:xfrm>
          <a:prstGeom prst="roundRect">
            <a:avLst>
              <a:gd name="adj" fmla="val 35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8756" y="1444752"/>
            <a:ext cx="3637178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88756" y="1719072"/>
            <a:ext cx="3637178" cy="51206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3360" b="0" i="0">
                <a:solidFill>
                  <a:srgbClr val="9F7639"/>
                </a:solidFill>
                <a:latin typeface="Arial"/>
              </a:rPr>
              <a:t>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08212" y="2286000"/>
            <a:ext cx="3198266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1E293B"/>
                </a:solidFill>
                <a:latin typeface="Arial"/>
              </a:rPr>
              <a:t>PP Interaction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08212" y="2670048"/>
            <a:ext cx="3198266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Polymer–Particle Interaction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81364" y="2999232"/>
            <a:ext cx="3051962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08212" y="3127248"/>
            <a:ext cx="3198266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475569"/>
                </a:solidFill>
                <a:latin typeface="Arial"/>
              </a:rPr>
              <a:t>Builds the network via dynamic, multivalent hydrogen bonds — no covalent bonds required.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08212" y="427939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08212" y="4279392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Bonds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59772" y="4242816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Dynamic H-bonds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08212" y="4956048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08212" y="4956048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Self-heal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59772" y="4919472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recovers after strain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08212" y="5632704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08212" y="5632704"/>
            <a:ext cx="96012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Sprayable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59772" y="5596128"/>
            <a:ext cx="2146706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Easy spray application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Overview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Mechanism: Spray, Adhesion, and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114601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 temperature, but shear and self-healing govern the spray-to-adhesion behavior.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463040"/>
            <a:ext cx="2659303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At rest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Gel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High-viscosity elastic gel. G' &gt; G'' holds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Yield stress ~33 Pa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25063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9383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9383" y="1463040"/>
            <a:ext cx="2659303" cy="54864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2263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2263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Spraying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82263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Sol-like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82263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 strain lowers viscosity; the gel flows.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2263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4A7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82263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4A7C8C"/>
                </a:solidFill>
                <a:latin typeface="Arial"/>
              </a:rPr>
              <a:t>Shear-thinning n &lt;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8687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3007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33007" y="1463040"/>
            <a:ext cx="2659303" cy="54864"/>
          </a:xfrm>
          <a:prstGeom prst="rect">
            <a:avLst/>
          </a:prstGeom>
          <a:solidFill>
            <a:srgbClr val="5B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5887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5B8C5A"/>
                </a:solidFill>
                <a:latin typeface="Arial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5887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On 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5887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Self-healing gel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15887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5887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Strain release instantly restores the gel network.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15887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5887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5B8C5A"/>
                </a:solidFill>
                <a:latin typeface="Arial"/>
              </a:rPr>
              <a:t>G' recovery ~90%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92311" y="1463040"/>
            <a:ext cx="274320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2240" b="0" i="0">
                <a:solidFill>
                  <a:srgbClr val="AAB4C0"/>
                </a:solidFill>
                <a:latin typeface="Arial"/>
              </a:rPr>
              <a:t>→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66631" y="1463040"/>
            <a:ext cx="2659303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166631" y="1463040"/>
            <a:ext cx="2659303" cy="54864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9511" y="1627632"/>
            <a:ext cx="22935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9511" y="1956816"/>
            <a:ext cx="22935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Flame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49511" y="2304288"/>
            <a:ext cx="2293543" cy="51206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1E293B"/>
                </a:solidFill>
                <a:latin typeface="Arial"/>
              </a:rPr>
              <a:t>Aerogel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49511" y="2907792"/>
            <a:ext cx="2293543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49511" y="3035808"/>
            <a:ext cx="229354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 into a porous silica layer.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49511" y="4078224"/>
            <a:ext cx="2293543" cy="4206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8890">
            <a:solidFill>
              <a:srgbClr val="9F76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49511" y="4078224"/>
            <a:ext cx="2293543" cy="4206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9F7639"/>
                </a:solidFill>
                <a:latin typeface="Arial"/>
              </a:rPr>
              <a:t>Acts as thermal barrier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65760" y="4846320"/>
            <a:ext cx="11460175" cy="1755648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5760" y="4846320"/>
            <a:ext cx="73152" cy="175564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4846320"/>
            <a:ext cx="2194560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9357055" cy="17556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Rather than relying on MC's thermal response (LCST), rheology alone achieves "spray → stick → set" — the core of this material.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30175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3017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39136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42008" y="4297680"/>
            <a:ext cx="5083926" cy="18288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1736" y="4407408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Cited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2008" y="4297680"/>
            <a:ext cx="5083926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cited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1736" y="5779008"/>
            <a:ext cx="486447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1">
                <a:solidFill>
                  <a:srgbClr val="9F7639"/>
                </a:solidFill>
                <a:latin typeface="Arial"/>
              </a:rPr>
              <a:t>Source: ________________ (fill in later)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2008" y="6163056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Molecular structure of cellulose (reference)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Rheological Design: Shear-Thinning and Self-Healing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— shear-thinning behavior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Shear-thinning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3896" y="367588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Flow index n &lt; 1 — reduced viscosity during spraying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Yield stress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53896" y="404164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~33 Pa — gel structure maintained at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105156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Self-healing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6" y="4407408"/>
            <a:ext cx="432130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G' recovers ~90% after strain removal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&lt;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Strong shear-thinning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~33 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G' recovery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5B8C5A"/>
                </a:solidFill>
                <a:latin typeface="Arial"/>
              </a:rPr>
              <a:t>~90%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After 1000 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Spray-to-Flame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At 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Gel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&gt; G''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Spraying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Shear-thinning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Low viscosity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On wall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Self-healing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G' recovery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Flame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Aerogel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Porous silica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15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Compare functional differences by polymer 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Verify foam structure at two SDS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31434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Direct comparison with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40682" y="2962656"/>
            <a:ext cx="371033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40682" y="2962656"/>
            <a:ext cx="3710330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23562" y="3127248"/>
            <a:ext cx="3344570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23562" y="3493008"/>
            <a:ext cx="3344570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→ HEC+MC 1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CSP 5 wt%</a:t>
            </a:r>
          </a:p>
          <a:p>
            <a:pPr algn="l"/>
            <a:r>
              <a:rPr sz="1456" b="0" i="0">
                <a:solidFill>
                  <a:srgbClr val="475569"/>
                </a:solidFill>
                <a:latin typeface="Arial"/>
              </a:rPr>
              <a:t>／ SDS 0.1 wt%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15604" y="2962656"/>
            <a:ext cx="3710330" cy="197510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5332" y="307238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15604" y="2962656"/>
            <a:ext cx="3710330" cy="197510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5604" y="4974336"/>
            <a:ext cx="37103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the five formulations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805019" cy="5449824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Setup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805019" cy="5449824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345936"/>
            <a:ext cx="38050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Combustion test setup (MAP-Pro torch / plywood substrate)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3659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3659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6539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6539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6539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7707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Oscillatory sweep (G', G'')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6539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37707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Steady-flow sweep (viscosity)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6539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7707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Herschel-Bulkley fitting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58377" y="8595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8377" y="8595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1257" y="10241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41257" y="12618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Combustion 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125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2425" y="16276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MAP-Pro torch (~2054°C)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4125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2425" y="19019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Time to charring onset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125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2425" y="217627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Compare at 120/300 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53659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53659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539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36539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Foaming Index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539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37707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Foamed layer thickness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36539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37707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Ratio to initial = Foaming Index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58377" y="28407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58377" y="28407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1257" y="30053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1257" y="32430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SEM Observation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41257" y="36088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2425" y="36088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Foam structure by SDS level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1257" y="3883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2425" y="38831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Sintering by burn time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3659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53659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36539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6539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Spectroscopy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6539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37707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6539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7707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58377" y="4821936"/>
            <a:ext cx="3667557" cy="1798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58377" y="4821936"/>
            <a:ext cx="366755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41257" y="4986528"/>
            <a:ext cx="3301797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41257" y="5224272"/>
            <a:ext cx="330179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41257" y="55900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2425" y="559003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TGA (thermogravimetric)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41257" y="58643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42425" y="5864352"/>
            <a:ext cx="310062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475569"/>
                </a:solidFill>
                <a:latin typeface="Arial"/>
              </a:rPr>
              <a:t>DSC (calorimetry)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Contact angle on wood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Contact Angle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Evaluated on wood, concrete, metal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WEG: low contact angle → wettability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HEC+MC: high affinity to wood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3821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849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849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retention on vertical substrate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849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849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Vertical Adhesion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849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965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Applied to vertical substrate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2849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965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G' ≫ G'' → no run-off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849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2965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Retention ≥ AquaGel-K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859536"/>
            <a:ext cx="3734714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0094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1220" y="859536"/>
            <a:ext cx="3734714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1220" y="3090672"/>
            <a:ext cx="373471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Nozzle spraying in action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3401568"/>
            <a:ext cx="3734714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1220" y="3639312"/>
            <a:ext cx="3734714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Spray Suitability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1220" y="402336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2388" y="4023360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Viscosity drops under high shear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91220" y="43342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388" y="4334256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Recovers high viscosity on landing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1220" y="46451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92388" y="4645152"/>
            <a:ext cx="353354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Compatible with existing nozzles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5760" y="5980176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" y="5980176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980176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980176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Self-healing: Instant G' / G'' Recovery via Step-strain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Step-strain Protocol (ω = 1 rad/s)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31673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1316736"/>
            <a:ext cx="45720" cy="960120"/>
          </a:xfrm>
          <a:prstGeom prst="rect">
            <a:avLst/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38988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4A7C8C"/>
                </a:solidFill>
                <a:latin typeface="Arial"/>
              </a:rPr>
              <a:t>Step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38988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Low strain (γ = 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168249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preserved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&gt; G'' (gel state)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36829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2368296"/>
            <a:ext cx="45720" cy="96012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44144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9F7639"/>
                </a:solidFill>
                <a:latin typeface="Arial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244144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High strain (γ = 500%)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273405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Network broken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&lt; G'' (liquid state)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5592927" cy="960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419856"/>
            <a:ext cx="45720" cy="9601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93008"/>
            <a:ext cx="73152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493008"/>
            <a:ext cx="458708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1E293B"/>
                </a:solidFill>
                <a:latin typeface="Arial"/>
              </a:rPr>
              <a:t>Return to low strain (γ = 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" y="3785616"/>
            <a:ext cx="5336895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Particle-polymer interactions reform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G' recovers instantly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/ G'' Time-series (cyclic step-strain)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3007" y="1271016"/>
            <a:ext cx="5592927" cy="31089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2735" y="138074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SI (step-strain)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3007" y="1271016"/>
            <a:ext cx="5592927" cy="31089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3007" y="4416552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γ=1%→500%→1% cycle: G' recovers immediately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3007" y="4562856"/>
            <a:ext cx="5592927" cy="1005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3007" y="4562856"/>
            <a:ext cx="45720" cy="10058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97599" y="4654296"/>
            <a:ext cx="533689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POINT: Guarantees instant adhesion after spraying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97599" y="4946904"/>
            <a:ext cx="5336895" cy="56692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Viscosity drops at nozzle's high shear → G' recovers instantly on substrate</a:t>
            </a:r>
          </a:p>
          <a:p>
            <a:pPr algn="l"/>
            <a:r>
              <a:rPr sz="1176" b="0" i="0">
                <a:solidFill>
                  <a:srgbClr val="334155"/>
                </a:solidFill>
                <a:latin typeface="Arial"/>
              </a:rPr>
              <a:t>→ Holds on vertical surfaces without dripping (self-healing = key to deployability)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6108192"/>
            <a:ext cx="11460175" cy="5486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6108192"/>
            <a:ext cx="54864" cy="5486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6108192"/>
            <a:ext cx="365760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6108192"/>
            <a:ext cx="10774375" cy="5486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Reversible network via noncovalent bonds (H-bonds, multivalent interactions) → Self-healing demonstrated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SDS Addition: Effect on Rheology (Fig. 2e–h)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25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4754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4754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47548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Adding SDS to HEC+MC/CSP gels changes properties concentration-dependently — optimized at 0.1 wt% (G'=58.2 Pa), softened at 0.5 wt% (G'=33.8 Pa)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/ G'' vs angular frequency (SAOS, 3 SDS levels)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3" y="148132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59105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8143" y="148132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8143" y="373075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G' and tan δ bar chart (at 1 rad/s)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 shear rate (Herschel–Bulkley fit)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8143" y="3858768"/>
            <a:ext cx="5647791" cy="2212848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7871" y="39684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58768"/>
            <a:ext cx="5647791" cy="22128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8143" y="610819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Dynamic yield stress by SDS concentration (0.05 Pa reference line)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6236208"/>
            <a:ext cx="11460175" cy="402336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6236208"/>
            <a:ext cx="73152" cy="40233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36208"/>
            <a:ext cx="2194560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D4A574"/>
                </a:solidFill>
                <a:latin typeface="Arial"/>
              </a:rPr>
              <a:t>POINT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6236208"/>
            <a:ext cx="9357055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0" i="0">
                <a:solidFill>
                  <a:srgbClr val="FFFFFF"/>
                </a:solidFill>
                <a:latin typeface="Arial"/>
              </a:rPr>
              <a:t>SDS 0.1 wt% is optimal: maximum G' (58.2 Pa), minimum tan δ (0.193), shear thinning maintained — directly governs foam structure control in subsequent slides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12/15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13/15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32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14/15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15/15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36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Aging &amp; Long-Term Stability: Performance Retained Beyond One Year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37 / 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9326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3851343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Aging Mechanism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225296"/>
            <a:ext cx="3851343" cy="60350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Transition from reversible (hydrogen) bonding</a:t>
            </a:r>
          </a:p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to irreversible covalent (Si–O) conjugation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993392"/>
            <a:ext cx="3413544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194560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HEC+MC / CSP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68880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Extensive covalent conjugation → stiffens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035808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4A7C8C"/>
                </a:solidFill>
                <a:latin typeface="Arial"/>
              </a:rPr>
              <a:t>MHEC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310128"/>
            <a:ext cx="3851343" cy="42062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Stays largely reversible → subtle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385134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1">
                <a:solidFill>
                  <a:srgbClr val="64748B"/>
                </a:solidFill>
                <a:latin typeface="Arial"/>
              </a:rPr>
              <a:t>Fig. S4 / S6 (interfacial chemistry)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64575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2591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Modulus (20-day aging)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2591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~1000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2591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68407" y="859536"/>
            <a:ext cx="3557528" cy="137160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96423" y="969264"/>
            <a:ext cx="3301496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Yield stress Day1→Day455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6423" y="1225296"/>
            <a:ext cx="3301496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B08442"/>
                </a:solidFill>
                <a:latin typeface="Arial"/>
              </a:rPr>
              <a:t>33 → 69 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6423" y="1645920"/>
            <a:ext cx="3301496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· Fig S7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64575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74303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64575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4575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(fresh)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68407" y="2487168"/>
            <a:ext cx="3557528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8135" y="2596896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S7 (Day 455)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68407" y="2487168"/>
            <a:ext cx="3557528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8407" y="4626864"/>
            <a:ext cx="355752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Flow sweep · HB fit (455 days aged)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65760" y="5907024"/>
            <a:ext cx="11460175" cy="7498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65760" y="5907024"/>
            <a:ext cx="54864" cy="749808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907024"/>
            <a:ext cx="365760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907024"/>
            <a:ext cx="10774375" cy="7498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After Day 455 (~15 months), combustion behavior and aerogel transition remain unchanged — proven shelf stability (Video S5)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39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40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41 / 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41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