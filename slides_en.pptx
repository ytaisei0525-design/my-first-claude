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38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16–32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34–37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prolonged drought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Extended dry and high-wind seasons mean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conventional firefighting strategies can no longer keep pace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Protection Methods and Their Fundamental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41599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889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AAB4C0"/>
                </a:solidFill>
                <a:latin typeface="Arial"/>
              </a:rPr>
              <a:t>(photo)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E293B"/>
                </a:solidFill>
                <a:latin typeface="Arial"/>
              </a:rPr>
              <a:t>Water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H₂O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Runs off and evaporates</a:t>
            </a:r>
          </a:p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instantly — no persistence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1951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1951" y="859536"/>
            <a:ext cx="2741599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81679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889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1679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AAB4C0"/>
                </a:solidFill>
                <a:latin typeface="Arial"/>
              </a:rPr>
              <a:t>(photo)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3391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E293B"/>
                </a:solidFill>
                <a:latin typeface="Arial"/>
              </a:rPr>
              <a:t>Phos-Chek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3391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Ammonium phosphate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3391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Chemical residue persists</a:t>
            </a:r>
          </a:p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in soil and water systems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8143" y="859536"/>
            <a:ext cx="2741599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87871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889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AAB4C0"/>
                </a:solidFill>
                <a:latin typeface="Arial"/>
              </a:rPr>
              <a:t>(photo)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9583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9583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Cross-linked polyacrylate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9583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Protection lost the moment</a:t>
            </a:r>
          </a:p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water evaporates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84335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84335" y="859536"/>
            <a:ext cx="2741599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94063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2A3C54"/>
          </a:solidFill>
          <a:ln w="8890">
            <a:solidFill>
              <a:srgbClr val="445E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94063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88A0B8"/>
                </a:solidFill>
                <a:latin typeface="Arial"/>
              </a:rPr>
              <a:t>(photo)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FFFFFF"/>
                </a:solidFill>
                <a:latin typeface="Arial"/>
              </a:rPr>
              <a:t>WEG (This Work)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A0B8D0"/>
                </a:solidFill>
                <a:latin typeface="Arial"/>
              </a:rPr>
              <a:t>Cellulosic + Silica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75775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5B8C5A"/>
                </a:solidFill>
                <a:latin typeface="Arial"/>
              </a:rPr>
              <a:t>Aerogel layer continues</a:t>
            </a:r>
          </a:p>
          <a:p>
            <a:pPr algn="ctr"/>
            <a:r>
              <a:rPr sz="1344" b="1" i="0">
                <a:solidFill>
                  <a:srgbClr val="5B8C5A"/>
                </a:solidFill>
                <a:latin typeface="Arial"/>
              </a:rPr>
              <a:t>protecting after water loss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236208"/>
            <a:ext cx="11460175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345936"/>
            <a:ext cx="1146017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Challenge: Existing WEGs are mere "water carriers" — protection vanishes the moment moisture is lost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Beyond water dependence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Heat-activated solid protective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363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1363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Sustainable materials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92424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Naturally derived, food-grade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8221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8221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Drop-in compatible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078224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Sprayable fluid — no new infrastructure needed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8 / 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9 / 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Methyl Cellulose (MC) Thermal Gelation: Key Property for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MC sol (room temp) → gel (after heating) — visual comparison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LCST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367588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~55°C gelation onset (1 wt% aqueous solution)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Decomp.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404164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~300°C thermal decomposition of organic component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7008" y="440740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Liquid at room temp → instant gel on flame contact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LCST (Gelation onset)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~55°C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1 wt% MC aqueous solution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decomposition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~300°C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TGA measurement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CSP sintering onset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~200°C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Inter-particle neck formation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Temperature-dependent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~55°C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MC gelation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Structure fixed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~100°C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Moisture evaporation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Foaming &amp; expansion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~200°C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CSP sintering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Grain boundary formation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&gt;300°C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Organic decomposition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Pure silica layer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Contact angle on wood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Contact Angle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Evaluated on wood, concrete, metal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WEG: low contact angle → wettability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HEC+MC: high affinity to wood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849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849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retention on vertical substrate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849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849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Vertical Adhesion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849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965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Applied to vertical substrate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849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965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G' ≫ G'' → no run-off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849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965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Retention ≥ AquaGel-K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122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122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122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Nozzle spraying in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122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122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Spray Suitability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122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238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drops under high shear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122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38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Recovers high viscosity on landing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122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9238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Compatible with existing nozzles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5760" y="5980176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" y="5980176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980176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980176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15 / 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18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25 / 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7261360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S5/S7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726136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72613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Change in modulus / viscosity with aging (Day 1 vs Day 455)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33 / 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37 / 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Three-Stage Temperature-Dependent Gel Transition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38 / 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0779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Sol -&gt; thermal gel -&gt; silica aerogel transition with rising temperature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273552"/>
            <a:ext cx="3734714" cy="2651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273552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438144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1 . 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675888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Room temp (~25 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041648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MC chains as hydrophilic random coils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1596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315968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viscosity, sprayable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902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590288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Reversible H-bonding between CSP and polymer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273552"/>
            <a:ext cx="3734714" cy="2651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273552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438144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2 . Thermal gelation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675888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Heating (~50-60 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041648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MC LCST behavior boosts hydrophobic interaction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31596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315968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Polymer chains assemble into a gel network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5902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590288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Thermoreversible gelation (onset of fire protection)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273552"/>
            <a:ext cx="3734714" cy="26517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273552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438144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STEP 3 . Aerogel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675888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Flame (hundreds C)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041648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Rapid water evaporation / dehydration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31596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315968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3D porous skeleton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5902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590288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Insulating silica aerogel layer forms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