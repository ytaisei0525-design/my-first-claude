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16–33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35–36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5152" b="1" i="0">
                <a:solidFill>
                  <a:srgbClr val="1E293B"/>
                </a:solidFill>
                <a:latin typeface="Arial"/>
              </a:rPr>
              <a:t>5</a:t>
            </a:r>
            <a:r>
              <a:rPr sz="2240" b="0" i="0">
                <a:solidFill>
                  <a:srgbClr val="475569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Increase in Large-Scale Wildfires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Burned area expansion over past 30 years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34196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196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480" b="1" i="0">
                <a:solidFill>
                  <a:srgbClr val="1E293B"/>
                </a:solidFill>
                <a:latin typeface="Arial"/>
              </a:rPr>
              <a:t>400</a:t>
            </a:r>
            <a:r>
              <a:rPr sz="2016" b="0" i="0">
                <a:solidFill>
                  <a:srgbClr val="475569"/>
                </a:solidFill>
                <a:latin typeface="Arial"/>
              </a:rPr>
              <a:t>M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636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Annual Burned Area (Global)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5636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Caused by climate change and drought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02632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632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704" b="1" i="0">
                <a:solidFill>
                  <a:srgbClr val="1E293B"/>
                </a:solidFill>
                <a:latin typeface="Arial"/>
              </a:rPr>
              <a:t>45M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4072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4072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High-risk population in interface zone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596896"/>
            <a:ext cx="701386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24912"/>
            <a:ext cx="66481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Terminology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80944"/>
            <a:ext cx="6648108" cy="502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1E293B"/>
                </a:solidFill>
                <a:latin typeface="Arial"/>
              </a:rPr>
              <a:t>WUI (Wildland-Urban Interface): The boundary zone between wildland and urban areas. A high-risk region where wildfire damage directly threatens residential structures.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75888"/>
            <a:ext cx="7013868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675888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75888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675888"/>
            <a:ext cx="6328068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Climate change extends dry and high-wind periods → Conventional firefighting strategies cannot keep pace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62508" y="859536"/>
            <a:ext cx="426342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62508" y="859536"/>
            <a:ext cx="426342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508" y="510235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process under direct flame contact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Fire-retardant 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Spray application of cellulosic gel 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2807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62807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45687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5687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Moisture evaporates while gel 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9855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9855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sinter to form a porous aerogel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6903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6903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9783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9783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Ultra-low thermal conductivity insulating layer continuously protects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Protection Methods and Their Fundamental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7472275" cy="58521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859536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8401" y="859536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Main 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3337" y="859536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8273" y="859536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Limitation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444752"/>
            <a:ext cx="7472275" cy="58521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444752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Water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8401" y="1444752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H₂O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3337" y="1444752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Cooling by latent heat of evaporation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8273" y="1444752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Immediately runs off and evaporates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29968"/>
            <a:ext cx="7472275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029968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Phos-Chek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8401" y="2029968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Ammonium phosphate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3337" y="2029968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Direct application to trees and ground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8273" y="2029968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Residual contamination in soil and water systems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15184"/>
            <a:ext cx="7472275" cy="58521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615184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8401" y="2615184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Cross-linked polyacrylate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3337" y="2615184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Retains water at high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8273" y="2615184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Function lost after water evaporation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200400"/>
            <a:ext cx="7472275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200400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8401" y="3200400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Cellulosic + Silica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3337" y="3200400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aerogel layer upon heating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8273" y="3200400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Continues protecting after water evaporation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986784"/>
            <a:ext cx="7472275" cy="6400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3986784"/>
            <a:ext cx="54864" cy="64008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986784"/>
            <a:ext cx="365760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986784"/>
            <a:ext cx="6786475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Challenge: Existing WEGs are mere "water carriers" — protection is lost simultaneously with moisture loss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20915" y="859536"/>
            <a:ext cx="3805019" cy="3840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3064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064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20915" y="859536"/>
            <a:ext cx="3805019" cy="3840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0915" y="4736592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Comparison at 300 s: Water vs. This Work WEG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328324" cy="31089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32832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96256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DESIGN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96256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Design Concept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Cellulosic polymers (HEC, MC, MHEC) form water-soluble gel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Colloidal silica particles (CSP) uniformly dispersed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foams upon heating to form porous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and convert to aerogel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2100" y="859536"/>
            <a:ext cx="3328324" cy="31089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4980" y="1024128"/>
            <a:ext cx="296256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B8D0"/>
                </a:solidFill>
                <a:latin typeface="Arial"/>
              </a:rPr>
              <a:t>INNOVATION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4980" y="1261872"/>
            <a:ext cx="296256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Three Innovation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498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148" y="162763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Breaking free from water dependence: heat-activated solid protective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498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148" y="190195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Sustainable: naturally derived, food-grade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498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148" y="217627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Compatible with existing spray infrastructure: sprayable fluid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197096"/>
            <a:ext cx="678466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41970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970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197096"/>
            <a:ext cx="609886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"Heat-Activated Formation of Silica Aerogels"</a:t>
            </a:r>
          </a:p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— Triggered by flame contact, the gel itself transforms into an aerogel insulator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33305" y="859536"/>
            <a:ext cx="4492630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4303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4303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33305" y="859536"/>
            <a:ext cx="4492630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305" y="5285232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silica aerogel formation (preview)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Hydroxyethyl cellulose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Base viscosity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849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137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37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37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Methyl cellulose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37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Gelation upon heating (thermoreversible)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122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410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410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Integrates properties of A and 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054096"/>
            <a:ext cx="11460175" cy="3246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54096"/>
            <a:ext cx="11460175" cy="3246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33679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of each polymer and mixing scheme with colloidal silica (CSP)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0944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04368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504368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Inverse Thermal Response (LCST Behavior)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dissolves in cold water (&lt;20°C) to form a low-viscosity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Gelation above LCST upon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gelation onset: approx. 50–60°C (concentration-dependent)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Liquid at room temperature → instantaneous gelation upon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242816"/>
            <a:ext cx="5409444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42816"/>
            <a:ext cx="4723644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MC gelates in the initial stage of flame contact → maintains foamed structure while CSP is fixed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CSP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Stock solution: colloidal dispersion at 12 wt% in 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Particle size: monodisperse silica of tens of nanometers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1023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6823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SDS (Additive)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6823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Sodium Dodecyl Sulfate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063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Anionic surfactant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063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Role: promotes foaming and enhances porous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2463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1063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Addition levels: two concentrations of 0.1 wt% and 0.5 wt%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1063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SEM confirms control of bubble size and distribution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97433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497433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7433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97433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the thermal decomposition temperature of cellulose, enabling synchronized thermal response to form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Comparing functional differences by varying polymer type (HEC+MC vs MHEC)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Verifying the effect on foam structure with two SDS concentration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Direct comparison with commercial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493008"/>
            <a:ext cx="5272887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→ HEC+MC 1 wt% ／ CSP 5 wt% ／ SDS 0.1 wt%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Oscillatory frequency sweep (G', G'')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Steady-flow sweep (viscosity vs. shear rate)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Herschel-Bulkley model fitting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1538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1538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4418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4418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Combustion Test (Time-to-char)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4418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586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Wood heated with butane burner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4418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5586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Time to charring onset 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4418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5586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Photographic comparison at 120 s / 300 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7316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7316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0196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0196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Index Measurement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19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1364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Foamed layer thickness measured after combustion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019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81364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Ratio to initial thickness = Foaming Index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SEM Morphological Observation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 structure by SDS concentration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Sintering progression by burn time (0/1/2/4 min)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31538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1538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4418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4418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Spectroscopic Analysis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4418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5586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441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5586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97316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97316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80196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80196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0196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1364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TGA (thermogravimetric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0196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1364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DSC (differential scanning 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Contact Angle Measurement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Contact angle evaluation on wood, concrete, and metal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WEG shows low contact angle → high wettability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shows particularly high affinity at cellulose-wood interface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Vertical Surface Adhesion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applied to vertically oriented substrate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≫ G'' → resists gravity without flowing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Vertical surface retention equal to or better than AquaGel-K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Spray Application Suitability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Viscosity drops sharply under high shear (inside nozzle)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Quickly recovers high viscosity upon reaching substrate → maintains adhesion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Fully compatible with existing fire hoses and nozzles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4256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4256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42569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This work's WEG shows higher elasticity than AquaGel-K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Power-law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0.108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1-5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Power-law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0.188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1-5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Herschel-Bulkley Model Parameters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σ = τ₀ + K · γ̇ⁿ  （τ₀：降伏応力, K：稠度係数, n：流動指数）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4343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3934" y="16367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τ₀ (Pa)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3963" y="16367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K (Pa·sⁿ)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3993" y="16367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25684" y="16367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R²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7111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07111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3934" y="207111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3963" y="207111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3993" y="207111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25684" y="207111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05456"/>
            <a:ext cx="11460175" cy="4343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50545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3934" y="250545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0.59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3963" y="250545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2.04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3993" y="250545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B08442"/>
                </a:solidFill>
                <a:latin typeface="Arial"/>
              </a:rPr>
              <a:t>0.108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25684" y="250545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93979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3979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3934" y="293979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0.54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23963" y="293979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1.87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3993" y="293979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0.115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25684" y="293979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374136"/>
            <a:ext cx="11460175" cy="4343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37413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3934" y="337413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3963" y="337413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1.65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3993" y="337413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25684" y="337413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80847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80847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3934" y="38084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0.41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23963" y="38084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1.43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33993" y="38084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B08442"/>
                </a:solidFill>
                <a:latin typeface="Arial"/>
              </a:rPr>
              <a:t>0.188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25684" y="38084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0352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Yield Stress τ₀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Flow start requires minimum stress. WEG is ~2× AquaGel-K → higher resistance to sagging on vertical surfaces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31538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6130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Flow Index n (&lt;&lt; 1)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96130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n=0.108 for HEC+MC/CSP shows strong shear thinning. Balances low viscosity during spraying and high viscosity at rest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97316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61908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1908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lower n and higher K → stronger shear thinning. MHEC system achieves similar function with single polymer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Dynamic Yield Stress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(from Amplitude Sweep)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746717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~0.4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2266820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~1.2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+SDS 0.1 wt%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080141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~1.1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6426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0" y="27157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286000" y="2715768"/>
            <a:ext cx="173345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44287" y="26426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~0.9 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2369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2369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2369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2369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Stress at G' = G'' crossover = dynamic yield stress. WEG is ~3× AquaGel-K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344168"/>
            <a:ext cx="1333423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1801368"/>
            <a:ext cx="533369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+SDS 0.1 wt%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53247" y="2258568"/>
            <a:ext cx="640043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26426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53247" y="27157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53247" y="2715768"/>
            <a:ext cx="800054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11535" y="26426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~0.15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33007" y="32369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33007" y="32369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15887" y="32369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27367" y="32369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tan δ &lt;&lt; 1 → all formulations show clear gel behavior. Elastic component overwhelmingly dominant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Lower n=0.108 → stronger shear thinning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≈ 9–10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n=0.188 (slightly higher than HEC+MC)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≈ 10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pine wood thin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butane direct flame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620587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206862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7581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~9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71891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~10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group extends protection ~40% beyond AquaGel-K and ~5× longer than water alone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~2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~7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~10 min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~2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~7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~10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~10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~5× longer protection than water alone (~2 min) and ~1.4× longer than commercial AquaGel-K (~7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384048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71822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~2.2×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+SDS 0.1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2030630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~2.6×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18119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~2.3×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SDS 0.1 wt% is optimal: forms uniform fine bubbles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Dense silica network. Low porosity.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0.1% SDS (Optimal)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 bubbles. Highest foaming index.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4800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58276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Before combustion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37825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723644"/>
            <a:ext cx="5638647" cy="4800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Si 2p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58276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7825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~33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203704"/>
            <a:ext cx="5638647" cy="4800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C 1s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58276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7825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~8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87287" y="2683764"/>
            <a:ext cx="5638647" cy="4800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78727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O 1s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8276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~41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37825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Si concentration increases ~8×, C concentration greatly reduced → organic matrix removed, silica exposed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5× longer protection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Continues protecting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5</a:t>
            </a:r>
            <a:r>
              <a:rPr sz="840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Conventional (Water)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090672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Power-law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523036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0.108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