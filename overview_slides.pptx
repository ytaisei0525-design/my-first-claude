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219456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88A4C4"/>
                </a:solidFill>
                <a:latin typeface="Noto Sans JP"/>
              </a:rPr>
              <a:t>材料 概要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82880"/>
            <a:ext cx="10972" cy="292608"/>
          </a:xfrm>
          <a:prstGeom prst="rect">
            <a:avLst/>
          </a:prstGeom>
          <a:solidFill>
            <a:srgbClr val="445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91440"/>
            <a:ext cx="908273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JP"/>
              </a:rPr>
              <a:t>材料構成：持続可能かつ高性能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11535" y="6547104"/>
            <a:ext cx="11430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Noto Sans JP"/>
              </a:rPr>
              <a:t>9 / 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59536"/>
            <a:ext cx="11460175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Noto Sans JP"/>
              </a:rPr>
              <a:t>本ゲルは「骨格・機能・結合」を担う3要素で構成され、生分解性と高性能を両立します。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444752"/>
            <a:ext cx="3637178" cy="5138928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444752"/>
            <a:ext cx="3637178" cy="54864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719072"/>
            <a:ext cx="3637178" cy="512064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3000" b="0" i="0">
                <a:solidFill>
                  <a:srgbClr val="3B5174"/>
                </a:solidFill>
                <a:latin typeface="Noto Sans JP"/>
              </a:rPr>
              <a:t>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2286000"/>
            <a:ext cx="3198266" cy="38404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700" b="1" i="0">
                <a:solidFill>
                  <a:srgbClr val="1E293B"/>
                </a:solidFill>
                <a:latin typeface="Noto Sans JP"/>
              </a:rPr>
              <a:t>セルロース誘導体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2670048"/>
            <a:ext cx="3198266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Noto Sans JP"/>
              </a:rPr>
              <a:t>Cellulose derivatives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999232"/>
            <a:ext cx="3051962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3127248"/>
            <a:ext cx="3198266" cy="9144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Noto Sans JP"/>
              </a:rPr>
              <a:t>植物由来のバイオポリマー。ゲルネットワークの骨格を形成します。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" y="4279392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3B51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4279392"/>
            <a:ext cx="841248" cy="29260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3B5174"/>
                </a:solidFill>
                <a:latin typeface="Noto Sans JP"/>
              </a:rPr>
              <a:t>3種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7904" y="4242816"/>
            <a:ext cx="2265578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Noto Sans JP"/>
              </a:rPr>
              <a:t>HEC・MC・MHEC を使用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" y="4956048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3B51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" y="4956048"/>
            <a:ext cx="841248" cy="29260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3B5174"/>
                </a:solidFill>
                <a:latin typeface="Noto Sans JP"/>
              </a:rPr>
              <a:t>生分解性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7904" y="4919472"/>
            <a:ext cx="2265578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Noto Sans JP"/>
              </a:rPr>
              <a:t>環境負荷が低い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" y="5632704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3B51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6" y="5632704"/>
            <a:ext cx="841248" cy="29260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3B5174"/>
                </a:solidFill>
                <a:latin typeface="Noto Sans JP"/>
              </a:rPr>
              <a:t>役割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17904" y="5596128"/>
            <a:ext cx="2265578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Noto Sans JP"/>
              </a:rPr>
              <a:t>粘性・構造の土台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77258" y="1444752"/>
            <a:ext cx="3637178" cy="5138928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77258" y="1444752"/>
            <a:ext cx="3637178" cy="54864"/>
          </a:xfrm>
          <a:prstGeom prst="rect">
            <a:avLst/>
          </a:prstGeom>
          <a:solidFill>
            <a:srgbClr val="4A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77258" y="1719072"/>
            <a:ext cx="3637178" cy="512064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3000" b="0" i="0">
                <a:solidFill>
                  <a:srgbClr val="4A7C8C"/>
                </a:solidFill>
                <a:latin typeface="Noto Sans JP"/>
              </a:rPr>
              <a:t>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6714" y="2286000"/>
            <a:ext cx="3198266" cy="38404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700" b="1" i="0">
                <a:solidFill>
                  <a:srgbClr val="1E293B"/>
                </a:solidFill>
                <a:latin typeface="Noto Sans JP"/>
              </a:rPr>
              <a:t>コロイダルシリカ（CSP）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6714" y="2670048"/>
            <a:ext cx="3198266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Noto Sans JP"/>
              </a:rPr>
              <a:t>Colloidal Silica Particles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69866" y="2999232"/>
            <a:ext cx="3051962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96714" y="3127248"/>
            <a:ext cx="3198266" cy="9144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Noto Sans JP"/>
              </a:rPr>
              <a:t>ポリマーと動的に相互作用し、熱でエアロゲルを形成する主役成分です。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96714" y="4279392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4A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96714" y="4279392"/>
            <a:ext cx="841248" cy="29260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4A7C8C"/>
                </a:solidFill>
                <a:latin typeface="Noto Sans JP"/>
              </a:rPr>
              <a:t>直径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29402" y="4242816"/>
            <a:ext cx="2265578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Noto Sans JP"/>
              </a:rPr>
              <a:t>約 22 nm の単分散粒子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96714" y="4956048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4A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96714" y="4956048"/>
            <a:ext cx="841248" cy="29260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4A7C8C"/>
                </a:solidFill>
                <a:latin typeface="Noto Sans JP"/>
              </a:rPr>
              <a:t>焼結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29402" y="4919472"/>
            <a:ext cx="2265578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Noto Sans JP"/>
              </a:rPr>
              <a:t>加熱でシリカ骨格を形成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96714" y="5632704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4A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96714" y="5632704"/>
            <a:ext cx="841248" cy="29260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4A7C8C"/>
                </a:solidFill>
                <a:latin typeface="Noto Sans JP"/>
              </a:rPr>
              <a:t>役割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29402" y="5596128"/>
            <a:ext cx="2265578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Noto Sans JP"/>
              </a:rPr>
              <a:t>断熱エアロゲルの源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88756" y="1444752"/>
            <a:ext cx="3637178" cy="5138928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88756" y="1444752"/>
            <a:ext cx="3637178" cy="54864"/>
          </a:xfrm>
          <a:prstGeom prst="rect">
            <a:avLst/>
          </a:prstGeom>
          <a:solidFill>
            <a:srgbClr val="9F7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88756" y="1719072"/>
            <a:ext cx="3637178" cy="512064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3000" b="0" i="0">
                <a:solidFill>
                  <a:srgbClr val="9F7639"/>
                </a:solidFill>
                <a:latin typeface="Noto Sans JP"/>
              </a:rPr>
              <a:t>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08212" y="2286000"/>
            <a:ext cx="3198266" cy="38404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700" b="1" i="0">
                <a:solidFill>
                  <a:srgbClr val="1E293B"/>
                </a:solidFill>
                <a:latin typeface="Noto Sans JP"/>
              </a:rPr>
              <a:t>PP 相互作用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08212" y="2670048"/>
            <a:ext cx="3198266" cy="256032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Noto Sans JP"/>
              </a:rPr>
              <a:t>Polymer–Particle Interaction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81364" y="2999232"/>
            <a:ext cx="3051962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08212" y="3127248"/>
            <a:ext cx="3198266" cy="9144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Noto Sans JP"/>
              </a:rPr>
              <a:t>動的な多価水素結合でネットワークを構築。共有結合に依存しません。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08212" y="4279392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9F7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08212" y="4279392"/>
            <a:ext cx="841248" cy="29260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9F7639"/>
                </a:solidFill>
                <a:latin typeface="Noto Sans JP"/>
              </a:rPr>
              <a:t>結合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40900" y="4242816"/>
            <a:ext cx="2265578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Noto Sans JP"/>
              </a:rPr>
              <a:t>動的・多価の水素結合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08212" y="4956048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9F7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08212" y="4956048"/>
            <a:ext cx="841248" cy="29260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9F7639"/>
                </a:solidFill>
                <a:latin typeface="Noto Sans JP"/>
              </a:rPr>
              <a:t>自己修復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40900" y="4919472"/>
            <a:ext cx="2265578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Noto Sans JP"/>
              </a:rPr>
              <a:t>ひずみ後にゲルが回復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408212" y="5632704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890">
            <a:solidFill>
              <a:srgbClr val="9F7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08212" y="5632704"/>
            <a:ext cx="841248" cy="29260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9F7639"/>
                </a:solidFill>
                <a:latin typeface="Noto Sans JP"/>
              </a:rPr>
              <a:t>噴霧適性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40900" y="5596128"/>
            <a:ext cx="2265578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Noto Sans JP"/>
              </a:rPr>
              <a:t>スプレー塗布が容易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36576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"/>
            <a:ext cx="219456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100" b="1" i="0">
                <a:solidFill>
                  <a:srgbClr val="88A4C4"/>
                </a:solidFill>
                <a:latin typeface="Noto Sans JP"/>
              </a:rPr>
              <a:t>材料 概要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82880"/>
            <a:ext cx="10972" cy="292608"/>
          </a:xfrm>
          <a:prstGeom prst="rect">
            <a:avLst/>
          </a:prstGeom>
          <a:solidFill>
            <a:srgbClr val="445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91440"/>
            <a:ext cx="9082735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JP"/>
              </a:rPr>
              <a:t>噴霧・付着・耐火のメカニズム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11535" y="6547104"/>
            <a:ext cx="1143000" cy="23774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Noto Sans JP"/>
              </a:rPr>
              <a:t>10 / 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59536"/>
            <a:ext cx="11460175" cy="4754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Noto Sans JP"/>
              </a:rPr>
              <a:t>温度ではなく「せん断力」と「自己修復性」が、噴霧から付着までを支配します。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463040"/>
            <a:ext cx="2659303" cy="32004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463040"/>
            <a:ext cx="2659303" cy="54864"/>
          </a:xfrm>
          <a:prstGeom prst="rect">
            <a:avLst/>
          </a:prstGeom>
          <a:solidFill>
            <a:srgbClr val="3B5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627632"/>
            <a:ext cx="2293543" cy="31089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1" i="0">
                <a:solidFill>
                  <a:srgbClr val="3B5174"/>
                </a:solidFill>
                <a:latin typeface="Noto Sans JP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956816"/>
            <a:ext cx="2293543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Noto Sans JP"/>
              </a:rPr>
              <a:t>静止時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304288"/>
            <a:ext cx="2293543" cy="51206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1E293B"/>
                </a:solidFill>
                <a:latin typeface="Noto Sans JP"/>
              </a:rPr>
              <a:t>ゲル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907792"/>
            <a:ext cx="2293543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2293543" cy="10058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Noto Sans JP"/>
              </a:rPr>
              <a:t>高粘度の弾性ゲル。G′ &gt; G″ で構造を保持。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78224"/>
            <a:ext cx="2293543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3B51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078224"/>
            <a:ext cx="2293543" cy="420624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1" i="0">
                <a:solidFill>
                  <a:srgbClr val="3B5174"/>
                </a:solidFill>
                <a:latin typeface="Noto Sans JP"/>
              </a:rPr>
              <a:t>降伏応力 ~33 Pa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25063" y="1463040"/>
            <a:ext cx="274320" cy="32004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2000" b="0" i="0">
                <a:solidFill>
                  <a:srgbClr val="AAB4C0"/>
                </a:solidFill>
                <a:latin typeface="Noto Sans JP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9383" y="1463040"/>
            <a:ext cx="2659303" cy="32004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99383" y="1463040"/>
            <a:ext cx="2659303" cy="54864"/>
          </a:xfrm>
          <a:prstGeom prst="rect">
            <a:avLst/>
          </a:prstGeom>
          <a:solidFill>
            <a:srgbClr val="4A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82263" y="1627632"/>
            <a:ext cx="2293543" cy="31089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1" i="0">
                <a:solidFill>
                  <a:srgbClr val="4A7C8C"/>
                </a:solidFill>
                <a:latin typeface="Noto Sans JP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82263" y="1956816"/>
            <a:ext cx="2293543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Noto Sans JP"/>
              </a:rPr>
              <a:t>噴霧時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82263" y="2304288"/>
            <a:ext cx="2293543" cy="51206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1E293B"/>
                </a:solidFill>
                <a:latin typeface="Noto Sans JP"/>
              </a:rPr>
              <a:t>ゾル様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82263" y="2907792"/>
            <a:ext cx="2293543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82263" y="3035808"/>
            <a:ext cx="2293543" cy="10058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Noto Sans JP"/>
              </a:rPr>
              <a:t>せん断ひずみで粘度が低下し、流動化。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82263" y="4078224"/>
            <a:ext cx="2293543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4A7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82263" y="4078224"/>
            <a:ext cx="2293543" cy="420624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1" i="0">
                <a:solidFill>
                  <a:srgbClr val="4A7C8C"/>
                </a:solidFill>
                <a:latin typeface="Noto Sans JP"/>
              </a:rPr>
              <a:t>せん断希薄化 n &lt;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58687" y="1463040"/>
            <a:ext cx="274320" cy="32004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2000" b="0" i="0">
                <a:solidFill>
                  <a:srgbClr val="AAB4C0"/>
                </a:solidFill>
                <a:latin typeface="Noto Sans JP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3007" y="1463040"/>
            <a:ext cx="2659303" cy="32004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3007" y="1463040"/>
            <a:ext cx="2659303" cy="54864"/>
          </a:xfrm>
          <a:prstGeom prst="rect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5887" y="1627632"/>
            <a:ext cx="2293543" cy="31089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1" i="0">
                <a:solidFill>
                  <a:srgbClr val="5B8C5A"/>
                </a:solidFill>
                <a:latin typeface="Noto Sans JP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5887" y="1956816"/>
            <a:ext cx="2293543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Noto Sans JP"/>
              </a:rPr>
              <a:t>付着後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5887" y="2304288"/>
            <a:ext cx="2293543" cy="51206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1E293B"/>
                </a:solidFill>
                <a:latin typeface="Noto Sans JP"/>
              </a:rPr>
              <a:t>自己修復ゲル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15887" y="2907792"/>
            <a:ext cx="2293543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5887" y="3035808"/>
            <a:ext cx="2293543" cy="10058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Noto Sans JP"/>
              </a:rPr>
              <a:t>ひずみ解放で即座にゲル構造を回復。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15887" y="4078224"/>
            <a:ext cx="2293543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5B8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5887" y="4078224"/>
            <a:ext cx="2293543" cy="420624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1" i="0">
                <a:solidFill>
                  <a:srgbClr val="5B8C5A"/>
                </a:solidFill>
                <a:latin typeface="Noto Sans JP"/>
              </a:rPr>
              <a:t>G′ 回復率 ~90%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92311" y="1463040"/>
            <a:ext cx="274320" cy="32004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2000" b="0" i="0">
                <a:solidFill>
                  <a:srgbClr val="AAB4C0"/>
                </a:solidFill>
                <a:latin typeface="Noto Sans JP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66631" y="1463040"/>
            <a:ext cx="2659303" cy="32004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66631" y="1463040"/>
            <a:ext cx="2659303" cy="54864"/>
          </a:xfrm>
          <a:prstGeom prst="rect">
            <a:avLst/>
          </a:prstGeom>
          <a:solidFill>
            <a:srgbClr val="9F7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49511" y="1627632"/>
            <a:ext cx="2293543" cy="310896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1" i="0">
                <a:solidFill>
                  <a:srgbClr val="9F7639"/>
                </a:solidFill>
                <a:latin typeface="Noto Sans JP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49511" y="1956816"/>
            <a:ext cx="2293543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Noto Sans JP"/>
              </a:rPr>
              <a:t>炎接触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49511" y="2304288"/>
            <a:ext cx="2293543" cy="512064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00" b="1" i="0">
                <a:solidFill>
                  <a:srgbClr val="1E293B"/>
                </a:solidFill>
                <a:latin typeface="Noto Sans JP"/>
              </a:rPr>
              <a:t>エアロゲル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49511" y="2907792"/>
            <a:ext cx="2293543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49511" y="3035808"/>
            <a:ext cx="2293543" cy="10058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Noto Sans JP"/>
              </a:rPr>
              <a:t>CSP が焼結し多孔質シリカ層を形成。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49511" y="4078224"/>
            <a:ext cx="2293543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9F76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49511" y="4078224"/>
            <a:ext cx="2293543" cy="420624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1" i="0">
                <a:solidFill>
                  <a:srgbClr val="9F7639"/>
                </a:solidFill>
                <a:latin typeface="Noto Sans JP"/>
              </a:rPr>
              <a:t>断熱バリアとして機能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" y="4846320"/>
            <a:ext cx="11460175" cy="175564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65760" y="4846320"/>
            <a:ext cx="73152" cy="1755648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4846320"/>
            <a:ext cx="2194560" cy="17556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00" b="1" i="0">
                <a:solidFill>
                  <a:srgbClr val="D4A574"/>
                </a:solidFill>
                <a:latin typeface="Noto Sans JP"/>
              </a:rPr>
              <a:t>POINT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94560" y="4846320"/>
            <a:ext cx="9357055" cy="175564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Noto Sans JP"/>
              </a:rPr>
              <a:t>MC の温度応答性（LCST）に頼らず、レオロジー特性だけで「飛ばす→留める→固める」を実現する点が本材料の核心です。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