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" y="1645920"/>
            <a:ext cx="9144000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" y="1792224"/>
            <a:ext cx="10058400" cy="1554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024" b="1" i="0">
                <a:solidFill>
                  <a:srgbClr val="18222E"/>
                </a:solidFill>
                <a:latin typeface="Arial"/>
              </a:rPr>
              <a:t>Co-assembly of Zwitterionic and Cationic Polymers</a:t>
            </a:r>
          </a:p>
          <a:p>
            <a:pPr algn="l"/>
            <a:r>
              <a:rPr sz="3024" b="1" i="0">
                <a:solidFill>
                  <a:srgbClr val="18222E"/>
                </a:solidFill>
                <a:latin typeface="Arial"/>
              </a:rPr>
              <a:t>for Antibacterial and Antithrombotic Surfaces</a:t>
            </a:r>
          </a:p>
          <a:p>
            <a:pPr algn="l"/>
            <a:r>
              <a:rPr sz="3024" b="1" i="0">
                <a:solidFill>
                  <a:srgbClr val="18222E"/>
                </a:solidFill>
                <a:latin typeface="Arial"/>
              </a:rPr>
              <a:t>via Weak Electrostatic Interactions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" y="3456432"/>
            <a:ext cx="9144000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Jiaqi Wang, Jingze Liu, Yuan Wei, Tong Wang, Yage Hu, Yao Xiong, Rifang Luo, Fanjun Zhang, Yunbing Wang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3822191"/>
            <a:ext cx="9144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8290A0"/>
                </a:solidFill>
                <a:latin typeface="Arial"/>
              </a:rPr>
              <a:t>Biomaterials  331 (2026) 124114  ·  Sichuan University / Chinese Academy of Medical Sciences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" y="4169663"/>
            <a:ext cx="9144000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" y="4297680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360" b="1" i="0">
                <a:solidFill>
                  <a:srgbClr val="188450"/>
                </a:solidFill>
                <a:latin typeface="Arial"/>
              </a:rPr>
              <a:t>3.1%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" y="4882896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Thrombus coverage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vs PLA 99.0%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8326" y="4297680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360" b="1" i="0">
                <a:solidFill>
                  <a:srgbClr val="076E8A"/>
                </a:solidFill>
                <a:latin typeface="Arial"/>
              </a:rPr>
              <a:t>&gt;97.6%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8326" y="4882896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Bactericidal eff.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vs S. aureus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7196" y="4297680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360" b="1" i="0">
                <a:solidFill>
                  <a:srgbClr val="055068"/>
                </a:solidFill>
                <a:latin typeface="Arial"/>
              </a:rPr>
              <a:t>&gt;99%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7196" y="4882896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In vivo bacterial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eradication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6066" y="4297680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360" b="1" i="0">
                <a:solidFill>
                  <a:srgbClr val="188450"/>
                </a:solidFill>
                <a:latin typeface="Arial"/>
              </a:rPr>
              <a:t>&lt;2%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6066" y="4882896"/>
            <a:ext cx="197739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Hemolysis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(non-hemolytic)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64592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Table of 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987552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987552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72" y="1261872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1261872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1170432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Background &amp; Motivation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1536192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987552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987552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7599" y="1261872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61872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9663" y="1170432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9663" y="1536192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231136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231136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6072" y="2505456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505456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2414016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Solution Interactions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2779776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2231136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2231136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97599" y="2505456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7599" y="2505456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9663" y="2414016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Coating Properties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9663" y="2779776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474720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3474720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6072" y="3749040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3749040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" y="3657600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Antifouling &amp; Antithrombotic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" y="4023360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21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3007" y="3474720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3007" y="3474720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97599" y="3749040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97599" y="3749040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9663" y="3657600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Antibacterial Performance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9663" y="4023360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24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718304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718304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76072" y="4992624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992624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" y="4901184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Biocompatibility &amp; In Vivo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" y="5266944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29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33007" y="4718304"/>
            <a:ext cx="5547207" cy="11155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33007" y="4718304"/>
            <a:ext cx="54864" cy="1115568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97599" y="4992624"/>
            <a:ext cx="402336" cy="237744"/>
          </a:xfrm>
          <a:prstGeom prst="roundRect">
            <a:avLst>
              <a:gd name="adj" fmla="val 10000"/>
            </a:avLst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97599" y="4992624"/>
            <a:ext cx="402336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055068"/>
                </a:solidFill>
                <a:latin typeface="Arial"/>
              </a:rPr>
              <a:t>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9663" y="4901184"/>
            <a:ext cx="472424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Conclusions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9663" y="5266944"/>
            <a:ext cx="4724247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8290A0"/>
                </a:solidFill>
                <a:latin typeface="Arial"/>
              </a:rPr>
              <a:t>→ slide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Background &amp; Motivation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Clinical need for dual-function coatings on implantable medical devices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01 ·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The Problem: Infection and Thrombosis on Medical Devices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987552"/>
            <a:ext cx="6766560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8222E"/>
                </a:solidFill>
                <a:latin typeface="Arial"/>
              </a:rPr>
              <a:t>Device-associated infections and thrombotic complications</a:t>
            </a:r>
          </a:p>
          <a:p>
            <a:pPr algn="l"/>
            <a:r>
              <a:rPr sz="1792" b="1" i="0">
                <a:solidFill>
                  <a:srgbClr val="18222E"/>
                </a:solidFill>
                <a:latin typeface="Arial"/>
              </a:rPr>
              <a:t>remain major causes of implant failure.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37360"/>
            <a:ext cx="6766560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865376"/>
            <a:ext cx="12801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Incidence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1865376"/>
            <a:ext cx="53035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Device-associated infections exceed 20% in ICU patients; biofilm on implant surfaces resists systemic antibiotics.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32304"/>
            <a:ext cx="6766560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035808"/>
            <a:ext cx="12801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Thrombosis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3035808"/>
            <a:ext cx="53035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Platelet activation and thrombus formation begin within seconds of blood contact with foreign materials.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02736"/>
            <a:ext cx="6766560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206240"/>
            <a:ext cx="12801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Resistance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06240"/>
            <a:ext cx="53035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Antibiotic-releasing coatings accelerate resistance; short drug-release window leaves devices unprotected.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773168"/>
            <a:ext cx="6766560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376672"/>
            <a:ext cx="12801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Conflict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4792" y="5376672"/>
            <a:ext cx="53035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Cationic coatings kill bacteria but promote thrombosis; zwitterionic coatings are antifouling but not antibacterial.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987552"/>
            <a:ext cx="4352544" cy="5596128"/>
          </a:xfrm>
          <a:prstGeom prst="rect">
            <a:avLst/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987552"/>
            <a:ext cx="4352544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0" y="1097280"/>
            <a:ext cx="398678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Scale of 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1554480"/>
            <a:ext cx="3986784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1" i="0">
                <a:solidFill>
                  <a:srgbClr val="B02828"/>
                </a:solidFill>
                <a:latin typeface="Arial"/>
              </a:rPr>
              <a:t>≥ 20%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121408"/>
            <a:ext cx="398678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of ICU admissions develop device-associated infections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432304"/>
            <a:ext cx="398678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0" i="1">
                <a:solidFill>
                  <a:srgbClr val="8290A0"/>
                </a:solidFill>
                <a:latin typeface="Arial"/>
              </a:rPr>
              <a:t>source: Ref [11]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2816352"/>
            <a:ext cx="380390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3035808"/>
            <a:ext cx="3986784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1" i="0">
                <a:solidFill>
                  <a:srgbClr val="BF6206"/>
                </a:solidFill>
                <a:latin typeface="Arial"/>
              </a:rPr>
              <a:t>50–70%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602736"/>
            <a:ext cx="398678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of implant failures linked to biofilm or thrombosis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3913632"/>
            <a:ext cx="398678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0" i="1">
                <a:solidFill>
                  <a:srgbClr val="8290A0"/>
                </a:solidFill>
                <a:latin typeface="Arial"/>
              </a:rPr>
              <a:t>combined pathologies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297680"/>
            <a:ext cx="380390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4517136"/>
            <a:ext cx="3986784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3136" b="1" i="0">
                <a:solidFill>
                  <a:srgbClr val="385066"/>
                </a:solidFill>
                <a:latin typeface="Arial"/>
              </a:rPr>
              <a:t>$ billions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5084064"/>
            <a:ext cx="398678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annual healthcare cost of implant-related infections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394960"/>
            <a:ext cx="398678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0" i="1">
                <a:solidFill>
                  <a:srgbClr val="8290A0"/>
                </a:solidFill>
                <a:latin typeface="Arial"/>
              </a:rPr>
              <a:t>USA estimate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01 ·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Three Polymers: Structure and Roles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987552"/>
            <a:ext cx="3667658" cy="36576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987552"/>
            <a:ext cx="337505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FFFFFF"/>
                </a:solidFill>
                <a:latin typeface="Arial"/>
              </a:rPr>
              <a:t>PA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53312"/>
            <a:ext cx="3667658" cy="470001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" y="1463040"/>
            <a:ext cx="337505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076E8A"/>
                </a:solidFill>
                <a:latin typeface="Arial"/>
              </a:rPr>
              <a:t>poly(SBMA)  ·  Zwitterionic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" y="1792224"/>
            <a:ext cx="3375050" cy="12801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2278684"/>
            <a:ext cx="3375050" cy="30723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2871216"/>
            <a:ext cx="319217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Chemical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" y="3182112"/>
            <a:ext cx="3375050" cy="2688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SO₃⁻ and N⁺ within same repeat unit → electrically neutral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Forms dense hydration shell → antifouling &amp; antithrombotic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Weak electrostatic interaction with cationic PQ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PA-PQ loose complex: PQ remains functionally accessible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2018" y="987552"/>
            <a:ext cx="3667658" cy="365760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8322" y="987552"/>
            <a:ext cx="337505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FFFFFF"/>
                </a:solidFill>
                <a:latin typeface="Arial"/>
              </a:rPr>
              <a:t>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62018" y="1353312"/>
            <a:ext cx="3667658" cy="470001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8322" y="1463040"/>
            <a:ext cx="337505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85066"/>
                </a:solidFill>
                <a:latin typeface="Arial"/>
              </a:rPr>
              <a:t>poly(SMPS)  ·  Anionic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8322" y="1792224"/>
            <a:ext cx="3375050" cy="12801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8322" y="2278684"/>
            <a:ext cx="3375050" cy="30723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9762" y="2871216"/>
            <a:ext cx="319217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Chemical 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8322" y="3182112"/>
            <a:ext cx="3375050" cy="2688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SO₃⁻ only → permanently negatively charged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Strong electrostatic attraction to cationic PQ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PS-PQ tight complex: PQ buried inside aggregate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Comparison system for the strong-interaction case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2556" y="987552"/>
            <a:ext cx="3667658" cy="365760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8860" y="987552"/>
            <a:ext cx="337505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FFFFFF"/>
                </a:solidFill>
                <a:latin typeface="Arial"/>
              </a:rPr>
              <a:t>PQ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2556" y="1353312"/>
            <a:ext cx="3667658" cy="470001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8860" y="1463040"/>
            <a:ext cx="337505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BF6206"/>
                </a:solidFill>
                <a:latin typeface="Arial"/>
              </a:rPr>
              <a:t>poly(QAS-8C)  ·  Cationic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8860" y="1792224"/>
            <a:ext cx="3375050" cy="12801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8860" y="2278684"/>
            <a:ext cx="3375050" cy="30723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0300" y="2871216"/>
            <a:ext cx="319217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Chemical structure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8860" y="3182112"/>
            <a:ext cx="3375050" cy="2688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Quaternary ammonium groups → permanent positive charge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Hydrophobic C8 chains enhance membrane disruption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Bactericidal by disrupting bacterial cell membranes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Interaction with PA/PS controls its surface accessibility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01 ·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Design Hypothesis: Weak Interaction Enables Dual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47207" cy="4206240"/>
          </a:xfrm>
          <a:prstGeom prst="roundRect">
            <a:avLst>
              <a:gd name="adj" fmla="val 4000"/>
            </a:avLst>
          </a:prstGeom>
          <a:solidFill>
            <a:srgbClr val="F8E0E0"/>
          </a:solidFill>
          <a:ln w="6350">
            <a:solidFill>
              <a:srgbClr val="B0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097280"/>
            <a:ext cx="51814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B02828"/>
                </a:solidFill>
                <a:latin typeface="Arial"/>
              </a:rPr>
              <a:t>PS-PQ  ·  STRONG Interaction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463040"/>
            <a:ext cx="5181447" cy="20116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27478"/>
            <a:ext cx="5181447" cy="482803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73552"/>
            <a:ext cx="499856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1D left — compact PS-PQ complex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39312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39312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B02828"/>
                </a:solidFill>
                <a:latin typeface="Arial"/>
              </a:rPr>
              <a:t>SO₃⁻ tightly binds quaternary N⁺ of PQ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77056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6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B02828"/>
                </a:solidFill>
                <a:latin typeface="Arial"/>
              </a:rPr>
              <a:t>PQ buried deep inside aggregate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114800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14800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B02828"/>
                </a:solidFill>
                <a:latin typeface="Arial"/>
              </a:rPr>
              <a:t>Quaternary ammonium inaccessible to bacteria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52544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52544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B02828"/>
                </a:solidFill>
                <a:latin typeface="Arial"/>
              </a:rPr>
              <a:t>PS2.5 loses antibacterial function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987552"/>
            <a:ext cx="5547207" cy="4206240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 w="6350">
            <a:solidFill>
              <a:srgbClr val="188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1097280"/>
            <a:ext cx="51814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8450"/>
                </a:solidFill>
                <a:latin typeface="Arial"/>
              </a:rPr>
              <a:t>PA-PQ  ·  WEAK Interaction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5887" y="1463040"/>
            <a:ext cx="5181447" cy="20116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2227478"/>
            <a:ext cx="5181447" cy="482803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273552"/>
            <a:ext cx="499856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1D right — loose PA-PQ complex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5887" y="3639312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8767" y="3639312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188450"/>
                </a:solidFill>
                <a:latin typeface="Arial"/>
              </a:rPr>
              <a:t>COO⁻ / SO₃⁻ of PA interacts weakly with PQ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5887" y="3877056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8767" y="3877056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188450"/>
                </a:solidFill>
                <a:latin typeface="Arial"/>
              </a:rPr>
              <a:t>PQ retains 'freedom' within loose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4114800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8767" y="4114800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188450"/>
                </a:solidFill>
                <a:latin typeface="Arial"/>
              </a:rPr>
              <a:t>Quaternary ammonium accessible → bactericidal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5887" y="4352544"/>
            <a:ext cx="16459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8767" y="4352544"/>
            <a:ext cx="499856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188450"/>
                </a:solidFill>
                <a:latin typeface="Arial"/>
              </a:rPr>
              <a:t>PA2.5 achieves dual antibacterial + antifouling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303520"/>
            <a:ext cx="11368735" cy="694944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5303520"/>
            <a:ext cx="11368735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31536"/>
            <a:ext cx="10820095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055068"/>
                </a:solidFill>
                <a:latin typeface="Arial"/>
              </a:rPr>
              <a:t>Key insight: the weaker the zwitterion–polycation interaction, the more freedom the cationic groups retain — preserving both bactericidal and antifouling function.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Materials &amp; Methods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Free-radical polymerization · LbL self-assembly · in vitro &amp; in vivo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02 ·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LbL Fabrication Process and Sample Nomenclature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2200595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987552"/>
            <a:ext cx="2200595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097280"/>
            <a:ext cx="201771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① Pretreat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408176"/>
            <a:ext cx="2017715" cy="9692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PLA or PU substrate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cleaned with ethanol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and DI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3515" y="987552"/>
            <a:ext cx="2200595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03515" y="987552"/>
            <a:ext cx="2200595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94955" y="1097280"/>
            <a:ext cx="201771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② DOPA coat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4955" y="1408176"/>
            <a:ext cx="2017715" cy="9692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Oxidized DOPA solution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mg/mL, pH 8.5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h pretreatment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5550" y="987552"/>
            <a:ext cx="2200595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95550" y="987552"/>
            <a:ext cx="2200595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6990" y="1097280"/>
            <a:ext cx="201771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③ Base layers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6990" y="1408176"/>
            <a:ext cx="2017715" cy="9692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Alternate PEI/PS or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PEI/PA dipping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(4 base layers)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585" y="987552"/>
            <a:ext cx="2200595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87585" y="987552"/>
            <a:ext cx="2200595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9025" y="1097280"/>
            <a:ext cx="201771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④ Active layers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025" y="1408176"/>
            <a:ext cx="2017715" cy="9692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Alternate PA or PS +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solution dipping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10 min each step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79620" y="987552"/>
            <a:ext cx="2200595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79620" y="987552"/>
            <a:ext cx="2200595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71060" y="1097280"/>
            <a:ext cx="201771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⑤ Dry &amp; 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1060" y="1408176"/>
            <a:ext cx="2017715" cy="9692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40°C oven drying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Stored dry until</a:t>
            </a:r>
          </a:p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experiments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15184"/>
            <a:ext cx="11368735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688336"/>
            <a:ext cx="1136873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Sample Nomenclature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017520"/>
            <a:ext cx="118872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Sample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3017520"/>
            <a:ext cx="15544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Layers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3017520"/>
            <a:ext cx="15544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Top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3017520"/>
            <a:ext cx="173736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PA/PS conc.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3017520"/>
            <a:ext cx="173736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PQ conc.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017520"/>
            <a:ext cx="15544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PA/PS type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3017520"/>
            <a:ext cx="18288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1" i="0">
                <a:solidFill>
                  <a:srgbClr val="8290A0"/>
                </a:solidFill>
                <a:latin typeface="Arial"/>
              </a:rPr>
              <a:t>Key character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264408"/>
            <a:ext cx="11368735" cy="3291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291840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91640" y="329184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29184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(cationic)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3291840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mg/mL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291840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0.5 mg/mL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329184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Zwitterionic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3291840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top → antibacterial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3611880"/>
            <a:ext cx="11368735" cy="329184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639312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91640" y="363931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37560" y="363931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 (zwitterionic)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3480" y="3639312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mg/mL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3639312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1.0 mg/mL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41080" y="363931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Zwitterionic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87000" y="3639312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055068"/>
                </a:solidFill>
                <a:latin typeface="Arial"/>
              </a:rPr>
              <a:t>Dual: AB + antifouling 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959352"/>
            <a:ext cx="11368735" cy="3291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986784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PS2.0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40" y="398678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37560" y="398678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(cationic)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3986784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mg/mL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12280" y="3986784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0.5 mg/mL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41080" y="398678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Anionic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3986784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top → antibacterial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4306824"/>
            <a:ext cx="113687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4334256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43342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7560" y="43342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PS (anionic)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83480" y="4334256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2 mg/mL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4334256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1.0 mg/mL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41080" y="43342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Anionic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000" y="433425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Shielded PQ → poor AB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654296"/>
            <a:ext cx="11368735" cy="3291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4681728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PA5.0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91640" y="468172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37560" y="468172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(cationic)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83480" y="4681728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5 mg/mL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12280" y="4681728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1.0 mg/mL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41080" y="4681728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Zwitterionic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87000" y="4681728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More layers, PQ top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" y="5001768"/>
            <a:ext cx="113687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1480" y="5029200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PA5.5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5029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37560" y="5029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 (zwitterionic)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83480" y="5029200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5 mg/mL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5029200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1.5 mg/mL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41080" y="5029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Zwitterionic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87000" y="5029200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More layers, dual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349240"/>
            <a:ext cx="11368735" cy="3291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1480" y="5376672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PS5.0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91640" y="537667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7560" y="537667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PQ (cationic)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83480" y="5376672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5 mg/mL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5376672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1.0 mg/mL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41080" y="5376672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Anionic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287000" y="5376672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More layers, PQ top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1480" y="5696712"/>
            <a:ext cx="11368735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5724144"/>
            <a:ext cx="118872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PS5.5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91640" y="572414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37560" y="572414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PS (anionic)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83480" y="5724144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5 mg/mL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12280" y="5724144"/>
            <a:ext cx="17373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1.5 mg/mL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41080" y="5724144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Anionic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87000" y="5724144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Shielded PQ → poor 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Solution Interactions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ITC · turbidity · viscosity · DLS · fluorescence quenching · zeta potential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03 · SOLUTION 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Turbidity and Aggregate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949440" cy="5065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912546"/>
            <a:ext cx="6949440" cy="121578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1B,C — Absorbance at 550 nm vs PQ volume / turbidity photos before &amp; after equilibrium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024128"/>
            <a:ext cx="457200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Turbidity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1371600"/>
            <a:ext cx="4572000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481328"/>
            <a:ext cx="45720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85066"/>
                </a:solidFill>
                <a:latin typeface="Arial"/>
              </a:rPr>
              <a:t>PS-PQ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773936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773936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Absorbance ↑ to 1.79 at 1.5 eq PQ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020824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020824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Turbidity stable after equilibrium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267712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267712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Compact, insoluble aggregates formed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514600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514600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Strong anion–cation interaction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926080"/>
            <a:ext cx="45720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076E8A"/>
                </a:solidFill>
                <a:latin typeface="Arial"/>
              </a:rPr>
              <a:t>PA-PQ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218688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218688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Absorbance ↑ then drops to 1.33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465576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465576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PA-PQ clarifies at equilibrium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712464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712464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Loose aggregates easily disrupted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3959352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3959352"/>
            <a:ext cx="431596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Weak electrostatic interaction confirmed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4224528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E0F2F8"/>
          </a:solidFill>
          <a:ln w="6350">
            <a:solidFill>
              <a:srgbClr val="076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9832" y="4370832"/>
            <a:ext cx="4242816" cy="1554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055068"/>
                </a:solidFill>
                <a:latin typeface="Arial"/>
              </a:rPr>
              <a:t>The weak electrostatic interaction in PA-PQ allows water molecules to penetrate the aggregate, disrupting the complex and leaving both PA and PQ functional groups exposed — the mechanistic basis for dual function.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03 · SOLUTION 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ITC: Thermodynamics of Co-assembly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949440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90979"/>
            <a:ext cx="6949440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63824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1E — ΔG, ΔH, −TΔS bar chart for PS-PQ and PA-PQ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74720"/>
            <a:ext cx="6949440" cy="2578608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54591"/>
            <a:ext cx="6949440" cy="61886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1F — Cumulative heat vs volume of PS or PA added to PQ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024128"/>
            <a:ext cx="457200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ITC Key Findings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1371600"/>
            <a:ext cx="4572000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35240" y="1481328"/>
            <a:ext cx="457200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63256" y="1572768"/>
            <a:ext cx="14630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ΔG &lt;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3256" y="1847088"/>
            <a:ext cx="4261104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Both PA-PQ and PS-PQ: spontaneous co-assembly at 25°C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414016"/>
            <a:ext cx="457200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63256" y="2505456"/>
            <a:ext cx="14630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ΔH (PS-PQ)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779776"/>
            <a:ext cx="4261104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Large negative enthalpy — enthalpically driven, strong binding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3346704"/>
            <a:ext cx="457200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3256" y="3438144"/>
            <a:ext cx="14630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ΔH (PA-PQ)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712464"/>
            <a:ext cx="4261104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Smaller enthalpy change — weaker binding, entropy contribution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4279392"/>
            <a:ext cx="457200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63256" y="4370832"/>
            <a:ext cx="14630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8290A0"/>
                </a:solidFill>
                <a:latin typeface="Arial"/>
              </a:rPr>
              <a:t>−TΔS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4645152"/>
            <a:ext cx="4261104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Entropy term larger for PA-PQ, consistent with loose/dynamic complex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5212080"/>
            <a:ext cx="457200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5303520"/>
            <a:ext cx="14630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PS vs 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5577840"/>
            <a:ext cx="4261104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PS-PQ enthalpy change much larger at first drip → charge density drives interaction strength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03 · SOLUTION 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Viscosity and Aggregate Particle Size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47207" cy="320040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203704"/>
            <a:ext cx="5547207" cy="7680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86784"/>
            <a:ext cx="536432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1G — Viscosity (mPa·s) vs shear rate (1/s)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987552"/>
            <a:ext cx="5547207" cy="320040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203704"/>
            <a:ext cx="5547207" cy="7680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3986784"/>
            <a:ext cx="536432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1J — DLS particle size distribution before/after equilibrium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315968"/>
            <a:ext cx="5547207" cy="17373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4443984"/>
            <a:ext cx="52180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Viscosity Interpretation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4754880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754880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PQ ~2, PS ~8, PA ~4 mPa·s (individual)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974336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974336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PS-PQ: viscosity decreases vs PS alone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519379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5193792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PA-PQ: viscosity increases vs PA alone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541324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" y="5413248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Gel-like PA-PQ network → loose cross-linking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" y="563270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" y="5632704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Confirms weak but stable co-assembly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4315968"/>
            <a:ext cx="5547207" cy="17373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7599" y="4443984"/>
            <a:ext cx="52180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Particle Size (DLS)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7599" y="4754880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2191" y="4754880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PS-PQ: size increases monotonically with concentration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7599" y="4974336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2191" y="4974336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PA-PQ: size changes significantly before vs after equilibrium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7599" y="519379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2191" y="5193792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 equilibrium: smaller, more stable loose aggregates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7599" y="541324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2191" y="5413248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Charge inversion observed in PS-PQ at high PQ (10:30 ratio)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7599" y="563270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2191" y="5632704"/>
            <a:ext cx="505343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Consistent with turbidity and ITC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03 · SOLUTION 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Fluorescence Quenching and Zeta Potential in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035040" cy="24688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25726"/>
            <a:ext cx="6035040" cy="592531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55264"/>
            <a:ext cx="58521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1H — Fluorescence microscopy images PS-PQ vs PA-PQ (scale 200 µm)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84448"/>
            <a:ext cx="6035040" cy="24688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22622"/>
            <a:ext cx="6035040" cy="592531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58521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1I — Zeta potential vs concentration ratio PS-PQ and PA-PQ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024128"/>
            <a:ext cx="526694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8290A0"/>
                </a:solidFill>
                <a:latin typeface="Arial"/>
              </a:rPr>
              <a:t>FLUORESCENCE QUENCHING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298448"/>
            <a:ext cx="2286000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385066"/>
                </a:solidFill>
                <a:latin typeface="Arial"/>
              </a:rPr>
              <a:t>34.25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298448"/>
            <a:ext cx="2834640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076E8A"/>
                </a:solidFill>
                <a:latin typeface="Arial"/>
              </a:rPr>
              <a:t>43.59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1883664"/>
            <a:ext cx="22860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85066"/>
                </a:solidFill>
                <a:latin typeface="Arial"/>
              </a:rPr>
              <a:t>PS-PQ avg intensity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83664"/>
            <a:ext cx="283464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076E8A"/>
                </a:solidFill>
                <a:latin typeface="Arial"/>
              </a:rPr>
              <a:t>PA-PQ avg intensity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139696"/>
            <a:ext cx="5266944" cy="4937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Lower PS-PQ intensity → stronger fluorescence quenching → tighter complex.</a:t>
            </a:r>
          </a:p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Higher PA-PQ intensity → weaker quenching → looser, more open complex.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724912"/>
            <a:ext cx="526694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2852928"/>
            <a:ext cx="526694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8290A0"/>
                </a:solidFill>
                <a:latin typeface="Arial"/>
              </a:rPr>
              <a:t>ZETA POTENTIAL (SOLUTION)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182112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82112"/>
            <a:ext cx="50292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 initially negative (PA anionic character at pH 7.4)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657600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50292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Zeta shifts positive as PQ concentration increases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133088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133088"/>
            <a:ext cx="50292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At high PQ: charge inversion → positively charged complexes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4608576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608576"/>
            <a:ext cx="50292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 aggregates incorporate water → larger, softer at equilibrium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5084064"/>
            <a:ext cx="14630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5084064"/>
            <a:ext cx="50292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PS-PQ: consistently more negative due to strong SO₃⁻ / N⁺ binding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Coating Properties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QCM-d · hydration · zeta potential · XPS · AFM · WCA · stability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04 · COATING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QCM-d: Real-Time Assembly and Hydration Capacity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583680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90979"/>
            <a:ext cx="6583680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63824"/>
            <a:ext cx="64008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2B — Δf (×100 Hz) vs time: PS-PQ (left) and PA-PQ (right) LbL assembly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6583680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65929"/>
            <a:ext cx="6583680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64008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2H — ΔF and ΔD during ethanol/water alternation (hydration test) for PS-PQ and PA-PQ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1024128"/>
            <a:ext cx="451073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Assembly Kinetics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1335024"/>
            <a:ext cx="4510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426464"/>
            <a:ext cx="4510735" cy="133502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80" y="1426464"/>
            <a:ext cx="45720" cy="133502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34072" y="1536192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PA-PQ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2" y="1828800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076E8A"/>
                </a:solidFill>
                <a:latin typeface="Arial"/>
              </a:rPr>
              <a:t>Δf = 156 ppm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066544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076E8A"/>
                </a:solidFill>
                <a:latin typeface="Arial"/>
              </a:rPr>
              <a:t>ΔD = 559 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2340864"/>
            <a:ext cx="425470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More mass · softer film · higher hydration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2889504"/>
            <a:ext cx="4510735" cy="133502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2889504"/>
            <a:ext cx="45720" cy="1335024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2999232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PS-PQ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3291840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85066"/>
                </a:solidFill>
                <a:latin typeface="Arial"/>
              </a:rPr>
              <a:t>Δf = 89 ppm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3529584"/>
            <a:ext cx="4254703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85066"/>
                </a:solidFill>
                <a:latin typeface="Arial"/>
              </a:rPr>
              <a:t>ΔD = 225 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4072" y="3803904"/>
            <a:ext cx="425470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Less mass · stiffer film · compact structure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4334256"/>
            <a:ext cx="4510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4462272"/>
            <a:ext cx="451073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Hydration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754880"/>
            <a:ext cx="4510735" cy="12984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When liquid switched from anhydrous to 90% ethanol:</a:t>
            </a:r>
          </a:p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PA-PQ: Δf first increases then decreases → rapidly absorbs water, swells.</a:t>
            </a:r>
          </a:p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PS-PQ: Δf responds less → compact structure, limited water uptake.</a:t>
            </a:r>
          </a:p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Confirms strong hydration capacity of PA-PQ coating.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04 · COATING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Surface Zeta Potential and XPS Elemental Composition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25726"/>
            <a:ext cx="5303520" cy="592531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55264"/>
            <a:ext cx="512064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2C — Zeta potential (mV) vs assembly layer number: PS2.5 and PA2.5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987552"/>
            <a:ext cx="5790895" cy="24688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1925726"/>
            <a:ext cx="5790895" cy="592531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255264"/>
            <a:ext cx="5608015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2E,F — XPS N element% and S element% per sample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584448"/>
            <a:ext cx="5303520" cy="2468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584448"/>
            <a:ext cx="5303520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712464"/>
            <a:ext cx="497433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Zeta Potential (Surface)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404164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041648"/>
            <a:ext cx="480974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Zeta oscillates +/− with each layer (alternating PQ/PA deposition)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27939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4279392"/>
            <a:ext cx="480974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When PQ is top layer (PA2.0, PS2.0): positive 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" y="4517136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4517136"/>
            <a:ext cx="480974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When PA is top layer (PA2.5): near-neutral → antifouling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4754880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" y="4754880"/>
            <a:ext cx="480974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When PS is top layer (PS2.5): negative 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" y="499262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4992624"/>
            <a:ext cx="480974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Layer-by-layer buildup confirmed by alternating charge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3584448"/>
            <a:ext cx="5790895" cy="2468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89320" y="3584448"/>
            <a:ext cx="5790895" cy="36576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3912" y="3712464"/>
            <a:ext cx="546171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XPS Composition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912" y="404164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F6206"/>
                </a:solidFill>
                <a:latin typeface="Arial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8504" y="4041648"/>
            <a:ext cx="529711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PLA (bare): no N or S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3912" y="427939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F6206"/>
                </a:solidFill>
                <a:latin typeface="Arial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4279392"/>
            <a:ext cx="529711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All coated surfaces: N% and S% detected → coating confirmed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53912" y="4517136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F6206"/>
                </a:solidFill>
                <a:latin typeface="Arial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4517136"/>
            <a:ext cx="529711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 samples: higher N% (sulfobetaine 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3912" y="4754880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F6206"/>
                </a:solidFill>
                <a:latin typeface="Arial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8504" y="4754880"/>
            <a:ext cx="529711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 samples: higher S% (sulfopropyl 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53912" y="499262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F6206"/>
                </a:solidFill>
                <a:latin typeface="Arial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4992624"/>
            <a:ext cx="5297119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XPS verifies successful LbL assembly of both polymer types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04 · COATING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AFM Topography and Surface Roughness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11368735" cy="29260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99462"/>
            <a:ext cx="11368735" cy="70225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12464"/>
            <a:ext cx="11185855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2I — AFM 3D topography: PLA, PS2.0, PS2.5, PA2.0, PA2.5 (scale 1.8 µm × 1.8 µm)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041648"/>
            <a:ext cx="11368735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114800"/>
            <a:ext cx="1136873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Surface Roughness — AFM Parameters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443984"/>
            <a:ext cx="173736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Sample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443984"/>
            <a:ext cx="21031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Rq (nm)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443984"/>
            <a:ext cx="21031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Ra (nm)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43984"/>
            <a:ext cx="21031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4443984"/>
            <a:ext cx="310896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Interpretation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672584"/>
            <a:ext cx="11368735" cy="40233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700016"/>
            <a:ext cx="17373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E4A58"/>
                </a:solidFill>
                <a:latin typeface="Arial"/>
              </a:rPr>
              <a:t>PLA (bare)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700016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055068"/>
                </a:solidFill>
                <a:latin typeface="Arial"/>
              </a:rPr>
              <a:t>1.06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700016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055068"/>
                </a:solidFill>
                <a:latin typeface="Arial"/>
              </a:rPr>
              <a:t>0.67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00016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700016"/>
            <a:ext cx="31089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Flat substrate baseline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093208"/>
            <a:ext cx="11368735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120640"/>
            <a:ext cx="17373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E4A58"/>
                </a:solidFill>
                <a:latin typeface="Arial"/>
              </a:rPr>
              <a:t>PA-PQ coatings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120640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Decreases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120640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Decreases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120640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↓ per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5120640"/>
            <a:ext cx="31089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Regions filled by PA+PQ; smoother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513832"/>
            <a:ext cx="11368735" cy="40233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541264"/>
            <a:ext cx="17373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E4A58"/>
                </a:solidFill>
                <a:latin typeface="Arial"/>
              </a:rPr>
              <a:t>PS-PQ coatings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5541264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Increases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5541264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Increases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541264"/>
            <a:ext cx="21031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↑ per layer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5541264"/>
            <a:ext cx="310896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Island growth; uneven PQ distribution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04 · COATING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Water Contact Angle: Static, Advancing, and Receding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583680" cy="35661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342692"/>
            <a:ext cx="6583680" cy="85587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52544"/>
            <a:ext cx="64008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2G — WCA bar chart (static, advancing, receding angles) for all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024128"/>
            <a:ext cx="451073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Key Values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335024"/>
            <a:ext cx="4510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389888"/>
            <a:ext cx="95097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8290A0"/>
                </a:solidFill>
                <a:latin typeface="Arial"/>
              </a:rPr>
              <a:t>Static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1389888"/>
            <a:ext cx="95097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8290A0"/>
                </a:solidFill>
                <a:latin typeface="Arial"/>
              </a:rPr>
              <a:t>Advancing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744" y="1389888"/>
            <a:ext cx="95097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8290A0"/>
                </a:solidFill>
                <a:latin typeface="Arial"/>
              </a:rPr>
              <a:t>Receding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1627632"/>
            <a:ext cx="4510735" cy="7315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80" y="1627632"/>
            <a:ext cx="45720" cy="73152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34072" y="1847088"/>
            <a:ext cx="100584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PLA (bare)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179222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B02828"/>
                </a:solidFill>
                <a:latin typeface="Arial"/>
              </a:rPr>
              <a:t>88.73°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18904" y="179222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B02828"/>
                </a:solidFill>
                <a:latin typeface="Arial"/>
              </a:rPr>
              <a:t>~82°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6456" y="179222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B02828"/>
                </a:solidFill>
                <a:latin typeface="Arial"/>
              </a:rPr>
              <a:t>~65°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2450592"/>
            <a:ext cx="4510735" cy="7315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2450592"/>
            <a:ext cx="45720" cy="731520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2670048"/>
            <a:ext cx="100584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PS2.0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2" y="261518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~70°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18904" y="261518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~65°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6456" y="261518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~48°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9480" y="3273552"/>
            <a:ext cx="4510735" cy="7315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69480" y="3273552"/>
            <a:ext cx="45720" cy="731520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34072" y="3493008"/>
            <a:ext cx="100584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1352" y="343814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~65°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18904" y="343814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~60°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06456" y="343814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385066"/>
                </a:solidFill>
                <a:latin typeface="Arial"/>
              </a:rPr>
              <a:t>~44°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9480" y="4096512"/>
            <a:ext cx="4510735" cy="7315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69480" y="4096512"/>
            <a:ext cx="45720" cy="73152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34072" y="4315968"/>
            <a:ext cx="100584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PA2.0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426110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076E8A"/>
                </a:solidFill>
                <a:latin typeface="Arial"/>
              </a:rPr>
              <a:t>53.3°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8904" y="426110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076E8A"/>
                </a:solidFill>
                <a:latin typeface="Arial"/>
              </a:rPr>
              <a:t>~46°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06456" y="426110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076E8A"/>
                </a:solidFill>
                <a:latin typeface="Arial"/>
              </a:rPr>
              <a:t>~28°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69480" y="4919472"/>
            <a:ext cx="4510735" cy="7315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69480" y="4919472"/>
            <a:ext cx="45720" cy="73152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34072" y="5138928"/>
            <a:ext cx="100584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31352" y="508406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88450"/>
                </a:solidFill>
                <a:latin typeface="Arial"/>
              </a:rPr>
              <a:t>21.58°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18904" y="508406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88450"/>
                </a:solidFill>
                <a:latin typeface="Arial"/>
              </a:rPr>
              <a:t>~18°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06456" y="5084064"/>
            <a:ext cx="950976" cy="40233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88450"/>
                </a:solidFill>
                <a:latin typeface="Arial"/>
              </a:rPr>
              <a:t>~8°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4700016"/>
            <a:ext cx="6583680" cy="1371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PA2.5 achieves WCA of 21.58° — highly hydrophilic surface. The strong hydration capacity originates from the zwitterionic sulfobetaine groups of PA, which form tight hydrogen bonds with water. PS-PQ coatings, despite anionic character, show less hydrophilicity because the strong PS-PQ interaction reduces free charged groups.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04 · COATING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Coating Stability: Fluorescence Intensity Decay in PBS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949440" cy="5065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912546"/>
            <a:ext cx="6949440" cy="121578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2D — Fluorescence intensity of PS2.5 and PA2.5 coatings vs immersion time (days)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024128"/>
            <a:ext cx="414497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Stability Findings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1335024"/>
            <a:ext cx="414497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463040"/>
            <a:ext cx="41449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8450"/>
                </a:solidFill>
                <a:latin typeface="Arial"/>
              </a:rPr>
              <a:t>PA2.5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737360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737360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Fluorescence decreases more rapidly on day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197510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975104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Then stabilizes — long-term stability stronger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21284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212848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Loose PA-PQ complex maintains structural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45059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450592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Coating does not fully fail within 10 days in PBS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889504"/>
            <a:ext cx="41449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85066"/>
                </a:solidFill>
                <a:latin typeface="Arial"/>
              </a:rPr>
              <a:t>PS2.5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163824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163824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Fluorescence decreases steadily over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401568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401568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Less initial drop but more gradual decay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639312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639312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Tighter complex more susceptible to dissociation?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3877056"/>
            <a:ext cx="146304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385066"/>
                </a:solidFill>
                <a:latin typeface="Arial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3877056"/>
            <a:ext cx="396209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Both coatings retain function over the study period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4462272"/>
            <a:ext cx="4144975" cy="1591056"/>
          </a:xfrm>
          <a:prstGeom prst="roundRect">
            <a:avLst>
              <a:gd name="adj" fmla="val 4000"/>
            </a:avLst>
          </a:prstGeom>
          <a:solidFill>
            <a:srgbClr val="E0F2F8"/>
          </a:solidFill>
          <a:ln w="6350">
            <a:solidFill>
              <a:srgbClr val="076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9832" y="4608575"/>
            <a:ext cx="3815791" cy="13533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055068"/>
                </a:solidFill>
                <a:latin typeface="Arial"/>
              </a:rPr>
              <a:t>The PA2.5 coating demonstrates that the loose co-assembly structure does not compromise durability. The initial fluorescence decrease reflects initial rearrangement; subsequent plateau shows the coating reaches a stable equilibrium state in aqueous conditions.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Antifouling &amp; Antithrombotic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Protein, cell, and whole-blood adhesion · ex vivo blood circulation model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05 · ANTIFOULING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Protein Adsorption and Cell Adhesion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92927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90979"/>
            <a:ext cx="5592927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6382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3A,B — FITC-BSA fluorescence images + quantitative area ratio (%)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987552"/>
            <a:ext cx="5592927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1890979"/>
            <a:ext cx="5592927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316382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3C,D — L929 cell adhesion at 1d and 3d (CCK-8, scale 200 µm) + quantification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93008"/>
            <a:ext cx="11368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" y="3639312"/>
            <a:ext cx="5547207" cy="113385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639312"/>
            <a:ext cx="45720" cy="113385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749040"/>
            <a:ext cx="52911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Protein (BSA-FITC)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041648"/>
            <a:ext cx="5291175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 dramatically reduces FITC-BSA adsorption. The hydration shell acts as an entropic barrier against protein adsorption. PS-PQ shows less reduction (weaker hydration).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39312"/>
            <a:ext cx="5547207" cy="113385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3007" y="3639312"/>
            <a:ext cx="45720" cy="113385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3749040"/>
            <a:ext cx="52911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L929 Fibroblasts — 1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4041648"/>
            <a:ext cx="5291175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Both PA2.0 and PA2.5 significantly suppress fibroblast adhesion. PS2.0 shows slight reduction; PS2.5 similar to PLA.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901184"/>
            <a:ext cx="5547207" cy="113385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4901184"/>
            <a:ext cx="45720" cy="1133856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5010912"/>
            <a:ext cx="52911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L929 Fibroblasts — 3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303520"/>
            <a:ext cx="5291175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 maintains minimal cell adhesion at day 3. Sustained antifouling performance over extended periods. Consistent with WCA and QCM-d hydration data.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01184"/>
            <a:ext cx="5547207" cy="113385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4901184"/>
            <a:ext cx="45720" cy="1133856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7599" y="5010912"/>
            <a:ext cx="529117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Mechanism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7599" y="5303520"/>
            <a:ext cx="5291175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Zwitterionic sulfobetaine groups (PA) bind water tightly via electrostatic and H-bond interactions → dense hydration layer repels proteins and cells.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05 · ANTIFOULING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Whole-Blood Adhesion and Ex Vivo Antithrombotic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035040" cy="17373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647748"/>
            <a:ext cx="6035040" cy="41696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23744"/>
            <a:ext cx="58521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3E,F — Whole-blood cell adhesion fluorescence images + area ratio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987552"/>
            <a:ext cx="544982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1" i="0">
                <a:solidFill>
                  <a:srgbClr val="18222E"/>
                </a:solidFill>
                <a:latin typeface="Arial"/>
              </a:rPr>
              <a:t>Thrombus Coverage (%)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298448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46136" y="1400860"/>
            <a:ext cx="3547872" cy="160934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6136" y="1400860"/>
            <a:ext cx="3512393" cy="160934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48872" y="1298448"/>
            <a:ext cx="6400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99.0%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00784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46136" y="1803196"/>
            <a:ext cx="3547872" cy="160934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803196"/>
            <a:ext cx="3444983" cy="160934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548872" y="1700784"/>
            <a:ext cx="6400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97.1%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103120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46136" y="2205532"/>
            <a:ext cx="3547872" cy="160934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46136" y="2205532"/>
            <a:ext cx="3182441" cy="160934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48872" y="2103120"/>
            <a:ext cx="6400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F6206"/>
                </a:solidFill>
                <a:latin typeface="Arial"/>
              </a:rPr>
              <a:t>89.7%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505456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46136" y="2607868"/>
            <a:ext cx="3547872" cy="160934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46136" y="2607868"/>
            <a:ext cx="1075005" cy="16093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548872" y="2505456"/>
            <a:ext cx="6400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30.3%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907792"/>
            <a:ext cx="118872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46136" y="3010204"/>
            <a:ext cx="3547872" cy="160934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46136" y="3010204"/>
            <a:ext cx="109984" cy="16093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548872" y="2907792"/>
            <a:ext cx="64008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3.1%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852928"/>
            <a:ext cx="6035040" cy="173736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513124"/>
            <a:ext cx="6035040" cy="41696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389120"/>
            <a:ext cx="58521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3H,I — Tube photographs after blood circulation + surface coverage 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3054096"/>
            <a:ext cx="544982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1" i="0">
                <a:solidFill>
                  <a:srgbClr val="18222E"/>
                </a:solidFill>
                <a:latin typeface="Arial"/>
              </a:rPr>
              <a:t>Thrombus Mass Increase (%)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3364992"/>
            <a:ext cx="11887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PLA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46136" y="3462284"/>
            <a:ext cx="3547872" cy="152887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46136" y="3462284"/>
            <a:ext cx="5424696" cy="152887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548872" y="3364992"/>
            <a:ext cx="64008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02828"/>
                </a:solidFill>
                <a:latin typeface="Arial"/>
              </a:rPr>
              <a:t>152.9%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749040"/>
            <a:ext cx="11887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PS2.0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46136" y="3846332"/>
            <a:ext cx="3547872" cy="152887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46136" y="3846332"/>
            <a:ext cx="3203728" cy="152887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548872" y="3749040"/>
            <a:ext cx="64008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F6206"/>
                </a:solidFill>
                <a:latin typeface="Arial"/>
              </a:rPr>
              <a:t>90.3%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4133088"/>
            <a:ext cx="11887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PS2.5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4230380"/>
            <a:ext cx="3547872" cy="152887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46136" y="4230380"/>
            <a:ext cx="2916350" cy="152887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548872" y="4133088"/>
            <a:ext cx="64008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BF6206"/>
                </a:solidFill>
                <a:latin typeface="Arial"/>
              </a:rPr>
              <a:t>82.2%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4517136"/>
            <a:ext cx="11887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46136" y="4614428"/>
            <a:ext cx="3547872" cy="152887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46136" y="4614428"/>
            <a:ext cx="1862632" cy="152887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548872" y="4517136"/>
            <a:ext cx="64008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52.5%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4901184"/>
            <a:ext cx="118872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4998476"/>
            <a:ext cx="3547872" cy="152887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46136" y="4998476"/>
            <a:ext cx="1834249" cy="152887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548872" y="4901184"/>
            <a:ext cx="640080" cy="34747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8450"/>
                </a:solidFill>
                <a:latin typeface="Arial"/>
              </a:rPr>
              <a:t>51.7%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4718303"/>
            <a:ext cx="6035040" cy="1335024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225612"/>
            <a:ext cx="6035040" cy="32040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852159"/>
            <a:ext cx="58521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3K — SEM: platelet morphology on PLA, PS2.0, PS2.5, PA2.0, PA2.5 (scale 10 µm)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20840" y="4718303"/>
            <a:ext cx="5449824" cy="1335024"/>
          </a:xfrm>
          <a:prstGeom prst="roundRect">
            <a:avLst>
              <a:gd name="adj" fmla="val 4000"/>
            </a:avLst>
          </a:prstGeom>
          <a:solidFill>
            <a:srgbClr val="E0F2F8"/>
          </a:solidFill>
          <a:ln w="6350">
            <a:solidFill>
              <a:srgbClr val="076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67144" y="4864608"/>
            <a:ext cx="5120640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055068"/>
                </a:solidFill>
                <a:latin typeface="Arial"/>
              </a:rPr>
              <a:t>PA2.5 reduces thrombus coverage from 99.0% → 3.1%. SEM confirms rounded (inactive) platelets on PA2.5 vs spread/activated platelets on PLA. Mass increase reflects residual saline — actual thrombus formation is near zero.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Antibacterial Performance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MIC · contact sterilization · live/dead staining · SEM morphology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06 · ANTIBACTERIAL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Minimum Inhibitory Concentration (MIC) — Full 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987552"/>
            <a:ext cx="1136873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S. aureus growth inhibition (√ = inhibited, × = not inhibited) at concentrations 1/2 M through 1/64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371600"/>
            <a:ext cx="5547207" cy="310896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371600"/>
            <a:ext cx="5364327" cy="31089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rial"/>
              </a:rPr>
              <a:t>PS/PQ — S. aureus MIC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1/2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1/4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1/8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1/16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1/32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1/64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029968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029968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1965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6829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1693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557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1421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4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62856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2432304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432304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2/0.2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1965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8308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829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1693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8036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6557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2900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1421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7764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62856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26280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2834640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834640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2/0.5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1965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8308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6829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3172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1693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8036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6557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2900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1421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7764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62856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26280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3236976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236976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1965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78308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6829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3172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91693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8036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46557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2900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01421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4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62856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26280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3639312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3639312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81965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8308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6829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91693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88036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46557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2900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01421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7764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62856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26280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4041648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4041648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2/3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81965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8308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6829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3172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91693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8036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6557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2900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01421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97764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562856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26280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33007" y="1371600"/>
            <a:ext cx="5547207" cy="31089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24447" y="1371600"/>
            <a:ext cx="5364327" cy="31089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rial"/>
              </a:rPr>
              <a:t>PA/PQ — S. aureus MIC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0460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1/2 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15324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1/4 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0188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1/8 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25052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1/16 M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9916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1/32 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47807" y="1737360"/>
            <a:ext cx="54864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1" i="0">
                <a:solidFill>
                  <a:srgbClr val="8290A0"/>
                </a:solidFill>
                <a:latin typeface="Arial"/>
              </a:rPr>
              <a:t>1/64 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33007" y="2029968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4447" y="2029968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64118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0460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18982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15324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873846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70188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28710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25052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83574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9916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384383" y="208483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347807" y="202996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233007" y="2432304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324447" y="2432304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2/0.2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64118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0460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18982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5324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73846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70188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28710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25052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83574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9916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0384383" y="2487168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347807" y="2432304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33007" y="2834640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24447" y="2834640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2/0.5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64118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60460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18982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15324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73846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0188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28710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25052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83574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79916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0384383" y="2889504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347807" y="2834640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233007" y="3236976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24447" y="3236976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2/1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64118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0460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18982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15324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73846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70188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28710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25052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83574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79916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384383" y="3291840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0347807" y="3236976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233007" y="3639312"/>
            <a:ext cx="5547207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24447" y="3639312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64118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60460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18982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15324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873846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70188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28710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25052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3574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79916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0384383" y="3694176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0347807" y="3639312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233007" y="4041648"/>
            <a:ext cx="5547207" cy="40233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324447" y="4041648"/>
            <a:ext cx="118872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E4A58"/>
                </a:solidFill>
                <a:latin typeface="Arial"/>
              </a:rPr>
              <a:t>M 2/3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764118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460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18982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15324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73846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70188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928710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25052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983574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D8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979916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188450"/>
                </a:solidFill>
                <a:latin typeface="Arial"/>
              </a:rPr>
              <a:t>√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10384383" y="4096512"/>
            <a:ext cx="475488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347807" y="4041648"/>
            <a:ext cx="54864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B0BCC8"/>
                </a:solidFill>
                <a:latin typeface="Arial"/>
              </a:rPr>
              <a:t>×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411480" y="4590288"/>
            <a:ext cx="11368735" cy="1463040"/>
          </a:xfrm>
          <a:prstGeom prst="roundRect">
            <a:avLst>
              <a:gd name="adj" fmla="val 4000"/>
            </a:avLst>
          </a:prstGeom>
          <a:solidFill>
            <a:srgbClr val="FBEFD8"/>
          </a:solidFill>
          <a:ln w="6350">
            <a:solidFill>
              <a:srgbClr val="BF62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94360" y="4736592"/>
            <a:ext cx="11002975" cy="11704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BF6206"/>
                </a:solidFill>
                <a:latin typeface="Arial"/>
              </a:rPr>
              <a:t>PA/PQ: effective at PA/PQ = 2/0.5, 2/1, 2/2, 2/3 mg·mL⁻¹ (MIC = 1/4 M, 1/8 M, 1/16 M, 1/32 M). PS/PQ: only 2/3 concentration shows antibacterial effect — the strong PS-PQ binding severely shields PQ. Weak interaction in PA-PQ preserves the antibacterial potency of PQ at much lower PQ concentrations.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06 · ANTIBACTERIAL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Contact Sterilization: S. aureus on All 8 Coating Variants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400800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60473"/>
            <a:ext cx="6400800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46704"/>
            <a:ext cx="62179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4B — Colony plates (PLA, PS2.0, PS2.5, PS5.0, PS5.5, PA2.0, PA2.5, PA5.0, PA5.5)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75888"/>
            <a:ext cx="6400800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79315"/>
            <a:ext cx="6400800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62179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4C — Bacterial adhesion ratio (%) all samples vs PLA=100%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987552"/>
            <a:ext cx="469361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Surface Bactericidal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1280160"/>
            <a:ext cx="469361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6600" y="1408176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86600" y="1408176"/>
            <a:ext cx="45720" cy="45720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4616" y="1499616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499616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02828"/>
                </a:solidFill>
                <a:latin typeface="Arial"/>
              </a:rPr>
              <a:t>6.87 × 10³ CFU/cm²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1499616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Baseline — high colonization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1920240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1920240"/>
            <a:ext cx="45720" cy="45720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14616" y="2011680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011680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~0 CFU/cm²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2011680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Near-complete kill (PQ top)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6600" y="2432304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86600" y="2432304"/>
            <a:ext cx="45720" cy="45720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14616" y="2523744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523744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~0 CFU/cm²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5560" y="2523744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Near-complete kill (PA top) 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86600" y="2944368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86600" y="2944368"/>
            <a:ext cx="45720" cy="45720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14616" y="3035808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PA5.0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035808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97.66% inhibition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35808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More layers, PQ top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86600" y="3456432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86600" y="3456432"/>
            <a:ext cx="45720" cy="45720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14616" y="3547872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PA5.5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3547872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97.62% inhibition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3547872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More layers, PA top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86600" y="3968496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14616" y="4059936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PS2.0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059936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Good reduction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5560" y="4059936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PQ exposed on top surface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86600" y="4480560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4480560"/>
            <a:ext cx="45720" cy="45720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4616" y="4572000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4572000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02828"/>
                </a:solidFill>
                <a:latin typeface="Arial"/>
              </a:rPr>
              <a:t>~100% adhesion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5560" y="4572000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PQ shielded — no effect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86600" y="4992624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14616" y="5084064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1000" y="5084064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Good reduction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5560" y="5084064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PQ exposed on top surface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5504688"/>
            <a:ext cx="4693615" cy="4572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381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86600" y="5504688"/>
            <a:ext cx="45720" cy="45720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14616" y="5596128"/>
            <a:ext cx="7315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222E"/>
                </a:solidFill>
                <a:latin typeface="Arial"/>
              </a:rPr>
              <a:t>PS5.5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5596128"/>
            <a:ext cx="210312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B02828"/>
                </a:solidFill>
                <a:latin typeface="Arial"/>
              </a:rPr>
              <a:t>~100% adhesion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5560" y="5596128"/>
            <a:ext cx="14932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0">
                <a:solidFill>
                  <a:srgbClr val="8290A0"/>
                </a:solidFill>
                <a:latin typeface="Arial"/>
              </a:rPr>
              <a:t>PQ shielded — no effect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06 · ANTIBACTERIAL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SYTO9/PI Live-Dead Staining and Bacterial SEM Morphology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92927" cy="29260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99462"/>
            <a:ext cx="5592927" cy="70225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1246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4D,E — SYTO9 (live) and PI (dead) fluorescence + adhesion ratio for PLA, PS2.0, PS2.5, PA2.0, PA2.5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987552"/>
            <a:ext cx="5592927" cy="292608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2099462"/>
            <a:ext cx="5592927" cy="70225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371246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4F — SEM morphology of S. aureus on PLA, PS2.0, PS2.5, PA2.0, PA2.5 (scale 1 µm)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11368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169664"/>
            <a:ext cx="1136873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Interpretation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480560"/>
            <a:ext cx="146304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Live (SYTO9)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7672" y="4480560"/>
            <a:ext cx="4011015" cy="4937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 surface shows minimal green signal — very few viable bacteria remain on surface after 6 h contact.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3007" y="4480560"/>
            <a:ext cx="146304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Dead (PI)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9199" y="4480560"/>
            <a:ext cx="4011015" cy="4937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Strong PI signal on PS2.0 and PA2.5 confirms membrane disruption by accessible PQ groups.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146304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SEM morphology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7672" y="5102352"/>
            <a:ext cx="4011015" cy="4937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Bacteria on PA2.5 show irregular shapes and cell wall rupture — characteristic of membrane-disruption killing by PQ.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5102352"/>
            <a:ext cx="146304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PA vs 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9199" y="5102352"/>
            <a:ext cx="4011015" cy="4937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All PA variants effectively kill bacteria. PS2.5 and PS5.5 show intact bacteria — PQ shielded, no killing.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06 · ANTIBACTERIAL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Confocal Laser Scanning Microscopy — Antimicrobial Adhesion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7680960" cy="5065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912546"/>
            <a:ext cx="7680960" cy="121578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4D — CLSM images: PLA, PS2.0, PS2.5, PA2.0, PA2.5 · rows: SYTO9, PI, Merged · scale bar 100 µm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1024128"/>
            <a:ext cx="341345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CLSM Summary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59" y="1335024"/>
            <a:ext cx="3413456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59" y="1444752"/>
            <a:ext cx="3413456" cy="8229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59" y="1444752"/>
            <a:ext cx="45720" cy="82296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1554480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1847088"/>
            <a:ext cx="317571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High SYTO9 (green): abundant live bacteria; minimal PI (red) signal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59" y="2377440"/>
            <a:ext cx="3413456" cy="8229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66759" y="2377440"/>
            <a:ext cx="45720" cy="82296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2487168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PS2.0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2779776"/>
            <a:ext cx="317571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Reduced SYTO9; moderate PI signal — PQ kills some bacteria from top layer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59" y="3310128"/>
            <a:ext cx="3413456" cy="8229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59" y="3310128"/>
            <a:ext cx="45720" cy="82296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3" y="3419856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3" y="3712464"/>
            <a:ext cx="317571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High SYTO9 near PLA level — PQ shielded; no effective killing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59" y="4242816"/>
            <a:ext cx="3413456" cy="8229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59" y="4242816"/>
            <a:ext cx="45720" cy="82296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3" y="4352544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3" y="4645152"/>
            <a:ext cx="317571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Very low SYTO9; strong PI — PQ accessible, effective membrane disruption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5175504"/>
            <a:ext cx="3413456" cy="8229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59" y="5175504"/>
            <a:ext cx="45720" cy="82296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3" y="5285232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3" y="5577840"/>
            <a:ext cx="317571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Near-zero SYTO9; strong PI — best antibacterial response in PA series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822960"/>
            <a:ext cx="11789359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347472"/>
            <a:ext cx="8229600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076E8A"/>
                </a:solidFill>
                <a:latin typeface="Arial"/>
              </a:rPr>
              <a:t>PA2.5 — OPTIMIZED COATING  ·  KEY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" y="1005840"/>
            <a:ext cx="3868826" cy="13716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1133856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188450"/>
                </a:solidFill>
                <a:latin typeface="Arial"/>
              </a:rPr>
              <a:t>3.1%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2029968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Thrombus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" y="2377440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(vs PLA 99.0%)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" y="2651760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79722" y="1005840"/>
            <a:ext cx="386882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79722" y="1133856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076E8A"/>
                </a:solidFill>
                <a:latin typeface="Arial"/>
              </a:rPr>
              <a:t>&gt;97.6%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9722" y="2029968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Bactericidal 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9722" y="2377440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S. aureus, 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9722" y="2651760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9988" y="1005840"/>
            <a:ext cx="3868826" cy="13716"/>
          </a:xfrm>
          <a:prstGeom prst="rect">
            <a:avLst/>
          </a:prstGeom>
          <a:solidFill>
            <a:srgbClr val="05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9988" y="1133856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055068"/>
                </a:solidFill>
                <a:latin typeface="Arial"/>
              </a:rPr>
              <a:t>21.58°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988" y="2029968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Water contact angle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9988" y="2377440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highly hydrophilic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9988" y="2651760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9456" y="3712464"/>
            <a:ext cx="3868826" cy="13716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" y="3840480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188450"/>
                </a:solidFill>
                <a:latin typeface="Arial"/>
              </a:rPr>
              <a:t>~0 CFU/cm²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" y="4736592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Surface CFU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" y="5084064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contact sterilization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9456" y="5358384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79722" y="3712464"/>
            <a:ext cx="386882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9722" y="3840480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076E8A"/>
                </a:solidFill>
                <a:latin typeface="Arial"/>
              </a:rPr>
              <a:t>&gt;99%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9722" y="4736592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In vivo kill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9722" y="5084064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rat &amp; rabbit models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79722" y="5358384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9988" y="3712464"/>
            <a:ext cx="3868826" cy="13716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9988" y="3840480"/>
            <a:ext cx="3868826" cy="8778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928" b="1" i="0">
                <a:solidFill>
                  <a:srgbClr val="188450"/>
                </a:solidFill>
                <a:latin typeface="Arial"/>
              </a:rPr>
              <a:t>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9988" y="4736592"/>
            <a:ext cx="3868826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Hemolysis 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9988" y="5084064"/>
            <a:ext cx="3868826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8290A0"/>
                </a:solidFill>
                <a:latin typeface="Arial"/>
              </a:rPr>
              <a:t>non-hemolytic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9988" y="5358384"/>
            <a:ext cx="3868826" cy="13716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Biocompatibility &amp; In Vivo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Hemolysis · cytotoxicity · rat model · rabbit jugular vein · PGLA suture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BIOCOMPATIBILITY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Hemolysis and Cytotoxicity (L929 Fibroblasts)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92927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90979"/>
            <a:ext cx="5592927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6382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5A,B — Hemolysis visual + bar chart (%) for all samples vs PC/NC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987552"/>
            <a:ext cx="5592927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1890979"/>
            <a:ext cx="5592927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316382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5C,D — L929 viability (%) at 1 day and 3 day + FDA staining images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93008"/>
            <a:ext cx="11368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621024"/>
            <a:ext cx="1136873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Hemolysis Rate (all samples &lt;2% — non-hemolytic threshold &lt;5%)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13632"/>
            <a:ext cx="2200595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23360"/>
            <a:ext cx="201771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8290A0"/>
                </a:solidFill>
                <a:latin typeface="Arial"/>
              </a:rPr>
              <a:t>~1.5%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89120"/>
            <a:ext cx="20177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03515" y="3913632"/>
            <a:ext cx="2200595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94955" y="4023360"/>
            <a:ext cx="201771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8290A0"/>
                </a:solidFill>
                <a:latin typeface="Arial"/>
              </a:rPr>
              <a:t>~1.5%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4955" y="4389120"/>
            <a:ext cx="20177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PS2.0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95550" y="3913632"/>
            <a:ext cx="2200595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6990" y="4023360"/>
            <a:ext cx="201771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076E8A"/>
                </a:solidFill>
                <a:latin typeface="Arial"/>
              </a:rPr>
              <a:t>~1.0%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6990" y="4389120"/>
            <a:ext cx="20177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PS2.5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87585" y="3913632"/>
            <a:ext cx="2200595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9025" y="4023360"/>
            <a:ext cx="201771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188450"/>
                </a:solidFill>
                <a:latin typeface="Arial"/>
              </a:rPr>
              <a:t>~0.5%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025" y="4389120"/>
            <a:ext cx="20177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PA2.0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79620" y="3913632"/>
            <a:ext cx="2200595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1060" y="4023360"/>
            <a:ext cx="201771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240" b="1" i="0">
                <a:solidFill>
                  <a:srgbClr val="188450"/>
                </a:solidFill>
                <a:latin typeface="Arial"/>
              </a:rPr>
              <a:t>~0.5%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1060" y="4389120"/>
            <a:ext cx="2017715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PA2.5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828032"/>
            <a:ext cx="11368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956048"/>
            <a:ext cx="1136873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L929 Cell Viability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5248656"/>
            <a:ext cx="11368735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All groups maintain &gt;80% L929 viability at both 1 day and 3 days — confirming non-cytotoxicity of all polymer composite coatings. PA2.0 hemolysis rate (0.5%) is the lowest, suggesting that PS and PA shield the hemolytic potential of PQ.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In Vivo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Three animal models: rat subcutaneous · rabbit jugular vein · rat PGLA suture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Overview of Three In Vivo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3667658" cy="506577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987552"/>
            <a:ext cx="3667658" cy="548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1115568"/>
            <a:ext cx="333847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Rat Subcutaneous</a:t>
            </a:r>
          </a:p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Implant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" y="1645920"/>
            <a:ext cx="3338474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1792224"/>
            <a:ext cx="3338474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Substrate: PLA sheet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Groups: PLA, PS2.5, PA2.5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Infection: S. aureus (10⁸ CFU/mL)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Read-out: day 1 and day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" y="3547872"/>
            <a:ext cx="333847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3694176"/>
            <a:ext cx="333847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076E8A"/>
                </a:solidFill>
                <a:latin typeface="Arial"/>
              </a:rPr>
              <a:t>Study aim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968496"/>
            <a:ext cx="3338474" cy="1371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Assess antibacterial efficacy and tissue biocompatibility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" y="5431536"/>
            <a:ext cx="3338474" cy="493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5619170"/>
            <a:ext cx="3338474" cy="11850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724144"/>
            <a:ext cx="315559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Schematic — Fig 6A / 7A / 8A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2018" y="987552"/>
            <a:ext cx="3667658" cy="506577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62018" y="987552"/>
            <a:ext cx="3667658" cy="54864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6610" y="1115568"/>
            <a:ext cx="333847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Rabbit Jugular</a:t>
            </a:r>
          </a:p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Vein Catheter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6610" y="1645920"/>
            <a:ext cx="3338474" cy="13716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6610" y="1792224"/>
            <a:ext cx="3338474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Substrate: PU catheter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Groups: PU, PS2.5, PA2.5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Infection: S. aureus + blood contact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Read-out: day 1 and day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6610" y="3547872"/>
            <a:ext cx="333847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6610" y="3694176"/>
            <a:ext cx="333847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85066"/>
                </a:solidFill>
                <a:latin typeface="Arial"/>
              </a:rPr>
              <a:t>Study aim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610" y="3968496"/>
            <a:ext cx="3338474" cy="1371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Assess simultaneous antibacterial AND antithrombotic performance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6610" y="5431536"/>
            <a:ext cx="3338474" cy="493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26610" y="5619170"/>
            <a:ext cx="3338474" cy="11850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8050" y="5724144"/>
            <a:ext cx="315559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Schematic — Fig 6A / 7A / 8A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2556" y="987552"/>
            <a:ext cx="3667658" cy="5065776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12556" y="987552"/>
            <a:ext cx="3667658" cy="5486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7148" y="1115568"/>
            <a:ext cx="333847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Rat PGLA Suture</a:t>
            </a:r>
          </a:p>
          <a:p>
            <a:pPr algn="l"/>
            <a:r>
              <a:rPr sz="1456" b="1" i="0">
                <a:solidFill>
                  <a:srgbClr val="18222E"/>
                </a:solidFill>
                <a:latin typeface="Arial"/>
              </a:rPr>
              <a:t>(Thigh Muscle)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7148" y="1645920"/>
            <a:ext cx="3338474" cy="13716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7148" y="1792224"/>
            <a:ext cx="3338474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Substrate: absorbable PGLA suture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Groups: PGLA, PS2.5, PA2.5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Infection: S. aureus (10⁸ CFU/mL)</a:t>
            </a:r>
          </a:p>
          <a:p>
            <a:pPr algn="l"/>
            <a:r>
              <a:rPr sz="1120" b="0" i="0">
                <a:solidFill>
                  <a:srgbClr val="3E4A58"/>
                </a:solidFill>
                <a:latin typeface="Arial"/>
              </a:rPr>
              <a:t>Read-out: day 1 and day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7148" y="3547872"/>
            <a:ext cx="3338474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7148" y="3694176"/>
            <a:ext cx="333847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188450"/>
                </a:solidFill>
                <a:latin typeface="Arial"/>
              </a:rPr>
              <a:t>Study aim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7148" y="3968496"/>
            <a:ext cx="3338474" cy="1371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Demonstrate applicability to absorbable surgical materials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77148" y="5431536"/>
            <a:ext cx="3338474" cy="493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7148" y="5619170"/>
            <a:ext cx="3338474" cy="11850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8588" y="5724144"/>
            <a:ext cx="3155594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Schematic — Fig 6A / 7A / 8A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Rat Subcutaneous Model — Bacterial Kill at Day 1 and Day 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7680960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60473"/>
            <a:ext cx="7680960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46704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6B,C — Visual images and colony plates: S. aureus at day 1 and day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75888"/>
            <a:ext cx="7680960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79315"/>
            <a:ext cx="7680960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6D — CFU quantification (log scale) at day 1 and day 3: PLA, PS2.5, PA2.5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1024128"/>
            <a:ext cx="341345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CFU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59" y="1335024"/>
            <a:ext cx="3413456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66759" y="1444752"/>
            <a:ext cx="3413456" cy="115214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59" y="1444752"/>
            <a:ext cx="45720" cy="1152144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3" y="1554480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3" y="1847088"/>
            <a:ext cx="317571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B02828"/>
                </a:solidFill>
                <a:latin typeface="Arial"/>
              </a:rPr>
              <a:t>~10⁴ CFU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2176272"/>
            <a:ext cx="3175712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High bacterial survival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59" y="2706624"/>
            <a:ext cx="3413456" cy="115214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59" y="2706624"/>
            <a:ext cx="45720" cy="1152144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3" y="2816352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3" y="3108960"/>
            <a:ext cx="317571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BF6206"/>
                </a:solidFill>
                <a:latin typeface="Arial"/>
              </a:rPr>
              <a:t>~10³–10⁴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13063" y="3438144"/>
            <a:ext cx="3175712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Partial reduction 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3968496"/>
            <a:ext cx="3413456" cy="115214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66759" y="3968496"/>
            <a:ext cx="45720" cy="115214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13063" y="4078224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13063" y="4370832"/>
            <a:ext cx="317571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88450"/>
                </a:solidFill>
                <a:latin typeface="Arial"/>
              </a:rPr>
              <a:t>~10¹–10²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13063" y="4700016"/>
            <a:ext cx="3175712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≥99% eradication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59" y="5230368"/>
            <a:ext cx="3413456" cy="115214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6759" y="5230368"/>
            <a:ext cx="45720" cy="115214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3063" y="5340096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Day 3 PA2.5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3063" y="5632704"/>
            <a:ext cx="317571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88450"/>
                </a:solidFill>
                <a:latin typeface="Arial"/>
              </a:rPr>
              <a:t>&lt; 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3063" y="5961888"/>
            <a:ext cx="3175712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Effect enhanced over time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Rat Subcutaneous — H&amp;E and Immunofluorescence (CD3/CD68)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7680960" cy="2523744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46574"/>
            <a:ext cx="7680960" cy="60569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10128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6E,F — SEM of implant surfaces + H&amp;E staining at day 1 and day 3 (scale 500 µm)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21024"/>
            <a:ext cx="7680960" cy="2432304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5299"/>
            <a:ext cx="7680960" cy="5837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6G — Immunofluorescence DAPI/CD3 and DAPI/CD68 at day 1 and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1024128"/>
            <a:ext cx="341345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Immune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59" y="1335024"/>
            <a:ext cx="3413456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66759" y="1444752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59" y="1444752"/>
            <a:ext cx="45720" cy="1042415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3" y="1536192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H&amp;E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3" y="1828800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PLA/PS2.5: significant endometrial hyperplasia, abundant inflammatory cells. PA2.5: mild tissue reaction.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59" y="2578608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66759" y="2578608"/>
            <a:ext cx="45720" cy="1042415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3" y="2670048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CD3 (T-cells)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13063" y="2962656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Area ratio: PLA ~4%, PS2.5 ~4%, PA2.5 ~1% at day 1; similar at day 3. PA2.5 significantly reduced.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66759" y="3712464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66759" y="3712464"/>
            <a:ext cx="45720" cy="1042415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3" y="3803904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CD68 (macrophages)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13063" y="4096512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Macrophage infiltration significantly reduced around PA2.5 implant — low chronic inflammation.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59" y="4846320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59" y="4846320"/>
            <a:ext cx="45720" cy="1042415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13063" y="4937760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13063" y="5230368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PA2.5 elicits a milder, more favorable host immune response — superior biocompatibility in vivo.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Rabbit Jugular Vein — Bacterial Kill and Antithrombotic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7680960" cy="2523744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46574"/>
            <a:ext cx="7680960" cy="60569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10128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7B,C — Colony plates + macroscopic view of catheters at day 1 and day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21024"/>
            <a:ext cx="7680960" cy="2432304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5299"/>
            <a:ext cx="7680960" cy="5837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7D,E — SEM of catheter surfaces + H&amp;E cross-sections of jugular vein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1024128"/>
            <a:ext cx="341345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Rabbit Model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1261872"/>
            <a:ext cx="341345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1">
                <a:solidFill>
                  <a:srgbClr val="8290A0"/>
                </a:solidFill>
                <a:latin typeface="Arial"/>
              </a:rPr>
              <a:t>Substrate: PU catheter  ·  S. aureus infection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59" y="1517904"/>
            <a:ext cx="3413456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66759" y="1645920"/>
            <a:ext cx="3413456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66759" y="1645920"/>
            <a:ext cx="45720" cy="100584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1737360"/>
            <a:ext cx="317571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PU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2011680"/>
            <a:ext cx="3175712" cy="5303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High CFU at day 1 (~10⁵) and day 3. Macroscopic thrombus visible. Severe inflammation.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59" y="2724912"/>
            <a:ext cx="3413456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59" y="2724912"/>
            <a:ext cx="45720" cy="1005840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3" y="2816352"/>
            <a:ext cx="317571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3" y="3090672"/>
            <a:ext cx="3175712" cy="5303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CFU reduced vs PU but significant thrombus still present. Antibacterial partial; thrombosis not prevented.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59" y="3803904"/>
            <a:ext cx="3413456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59" y="3803904"/>
            <a:ext cx="45720" cy="100584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3" y="3895344"/>
            <a:ext cx="317571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3" y="4169664"/>
            <a:ext cx="3175712" cy="5303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CFU &gt;99% reduction. Minimal thrombus visible. Confirms dual antibacterial + antithrombotic in vivo.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4882896"/>
            <a:ext cx="3413456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59" y="4882896"/>
            <a:ext cx="45720" cy="100584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3" y="4974336"/>
            <a:ext cx="3175712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Day 3 PA2.5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3063" y="5248656"/>
            <a:ext cx="3175712" cy="53035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Antibacterial effect further enhanced at day 3. Lumen largely patent. Superior to all controls.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Rabbit Jugular Vein — Immunofluorescence (CD31 / CD68)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7680960" cy="5065776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912546"/>
            <a:ext cx="7680960" cy="121578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749808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7F — DAPI/CD31 and DAPI/CD68 immunofluorescence: PU, PS2.5, PA2.5 at day 1 and day 3 (scale 500 µm)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1024128"/>
            <a:ext cx="341345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Histology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59" y="1335024"/>
            <a:ext cx="3413456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59" y="1444752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59" y="1444752"/>
            <a:ext cx="45720" cy="1042415"/>
          </a:xfrm>
          <a:prstGeom prst="rect">
            <a:avLst/>
          </a:prstGeom>
          <a:solidFill>
            <a:srgbClr val="385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1536192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CD31 (endothelial)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1828800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Strong in PU/PS2.5 → neovascularization from repair response. Weak in PA2.5 → less tissue damage, better biocompat.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59" y="2578608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66759" y="2578608"/>
            <a:ext cx="45720" cy="1042415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2670048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CD68 (macrophages)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2962656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Abundant macrophages in PU and PS2.5 groups. Significantly reduced around PA2.5 catheter.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59" y="3712464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59" y="3712464"/>
            <a:ext cx="45720" cy="1042415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3" y="3803904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Quantification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3" y="4096512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CD31 and CD68 area ratio both significantly lower in PA2.5 at day 1 and day 3 (p&lt;0.01).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59" y="4846320"/>
            <a:ext cx="3413456" cy="1042415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66759" y="4846320"/>
            <a:ext cx="45720" cy="1042415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3" y="4937760"/>
            <a:ext cx="3175712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Interpretation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3" y="5230368"/>
            <a:ext cx="3175712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Reduced inflammatory infiltrate and neovascularization confirms PA2.5 reduces infection-driven tissue damage.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PGLA Suture Model (Rat Thigh Muscle) — Bacterial Kill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6949440" cy="237744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90979"/>
            <a:ext cx="6949440" cy="570585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63824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8A,B — Rat thigh suture model schematic + colony plates at day 1 and day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6949440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65929"/>
            <a:ext cx="6949440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676656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8C — CFU quantification (log scale) PGLA, PS2.5, PA2.5 at day 1 and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1024128"/>
            <a:ext cx="4144975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222E"/>
                </a:solidFill>
                <a:latin typeface="Arial"/>
              </a:rPr>
              <a:t>PGLA Suture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1261872"/>
            <a:ext cx="4144975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952" b="0" i="1">
                <a:solidFill>
                  <a:srgbClr val="8290A0"/>
                </a:solidFill>
                <a:latin typeface="Arial"/>
              </a:rPr>
              <a:t>Biodegradable absorbable suture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517904"/>
            <a:ext cx="414497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1645920"/>
            <a:ext cx="4144975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1645920"/>
            <a:ext cx="45720" cy="1005840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81544" y="1737360"/>
            <a:ext cx="390723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PGLA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1544" y="2011680"/>
            <a:ext cx="16459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B02828"/>
                </a:solidFill>
                <a:latin typeface="Arial"/>
              </a:rPr>
              <a:t>~10⁶ CFU/cm²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8904" y="2011680"/>
            <a:ext cx="2169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Abundant bacteria at day 1 and day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2724912"/>
            <a:ext cx="4144975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2724912"/>
            <a:ext cx="45720" cy="1005840"/>
          </a:xfrm>
          <a:prstGeom prst="rect">
            <a:avLst/>
          </a:prstGeom>
          <a:solidFill>
            <a:srgbClr val="BF62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81544" y="2816352"/>
            <a:ext cx="390723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PS2.5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1544" y="3090672"/>
            <a:ext cx="16459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BF6206"/>
                </a:solidFill>
                <a:latin typeface="Arial"/>
              </a:rPr>
              <a:t>~10⁴–10⁵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18904" y="3090672"/>
            <a:ext cx="2169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Partial reduction; CD3/CD68 still high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5240" y="3803904"/>
            <a:ext cx="4144975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3803904"/>
            <a:ext cx="45720" cy="100584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1544" y="3895344"/>
            <a:ext cx="390723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PA2.5 day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4169664"/>
            <a:ext cx="16459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8450"/>
                </a:solidFill>
                <a:latin typeface="Arial"/>
              </a:rPr>
              <a:t>~10² CFU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18904" y="4169664"/>
            <a:ext cx="2169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Bacterial killing &gt;99%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35240" y="4882896"/>
            <a:ext cx="4144975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35240" y="4882896"/>
            <a:ext cx="45720" cy="1005840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81544" y="4974336"/>
            <a:ext cx="390723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PA2.5 day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1544" y="5248656"/>
            <a:ext cx="16459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88450"/>
                </a:solidFill>
                <a:latin typeface="Arial"/>
              </a:rPr>
              <a:t>Further 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4" y="5248656"/>
            <a:ext cx="2169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Killing enhanced; inflammation reduced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9494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91440"/>
            <a:ext cx="7315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96" b="1" i="0">
                <a:solidFill>
                  <a:srgbClr val="076E8A"/>
                </a:solidFill>
                <a:latin typeface="Arial"/>
              </a:rPr>
              <a:t>07 · IN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10896"/>
            <a:ext cx="1136873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8222E"/>
                </a:solidFill>
                <a:latin typeface="Arial"/>
              </a:rPr>
              <a:t>PGLA Suture Model — H&amp;E and Immunofluorescence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987552"/>
            <a:ext cx="5592927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60473"/>
            <a:ext cx="5592927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4670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8D — H&amp;E staining of peri-suture tissue (scale 200 µm) day 1 and day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987552"/>
            <a:ext cx="5592927" cy="2560320"/>
          </a:xfrm>
          <a:prstGeom prst="roundRect">
            <a:avLst>
              <a:gd name="adj" fmla="val 4000"/>
            </a:avLst>
          </a:prstGeom>
          <a:solidFill>
            <a:srgbClr val="F0F3F6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7" y="1960473"/>
            <a:ext cx="5592927" cy="61447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BCC8"/>
                </a:solidFill>
                <a:latin typeface="Arial"/>
              </a:rPr>
              <a:t>[ Figure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3346704"/>
            <a:ext cx="5410047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40" b="0" i="1">
                <a:solidFill>
                  <a:srgbClr val="8290A0"/>
                </a:solidFill>
                <a:latin typeface="Arial"/>
              </a:rPr>
              <a:t>Fig 8E — Immunofluorescence DAPI/CD3 and DAPI/CD68 (scale 500 µm) day 1 and day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75888"/>
            <a:ext cx="1136873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803904"/>
            <a:ext cx="11368735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Histology Key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114800"/>
            <a:ext cx="5547207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114800"/>
            <a:ext cx="45720" cy="786384"/>
          </a:xfrm>
          <a:prstGeom prst="rect">
            <a:avLst/>
          </a:prstGeom>
          <a:solidFill>
            <a:srgbClr val="B0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4187952"/>
            <a:ext cx="530946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H&amp;E — PLA/PS2.5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462272"/>
            <a:ext cx="530946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Significant endometrial hyperplasia and inflammatory cell infiltration at day 1 and day 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114800"/>
            <a:ext cx="5547207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4114800"/>
            <a:ext cx="45720" cy="78638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4187952"/>
            <a:ext cx="530946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H&amp;E — PA2.5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9311" y="4462272"/>
            <a:ext cx="530946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Markedly reduced inflammatory cell infiltration. Mild tissue reaction consistent with foreign body response.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4974336"/>
            <a:ext cx="5547207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4974336"/>
            <a:ext cx="45720" cy="786384"/>
          </a:xfrm>
          <a:prstGeom prst="rect">
            <a:avLst/>
          </a:prstGeom>
          <a:solidFill>
            <a:srgbClr val="188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" y="5047488"/>
            <a:ext cx="530946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CD3/CD68 — PA2.5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" y="5321808"/>
            <a:ext cx="530946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CD3 and CD68 area ratios significantly lower than PGLA and PS2.5 at both time points (Fig 8F, p&lt;0.001).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974336"/>
            <a:ext cx="5547207" cy="7863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5080">
            <a:solidFill>
              <a:srgbClr val="D6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974336"/>
            <a:ext cx="45720" cy="78638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5047488"/>
            <a:ext cx="530946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222E"/>
                </a:solidFill>
                <a:latin typeface="Arial"/>
              </a:rPr>
              <a:t>Overall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5321808"/>
            <a:ext cx="5309463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PA2.5 coating on absorbable suture material maintains antibacterial activity and low inflammatory response — demonstrates versatility for clinical suture applications.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365760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290A0"/>
                </a:solidFill>
                <a:latin typeface="Arial"/>
              </a:rPr>
              <a:t>SECTION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15568"/>
            <a:ext cx="11368735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256" b="1" i="0">
                <a:solidFill>
                  <a:srgbClr val="18222E"/>
                </a:solidFill>
                <a:latin typeface="Arial"/>
              </a:rPr>
              <a:t>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36576" cy="1371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11149279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E4A58"/>
                </a:solidFill>
                <a:latin typeface="Arial"/>
              </a:rPr>
              <a:t>Mechanism · comparative performance · future outlook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638544"/>
            <a:ext cx="822960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40" b="0" i="0">
                <a:solidFill>
                  <a:srgbClr val="8290A0"/>
                </a:solidFill>
                <a:latin typeface="Arial"/>
              </a:rPr>
              <a:t>Wang et al. | Biomaterials 331 (2026) 124114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638544"/>
            <a:ext cx="1188720" cy="1828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840" b="0" i="0">
                <a:solidFill>
                  <a:srgbClr val="8290A0"/>
                </a:solidFill>
                <a:latin typeface="Arial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" y="201168"/>
            <a:ext cx="82296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076E8A"/>
                </a:solidFill>
                <a:latin typeface="Arial"/>
              </a:rPr>
              <a:t>CONCLUSIONS &amp; OUTLOOK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" y="512064"/>
            <a:ext cx="11789359" cy="4389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0">
                <a:solidFill>
                  <a:srgbClr val="18222E"/>
                </a:solidFill>
                <a:latin typeface="Arial"/>
              </a:rPr>
              <a:t>Weak Co-assembly as a Strategy for Dual-Function Medical Device Coatings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" y="1024128"/>
            <a:ext cx="11789359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1115568"/>
            <a:ext cx="64008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1426464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Co-assembly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426464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 and PQ spontaneously co-assemble (ΔG &lt; 0) via weak carboxylate–ammonium interaction.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2121408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Weak interaction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21408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Looser complex leaves PQ functional groups mobile and surface-accessible.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" y="2816352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Antifouling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16352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Zwitterionic PA groups form a dense hydration shell: WCA 21.58°, thrombus 3.1%.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" y="3511296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Antibacterial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11296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Accessible PQ disrupts bacterial membranes: &gt;97.6% kill, ~0 CFU on surface.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" y="4206240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55068"/>
                </a:solidFill>
                <a:latin typeface="Arial"/>
              </a:rPr>
              <a:t>In vivo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206240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PA2.5 achieves &gt;99% bacterial eradication in three distinct animal models.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" y="4901184"/>
            <a:ext cx="128016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188450"/>
                </a:solidFill>
                <a:latin typeface="Arial"/>
              </a:rPr>
              <a:t>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901184"/>
            <a:ext cx="5029200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Hemolysis &lt;2%, L929 viability &gt;80%, mild immune response — excellent biocompatibility.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" y="5650992"/>
            <a:ext cx="6400800" cy="13716"/>
          </a:xfrm>
          <a:prstGeom prst="rect">
            <a:avLst/>
          </a:prstGeom>
          <a:solidFill>
            <a:srgbClr val="D6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" y="5797296"/>
            <a:ext cx="640080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18222E"/>
                </a:solidFill>
                <a:latin typeface="Arial"/>
              </a:rPr>
              <a:t>Future Directions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" y="6071616"/>
            <a:ext cx="2011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" y="6071616"/>
            <a:ext cx="61447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Long-term stability and in vivo durability studies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" y="6419088"/>
            <a:ext cx="2011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6419088"/>
            <a:ext cx="61447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Clinical translation to central venous catheters and orthopedic implants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" y="6766560"/>
            <a:ext cx="2011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6766560"/>
            <a:ext cx="61447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Expanded pathogen spectrum: Gram-negative bacteria, fungi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" y="7114032"/>
            <a:ext cx="2011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1" i="0">
                <a:solidFill>
                  <a:srgbClr val="076E8A"/>
                </a:solidFill>
                <a:latin typeface="Arial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7114032"/>
            <a:ext cx="6144768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0">
                <a:solidFill>
                  <a:srgbClr val="3E4A58"/>
                </a:solidFill>
                <a:latin typeface="Arial"/>
              </a:rPr>
              <a:t>Tuning ionic strength to optimize interaction strength for different applications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94576" y="1115568"/>
            <a:ext cx="4885639" cy="5120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94576" y="1115568"/>
            <a:ext cx="4885639" cy="36576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1188720"/>
            <a:ext cx="459303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18222E"/>
                </a:solidFill>
                <a:latin typeface="Arial"/>
              </a:rPr>
              <a:t>PA2.5 vs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1499616"/>
            <a:ext cx="100584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FFFFFF"/>
                </a:solidFill>
                <a:latin typeface="Arial"/>
              </a:rPr>
              <a:t>PLA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1499616"/>
            <a:ext cx="100584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FFFFFF"/>
                </a:solidFill>
                <a:latin typeface="Arial"/>
              </a:rPr>
              <a:t>PS2.5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36224" y="1499616"/>
            <a:ext cx="100584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896" b="1" i="0">
                <a:solidFill>
                  <a:srgbClr val="FFFFFF"/>
                </a:solidFill>
                <a:latin typeface="Arial"/>
              </a:rPr>
              <a:t>PA2.5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94576" y="1481328"/>
            <a:ext cx="4885639" cy="256032"/>
          </a:xfrm>
          <a:prstGeom prst="rect">
            <a:avLst/>
          </a:prstGeom>
          <a:solidFill>
            <a:srgbClr val="07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94576" y="1792224"/>
            <a:ext cx="4885639" cy="365760"/>
          </a:xfrm>
          <a:prstGeom prst="rect">
            <a:avLst/>
          </a:prstGeom>
          <a:solidFill>
            <a:srgbClr val="EB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86016" y="1792224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Thrombus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14816" y="179222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99.0%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9222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89.7%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36224" y="1792224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36224" y="179222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3.1%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94576" y="2176272"/>
            <a:ext cx="4885639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86016" y="2176272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Mass incr.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14816" y="217627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152.9%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217627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82.2%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36224" y="2176272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36224" y="217627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51.7%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94576" y="2560320"/>
            <a:ext cx="4885639" cy="365760"/>
          </a:xfrm>
          <a:prstGeom prst="rect">
            <a:avLst/>
          </a:prstGeom>
          <a:solidFill>
            <a:srgbClr val="EB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86016" y="2560320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WCA (°)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14816" y="256032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88.73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56032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~65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936224" y="2560320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36224" y="256032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21.58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94576" y="2944368"/>
            <a:ext cx="4885639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86016" y="2944368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Bact. kill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14816" y="2944368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944368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partial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36224" y="2944368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936224" y="2944368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&gt;97.6%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94576" y="3328416"/>
            <a:ext cx="4885639" cy="365760"/>
          </a:xfrm>
          <a:prstGeom prst="rect">
            <a:avLst/>
          </a:prstGeom>
          <a:solidFill>
            <a:srgbClr val="EB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86016" y="3328416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CFU/cm²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14816" y="3328416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6870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3328416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high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936224" y="3328416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36224" y="3328416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~0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94576" y="3712464"/>
            <a:ext cx="4885639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86016" y="3712464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Hemolysis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14816" y="371246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~1.5%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371246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~1.0%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36224" y="3712464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36224" y="3712464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~0.5%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94576" y="4096512"/>
            <a:ext cx="4885639" cy="365760"/>
          </a:xfrm>
          <a:prstGeom prst="rect">
            <a:avLst/>
          </a:prstGeom>
          <a:solidFill>
            <a:srgbClr val="EB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986016" y="4096512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In vivo kill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14816" y="409651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0" y="409651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partial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936224" y="4096512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936224" y="4096512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&gt;99%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94576" y="4480560"/>
            <a:ext cx="4885639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86016" y="4480560"/>
            <a:ext cx="17373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3E4A58"/>
                </a:solidFill>
                <a:latin typeface="Arial"/>
              </a:rPr>
              <a:t>CD3/CD68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14816" y="448056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B02828"/>
                </a:solidFill>
                <a:latin typeface="Arial"/>
              </a:rPr>
              <a:t>high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75520" y="448056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0" i="0">
                <a:solidFill>
                  <a:srgbClr val="3E4A58"/>
                </a:solidFill>
                <a:latin typeface="Arial"/>
              </a:rPr>
              <a:t>high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936224" y="4480560"/>
            <a:ext cx="1005840" cy="365760"/>
          </a:xfrm>
          <a:prstGeom prst="rect">
            <a:avLst/>
          </a:prstGeom>
          <a:solidFill>
            <a:srgbClr val="E0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936224" y="4480560"/>
            <a:ext cx="100584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055068"/>
                </a:solidFill>
                <a:latin typeface="Arial"/>
              </a:rPr>
              <a:t>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