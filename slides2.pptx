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77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077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91695" cy="18288"/>
          </a:xfrm>
          <a:prstGeom prst="rect">
            <a:avLst/>
          </a:prstGeom>
          <a:solidFill>
            <a:srgbClr val="D4D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1168" y="1645920"/>
            <a:ext cx="8229600" cy="54864"/>
          </a:xfrm>
          <a:prstGeom prst="rect">
            <a:avLst/>
          </a:prstGeom>
          <a:solidFill>
            <a:srgbClr val="077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1168" y="1783080"/>
            <a:ext cx="10515600" cy="146304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3136" b="1" i="0">
                <a:solidFill>
                  <a:srgbClr val="1E252E"/>
                </a:solidFill>
                <a:latin typeface="Arial"/>
              </a:rPr>
              <a:t>Co-assembly of Zwitterionic and Cationic Polymers</a:t>
            </a:r>
          </a:p>
          <a:p>
            <a:pPr algn="l"/>
            <a:r>
              <a:rPr sz="3136" b="1" i="0">
                <a:solidFill>
                  <a:srgbClr val="1E252E"/>
                </a:solidFill>
                <a:latin typeface="Arial"/>
              </a:rPr>
              <a:t>for Antibacterial and Antithrombotic Surfaces</a:t>
            </a:r>
          </a:p>
          <a:p>
            <a:pPr algn="l"/>
            <a:r>
              <a:rPr sz="3136" b="1" i="0">
                <a:solidFill>
                  <a:srgbClr val="1E252E"/>
                </a:solidFill>
                <a:latin typeface="Arial"/>
              </a:rPr>
              <a:t>via Weak Electrostatic Interactions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" y="3383280"/>
            <a:ext cx="9144000" cy="329184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456" b="0" i="0">
                <a:solidFill>
                  <a:srgbClr val="444E5A"/>
                </a:solidFill>
                <a:latin typeface="Arial"/>
              </a:rPr>
              <a:t>Wang et al. | Biomaterials 331 (2026) 124114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" y="3785615"/>
            <a:ext cx="9144000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232" b="0" i="0">
                <a:solidFill>
                  <a:srgbClr val="828E9C"/>
                </a:solidFill>
                <a:latin typeface="Arial"/>
              </a:rPr>
              <a:t>LbL coating  ·  Zwitterionic polymers  ·  Antibacterial  ·  Antithrombotic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01168" y="4663440"/>
            <a:ext cx="2468880" cy="914400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 w="6350">
            <a:solidFill>
              <a:srgbClr val="D4DB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328" y="4773168"/>
            <a:ext cx="2194560" cy="347472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2464" b="1" i="0">
                <a:solidFill>
                  <a:srgbClr val="077090"/>
                </a:solidFill>
                <a:latin typeface="Arial"/>
              </a:rPr>
              <a:t>PA2.5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" y="5120640"/>
            <a:ext cx="2194560" cy="329184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008" b="0" i="0">
                <a:solidFill>
                  <a:srgbClr val="444E5A"/>
                </a:solidFill>
                <a:latin typeface="Arial"/>
              </a:rPr>
              <a:t>Optimized dual-function coating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944368" y="4663440"/>
            <a:ext cx="2468880" cy="914400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 w="6350">
            <a:solidFill>
              <a:srgbClr val="D4DB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81528" y="4773168"/>
            <a:ext cx="2194560" cy="347472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2464" b="1" i="0">
                <a:solidFill>
                  <a:srgbClr val="077090"/>
                </a:solidFill>
                <a:latin typeface="Arial"/>
              </a:rPr>
              <a:t>&gt;97.6%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81528" y="5120640"/>
            <a:ext cx="2194560" cy="329184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008" b="0" i="0">
                <a:solidFill>
                  <a:srgbClr val="444E5A"/>
                </a:solidFill>
                <a:latin typeface="Arial"/>
              </a:rPr>
              <a:t>Bactericidal efficiency vs S. aureus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87568" y="4663440"/>
            <a:ext cx="2468880" cy="914400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 w="6350">
            <a:solidFill>
              <a:srgbClr val="D4DB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24728" y="4773168"/>
            <a:ext cx="2194560" cy="347472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2464" b="1" i="0">
                <a:solidFill>
                  <a:srgbClr val="077090"/>
                </a:solidFill>
                <a:latin typeface="Arial"/>
              </a:rPr>
              <a:t>3.1%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24728" y="5120640"/>
            <a:ext cx="2194560" cy="329184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008" b="0" i="0">
                <a:solidFill>
                  <a:srgbClr val="444E5A"/>
                </a:solidFill>
                <a:latin typeface="Arial"/>
              </a:rPr>
              <a:t>Thrombus coverage (vs PLA 99.0%)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64008" cy="731520"/>
          </a:xfrm>
          <a:prstGeom prst="rect">
            <a:avLst/>
          </a:prstGeom>
          <a:solidFill>
            <a:srgbClr val="077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13232"/>
            <a:ext cx="12191695" cy="18288"/>
          </a:xfrm>
          <a:prstGeom prst="rect">
            <a:avLst/>
          </a:prstGeom>
          <a:solidFill>
            <a:srgbClr val="D4D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347472"/>
            <a:ext cx="11423599" cy="329184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2128" b="1" i="0">
                <a:solidFill>
                  <a:srgbClr val="1E252E"/>
                </a:solidFill>
                <a:latin typeface="Arial"/>
              </a:rPr>
              <a:t>Table of Contents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83680"/>
            <a:ext cx="12191695" cy="18288"/>
          </a:xfrm>
          <a:prstGeom prst="rect">
            <a:avLst/>
          </a:prstGeom>
          <a:solidFill>
            <a:srgbClr val="D4D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" y="6620256"/>
            <a:ext cx="7315200" cy="201168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896" b="0" i="0">
                <a:solidFill>
                  <a:srgbClr val="828E9C"/>
                </a:solidFill>
                <a:latin typeface="Arial"/>
              </a:rPr>
              <a:t>Wang et al. | Biomaterials 331 (2026) 124114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20095" y="6620256"/>
            <a:ext cx="1188720" cy="201168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r"/>
            <a:r>
              <a:rPr sz="896" b="0" i="0">
                <a:solidFill>
                  <a:srgbClr val="828E9C"/>
                </a:solidFill>
                <a:latin typeface="Arial"/>
              </a:rPr>
              <a:t>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042416"/>
            <a:ext cx="5486400" cy="1115568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 w="6350">
            <a:solidFill>
              <a:srgbClr val="D4DB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1042416"/>
            <a:ext cx="54864" cy="1115568"/>
          </a:xfrm>
          <a:prstGeom prst="rect">
            <a:avLst/>
          </a:prstGeom>
          <a:solidFill>
            <a:srgbClr val="077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85216" y="1298448"/>
            <a:ext cx="402336" cy="256032"/>
          </a:xfrm>
          <a:prstGeom prst="roundRect">
            <a:avLst>
              <a:gd name="adj" fmla="val 8000"/>
            </a:avLst>
          </a:prstGeom>
          <a:solidFill>
            <a:srgbClr val="DD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5216" y="1298448"/>
            <a:ext cx="402336" cy="256032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896" b="1" i="0">
                <a:solidFill>
                  <a:srgbClr val="055068"/>
                </a:solidFill>
                <a:latin typeface="Arial"/>
              </a:rP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704" y="1225296"/>
            <a:ext cx="4754880" cy="329184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456" b="1" i="0">
                <a:solidFill>
                  <a:srgbClr val="1E252E"/>
                </a:solidFill>
                <a:latin typeface="Arial"/>
              </a:rPr>
              <a:t>Background &amp; Motivation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704" y="1591056"/>
            <a:ext cx="4754880" cy="4572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008" b="0" i="0">
                <a:solidFill>
                  <a:srgbClr val="444E5A"/>
                </a:solidFill>
                <a:latin typeface="Arial"/>
              </a:rPr>
              <a:t>Clinical need for dual-function medical device coatings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2276856"/>
            <a:ext cx="5486400" cy="1115568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 w="6350">
            <a:solidFill>
              <a:srgbClr val="D4DB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2276856"/>
            <a:ext cx="54864" cy="1115568"/>
          </a:xfrm>
          <a:prstGeom prst="rect">
            <a:avLst/>
          </a:prstGeom>
          <a:solidFill>
            <a:srgbClr val="077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85216" y="2532888"/>
            <a:ext cx="402336" cy="256032"/>
          </a:xfrm>
          <a:prstGeom prst="roundRect">
            <a:avLst>
              <a:gd name="adj" fmla="val 8000"/>
            </a:avLst>
          </a:prstGeom>
          <a:solidFill>
            <a:srgbClr val="DD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85216" y="2532888"/>
            <a:ext cx="402336" cy="256032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896" b="1" i="0">
                <a:solidFill>
                  <a:srgbClr val="055068"/>
                </a:solidFill>
                <a:latin typeface="Arial"/>
              </a:rPr>
              <a:t>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704" y="2459736"/>
            <a:ext cx="4754880" cy="329184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456" b="1" i="0">
                <a:solidFill>
                  <a:srgbClr val="1E252E"/>
                </a:solidFill>
                <a:latin typeface="Arial"/>
              </a:rPr>
              <a:t>Materials &amp; Methods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704" y="2825496"/>
            <a:ext cx="4754880" cy="4572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008" b="0" i="0">
                <a:solidFill>
                  <a:srgbClr val="444E5A"/>
                </a:solidFill>
                <a:latin typeface="Arial"/>
              </a:rPr>
              <a:t>Polymer synthesis, LbL coating, characterization toolkit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3511296"/>
            <a:ext cx="5486400" cy="1115568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 w="6350">
            <a:solidFill>
              <a:srgbClr val="D4DB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3511296"/>
            <a:ext cx="54864" cy="1115568"/>
          </a:xfrm>
          <a:prstGeom prst="rect">
            <a:avLst/>
          </a:prstGeom>
          <a:solidFill>
            <a:srgbClr val="077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85216" y="3767328"/>
            <a:ext cx="402336" cy="256032"/>
          </a:xfrm>
          <a:prstGeom prst="roundRect">
            <a:avLst>
              <a:gd name="adj" fmla="val 8000"/>
            </a:avLst>
          </a:prstGeom>
          <a:solidFill>
            <a:srgbClr val="DD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85216" y="3767328"/>
            <a:ext cx="402336" cy="256032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896" b="1" i="0">
                <a:solidFill>
                  <a:srgbClr val="055068"/>
                </a:solidFill>
                <a:latin typeface="Arial"/>
              </a:rPr>
              <a:t>03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704" y="3694176"/>
            <a:ext cx="4754880" cy="329184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456" b="1" i="0">
                <a:solidFill>
                  <a:srgbClr val="1E252E"/>
                </a:solidFill>
                <a:latin typeface="Arial"/>
              </a:rPr>
              <a:t>Solution Interactions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0704" y="4059936"/>
            <a:ext cx="4754880" cy="4572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008" b="0" i="0">
                <a:solidFill>
                  <a:srgbClr val="444E5A"/>
                </a:solidFill>
                <a:latin typeface="Arial"/>
              </a:rPr>
              <a:t>ITC, turbidity, fluorescence — weak co-assembly confirmed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4745736"/>
            <a:ext cx="5486400" cy="1115568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 w="6350">
            <a:solidFill>
              <a:srgbClr val="D4DB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57200" y="4745736"/>
            <a:ext cx="54864" cy="1115568"/>
          </a:xfrm>
          <a:prstGeom prst="rect">
            <a:avLst/>
          </a:prstGeom>
          <a:solidFill>
            <a:srgbClr val="077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585216" y="5001768"/>
            <a:ext cx="402336" cy="256032"/>
          </a:xfrm>
          <a:prstGeom prst="roundRect">
            <a:avLst>
              <a:gd name="adj" fmla="val 8000"/>
            </a:avLst>
          </a:prstGeom>
          <a:solidFill>
            <a:srgbClr val="DD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85216" y="5001768"/>
            <a:ext cx="402336" cy="256032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896" b="1" i="0">
                <a:solidFill>
                  <a:srgbClr val="055068"/>
                </a:solidFill>
                <a:latin typeface="Arial"/>
              </a:rPr>
              <a:t>04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0704" y="4928616"/>
            <a:ext cx="4754880" cy="329184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456" b="1" i="0">
                <a:solidFill>
                  <a:srgbClr val="1E252E"/>
                </a:solidFill>
                <a:latin typeface="Arial"/>
              </a:rPr>
              <a:t>Coating Properties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60704" y="5294376"/>
            <a:ext cx="4754880" cy="4572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008" b="0" i="0">
                <a:solidFill>
                  <a:srgbClr val="444E5A"/>
                </a:solidFill>
                <a:latin typeface="Arial"/>
              </a:rPr>
              <a:t>QCM-d, AFM, XPS, WCA, zeta potential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17920" y="1042416"/>
            <a:ext cx="5486400" cy="1115568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 w="6350">
            <a:solidFill>
              <a:srgbClr val="D4DB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217920" y="1042416"/>
            <a:ext cx="54864" cy="1115568"/>
          </a:xfrm>
          <a:prstGeom prst="rect">
            <a:avLst/>
          </a:prstGeom>
          <a:solidFill>
            <a:srgbClr val="077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6345936" y="1298448"/>
            <a:ext cx="402336" cy="256032"/>
          </a:xfrm>
          <a:prstGeom prst="roundRect">
            <a:avLst>
              <a:gd name="adj" fmla="val 8000"/>
            </a:avLst>
          </a:prstGeom>
          <a:solidFill>
            <a:srgbClr val="DD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45936" y="1298448"/>
            <a:ext cx="402336" cy="256032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896" b="1" i="0">
                <a:solidFill>
                  <a:srgbClr val="055068"/>
                </a:solidFill>
                <a:latin typeface="Arial"/>
              </a:rPr>
              <a:t>05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21424" y="1225296"/>
            <a:ext cx="4754880" cy="329184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456" b="1" i="0">
                <a:solidFill>
                  <a:srgbClr val="1E252E"/>
                </a:solidFill>
                <a:latin typeface="Arial"/>
              </a:rPr>
              <a:t>Antifouling &amp; Antithrombotic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21424" y="1591056"/>
            <a:ext cx="4754880" cy="4572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008" b="0" i="0">
                <a:solidFill>
                  <a:srgbClr val="444E5A"/>
                </a:solidFill>
                <a:latin typeface="Arial"/>
              </a:rPr>
              <a:t>Ex vivo blood contact — PA2.5: 3.1% thrombus coverage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17920" y="2276856"/>
            <a:ext cx="5486400" cy="1115568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 w="6350">
            <a:solidFill>
              <a:srgbClr val="D4DB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17920" y="2276856"/>
            <a:ext cx="54864" cy="1115568"/>
          </a:xfrm>
          <a:prstGeom prst="rect">
            <a:avLst/>
          </a:prstGeom>
          <a:solidFill>
            <a:srgbClr val="077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6345936" y="2532888"/>
            <a:ext cx="402336" cy="256032"/>
          </a:xfrm>
          <a:prstGeom prst="roundRect">
            <a:avLst>
              <a:gd name="adj" fmla="val 8000"/>
            </a:avLst>
          </a:prstGeom>
          <a:solidFill>
            <a:srgbClr val="DD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345936" y="2532888"/>
            <a:ext cx="402336" cy="256032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896" b="1" i="0">
                <a:solidFill>
                  <a:srgbClr val="055068"/>
                </a:solidFill>
                <a:latin typeface="Arial"/>
              </a:rPr>
              <a:t>06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21424" y="2459736"/>
            <a:ext cx="4754880" cy="329184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456" b="1" i="0">
                <a:solidFill>
                  <a:srgbClr val="1E252E"/>
                </a:solidFill>
                <a:latin typeface="Arial"/>
              </a:rPr>
              <a:t>Antibacterial Performance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21424" y="2825496"/>
            <a:ext cx="4754880" cy="4572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008" b="0" i="0">
                <a:solidFill>
                  <a:srgbClr val="444E5A"/>
                </a:solidFill>
                <a:latin typeface="Arial"/>
              </a:rPr>
              <a:t>Contact sterilization — PA2.5: &gt;97.6% bactericidal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217920" y="3511296"/>
            <a:ext cx="5486400" cy="1115568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 w="6350">
            <a:solidFill>
              <a:srgbClr val="D4DB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217920" y="3511296"/>
            <a:ext cx="54864" cy="1115568"/>
          </a:xfrm>
          <a:prstGeom prst="rect">
            <a:avLst/>
          </a:prstGeom>
          <a:solidFill>
            <a:srgbClr val="077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6345936" y="3767328"/>
            <a:ext cx="402336" cy="256032"/>
          </a:xfrm>
          <a:prstGeom prst="roundRect">
            <a:avLst>
              <a:gd name="adj" fmla="val 8000"/>
            </a:avLst>
          </a:prstGeom>
          <a:solidFill>
            <a:srgbClr val="DD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345936" y="3767328"/>
            <a:ext cx="402336" cy="256032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896" b="1" i="0">
                <a:solidFill>
                  <a:srgbClr val="055068"/>
                </a:solidFill>
                <a:latin typeface="Arial"/>
              </a:rPr>
              <a:t>07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821424" y="3694176"/>
            <a:ext cx="4754880" cy="329184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456" b="1" i="0">
                <a:solidFill>
                  <a:srgbClr val="1E252E"/>
                </a:solidFill>
                <a:latin typeface="Arial"/>
              </a:rPr>
              <a:t>Biocompatibility &amp; In Vivo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821424" y="4059936"/>
            <a:ext cx="4754880" cy="4572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008" b="0" i="0">
                <a:solidFill>
                  <a:srgbClr val="444E5A"/>
                </a:solidFill>
                <a:latin typeface="Arial"/>
              </a:rPr>
              <a:t>Hemolysis, cytotox, rat/rabbit animal models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02920" cy="6858000"/>
          </a:xfrm>
          <a:prstGeom prst="rect">
            <a:avLst/>
          </a:prstGeom>
          <a:solidFill>
            <a:srgbClr val="077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0"/>
            <a:ext cx="27432" cy="6858000"/>
          </a:xfrm>
          <a:prstGeom prst="rect">
            <a:avLst/>
          </a:prstGeom>
          <a:solidFill>
            <a:srgbClr val="DD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18288"/>
          </a:xfrm>
          <a:prstGeom prst="rect">
            <a:avLst/>
          </a:prstGeom>
          <a:solidFill>
            <a:srgbClr val="D4D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620256"/>
            <a:ext cx="7315200" cy="201168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896" b="0" i="0">
                <a:solidFill>
                  <a:srgbClr val="828E9C"/>
                </a:solidFill>
                <a:latin typeface="Arial"/>
              </a:rPr>
              <a:t>Wang et al. | Biomaterials 331 (2026) 124114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620256"/>
            <a:ext cx="1188720" cy="201168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r"/>
            <a:r>
              <a:rPr sz="896" b="0" i="0">
                <a:solidFill>
                  <a:srgbClr val="828E9C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77440"/>
            <a:ext cx="9144000" cy="36576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120" b="1" i="0">
                <a:solidFill>
                  <a:srgbClr val="077090"/>
                </a:solidFill>
                <a:latin typeface="Arial"/>
              </a:rPr>
              <a:t>SECTION 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788920"/>
            <a:ext cx="9144000" cy="7315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3808" b="1" i="0">
                <a:solidFill>
                  <a:srgbClr val="1E252E"/>
                </a:solidFill>
                <a:latin typeface="Arial"/>
              </a:rPr>
              <a:t>Background &amp; Motivation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566160"/>
            <a:ext cx="8229600" cy="36576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456" b="0" i="0">
                <a:solidFill>
                  <a:srgbClr val="444E5A"/>
                </a:solidFill>
                <a:latin typeface="Arial"/>
              </a:rPr>
              <a:t>Clinical need for dual-function medical device coatings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64008" cy="731520"/>
          </a:xfrm>
          <a:prstGeom prst="rect">
            <a:avLst/>
          </a:prstGeom>
          <a:solidFill>
            <a:srgbClr val="077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13232"/>
            <a:ext cx="12191695" cy="18288"/>
          </a:xfrm>
          <a:prstGeom prst="rect">
            <a:avLst/>
          </a:prstGeom>
          <a:solidFill>
            <a:srgbClr val="D4D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109728"/>
            <a:ext cx="5486400" cy="237744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008" b="1" i="0">
                <a:solidFill>
                  <a:srgbClr val="077090"/>
                </a:solidFill>
                <a:latin typeface="Arial"/>
              </a:rPr>
              <a:t>01 · BACKGROUND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347472"/>
            <a:ext cx="11423599" cy="329184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2128" b="1" i="0">
                <a:solidFill>
                  <a:srgbClr val="1E252E"/>
                </a:solidFill>
                <a:latin typeface="Arial"/>
              </a:rPr>
              <a:t>The Dual Challenge: Infection and Thrombosis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583680"/>
            <a:ext cx="12191695" cy="18288"/>
          </a:xfrm>
          <a:prstGeom prst="rect">
            <a:avLst/>
          </a:prstGeom>
          <a:solidFill>
            <a:srgbClr val="D4D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048" y="6620256"/>
            <a:ext cx="7315200" cy="201168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896" b="0" i="0">
                <a:solidFill>
                  <a:srgbClr val="828E9C"/>
                </a:solidFill>
                <a:latin typeface="Arial"/>
              </a:rPr>
              <a:t>Wang et al. | Biomaterials 331 (2026) 124114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20095" y="6620256"/>
            <a:ext cx="1188720" cy="201168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r"/>
            <a:r>
              <a:rPr sz="896" b="0" i="0">
                <a:solidFill>
                  <a:srgbClr val="828E9C"/>
                </a:solidFill>
                <a:latin typeface="Arial"/>
              </a:rPr>
              <a:t>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4048" y="1042416"/>
            <a:ext cx="5574639" cy="2011680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 w="6350">
            <a:solidFill>
              <a:srgbClr val="D4DB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84048" y="1042416"/>
            <a:ext cx="45720" cy="2011680"/>
          </a:xfrm>
          <a:prstGeom prst="rect">
            <a:avLst/>
          </a:prstGeom>
          <a:solidFill>
            <a:srgbClr val="077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1188720"/>
            <a:ext cx="5245455" cy="310896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456" b="1" i="0">
                <a:solidFill>
                  <a:srgbClr val="1E252E"/>
                </a:solidFill>
                <a:latin typeface="Arial"/>
              </a:rPr>
              <a:t>Bacterial Infection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1517904"/>
            <a:ext cx="5245455" cy="1444752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120" b="0" i="0">
                <a:solidFill>
                  <a:srgbClr val="444E5A"/>
                </a:solidFill>
                <a:latin typeface="Arial"/>
              </a:rPr>
              <a:t>Medical device-associated infections account for ~2 million cases per year in the USA alone. Biofilm formation on implant surfaces leads to antibiotic resistance and implant failure.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3007" y="1042416"/>
            <a:ext cx="5574639" cy="2011680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 w="6350">
            <a:solidFill>
              <a:srgbClr val="D4DB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33007" y="1042416"/>
            <a:ext cx="45720" cy="2011680"/>
          </a:xfrm>
          <a:prstGeom prst="rect">
            <a:avLst/>
          </a:prstGeom>
          <a:solidFill>
            <a:srgbClr val="077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97599" y="1188720"/>
            <a:ext cx="5245455" cy="310896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456" b="1" i="0">
                <a:solidFill>
                  <a:srgbClr val="1E252E"/>
                </a:solidFill>
                <a:latin typeface="Arial"/>
              </a:rPr>
              <a:t>Thrombosis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97599" y="1517904"/>
            <a:ext cx="5245455" cy="1444752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120" b="0" i="0">
                <a:solidFill>
                  <a:srgbClr val="444E5A"/>
                </a:solidFill>
                <a:latin typeface="Arial"/>
              </a:rPr>
              <a:t>Thrombus formation on implanted materials triggers device failure, embolic events, and systemic complications. Platelet adhesion and activation occur within seconds of blood contact.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84048" y="3236976"/>
            <a:ext cx="5574639" cy="2011680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 w="6350">
            <a:solidFill>
              <a:srgbClr val="D4DB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84048" y="3236976"/>
            <a:ext cx="45720" cy="2011680"/>
          </a:xfrm>
          <a:prstGeom prst="rect">
            <a:avLst/>
          </a:prstGeom>
          <a:solidFill>
            <a:srgbClr val="077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3383280"/>
            <a:ext cx="5245455" cy="310896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456" b="1" i="0">
                <a:solidFill>
                  <a:srgbClr val="1E252E"/>
                </a:solidFill>
                <a:latin typeface="Arial"/>
              </a:rPr>
              <a:t>Antibiotic Resistance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3712464"/>
            <a:ext cx="5245455" cy="1444752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120" b="0" i="0">
                <a:solidFill>
                  <a:srgbClr val="444E5A"/>
                </a:solidFill>
                <a:latin typeface="Arial"/>
              </a:rPr>
              <a:t>Conventional antibiotic coatings provide only short-term protection and accelerate resistance. Contact-killing surfaces offer a sustained, resistance-free antibacterial mechanism.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33007" y="3236976"/>
            <a:ext cx="5574639" cy="2011680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 w="6350">
            <a:solidFill>
              <a:srgbClr val="D4DB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33007" y="3236976"/>
            <a:ext cx="45720" cy="2011680"/>
          </a:xfrm>
          <a:prstGeom prst="rect">
            <a:avLst/>
          </a:prstGeom>
          <a:solidFill>
            <a:srgbClr val="077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97599" y="3383280"/>
            <a:ext cx="5245455" cy="310896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456" b="1" i="0">
                <a:solidFill>
                  <a:srgbClr val="1E252E"/>
                </a:solidFill>
                <a:latin typeface="Arial"/>
              </a:rPr>
              <a:t>Conflicting Strategies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97599" y="3712464"/>
            <a:ext cx="5245455" cy="1444752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120" b="0" i="0">
                <a:solidFill>
                  <a:srgbClr val="444E5A"/>
                </a:solidFill>
                <a:latin typeface="Arial"/>
              </a:rPr>
              <a:t>Cationic surfaces kill bacteria but promote thrombosis. Zwitterionic surfaces are antifouling but lack intrinsic antibacterial activity. Achieving both simultaneously remains a key challenge.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64008" cy="731520"/>
          </a:xfrm>
          <a:prstGeom prst="rect">
            <a:avLst/>
          </a:prstGeom>
          <a:solidFill>
            <a:srgbClr val="077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13232"/>
            <a:ext cx="12191695" cy="18288"/>
          </a:xfrm>
          <a:prstGeom prst="rect">
            <a:avLst/>
          </a:prstGeom>
          <a:solidFill>
            <a:srgbClr val="D4D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109728"/>
            <a:ext cx="5486400" cy="237744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008" b="1" i="0">
                <a:solidFill>
                  <a:srgbClr val="077090"/>
                </a:solidFill>
                <a:latin typeface="Arial"/>
              </a:rPr>
              <a:t>01 · BACKGROUND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347472"/>
            <a:ext cx="11423599" cy="329184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2128" b="1" i="0">
                <a:solidFill>
                  <a:srgbClr val="1E252E"/>
                </a:solidFill>
                <a:latin typeface="Arial"/>
              </a:rPr>
              <a:t>Current Approaches and Their Limitations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583680"/>
            <a:ext cx="12191695" cy="18288"/>
          </a:xfrm>
          <a:prstGeom prst="rect">
            <a:avLst/>
          </a:prstGeom>
          <a:solidFill>
            <a:srgbClr val="D4D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048" y="6620256"/>
            <a:ext cx="7315200" cy="201168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896" b="0" i="0">
                <a:solidFill>
                  <a:srgbClr val="828E9C"/>
                </a:solidFill>
                <a:latin typeface="Arial"/>
              </a:rPr>
              <a:t>Wang et al. | Biomaterials 331 (2026) 124114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20095" y="6620256"/>
            <a:ext cx="1188720" cy="201168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r"/>
            <a:r>
              <a:rPr sz="896" b="0" i="0">
                <a:solidFill>
                  <a:srgbClr val="828E9C"/>
                </a:solidFill>
                <a:latin typeface="Arial"/>
              </a:rPr>
              <a:t>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4048" y="1042416"/>
            <a:ext cx="5574639" cy="2011680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 w="6350">
            <a:solidFill>
              <a:srgbClr val="D4DB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84048" y="1042416"/>
            <a:ext cx="54864" cy="2011680"/>
          </a:xfrm>
          <a:prstGeom prst="rect">
            <a:avLst/>
          </a:prstGeom>
          <a:solidFill>
            <a:srgbClr val="077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1188720"/>
            <a:ext cx="5300319" cy="292608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456" b="1" i="0">
                <a:solidFill>
                  <a:srgbClr val="1E252E"/>
                </a:solidFill>
                <a:latin typeface="Arial"/>
              </a:rPr>
              <a:t>Zwitterionic Coatings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1536192"/>
            <a:ext cx="164592" cy="237744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120" b="1" i="0">
                <a:solidFill>
                  <a:srgbClr val="077090"/>
                </a:solidFill>
                <a:latin typeface="Arial"/>
              </a:rPr>
              <a:t>·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1536192"/>
            <a:ext cx="5099151" cy="237744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120" b="0" i="0">
                <a:solidFill>
                  <a:srgbClr val="444E5A"/>
                </a:solidFill>
                <a:latin typeface="Arial"/>
              </a:rPr>
              <a:t>Excellent antifouling &amp; antithrombotic via hydration layer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1792224"/>
            <a:ext cx="164592" cy="237744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120" b="1" i="0">
                <a:solidFill>
                  <a:srgbClr val="077090"/>
                </a:solidFill>
                <a:latin typeface="Arial"/>
              </a:rPr>
              <a:t>·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1792224"/>
            <a:ext cx="5099151" cy="237744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120" b="0" i="0">
                <a:solidFill>
                  <a:srgbClr val="444E5A"/>
                </a:solidFill>
                <a:latin typeface="Arial"/>
              </a:rPr>
              <a:t>No inherent antibacterial activity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2048256"/>
            <a:ext cx="164592" cy="237744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120" b="1" i="0">
                <a:solidFill>
                  <a:srgbClr val="077090"/>
                </a:solidFill>
                <a:latin typeface="Arial"/>
              </a:rPr>
              <a:t>·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2048256"/>
            <a:ext cx="5099151" cy="237744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120" b="0" i="0">
                <a:solidFill>
                  <a:srgbClr val="444E5A"/>
                </a:solidFill>
                <a:latin typeface="Arial"/>
              </a:rPr>
              <a:t>Polysulfobetaine, polycarboxybetaine well-studied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33007" y="1042416"/>
            <a:ext cx="5574639" cy="2011680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 w="6350">
            <a:solidFill>
              <a:srgbClr val="D4DB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33007" y="1042416"/>
            <a:ext cx="54864" cy="2011680"/>
          </a:xfrm>
          <a:prstGeom prst="rect">
            <a:avLst/>
          </a:prstGeom>
          <a:solidFill>
            <a:srgbClr val="B5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97599" y="1188720"/>
            <a:ext cx="5300319" cy="292608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456" b="1" i="0">
                <a:solidFill>
                  <a:srgbClr val="1E252E"/>
                </a:solidFill>
                <a:latin typeface="Arial"/>
              </a:rPr>
              <a:t>Cationic (QA) Coatings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97599" y="1536192"/>
            <a:ext cx="164592" cy="237744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120" b="1" i="0">
                <a:solidFill>
                  <a:srgbClr val="B52828"/>
                </a:solidFill>
                <a:latin typeface="Arial"/>
              </a:rPr>
              <a:t>·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0479" y="1536192"/>
            <a:ext cx="5099151" cy="237744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120" b="0" i="0">
                <a:solidFill>
                  <a:srgbClr val="444E5A"/>
                </a:solidFill>
                <a:latin typeface="Arial"/>
              </a:rPr>
              <a:t>Membrane disruption kills bacteria on contact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97599" y="1792224"/>
            <a:ext cx="164592" cy="237744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120" b="1" i="0">
                <a:solidFill>
                  <a:srgbClr val="B52828"/>
                </a:solidFill>
                <a:latin typeface="Arial"/>
              </a:rPr>
              <a:t>·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0479" y="1792224"/>
            <a:ext cx="5099151" cy="237744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120" b="0" i="0">
                <a:solidFill>
                  <a:srgbClr val="444E5A"/>
                </a:solidFill>
                <a:latin typeface="Arial"/>
              </a:rPr>
              <a:t>Cationic charge promotes platelet activation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97599" y="2048256"/>
            <a:ext cx="164592" cy="237744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120" b="1" i="0">
                <a:solidFill>
                  <a:srgbClr val="B52828"/>
                </a:solidFill>
                <a:latin typeface="Arial"/>
              </a:rPr>
              <a:t>·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0479" y="2048256"/>
            <a:ext cx="5099151" cy="237744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120" b="0" i="0">
                <a:solidFill>
                  <a:srgbClr val="444E5A"/>
                </a:solidFill>
                <a:latin typeface="Arial"/>
              </a:rPr>
              <a:t>Antithrombotic performance is poor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84048" y="3236976"/>
            <a:ext cx="5574639" cy="2011680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 w="6350">
            <a:solidFill>
              <a:srgbClr val="D4DB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84048" y="3236976"/>
            <a:ext cx="54864" cy="2011680"/>
          </a:xfrm>
          <a:prstGeom prst="rect">
            <a:avLst/>
          </a:prstGeom>
          <a:solidFill>
            <a:srgbClr val="C265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3383280"/>
            <a:ext cx="5300319" cy="292608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456" b="1" i="0">
                <a:solidFill>
                  <a:srgbClr val="1E252E"/>
                </a:solidFill>
                <a:latin typeface="Arial"/>
              </a:rPr>
              <a:t>Antibiotic-Releasing Coatings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3730752"/>
            <a:ext cx="164592" cy="237744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120" b="1" i="0">
                <a:solidFill>
                  <a:srgbClr val="C26505"/>
                </a:solidFill>
                <a:latin typeface="Arial"/>
              </a:rPr>
              <a:t>·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3730752"/>
            <a:ext cx="5099151" cy="237744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120" b="0" i="0">
                <a:solidFill>
                  <a:srgbClr val="444E5A"/>
                </a:solidFill>
                <a:latin typeface="Arial"/>
              </a:rPr>
              <a:t>Short-term protection only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3986784"/>
            <a:ext cx="164592" cy="237744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120" b="1" i="0">
                <a:solidFill>
                  <a:srgbClr val="C26505"/>
                </a:solidFill>
                <a:latin typeface="Arial"/>
              </a:rPr>
              <a:t>·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" y="3986784"/>
            <a:ext cx="5099151" cy="237744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120" b="0" i="0">
                <a:solidFill>
                  <a:srgbClr val="444E5A"/>
                </a:solidFill>
                <a:latin typeface="Arial"/>
              </a:rPr>
              <a:t>Drives antibiotic resistance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4242816"/>
            <a:ext cx="164592" cy="237744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120" b="1" i="0">
                <a:solidFill>
                  <a:srgbClr val="C26505"/>
                </a:solidFill>
                <a:latin typeface="Arial"/>
              </a:rPr>
              <a:t>·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1520" y="4242816"/>
            <a:ext cx="5099151" cy="237744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120" b="0" i="0">
                <a:solidFill>
                  <a:srgbClr val="444E5A"/>
                </a:solidFill>
                <a:latin typeface="Arial"/>
              </a:rPr>
              <a:t>Drug depletion limits long-term use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233007" y="3236976"/>
            <a:ext cx="5574639" cy="2011680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 w="6350">
            <a:solidFill>
              <a:srgbClr val="D4DB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233007" y="3236976"/>
            <a:ext cx="54864" cy="2011680"/>
          </a:xfrm>
          <a:prstGeom prst="rect">
            <a:avLst/>
          </a:prstGeom>
          <a:solidFill>
            <a:srgbClr val="3A52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97599" y="3383280"/>
            <a:ext cx="5300319" cy="292608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456" b="1" i="0">
                <a:solidFill>
                  <a:srgbClr val="1E252E"/>
                </a:solidFill>
                <a:latin typeface="Arial"/>
              </a:rPr>
              <a:t>Dual-Function Attempts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97599" y="3730752"/>
            <a:ext cx="164592" cy="237744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120" b="1" i="0">
                <a:solidFill>
                  <a:srgbClr val="3A5268"/>
                </a:solidFill>
                <a:latin typeface="Arial"/>
              </a:rPr>
              <a:t>·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0479" y="3730752"/>
            <a:ext cx="5099151" cy="237744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120" b="0" i="0">
                <a:solidFill>
                  <a:srgbClr val="444E5A"/>
                </a:solidFill>
                <a:latin typeface="Arial"/>
              </a:rPr>
              <a:t>Sequential layers sacrifice one function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97599" y="3986784"/>
            <a:ext cx="164592" cy="237744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120" b="1" i="0">
                <a:solidFill>
                  <a:srgbClr val="3A5268"/>
                </a:solidFill>
                <a:latin typeface="Arial"/>
              </a:rPr>
              <a:t>·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80479" y="3986784"/>
            <a:ext cx="5099151" cy="237744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120" b="0" i="0">
                <a:solidFill>
                  <a:srgbClr val="444E5A"/>
                </a:solidFill>
                <a:latin typeface="Arial"/>
              </a:rPr>
              <a:t>Blending disrupts both functional groups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97599" y="4242816"/>
            <a:ext cx="164592" cy="237744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120" b="1" i="0">
                <a:solidFill>
                  <a:srgbClr val="3A5268"/>
                </a:solidFill>
                <a:latin typeface="Arial"/>
              </a:rPr>
              <a:t>·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80479" y="4242816"/>
            <a:ext cx="5099151" cy="237744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120" b="0" i="0">
                <a:solidFill>
                  <a:srgbClr val="444E5A"/>
                </a:solidFill>
                <a:latin typeface="Arial"/>
              </a:rPr>
              <a:t>No prior success via co-assembly approach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64008" cy="731520"/>
          </a:xfrm>
          <a:prstGeom prst="rect">
            <a:avLst/>
          </a:prstGeom>
          <a:solidFill>
            <a:srgbClr val="077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13232"/>
            <a:ext cx="12191695" cy="18288"/>
          </a:xfrm>
          <a:prstGeom prst="rect">
            <a:avLst/>
          </a:prstGeom>
          <a:solidFill>
            <a:srgbClr val="D4D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109728"/>
            <a:ext cx="5486400" cy="237744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008" b="1" i="0">
                <a:solidFill>
                  <a:srgbClr val="077090"/>
                </a:solidFill>
                <a:latin typeface="Arial"/>
              </a:rPr>
              <a:t>01 · BACKGROUND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347472"/>
            <a:ext cx="11423599" cy="329184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2128" b="1" i="0">
                <a:solidFill>
                  <a:srgbClr val="1E252E"/>
                </a:solidFill>
                <a:latin typeface="Arial"/>
              </a:rPr>
              <a:t>Design Concept: Weak Co-assembly for Dual Function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583680"/>
            <a:ext cx="12191695" cy="18288"/>
          </a:xfrm>
          <a:prstGeom prst="rect">
            <a:avLst/>
          </a:prstGeom>
          <a:solidFill>
            <a:srgbClr val="D4D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048" y="6620256"/>
            <a:ext cx="7315200" cy="201168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896" b="0" i="0">
                <a:solidFill>
                  <a:srgbClr val="828E9C"/>
                </a:solidFill>
                <a:latin typeface="Arial"/>
              </a:rPr>
              <a:t>Wang et al. | Biomaterials 331 (2026) 124114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20095" y="6620256"/>
            <a:ext cx="1188720" cy="201168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r"/>
            <a:r>
              <a:rPr sz="896" b="0" i="0">
                <a:solidFill>
                  <a:srgbClr val="828E9C"/>
                </a:solidFill>
                <a:latin typeface="Arial"/>
              </a:rPr>
              <a:t>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84048" y="1042416"/>
            <a:ext cx="11423599" cy="1005840"/>
          </a:xfrm>
          <a:prstGeom prst="rect">
            <a:avLst/>
          </a:prstGeom>
          <a:solidFill>
            <a:srgbClr val="DD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84048" y="1042416"/>
            <a:ext cx="11423599" cy="27432"/>
          </a:xfrm>
          <a:prstGeom prst="rect">
            <a:avLst/>
          </a:prstGeom>
          <a:solidFill>
            <a:srgbClr val="077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1133856"/>
            <a:ext cx="10874959" cy="7315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344" b="0" i="0">
                <a:solidFill>
                  <a:srgbClr val="055068"/>
                </a:solidFill>
                <a:latin typeface="Arial"/>
              </a:rPr>
              <a:t>Key Insight: When zwitterionic and cationic polymers co-assemble via weak electrostatic interactions, both functional groups remain accessible — enabling simultaneous antifouling and antibacterial activity from a single coating layer.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84048" y="2185416"/>
            <a:ext cx="2753029" cy="4114800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 w="6350">
            <a:solidFill>
              <a:srgbClr val="D4DB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84048" y="2185416"/>
            <a:ext cx="2753029" cy="54864"/>
          </a:xfrm>
          <a:prstGeom prst="rect">
            <a:avLst/>
          </a:prstGeom>
          <a:solidFill>
            <a:srgbClr val="077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2064" y="2350008"/>
            <a:ext cx="2496997" cy="36576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232" b="1" i="0">
                <a:solidFill>
                  <a:srgbClr val="1E252E"/>
                </a:solidFill>
                <a:latin typeface="Arial"/>
              </a:rPr>
              <a:t>PA (Poly-carboxybetaine amide)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4" y="2752344"/>
            <a:ext cx="2496997" cy="338328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120" b="0" i="0">
                <a:solidFill>
                  <a:srgbClr val="444E5A"/>
                </a:solidFill>
                <a:latin typeface="Arial"/>
              </a:rPr>
              <a:t>Zwitterionic polymer</a:t>
            </a:r>
          </a:p>
          <a:p>
            <a:pPr algn="l"/>
            <a:r>
              <a:rPr sz="1120" b="0" i="0">
                <a:solidFill>
                  <a:srgbClr val="444E5A"/>
                </a:solidFill>
                <a:latin typeface="Arial"/>
              </a:rPr>
              <a:t>COO⁻ and N⁺ groups</a:t>
            </a:r>
          </a:p>
          <a:p>
            <a:pPr algn="l"/>
            <a:r>
              <a:rPr sz="1120" b="0" i="0">
                <a:solidFill>
                  <a:srgbClr val="444E5A"/>
                </a:solidFill>
                <a:latin typeface="Arial"/>
              </a:rPr>
              <a:t>Strong hydration layer → antifouling</a:t>
            </a:r>
          </a:p>
          <a:p>
            <a:pPr algn="l"/>
            <a:r>
              <a:rPr sz="1120" b="0" i="0">
                <a:solidFill>
                  <a:srgbClr val="444E5A"/>
                </a:solidFill>
                <a:latin typeface="Arial"/>
              </a:rPr>
              <a:t>Weak interaction with PQ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274237" y="2185416"/>
            <a:ext cx="2753029" cy="4114800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 w="6350">
            <a:solidFill>
              <a:srgbClr val="D4DB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274237" y="2185416"/>
            <a:ext cx="2753029" cy="54864"/>
          </a:xfrm>
          <a:prstGeom prst="rect">
            <a:avLst/>
          </a:prstGeom>
          <a:solidFill>
            <a:srgbClr val="3A52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02253" y="2350008"/>
            <a:ext cx="2496997" cy="36576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232" b="1" i="0">
                <a:solidFill>
                  <a:srgbClr val="1E252E"/>
                </a:solidFill>
                <a:latin typeface="Arial"/>
              </a:rPr>
              <a:t>PS (Poly-sulfobetaine)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02253" y="2752344"/>
            <a:ext cx="2496997" cy="338328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120" b="0" i="0">
                <a:solidFill>
                  <a:srgbClr val="444E5A"/>
                </a:solidFill>
                <a:latin typeface="Arial"/>
              </a:rPr>
              <a:t>Zwitterionic polymer</a:t>
            </a:r>
          </a:p>
          <a:p>
            <a:pPr algn="l"/>
            <a:r>
              <a:rPr sz="1120" b="0" i="0">
                <a:solidFill>
                  <a:srgbClr val="444E5A"/>
                </a:solidFill>
                <a:latin typeface="Arial"/>
              </a:rPr>
              <a:t>SO₃⁻ and N⁺ groups</a:t>
            </a:r>
          </a:p>
          <a:p>
            <a:pPr algn="l"/>
            <a:r>
              <a:rPr sz="1120" b="0" i="0">
                <a:solidFill>
                  <a:srgbClr val="444E5A"/>
                </a:solidFill>
                <a:latin typeface="Arial"/>
              </a:rPr>
              <a:t>Excellent antifouling properties</a:t>
            </a:r>
          </a:p>
          <a:p>
            <a:pPr algn="l"/>
            <a:r>
              <a:rPr sz="1120" b="0" i="0">
                <a:solidFill>
                  <a:srgbClr val="444E5A"/>
                </a:solidFill>
                <a:latin typeface="Arial"/>
              </a:rPr>
              <a:t>Different interaction mode with PQ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64427" y="2185416"/>
            <a:ext cx="2753029" cy="4114800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 w="6350">
            <a:solidFill>
              <a:srgbClr val="D4DB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64427" y="2185416"/>
            <a:ext cx="2753029" cy="54864"/>
          </a:xfrm>
          <a:prstGeom prst="rect">
            <a:avLst/>
          </a:prstGeom>
          <a:solidFill>
            <a:srgbClr val="C265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92443" y="2350008"/>
            <a:ext cx="2496997" cy="36576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232" b="1" i="0">
                <a:solidFill>
                  <a:srgbClr val="1E252E"/>
                </a:solidFill>
                <a:latin typeface="Arial"/>
              </a:rPr>
              <a:t>PQ (Poly-quaternary ammonium)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92443" y="2752344"/>
            <a:ext cx="2496997" cy="338328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120" b="0" i="0">
                <a:solidFill>
                  <a:srgbClr val="444E5A"/>
                </a:solidFill>
                <a:latin typeface="Arial"/>
              </a:rPr>
              <a:t>Cationic polymer</a:t>
            </a:r>
          </a:p>
          <a:p>
            <a:pPr algn="l"/>
            <a:r>
              <a:rPr sz="1120" b="0" i="0">
                <a:solidFill>
                  <a:srgbClr val="444E5A"/>
                </a:solidFill>
                <a:latin typeface="Arial"/>
              </a:rPr>
              <a:t>Permanent positive charge</a:t>
            </a:r>
          </a:p>
          <a:p>
            <a:pPr algn="l"/>
            <a:r>
              <a:rPr sz="1120" b="0" i="0">
                <a:solidFill>
                  <a:srgbClr val="444E5A"/>
                </a:solidFill>
                <a:latin typeface="Arial"/>
              </a:rPr>
              <a:t>Membrane disruption → antibacterial</a:t>
            </a:r>
          </a:p>
          <a:p>
            <a:pPr algn="l"/>
            <a:r>
              <a:rPr sz="1120" b="0" i="0">
                <a:solidFill>
                  <a:srgbClr val="444E5A"/>
                </a:solidFill>
                <a:latin typeface="Arial"/>
              </a:rPr>
              <a:t>Accessible when interaction is weak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54617" y="2185416"/>
            <a:ext cx="2753029" cy="4114800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 w="6350">
            <a:solidFill>
              <a:srgbClr val="D4DB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054617" y="2185416"/>
            <a:ext cx="2753029" cy="54864"/>
          </a:xfrm>
          <a:prstGeom prst="rect">
            <a:avLst/>
          </a:prstGeom>
          <a:solidFill>
            <a:srgbClr val="1A88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82633" y="2350008"/>
            <a:ext cx="2496997" cy="36576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232" b="1" i="0">
                <a:solidFill>
                  <a:srgbClr val="1E252E"/>
                </a:solidFill>
                <a:latin typeface="Arial"/>
              </a:rPr>
              <a:t>Co-assembly Result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2633" y="2752344"/>
            <a:ext cx="2496997" cy="338328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120" b="0" i="0">
                <a:solidFill>
                  <a:srgbClr val="444E5A"/>
                </a:solidFill>
                <a:latin typeface="Arial"/>
              </a:rPr>
              <a:t>PA-PQ or PS-PQ complex</a:t>
            </a:r>
          </a:p>
          <a:p>
            <a:pPr algn="l"/>
            <a:r>
              <a:rPr sz="1120" b="0" i="0">
                <a:solidFill>
                  <a:srgbClr val="444E5A"/>
                </a:solidFill>
                <a:latin typeface="Arial"/>
              </a:rPr>
              <a:t>LbL coating on PLA substrate</a:t>
            </a:r>
          </a:p>
          <a:p>
            <a:pPr algn="l"/>
            <a:r>
              <a:rPr sz="1120" b="0" i="0">
                <a:solidFill>
                  <a:srgbClr val="444E5A"/>
                </a:solidFill>
                <a:latin typeface="Arial"/>
              </a:rPr>
              <a:t>Retains both functional groups</a:t>
            </a:r>
          </a:p>
          <a:p>
            <a:pPr algn="l"/>
            <a:r>
              <a:rPr sz="1120" b="0" i="0">
                <a:solidFill>
                  <a:srgbClr val="444E5A"/>
                </a:solidFill>
                <a:latin typeface="Arial"/>
              </a:rPr>
              <a:t>Dual antibacterial + antithrombotic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64008" cy="731520"/>
          </a:xfrm>
          <a:prstGeom prst="rect">
            <a:avLst/>
          </a:prstGeom>
          <a:solidFill>
            <a:srgbClr val="077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13232"/>
            <a:ext cx="12191695" cy="18288"/>
          </a:xfrm>
          <a:prstGeom prst="rect">
            <a:avLst/>
          </a:prstGeom>
          <a:solidFill>
            <a:srgbClr val="D4D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109728"/>
            <a:ext cx="5486400" cy="237744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008" b="1" i="0">
                <a:solidFill>
                  <a:srgbClr val="077090"/>
                </a:solidFill>
                <a:latin typeface="Arial"/>
              </a:rPr>
              <a:t>01 · BACKGROUND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347472"/>
            <a:ext cx="11423599" cy="329184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2128" b="1" i="0">
                <a:solidFill>
                  <a:srgbClr val="1E252E"/>
                </a:solidFill>
                <a:latin typeface="Arial"/>
              </a:rPr>
              <a:t>Research Overview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583680"/>
            <a:ext cx="12191695" cy="18288"/>
          </a:xfrm>
          <a:prstGeom prst="rect">
            <a:avLst/>
          </a:prstGeom>
          <a:solidFill>
            <a:srgbClr val="D4D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048" y="6620256"/>
            <a:ext cx="7315200" cy="201168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896" b="0" i="0">
                <a:solidFill>
                  <a:srgbClr val="828E9C"/>
                </a:solidFill>
                <a:latin typeface="Arial"/>
              </a:rPr>
              <a:t>Wang et al. | Biomaterials 331 (2026) 124114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20095" y="6620256"/>
            <a:ext cx="1188720" cy="201168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r"/>
            <a:r>
              <a:rPr sz="896" b="0" i="0">
                <a:solidFill>
                  <a:srgbClr val="828E9C"/>
                </a:solidFill>
                <a:latin typeface="Arial"/>
              </a:rPr>
              <a:t>7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4048" y="1042416"/>
            <a:ext cx="3762146" cy="2606040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 w="6350">
            <a:solidFill>
              <a:srgbClr val="D4DB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84048" y="1042416"/>
            <a:ext cx="3762146" cy="45720"/>
          </a:xfrm>
          <a:prstGeom prst="rect">
            <a:avLst/>
          </a:prstGeom>
          <a:solidFill>
            <a:srgbClr val="077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0352" y="1188720"/>
            <a:ext cx="3487826" cy="292608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344" b="1" i="0">
                <a:solidFill>
                  <a:srgbClr val="1E252E"/>
                </a:solidFill>
                <a:latin typeface="Arial"/>
              </a:rPr>
              <a:t>Hypothesis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" y="1536192"/>
            <a:ext cx="3487826" cy="1984248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120" b="0" i="0">
                <a:solidFill>
                  <a:srgbClr val="444E5A"/>
                </a:solidFill>
                <a:latin typeface="Arial"/>
              </a:rPr>
              <a:t>Weak electrostatic interaction between zwitterionic (PA/PS) and cationic (PQ) polymers preserves functional group accessibility, enabling dual-function LbL coatings.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14774" y="1042416"/>
            <a:ext cx="3762146" cy="2606040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 w="6350">
            <a:solidFill>
              <a:srgbClr val="D4DB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14774" y="1042416"/>
            <a:ext cx="3762146" cy="45720"/>
          </a:xfrm>
          <a:prstGeom prst="rect">
            <a:avLst/>
          </a:prstGeom>
          <a:solidFill>
            <a:srgbClr val="3A52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61078" y="1188720"/>
            <a:ext cx="3487826" cy="292608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344" b="1" i="0">
                <a:solidFill>
                  <a:srgbClr val="1E252E"/>
                </a:solidFill>
                <a:latin typeface="Arial"/>
              </a:rPr>
              <a:t>Solution-Phase Characterization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61078" y="1536192"/>
            <a:ext cx="3487826" cy="1984248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120" b="0" i="0">
                <a:solidFill>
                  <a:srgbClr val="444E5A"/>
                </a:solidFill>
                <a:latin typeface="Arial"/>
              </a:rPr>
              <a:t>ITC, fluorescence spectroscopy, turbidimetry, and viscometry confirm spontaneous co-assembly (ΔG &lt; 0) with weak interaction for PA-PQ pair.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45500" y="1042416"/>
            <a:ext cx="3762146" cy="2606040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 w="6350">
            <a:solidFill>
              <a:srgbClr val="D4DB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45500" y="1042416"/>
            <a:ext cx="3762146" cy="45720"/>
          </a:xfrm>
          <a:prstGeom prst="rect">
            <a:avLst/>
          </a:prstGeom>
          <a:solidFill>
            <a:srgbClr val="C265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91804" y="1188720"/>
            <a:ext cx="3487826" cy="292608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344" b="1" i="0">
                <a:solidFill>
                  <a:srgbClr val="1E252E"/>
                </a:solidFill>
                <a:latin typeface="Arial"/>
              </a:rPr>
              <a:t>Surface Characterization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91804" y="1536192"/>
            <a:ext cx="3487826" cy="1984248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120" b="0" i="0">
                <a:solidFill>
                  <a:srgbClr val="444E5A"/>
                </a:solidFill>
                <a:latin typeface="Arial"/>
              </a:rPr>
              <a:t>QCM-d, AFM, XPS, WCA, and zeta potential quantify coating deposition, morphology, elemental composition, and hydrophilicity as a function of formulation.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84048" y="3831336"/>
            <a:ext cx="3762146" cy="2606040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 w="6350">
            <a:solidFill>
              <a:srgbClr val="D4DB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84048" y="3831336"/>
            <a:ext cx="3762146" cy="45720"/>
          </a:xfrm>
          <a:prstGeom prst="rect">
            <a:avLst/>
          </a:prstGeom>
          <a:solidFill>
            <a:srgbClr val="1A88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30352" y="3977640"/>
            <a:ext cx="3487826" cy="292608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344" b="1" i="0">
                <a:solidFill>
                  <a:srgbClr val="1E252E"/>
                </a:solidFill>
                <a:latin typeface="Arial"/>
              </a:rPr>
              <a:t>In Vitro Performance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" y="4325112"/>
            <a:ext cx="3487826" cy="1984248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120" b="0" i="0">
                <a:solidFill>
                  <a:srgbClr val="444E5A"/>
                </a:solidFill>
                <a:latin typeface="Arial"/>
              </a:rPr>
              <a:t>Ex vivo blood contact tests, MIC assays, and CFU counting evaluate antithrombotic and antibacterial performance. PA2.5 achieves 3.1% thrombus coverage and &gt;97.6% kill.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214774" y="3831336"/>
            <a:ext cx="3762146" cy="2606040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 w="6350">
            <a:solidFill>
              <a:srgbClr val="D4DB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214774" y="3831336"/>
            <a:ext cx="3762146" cy="45720"/>
          </a:xfrm>
          <a:prstGeom prst="rect">
            <a:avLst/>
          </a:prstGeom>
          <a:solidFill>
            <a:srgbClr val="B5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61078" y="3977640"/>
            <a:ext cx="3487826" cy="292608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344" b="1" i="0">
                <a:solidFill>
                  <a:srgbClr val="1E252E"/>
                </a:solidFill>
                <a:latin typeface="Arial"/>
              </a:rPr>
              <a:t>In Vivo Validation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61078" y="4325112"/>
            <a:ext cx="3487826" cy="1984248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120" b="0" i="0">
                <a:solidFill>
                  <a:srgbClr val="444E5A"/>
                </a:solidFill>
                <a:latin typeface="Arial"/>
              </a:rPr>
              <a:t>Rat subcutaneous, rabbit jugular vein, and PGLA suture implant models confirm safety and efficacy. PA2.5 achieves &gt;99% bacterial eradication in vivo.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02920" cy="6858000"/>
          </a:xfrm>
          <a:prstGeom prst="rect">
            <a:avLst/>
          </a:prstGeom>
          <a:solidFill>
            <a:srgbClr val="077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0"/>
            <a:ext cx="27432" cy="6858000"/>
          </a:xfrm>
          <a:prstGeom prst="rect">
            <a:avLst/>
          </a:prstGeom>
          <a:solidFill>
            <a:srgbClr val="DD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18288"/>
          </a:xfrm>
          <a:prstGeom prst="rect">
            <a:avLst/>
          </a:prstGeom>
          <a:solidFill>
            <a:srgbClr val="D4D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620256"/>
            <a:ext cx="7315200" cy="201168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896" b="0" i="0">
                <a:solidFill>
                  <a:srgbClr val="828E9C"/>
                </a:solidFill>
                <a:latin typeface="Arial"/>
              </a:rPr>
              <a:t>Wang et al. | Biomaterials 331 (2026) 124114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620256"/>
            <a:ext cx="1188720" cy="201168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r"/>
            <a:r>
              <a:rPr sz="896" b="0" i="0">
                <a:solidFill>
                  <a:srgbClr val="828E9C"/>
                </a:solidFill>
                <a:latin typeface="Arial"/>
              </a:rPr>
              <a:t>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77440"/>
            <a:ext cx="9144000" cy="36576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120" b="1" i="0">
                <a:solidFill>
                  <a:srgbClr val="077090"/>
                </a:solidFill>
                <a:latin typeface="Arial"/>
              </a:rPr>
              <a:t>SECTION 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788920"/>
            <a:ext cx="9144000" cy="7315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3808" b="1" i="0">
                <a:solidFill>
                  <a:srgbClr val="1E252E"/>
                </a:solidFill>
                <a:latin typeface="Arial"/>
              </a:rPr>
              <a:t>Materials &amp; Methods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566160"/>
            <a:ext cx="8229600" cy="36576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456" b="0" i="0">
                <a:solidFill>
                  <a:srgbClr val="444E5A"/>
                </a:solidFill>
                <a:latin typeface="Arial"/>
              </a:rPr>
              <a:t>Polymer synthesis, LbL coating process, and characterization toolkit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64008" cy="731520"/>
          </a:xfrm>
          <a:prstGeom prst="rect">
            <a:avLst/>
          </a:prstGeom>
          <a:solidFill>
            <a:srgbClr val="077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13232"/>
            <a:ext cx="12191695" cy="18288"/>
          </a:xfrm>
          <a:prstGeom prst="rect">
            <a:avLst/>
          </a:prstGeom>
          <a:solidFill>
            <a:srgbClr val="D4D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109728"/>
            <a:ext cx="5486400" cy="237744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008" b="1" i="0">
                <a:solidFill>
                  <a:srgbClr val="077090"/>
                </a:solidFill>
                <a:latin typeface="Arial"/>
              </a:rPr>
              <a:t>02 · METHODS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347472"/>
            <a:ext cx="11423599" cy="329184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2128" b="1" i="0">
                <a:solidFill>
                  <a:srgbClr val="1E252E"/>
                </a:solidFill>
                <a:latin typeface="Arial"/>
              </a:rPr>
              <a:t>Polymer Components: Structure and Properties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583680"/>
            <a:ext cx="12191695" cy="18288"/>
          </a:xfrm>
          <a:prstGeom prst="rect">
            <a:avLst/>
          </a:prstGeom>
          <a:solidFill>
            <a:srgbClr val="D4D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048" y="6620256"/>
            <a:ext cx="7315200" cy="201168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896" b="0" i="0">
                <a:solidFill>
                  <a:srgbClr val="828E9C"/>
                </a:solidFill>
                <a:latin typeface="Arial"/>
              </a:rPr>
              <a:t>Wang et al. | Biomaterials 331 (2026) 124114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20095" y="6620256"/>
            <a:ext cx="1188720" cy="201168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r"/>
            <a:r>
              <a:rPr sz="896" b="0" i="0">
                <a:solidFill>
                  <a:srgbClr val="828E9C"/>
                </a:solidFill>
                <a:latin typeface="Arial"/>
              </a:rPr>
              <a:t>9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4048" y="1042416"/>
            <a:ext cx="3716426" cy="4937760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 w="6350">
            <a:solidFill>
              <a:srgbClr val="D4DB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84048" y="1042416"/>
            <a:ext cx="54864" cy="4937760"/>
          </a:xfrm>
          <a:prstGeom prst="rect">
            <a:avLst/>
          </a:prstGeom>
          <a:solidFill>
            <a:srgbClr val="077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1207008"/>
            <a:ext cx="3405530" cy="36576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344" b="1" i="0">
                <a:solidFill>
                  <a:srgbClr val="1E252E"/>
                </a:solidFill>
                <a:latin typeface="Arial"/>
              </a:rPr>
              <a:t>PA — Poly(carboxybetaine amide)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0352" y="1645920"/>
            <a:ext cx="3423818" cy="1463040"/>
          </a:xfrm>
          <a:prstGeom prst="roundRect">
            <a:avLst>
              <a:gd name="adj" fmla="val 4000"/>
            </a:avLst>
          </a:prstGeom>
          <a:solidFill>
            <a:srgbClr val="F0F2F5"/>
          </a:solidFill>
          <a:ln w="6350">
            <a:solidFill>
              <a:srgbClr val="D4DB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0352" y="2084832"/>
            <a:ext cx="3423818" cy="585216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/>
            <a:r>
              <a:rPr sz="1120" b="0" i="0">
                <a:solidFill>
                  <a:srgbClr val="828E9C"/>
                </a:solidFill>
                <a:latin typeface="Arial"/>
              </a:rPr>
              <a:t>[Figure Placeholder]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2852928"/>
            <a:ext cx="3240938" cy="219456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/>
            <a:r>
              <a:rPr sz="896" b="0" i="1">
                <a:solidFill>
                  <a:srgbClr val="828E9C"/>
                </a:solidFill>
                <a:latin typeface="Arial"/>
              </a:rPr>
              <a:t>Chemical structure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3236976"/>
            <a:ext cx="164592" cy="237744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120" b="1" i="0">
                <a:solidFill>
                  <a:srgbClr val="077090"/>
                </a:solidFill>
                <a:latin typeface="Arial"/>
              </a:rPr>
              <a:t>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3236976"/>
            <a:ext cx="3204362" cy="237744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120" b="0" i="0">
                <a:solidFill>
                  <a:srgbClr val="444E5A"/>
                </a:solidFill>
                <a:latin typeface="Arial"/>
              </a:rPr>
              <a:t>Zwitterionic: pendant COO⁻ and N⁺ groups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3483864"/>
            <a:ext cx="164592" cy="237744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120" b="1" i="0">
                <a:solidFill>
                  <a:srgbClr val="077090"/>
                </a:solidFill>
                <a:latin typeface="Arial"/>
              </a:rPr>
              <a:t>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8" y="3483864"/>
            <a:ext cx="3204362" cy="237744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120" b="0" i="0">
                <a:solidFill>
                  <a:srgbClr val="444E5A"/>
                </a:solidFill>
                <a:latin typeface="Arial"/>
              </a:rPr>
              <a:t>Amphoteric character enables weak interaction with PQ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3730752"/>
            <a:ext cx="164592" cy="237744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120" b="1" i="0">
                <a:solidFill>
                  <a:srgbClr val="077090"/>
                </a:solidFill>
                <a:latin typeface="Arial"/>
              </a:rPr>
              <a:t>·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8" y="3730752"/>
            <a:ext cx="3204362" cy="237744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120" b="0" i="0">
                <a:solidFill>
                  <a:srgbClr val="444E5A"/>
                </a:solidFill>
                <a:latin typeface="Arial"/>
              </a:rPr>
              <a:t>Strong hydration layer at physiological pH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" y="3977640"/>
            <a:ext cx="164592" cy="237744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120" b="1" i="0">
                <a:solidFill>
                  <a:srgbClr val="077090"/>
                </a:solidFill>
                <a:latin typeface="Arial"/>
              </a:rPr>
              <a:t>·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8" y="3977640"/>
            <a:ext cx="3204362" cy="237744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120" b="0" i="0">
                <a:solidFill>
                  <a:srgbClr val="444E5A"/>
                </a:solidFill>
                <a:latin typeface="Arial"/>
              </a:rPr>
              <a:t>Synthesized via RAFT polymerization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4224528"/>
            <a:ext cx="164592" cy="237744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120" b="1" i="0">
                <a:solidFill>
                  <a:srgbClr val="077090"/>
                </a:solidFill>
                <a:latin typeface="Arial"/>
              </a:rPr>
              <a:t>·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808" y="4224528"/>
            <a:ext cx="3204362" cy="237744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120" b="0" i="0">
                <a:solidFill>
                  <a:srgbClr val="444E5A"/>
                </a:solidFill>
                <a:latin typeface="Arial"/>
              </a:rPr>
              <a:t>Confirmed by ¹H NMR and GPC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237634" y="1042416"/>
            <a:ext cx="3716426" cy="4937760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 w="6350">
            <a:solidFill>
              <a:srgbClr val="D4DB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237634" y="1042416"/>
            <a:ext cx="54864" cy="4937760"/>
          </a:xfrm>
          <a:prstGeom prst="rect">
            <a:avLst/>
          </a:prstGeom>
          <a:solidFill>
            <a:srgbClr val="3A52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420514" y="1207008"/>
            <a:ext cx="3405530" cy="36576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344" b="1" i="0">
                <a:solidFill>
                  <a:srgbClr val="1E252E"/>
                </a:solidFill>
                <a:latin typeface="Arial"/>
              </a:rPr>
              <a:t>PS — Poly(sulfobetaine)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383938" y="1645920"/>
            <a:ext cx="3423818" cy="1463040"/>
          </a:xfrm>
          <a:prstGeom prst="roundRect">
            <a:avLst>
              <a:gd name="adj" fmla="val 4000"/>
            </a:avLst>
          </a:prstGeom>
          <a:solidFill>
            <a:srgbClr val="F0F2F5"/>
          </a:solidFill>
          <a:ln w="6350">
            <a:solidFill>
              <a:srgbClr val="D4DB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383938" y="2084832"/>
            <a:ext cx="3423818" cy="585216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/>
            <a:r>
              <a:rPr sz="1120" b="0" i="0">
                <a:solidFill>
                  <a:srgbClr val="828E9C"/>
                </a:solidFill>
                <a:latin typeface="Arial"/>
              </a:rPr>
              <a:t>[Figure Placeholder]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75378" y="2852928"/>
            <a:ext cx="3240938" cy="219456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/>
            <a:r>
              <a:rPr sz="896" b="0" i="1">
                <a:solidFill>
                  <a:srgbClr val="828E9C"/>
                </a:solidFill>
                <a:latin typeface="Arial"/>
              </a:rPr>
              <a:t>Chemical structure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20514" y="3236976"/>
            <a:ext cx="164592" cy="237744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120" b="1" i="0">
                <a:solidFill>
                  <a:srgbClr val="3A5268"/>
                </a:solidFill>
                <a:latin typeface="Arial"/>
              </a:rPr>
              <a:t>·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03394" y="3236976"/>
            <a:ext cx="3204362" cy="237744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120" b="0" i="0">
                <a:solidFill>
                  <a:srgbClr val="444E5A"/>
                </a:solidFill>
                <a:latin typeface="Arial"/>
              </a:rPr>
              <a:t>Zwitterionic: pendant SO₃⁻ and N⁺ groups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20514" y="3483864"/>
            <a:ext cx="164592" cy="237744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120" b="1" i="0">
                <a:solidFill>
                  <a:srgbClr val="3A5268"/>
                </a:solidFill>
                <a:latin typeface="Arial"/>
              </a:rPr>
              <a:t>·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603394" y="3483864"/>
            <a:ext cx="3204362" cy="237744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120" b="0" i="0">
                <a:solidFill>
                  <a:srgbClr val="444E5A"/>
                </a:solidFill>
                <a:latin typeface="Arial"/>
              </a:rPr>
              <a:t>Balanced dipole — no net charge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420514" y="3730752"/>
            <a:ext cx="164592" cy="237744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120" b="1" i="0">
                <a:solidFill>
                  <a:srgbClr val="3A5268"/>
                </a:solidFill>
                <a:latin typeface="Arial"/>
              </a:rPr>
              <a:t>·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603394" y="3730752"/>
            <a:ext cx="3204362" cy="237744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120" b="0" i="0">
                <a:solidFill>
                  <a:srgbClr val="444E5A"/>
                </a:solidFill>
                <a:latin typeface="Arial"/>
              </a:rPr>
              <a:t>Known for protein and cell resistance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420514" y="3977640"/>
            <a:ext cx="164592" cy="237744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120" b="1" i="0">
                <a:solidFill>
                  <a:srgbClr val="3A5268"/>
                </a:solidFill>
                <a:latin typeface="Arial"/>
              </a:rPr>
              <a:t>·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603394" y="3977640"/>
            <a:ext cx="3204362" cy="237744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120" b="0" i="0">
                <a:solidFill>
                  <a:srgbClr val="444E5A"/>
                </a:solidFill>
                <a:latin typeface="Arial"/>
              </a:rPr>
              <a:t>Synthesized via RAFT polymerization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420514" y="4224528"/>
            <a:ext cx="164592" cy="237744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120" b="1" i="0">
                <a:solidFill>
                  <a:srgbClr val="3A5268"/>
                </a:solidFill>
                <a:latin typeface="Arial"/>
              </a:rPr>
              <a:t>·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603394" y="4224528"/>
            <a:ext cx="3204362" cy="237744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120" b="0" i="0">
                <a:solidFill>
                  <a:srgbClr val="444E5A"/>
                </a:solidFill>
                <a:latin typeface="Arial"/>
              </a:rPr>
              <a:t>Confirmed by ¹H NMR and GPC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091220" y="1042416"/>
            <a:ext cx="3716426" cy="4937760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 w="6350">
            <a:solidFill>
              <a:srgbClr val="D4DB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8091220" y="1042416"/>
            <a:ext cx="54864" cy="4937760"/>
          </a:xfrm>
          <a:prstGeom prst="rect">
            <a:avLst/>
          </a:prstGeom>
          <a:solidFill>
            <a:srgbClr val="C265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274100" y="1207008"/>
            <a:ext cx="3405530" cy="36576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344" b="1" i="0">
                <a:solidFill>
                  <a:srgbClr val="1E252E"/>
                </a:solidFill>
                <a:latin typeface="Arial"/>
              </a:rPr>
              <a:t>PQ — Poly(quaternary ammonium)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237524" y="1645920"/>
            <a:ext cx="3423818" cy="1463040"/>
          </a:xfrm>
          <a:prstGeom prst="roundRect">
            <a:avLst>
              <a:gd name="adj" fmla="val 4000"/>
            </a:avLst>
          </a:prstGeom>
          <a:solidFill>
            <a:srgbClr val="F0F2F5"/>
          </a:solidFill>
          <a:ln w="6350">
            <a:solidFill>
              <a:srgbClr val="D4DB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237524" y="2084832"/>
            <a:ext cx="3423818" cy="585216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/>
            <a:r>
              <a:rPr sz="1120" b="0" i="0">
                <a:solidFill>
                  <a:srgbClr val="828E9C"/>
                </a:solidFill>
                <a:latin typeface="Arial"/>
              </a:rPr>
              <a:t>[Figure Placeholder]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328964" y="2852928"/>
            <a:ext cx="3240938" cy="219456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/>
            <a:r>
              <a:rPr sz="896" b="0" i="1">
                <a:solidFill>
                  <a:srgbClr val="828E9C"/>
                </a:solidFill>
                <a:latin typeface="Arial"/>
              </a:rPr>
              <a:t>Chemical structure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274100" y="3236976"/>
            <a:ext cx="164592" cy="237744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120" b="1" i="0">
                <a:solidFill>
                  <a:srgbClr val="C26505"/>
                </a:solidFill>
                <a:latin typeface="Arial"/>
              </a:rPr>
              <a:t>·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456980" y="3236976"/>
            <a:ext cx="3204362" cy="237744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120" b="0" i="0">
                <a:solidFill>
                  <a:srgbClr val="444E5A"/>
                </a:solidFill>
                <a:latin typeface="Arial"/>
              </a:rPr>
              <a:t>Permanently cationic at all pH values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274100" y="3483864"/>
            <a:ext cx="164592" cy="237744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120" b="1" i="0">
                <a:solidFill>
                  <a:srgbClr val="C26505"/>
                </a:solidFill>
                <a:latin typeface="Arial"/>
              </a:rPr>
              <a:t>·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456980" y="3483864"/>
            <a:ext cx="3204362" cy="237744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120" b="0" i="0">
                <a:solidFill>
                  <a:srgbClr val="444E5A"/>
                </a:solidFill>
                <a:latin typeface="Arial"/>
              </a:rPr>
              <a:t>Membrane-disrupting antibacterial activity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274100" y="3730752"/>
            <a:ext cx="164592" cy="237744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120" b="1" i="0">
                <a:solidFill>
                  <a:srgbClr val="C26505"/>
                </a:solidFill>
                <a:latin typeface="Arial"/>
              </a:rPr>
              <a:t>·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456980" y="3730752"/>
            <a:ext cx="3204362" cy="237744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120" b="0" i="0">
                <a:solidFill>
                  <a:srgbClr val="444E5A"/>
                </a:solidFill>
                <a:latin typeface="Arial"/>
              </a:rPr>
              <a:t>Interacts electrostatically with PA or PS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274100" y="3977640"/>
            <a:ext cx="164592" cy="237744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120" b="1" i="0">
                <a:solidFill>
                  <a:srgbClr val="C26505"/>
                </a:solidFill>
                <a:latin typeface="Arial"/>
              </a:rPr>
              <a:t>·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456980" y="3977640"/>
            <a:ext cx="3204362" cy="237744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120" b="0" i="0">
                <a:solidFill>
                  <a:srgbClr val="444E5A"/>
                </a:solidFill>
                <a:latin typeface="Arial"/>
              </a:rPr>
              <a:t>Interaction strength tunable by ratio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274100" y="4224528"/>
            <a:ext cx="164592" cy="237744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120" b="1" i="0">
                <a:solidFill>
                  <a:srgbClr val="C26505"/>
                </a:solidFill>
                <a:latin typeface="Arial"/>
              </a:rPr>
              <a:t>·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456980" y="4224528"/>
            <a:ext cx="3204362" cy="237744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120" b="0" i="0">
                <a:solidFill>
                  <a:srgbClr val="444E5A"/>
                </a:solidFill>
                <a:latin typeface="Arial"/>
              </a:rPr>
              <a:t>Confirmed by ¹H NMR and GPC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64008" cy="731520"/>
          </a:xfrm>
          <a:prstGeom prst="rect">
            <a:avLst/>
          </a:prstGeom>
          <a:solidFill>
            <a:srgbClr val="077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13232"/>
            <a:ext cx="12191695" cy="18288"/>
          </a:xfrm>
          <a:prstGeom prst="rect">
            <a:avLst/>
          </a:prstGeom>
          <a:solidFill>
            <a:srgbClr val="D4D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109728"/>
            <a:ext cx="5486400" cy="237744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008" b="1" i="0">
                <a:solidFill>
                  <a:srgbClr val="077090"/>
                </a:solidFill>
                <a:latin typeface="Arial"/>
              </a:rPr>
              <a:t>02 · METHODS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347472"/>
            <a:ext cx="11423599" cy="329184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2128" b="1" i="0">
                <a:solidFill>
                  <a:srgbClr val="1E252E"/>
                </a:solidFill>
                <a:latin typeface="Arial"/>
              </a:rPr>
              <a:t>Layer-by-Layer Coating Process &amp; Sample Nomenclature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583680"/>
            <a:ext cx="12191695" cy="18288"/>
          </a:xfrm>
          <a:prstGeom prst="rect">
            <a:avLst/>
          </a:prstGeom>
          <a:solidFill>
            <a:srgbClr val="D4D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048" y="6620256"/>
            <a:ext cx="7315200" cy="201168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896" b="0" i="0">
                <a:solidFill>
                  <a:srgbClr val="828E9C"/>
                </a:solidFill>
                <a:latin typeface="Arial"/>
              </a:rPr>
              <a:t>Wang et al. | Biomaterials 331 (2026) 124114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20095" y="6620256"/>
            <a:ext cx="1188720" cy="201168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r"/>
            <a:r>
              <a:rPr sz="896" b="0" i="0">
                <a:solidFill>
                  <a:srgbClr val="828E9C"/>
                </a:solidFill>
                <a:latin typeface="Arial"/>
              </a:rPr>
              <a:t>10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4048" y="1042416"/>
            <a:ext cx="2211567" cy="2011680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 w="6350">
            <a:solidFill>
              <a:srgbClr val="D4DB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306951" y="1170432"/>
            <a:ext cx="365760" cy="365760"/>
          </a:xfrm>
          <a:prstGeom prst="roundRect">
            <a:avLst>
              <a:gd name="adj" fmla="val 4000"/>
            </a:avLst>
          </a:prstGeom>
          <a:solidFill>
            <a:srgbClr val="077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06951" y="1170432"/>
            <a:ext cx="365760" cy="36576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1568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" y="1636776"/>
            <a:ext cx="2028687" cy="36576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/>
            <a:r>
              <a:rPr sz="1232" b="1" i="0">
                <a:solidFill>
                  <a:srgbClr val="1E252E"/>
                </a:solidFill>
                <a:latin typeface="Arial"/>
              </a:rPr>
              <a:t>Surface</a:t>
            </a:r>
          </a:p>
          <a:p>
            <a:pPr algn="ctr"/>
            <a:r>
              <a:rPr sz="1232" b="1" i="0">
                <a:solidFill>
                  <a:srgbClr val="1E252E"/>
                </a:solidFill>
                <a:latin typeface="Arial"/>
              </a:rPr>
              <a:t>Preparation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" y="2066544"/>
            <a:ext cx="2028687" cy="877824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/>
            <a:r>
              <a:rPr sz="1008" b="0" i="0">
                <a:solidFill>
                  <a:srgbClr val="444E5A"/>
                </a:solidFill>
                <a:latin typeface="Arial"/>
              </a:rPr>
              <a:t>PLA film cleaned with ethanol and DI water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687055" y="1042416"/>
            <a:ext cx="2211567" cy="2011680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 w="6350">
            <a:solidFill>
              <a:srgbClr val="D4DB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609959" y="1170432"/>
            <a:ext cx="365760" cy="365760"/>
          </a:xfrm>
          <a:prstGeom prst="roundRect">
            <a:avLst>
              <a:gd name="adj" fmla="val 4000"/>
            </a:avLst>
          </a:prstGeom>
          <a:solidFill>
            <a:srgbClr val="077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09959" y="1170432"/>
            <a:ext cx="365760" cy="36576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1568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78495" y="1636776"/>
            <a:ext cx="2028687" cy="36576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/>
            <a:r>
              <a:rPr sz="1232" b="1" i="0">
                <a:solidFill>
                  <a:srgbClr val="1E252E"/>
                </a:solidFill>
                <a:latin typeface="Arial"/>
              </a:rPr>
              <a:t>Co-assembly</a:t>
            </a:r>
          </a:p>
          <a:p>
            <a:pPr algn="ctr"/>
            <a:r>
              <a:rPr sz="1232" b="1" i="0">
                <a:solidFill>
                  <a:srgbClr val="1E252E"/>
                </a:solidFill>
                <a:latin typeface="Arial"/>
              </a:rPr>
              <a:t>Solution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78495" y="2066544"/>
            <a:ext cx="2028687" cy="877824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/>
            <a:r>
              <a:rPr sz="1008" b="0" i="0">
                <a:solidFill>
                  <a:srgbClr val="444E5A"/>
                </a:solidFill>
                <a:latin typeface="Arial"/>
              </a:rPr>
              <a:t>Mix zwitterionic + PQ at defined concentrations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990063" y="1042416"/>
            <a:ext cx="2211567" cy="2011680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 w="6350">
            <a:solidFill>
              <a:srgbClr val="D4DB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912967" y="1170432"/>
            <a:ext cx="365760" cy="365760"/>
          </a:xfrm>
          <a:prstGeom prst="roundRect">
            <a:avLst>
              <a:gd name="adj" fmla="val 4000"/>
            </a:avLst>
          </a:prstGeom>
          <a:solidFill>
            <a:srgbClr val="077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12967" y="1170432"/>
            <a:ext cx="365760" cy="36576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1568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81503" y="1636776"/>
            <a:ext cx="2028687" cy="36576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/>
            <a:r>
              <a:rPr sz="1232" b="1" i="0">
                <a:solidFill>
                  <a:srgbClr val="1E252E"/>
                </a:solidFill>
                <a:latin typeface="Arial"/>
              </a:rPr>
              <a:t>Dip Coating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81503" y="2066544"/>
            <a:ext cx="2028687" cy="877824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/>
            <a:r>
              <a:rPr sz="1008" b="0" i="0">
                <a:solidFill>
                  <a:srgbClr val="444E5A"/>
                </a:solidFill>
                <a:latin typeface="Arial"/>
              </a:rPr>
              <a:t>Substrate immersed in co-assembly solution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293071" y="1042416"/>
            <a:ext cx="2211567" cy="2011680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 w="6350">
            <a:solidFill>
              <a:srgbClr val="D4DB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215975" y="1170432"/>
            <a:ext cx="365760" cy="365760"/>
          </a:xfrm>
          <a:prstGeom prst="roundRect">
            <a:avLst>
              <a:gd name="adj" fmla="val 4000"/>
            </a:avLst>
          </a:prstGeom>
          <a:solidFill>
            <a:srgbClr val="077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15975" y="1170432"/>
            <a:ext cx="365760" cy="36576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1568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84511" y="1636776"/>
            <a:ext cx="2028687" cy="36576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/>
            <a:r>
              <a:rPr sz="1232" b="1" i="0">
                <a:solidFill>
                  <a:srgbClr val="1E252E"/>
                </a:solidFill>
                <a:latin typeface="Arial"/>
              </a:rPr>
              <a:t>Drying &amp;</a:t>
            </a:r>
          </a:p>
          <a:p>
            <a:pPr algn="ctr"/>
            <a:r>
              <a:rPr sz="1232" b="1" i="0">
                <a:solidFill>
                  <a:srgbClr val="1E252E"/>
                </a:solidFill>
                <a:latin typeface="Arial"/>
              </a:rPr>
              <a:t>Curing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84511" y="2066544"/>
            <a:ext cx="2028687" cy="877824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/>
            <a:r>
              <a:rPr sz="1008" b="0" i="0">
                <a:solidFill>
                  <a:srgbClr val="444E5A"/>
                </a:solidFill>
                <a:latin typeface="Arial"/>
              </a:rPr>
              <a:t>Air-dried; process repeated for multilayers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596079" y="1042416"/>
            <a:ext cx="2211567" cy="2011680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 w="6350">
            <a:solidFill>
              <a:srgbClr val="D4DB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10518983" y="1170432"/>
            <a:ext cx="365760" cy="365760"/>
          </a:xfrm>
          <a:prstGeom prst="roundRect">
            <a:avLst>
              <a:gd name="adj" fmla="val 4000"/>
            </a:avLst>
          </a:prstGeom>
          <a:solidFill>
            <a:srgbClr val="077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518983" y="1170432"/>
            <a:ext cx="365760" cy="36576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1568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87519" y="1636776"/>
            <a:ext cx="2028687" cy="36576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/>
            <a:r>
              <a:rPr sz="1232" b="1" i="0">
                <a:solidFill>
                  <a:srgbClr val="1E252E"/>
                </a:solidFill>
                <a:latin typeface="Arial"/>
              </a:rPr>
              <a:t>Characterization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87519" y="2066544"/>
            <a:ext cx="2028687" cy="877824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/>
            <a:r>
              <a:rPr sz="1008" b="0" i="0">
                <a:solidFill>
                  <a:srgbClr val="444E5A"/>
                </a:solidFill>
                <a:latin typeface="Arial"/>
              </a:rPr>
              <a:t>QCM-d, AFM, XPS, WCA, antibacterial/antithrombotic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84048" y="3236976"/>
            <a:ext cx="11423599" cy="2926080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 w="6350">
            <a:solidFill>
              <a:srgbClr val="D4DB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84048" y="3236976"/>
            <a:ext cx="11423599" cy="45720"/>
          </a:xfrm>
          <a:prstGeom prst="rect">
            <a:avLst/>
          </a:prstGeom>
          <a:solidFill>
            <a:srgbClr val="077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66928" y="3346704"/>
            <a:ext cx="11057839" cy="292608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344" b="1" i="0">
                <a:solidFill>
                  <a:srgbClr val="1E252E"/>
                </a:solidFill>
                <a:latin typeface="Arial"/>
              </a:rPr>
              <a:t>Sample Nomenclature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66928" y="3712464"/>
            <a:ext cx="1828800" cy="237744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008" b="1" i="0">
                <a:solidFill>
                  <a:srgbClr val="828E9C"/>
                </a:solidFill>
                <a:latin typeface="Arial"/>
              </a:rPr>
              <a:t>Sample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578608" y="3712464"/>
            <a:ext cx="2743200" cy="237744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008" b="1" i="0">
                <a:solidFill>
                  <a:srgbClr val="828E9C"/>
                </a:solidFill>
                <a:latin typeface="Arial"/>
              </a:rPr>
              <a:t>Zwitterionic polymer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504688" y="3712464"/>
            <a:ext cx="2377440" cy="237744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008" b="1" i="0">
                <a:solidFill>
                  <a:srgbClr val="828E9C"/>
                </a:solidFill>
                <a:latin typeface="Arial"/>
              </a:rPr>
              <a:t>PQ conc. (mg/mL)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065008" y="3712464"/>
            <a:ext cx="3657600" cy="237744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008" b="1" i="0">
                <a:solidFill>
                  <a:srgbClr val="828E9C"/>
                </a:solidFill>
                <a:latin typeface="Arial"/>
              </a:rPr>
              <a:t>Key property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57200" y="3986784"/>
            <a:ext cx="11277295" cy="438912"/>
          </a:xfrm>
          <a:prstGeom prst="rect">
            <a:avLst/>
          </a:prstGeom>
          <a:solidFill>
            <a:srgbClr val="ED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66928" y="4023360"/>
            <a:ext cx="1828800" cy="384048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1120" b="0" i="0">
                <a:solidFill>
                  <a:srgbClr val="444E5A"/>
                </a:solidFill>
                <a:latin typeface="Arial"/>
              </a:rPr>
              <a:t>PA2.0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578608" y="4023360"/>
            <a:ext cx="2743200" cy="384048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1120" b="0" i="0">
                <a:solidFill>
                  <a:srgbClr val="444E5A"/>
                </a:solidFill>
                <a:latin typeface="Arial"/>
              </a:rPr>
              <a:t>PA — 2 mg/mL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504688" y="4023360"/>
            <a:ext cx="2377440" cy="384048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1120" b="0" i="0">
                <a:solidFill>
                  <a:srgbClr val="444E5A"/>
                </a:solidFill>
                <a:latin typeface="Arial"/>
              </a:rPr>
              <a:t>0.5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065008" y="4023360"/>
            <a:ext cx="3657600" cy="384048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1120" b="0" i="0">
                <a:solidFill>
                  <a:srgbClr val="444E5A"/>
                </a:solidFill>
                <a:latin typeface="Arial"/>
              </a:rPr>
              <a:t>Antifouling-dominant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57200" y="4462272"/>
            <a:ext cx="11277295" cy="438912"/>
          </a:xfrm>
          <a:prstGeom prst="rect">
            <a:avLst/>
          </a:prstGeom>
          <a:solidFill>
            <a:srgbClr val="DD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66928" y="4498848"/>
            <a:ext cx="1828800" cy="384048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1120" b="0" i="0">
                <a:solidFill>
                  <a:srgbClr val="444E5A"/>
                </a:solidFill>
                <a:latin typeface="Arial"/>
              </a:rPr>
              <a:t>PA2.5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578608" y="4498848"/>
            <a:ext cx="2743200" cy="384048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1120" b="0" i="0">
                <a:solidFill>
                  <a:srgbClr val="444E5A"/>
                </a:solidFill>
                <a:latin typeface="Arial"/>
              </a:rPr>
              <a:t>PA — 2 mg/mL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504688" y="4498848"/>
            <a:ext cx="2377440" cy="384048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1120" b="0" i="0">
                <a:solidFill>
                  <a:srgbClr val="444E5A"/>
                </a:solidFill>
                <a:latin typeface="Arial"/>
              </a:rPr>
              <a:t>1.0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065008" y="4498848"/>
            <a:ext cx="3657600" cy="384048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1120" b="1" i="0">
                <a:solidFill>
                  <a:srgbClr val="055068"/>
                </a:solidFill>
                <a:latin typeface="Arial"/>
              </a:rPr>
              <a:t>Optimized dual function ★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57200" y="4937760"/>
            <a:ext cx="11277295" cy="438912"/>
          </a:xfrm>
          <a:prstGeom prst="rect">
            <a:avLst/>
          </a:prstGeom>
          <a:solidFill>
            <a:srgbClr val="ED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66928" y="4974336"/>
            <a:ext cx="1828800" cy="384048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1120" b="0" i="0">
                <a:solidFill>
                  <a:srgbClr val="444E5A"/>
                </a:solidFill>
                <a:latin typeface="Arial"/>
              </a:rPr>
              <a:t>PS2.0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578608" y="4974336"/>
            <a:ext cx="2743200" cy="384048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1120" b="0" i="0">
                <a:solidFill>
                  <a:srgbClr val="444E5A"/>
                </a:solidFill>
                <a:latin typeface="Arial"/>
              </a:rPr>
              <a:t>PS — 2 mg/mL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504688" y="4974336"/>
            <a:ext cx="2377440" cy="384048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1120" b="0" i="0">
                <a:solidFill>
                  <a:srgbClr val="444E5A"/>
                </a:solidFill>
                <a:latin typeface="Arial"/>
              </a:rPr>
              <a:t>0.5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065008" y="4974336"/>
            <a:ext cx="3657600" cy="384048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1120" b="0" i="0">
                <a:solidFill>
                  <a:srgbClr val="444E5A"/>
                </a:solidFill>
                <a:latin typeface="Arial"/>
              </a:rPr>
              <a:t>Antibacterial (PQ accessible)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57200" y="5413248"/>
            <a:ext cx="11277295" cy="438912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66928" y="5449824"/>
            <a:ext cx="1828800" cy="384048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1120" b="0" i="0">
                <a:solidFill>
                  <a:srgbClr val="444E5A"/>
                </a:solidFill>
                <a:latin typeface="Arial"/>
              </a:rPr>
              <a:t>PS2.5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578608" y="5449824"/>
            <a:ext cx="2743200" cy="384048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1120" b="0" i="0">
                <a:solidFill>
                  <a:srgbClr val="444E5A"/>
                </a:solidFill>
                <a:latin typeface="Arial"/>
              </a:rPr>
              <a:t>PS — 2.5 mg/mL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504688" y="5449824"/>
            <a:ext cx="2377440" cy="384048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1120" b="0" i="0">
                <a:solidFill>
                  <a:srgbClr val="444E5A"/>
                </a:solidFill>
                <a:latin typeface="Arial"/>
              </a:rPr>
              <a:t>1.0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065008" y="5449824"/>
            <a:ext cx="3657600" cy="384048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1120" b="0" i="0">
                <a:solidFill>
                  <a:srgbClr val="444E5A"/>
                </a:solidFill>
                <a:latin typeface="Arial"/>
              </a:rPr>
              <a:t>Reduced efficacy (PQ shielded)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64008" cy="731520"/>
          </a:xfrm>
          <a:prstGeom prst="rect">
            <a:avLst/>
          </a:prstGeom>
          <a:solidFill>
            <a:srgbClr val="077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13232"/>
            <a:ext cx="12191695" cy="18288"/>
          </a:xfrm>
          <a:prstGeom prst="rect">
            <a:avLst/>
          </a:prstGeom>
          <a:solidFill>
            <a:srgbClr val="D4D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109728"/>
            <a:ext cx="5486400" cy="237744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008" b="1" i="0">
                <a:solidFill>
                  <a:srgbClr val="077090"/>
                </a:solidFill>
                <a:latin typeface="Arial"/>
              </a:rPr>
              <a:t>02 · METHODS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347472"/>
            <a:ext cx="11423599" cy="329184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2128" b="1" i="0">
                <a:solidFill>
                  <a:srgbClr val="1E252E"/>
                </a:solidFill>
                <a:latin typeface="Arial"/>
              </a:rPr>
              <a:t>Characterization Toolkit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583680"/>
            <a:ext cx="12191695" cy="18288"/>
          </a:xfrm>
          <a:prstGeom prst="rect">
            <a:avLst/>
          </a:prstGeom>
          <a:solidFill>
            <a:srgbClr val="D4D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048" y="6620256"/>
            <a:ext cx="7315200" cy="201168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896" b="0" i="0">
                <a:solidFill>
                  <a:srgbClr val="828E9C"/>
                </a:solidFill>
                <a:latin typeface="Arial"/>
              </a:rPr>
              <a:t>Wang et al. | Biomaterials 331 (2026) 124114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20095" y="6620256"/>
            <a:ext cx="1188720" cy="201168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r"/>
            <a:r>
              <a:rPr sz="896" b="0" i="0">
                <a:solidFill>
                  <a:srgbClr val="828E9C"/>
                </a:solidFill>
                <a:latin typeface="Arial"/>
              </a:rPr>
              <a:t>11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4048" y="1042416"/>
            <a:ext cx="3655466" cy="2377440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 w="6350">
            <a:solidFill>
              <a:srgbClr val="D4DB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84048" y="1042416"/>
            <a:ext cx="54864" cy="2377440"/>
          </a:xfrm>
          <a:prstGeom prst="rect">
            <a:avLst/>
          </a:prstGeom>
          <a:solidFill>
            <a:srgbClr val="077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30352" y="1188720"/>
            <a:ext cx="640080" cy="256032"/>
          </a:xfrm>
          <a:prstGeom prst="roundRect">
            <a:avLst>
              <a:gd name="adj" fmla="val 8000"/>
            </a:avLst>
          </a:prstGeom>
          <a:solidFill>
            <a:srgbClr val="DD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0352" y="1188720"/>
            <a:ext cx="640080" cy="256032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1008" b="1" i="0">
                <a:solidFill>
                  <a:srgbClr val="055068"/>
                </a:solidFill>
                <a:latin typeface="Arial"/>
              </a:rPr>
              <a:t>QCM-d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" y="1517904"/>
            <a:ext cx="3381146" cy="310896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120" b="1" i="0">
                <a:solidFill>
                  <a:srgbClr val="1E252E"/>
                </a:solidFill>
                <a:latin typeface="Arial"/>
              </a:rPr>
              <a:t>Quartz Crystal Microbalance</a:t>
            </a:r>
          </a:p>
          <a:p>
            <a:pPr algn="l"/>
            <a:r>
              <a:rPr sz="1120" b="1" i="0">
                <a:solidFill>
                  <a:srgbClr val="1E252E"/>
                </a:solidFill>
                <a:latin typeface="Arial"/>
              </a:rPr>
              <a:t>with Dissipation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" y="1883664"/>
            <a:ext cx="3381146" cy="1417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120" b="0" i="0">
                <a:solidFill>
                  <a:srgbClr val="444E5A"/>
                </a:solidFill>
                <a:latin typeface="Arial"/>
              </a:rPr>
              <a:t>Real-time mass deposition</a:t>
            </a:r>
          </a:p>
          <a:p>
            <a:pPr algn="l"/>
            <a:r>
              <a:rPr sz="1120" b="0" i="0">
                <a:solidFill>
                  <a:srgbClr val="444E5A"/>
                </a:solidFill>
                <a:latin typeface="Arial"/>
              </a:rPr>
              <a:t>Film stiffness (ΔD)</a:t>
            </a:r>
          </a:p>
          <a:p>
            <a:pPr algn="l"/>
            <a:r>
              <a:rPr sz="1120" b="0" i="0">
                <a:solidFill>
                  <a:srgbClr val="444E5A"/>
                </a:solidFill>
                <a:latin typeface="Arial"/>
              </a:rPr>
              <a:t>Assembly kinetics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68114" y="1042416"/>
            <a:ext cx="3655466" cy="2377440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 w="6350">
            <a:solidFill>
              <a:srgbClr val="D4DB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268114" y="1042416"/>
            <a:ext cx="54864" cy="2377440"/>
          </a:xfrm>
          <a:prstGeom prst="rect">
            <a:avLst/>
          </a:prstGeom>
          <a:solidFill>
            <a:srgbClr val="3A52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414418" y="1188720"/>
            <a:ext cx="640080" cy="256032"/>
          </a:xfrm>
          <a:prstGeom prst="roundRect">
            <a:avLst>
              <a:gd name="adj" fmla="val 8000"/>
            </a:avLst>
          </a:prstGeom>
          <a:solidFill>
            <a:srgbClr val="DD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14418" y="1188720"/>
            <a:ext cx="640080" cy="256032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1008" b="1" i="0">
                <a:solidFill>
                  <a:srgbClr val="055068"/>
                </a:solidFill>
                <a:latin typeface="Arial"/>
              </a:rPr>
              <a:t>AFM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14418" y="1517904"/>
            <a:ext cx="3381146" cy="310896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120" b="1" i="0">
                <a:solidFill>
                  <a:srgbClr val="1E252E"/>
                </a:solidFill>
                <a:latin typeface="Arial"/>
              </a:rPr>
              <a:t>Atomic Force</a:t>
            </a:r>
          </a:p>
          <a:p>
            <a:pPr algn="l"/>
            <a:r>
              <a:rPr sz="1120" b="1" i="0">
                <a:solidFill>
                  <a:srgbClr val="1E252E"/>
                </a:solidFill>
                <a:latin typeface="Arial"/>
              </a:rPr>
              <a:t>Microscopy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14418" y="1883664"/>
            <a:ext cx="3381146" cy="1417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120" b="0" i="0">
                <a:solidFill>
                  <a:srgbClr val="444E5A"/>
                </a:solidFill>
                <a:latin typeface="Arial"/>
              </a:rPr>
              <a:t>Surface morphology</a:t>
            </a:r>
          </a:p>
          <a:p>
            <a:pPr algn="l"/>
            <a:r>
              <a:rPr sz="1120" b="0" i="0">
                <a:solidFill>
                  <a:srgbClr val="444E5A"/>
                </a:solidFill>
                <a:latin typeface="Arial"/>
              </a:rPr>
              <a:t>Roughness: Rq, Ra</a:t>
            </a:r>
          </a:p>
          <a:p>
            <a:pPr algn="l"/>
            <a:r>
              <a:rPr sz="1120" b="0" i="0">
                <a:solidFill>
                  <a:srgbClr val="444E5A"/>
                </a:solidFill>
                <a:latin typeface="Arial"/>
              </a:rPr>
              <a:t>Nano-scale topography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52180" y="1042416"/>
            <a:ext cx="3655466" cy="2377440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 w="6350">
            <a:solidFill>
              <a:srgbClr val="D4DB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152180" y="1042416"/>
            <a:ext cx="54864" cy="2377440"/>
          </a:xfrm>
          <a:prstGeom prst="rect">
            <a:avLst/>
          </a:prstGeom>
          <a:solidFill>
            <a:srgbClr val="C265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298484" y="1188720"/>
            <a:ext cx="640080" cy="256032"/>
          </a:xfrm>
          <a:prstGeom prst="roundRect">
            <a:avLst>
              <a:gd name="adj" fmla="val 8000"/>
            </a:avLst>
          </a:prstGeom>
          <a:solidFill>
            <a:srgbClr val="DD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98484" y="1188720"/>
            <a:ext cx="640080" cy="256032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1008" b="1" i="0">
                <a:solidFill>
                  <a:srgbClr val="055068"/>
                </a:solidFill>
                <a:latin typeface="Arial"/>
              </a:rPr>
              <a:t>XPS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98484" y="1517904"/>
            <a:ext cx="3381146" cy="310896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120" b="1" i="0">
                <a:solidFill>
                  <a:srgbClr val="1E252E"/>
                </a:solidFill>
                <a:latin typeface="Arial"/>
              </a:rPr>
              <a:t>X-ray Photoelectron</a:t>
            </a:r>
          </a:p>
          <a:p>
            <a:pPr algn="l"/>
            <a:r>
              <a:rPr sz="1120" b="1" i="0">
                <a:solidFill>
                  <a:srgbClr val="1E252E"/>
                </a:solidFill>
                <a:latin typeface="Arial"/>
              </a:rPr>
              <a:t>Spectroscopy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98484" y="1883664"/>
            <a:ext cx="3381146" cy="1417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120" b="0" i="0">
                <a:solidFill>
                  <a:srgbClr val="444E5A"/>
                </a:solidFill>
                <a:latin typeface="Arial"/>
              </a:rPr>
              <a:t>Elemental composition</a:t>
            </a:r>
          </a:p>
          <a:p>
            <a:pPr algn="l"/>
            <a:r>
              <a:rPr sz="1120" b="0" i="0">
                <a:solidFill>
                  <a:srgbClr val="444E5A"/>
                </a:solidFill>
                <a:latin typeface="Arial"/>
              </a:rPr>
              <a:t>Surface chemistry</a:t>
            </a:r>
          </a:p>
          <a:p>
            <a:pPr algn="l"/>
            <a:r>
              <a:rPr sz="1120" b="0" i="0">
                <a:solidFill>
                  <a:srgbClr val="444E5A"/>
                </a:solidFill>
                <a:latin typeface="Arial"/>
              </a:rPr>
              <a:t>N, S, O quantification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84048" y="3602736"/>
            <a:ext cx="3655466" cy="2377440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 w="6350">
            <a:solidFill>
              <a:srgbClr val="D4DB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84048" y="3602736"/>
            <a:ext cx="54864" cy="2377440"/>
          </a:xfrm>
          <a:prstGeom prst="rect">
            <a:avLst/>
          </a:prstGeom>
          <a:solidFill>
            <a:srgbClr val="1A88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530352" y="3749040"/>
            <a:ext cx="640080" cy="256032"/>
          </a:xfrm>
          <a:prstGeom prst="roundRect">
            <a:avLst>
              <a:gd name="adj" fmla="val 8000"/>
            </a:avLst>
          </a:prstGeom>
          <a:solidFill>
            <a:srgbClr val="DD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30352" y="3749040"/>
            <a:ext cx="640080" cy="256032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1008" b="1" i="0">
                <a:solidFill>
                  <a:srgbClr val="055068"/>
                </a:solidFill>
                <a:latin typeface="Arial"/>
              </a:rPr>
              <a:t>WCA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30352" y="4078224"/>
            <a:ext cx="3381146" cy="310896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120" b="1" i="0">
                <a:solidFill>
                  <a:srgbClr val="1E252E"/>
                </a:solidFill>
                <a:latin typeface="Arial"/>
              </a:rPr>
              <a:t>Water Contact</a:t>
            </a:r>
          </a:p>
          <a:p>
            <a:pPr algn="l"/>
            <a:r>
              <a:rPr sz="1120" b="1" i="0">
                <a:solidFill>
                  <a:srgbClr val="1E252E"/>
                </a:solidFill>
                <a:latin typeface="Arial"/>
              </a:rPr>
              <a:t>Angle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30352" y="4443984"/>
            <a:ext cx="3381146" cy="1417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120" b="0" i="0">
                <a:solidFill>
                  <a:srgbClr val="444E5A"/>
                </a:solidFill>
                <a:latin typeface="Arial"/>
              </a:rPr>
              <a:t>Surface hydrophilicity</a:t>
            </a:r>
          </a:p>
          <a:p>
            <a:pPr algn="l"/>
            <a:r>
              <a:rPr sz="1120" b="0" i="0">
                <a:solidFill>
                  <a:srgbClr val="444E5A"/>
                </a:solidFill>
                <a:latin typeface="Arial"/>
              </a:rPr>
              <a:t>PA2.5: 21.58° (hydrophilic)</a:t>
            </a:r>
          </a:p>
          <a:p>
            <a:pPr algn="l"/>
            <a:r>
              <a:rPr sz="1120" b="0" i="0">
                <a:solidFill>
                  <a:srgbClr val="444E5A"/>
                </a:solidFill>
                <a:latin typeface="Arial"/>
              </a:rPr>
              <a:t>PLA: 88.73° (hydrophobic)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268114" y="3602736"/>
            <a:ext cx="3655466" cy="2377440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 w="6350">
            <a:solidFill>
              <a:srgbClr val="D4DB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268114" y="3602736"/>
            <a:ext cx="54864" cy="2377440"/>
          </a:xfrm>
          <a:prstGeom prst="rect">
            <a:avLst/>
          </a:prstGeom>
          <a:solidFill>
            <a:srgbClr val="B5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4414418" y="3749040"/>
            <a:ext cx="640080" cy="256032"/>
          </a:xfrm>
          <a:prstGeom prst="roundRect">
            <a:avLst>
              <a:gd name="adj" fmla="val 8000"/>
            </a:avLst>
          </a:prstGeom>
          <a:solidFill>
            <a:srgbClr val="DD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414418" y="3749040"/>
            <a:ext cx="640080" cy="256032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1008" b="1" i="0">
                <a:solidFill>
                  <a:srgbClr val="055068"/>
                </a:solidFill>
                <a:latin typeface="Arial"/>
              </a:rPr>
              <a:t>ITC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414418" y="4078224"/>
            <a:ext cx="3381146" cy="310896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120" b="1" i="0">
                <a:solidFill>
                  <a:srgbClr val="1E252E"/>
                </a:solidFill>
                <a:latin typeface="Arial"/>
              </a:rPr>
              <a:t>Isothermal Titration</a:t>
            </a:r>
          </a:p>
          <a:p>
            <a:pPr algn="l"/>
            <a:r>
              <a:rPr sz="1120" b="1" i="0">
                <a:solidFill>
                  <a:srgbClr val="1E252E"/>
                </a:solidFill>
                <a:latin typeface="Arial"/>
              </a:rPr>
              <a:t>Calorimetry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414418" y="4443984"/>
            <a:ext cx="3381146" cy="1417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120" b="0" i="0">
                <a:solidFill>
                  <a:srgbClr val="444E5A"/>
                </a:solidFill>
                <a:latin typeface="Arial"/>
              </a:rPr>
              <a:t>Thermodynamics of co-assembly</a:t>
            </a:r>
          </a:p>
          <a:p>
            <a:pPr algn="l"/>
            <a:r>
              <a:rPr sz="1120" b="0" i="0">
                <a:solidFill>
                  <a:srgbClr val="444E5A"/>
                </a:solidFill>
                <a:latin typeface="Arial"/>
              </a:rPr>
              <a:t>ΔH, ΔS, ΔG, Ka</a:t>
            </a:r>
          </a:p>
          <a:p>
            <a:pPr algn="l"/>
            <a:r>
              <a:rPr sz="1120" b="0" i="0">
                <a:solidFill>
                  <a:srgbClr val="444E5A"/>
                </a:solidFill>
                <a:latin typeface="Arial"/>
              </a:rPr>
              <a:t>Interaction strength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152180" y="3602736"/>
            <a:ext cx="3655466" cy="2377440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 w="6350">
            <a:solidFill>
              <a:srgbClr val="D4DB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152180" y="3602736"/>
            <a:ext cx="54864" cy="2377440"/>
          </a:xfrm>
          <a:prstGeom prst="rect">
            <a:avLst/>
          </a:prstGeom>
          <a:solidFill>
            <a:srgbClr val="0550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8298484" y="3749040"/>
            <a:ext cx="640080" cy="256032"/>
          </a:xfrm>
          <a:prstGeom prst="roundRect">
            <a:avLst>
              <a:gd name="adj" fmla="val 8000"/>
            </a:avLst>
          </a:prstGeom>
          <a:solidFill>
            <a:srgbClr val="DD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298484" y="3749040"/>
            <a:ext cx="640080" cy="256032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1008" b="1" i="0">
                <a:solidFill>
                  <a:srgbClr val="055068"/>
                </a:solidFill>
                <a:latin typeface="Arial"/>
              </a:rPr>
              <a:t>Fluorescence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98484" y="4078224"/>
            <a:ext cx="3381146" cy="310896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120" b="1" i="0">
                <a:solidFill>
                  <a:srgbClr val="1E252E"/>
                </a:solidFill>
                <a:latin typeface="Arial"/>
              </a:rPr>
              <a:t>Fluorescence</a:t>
            </a:r>
          </a:p>
          <a:p>
            <a:pPr algn="l"/>
            <a:r>
              <a:rPr sz="1120" b="1" i="0">
                <a:solidFill>
                  <a:srgbClr val="1E252E"/>
                </a:solidFill>
                <a:latin typeface="Arial"/>
              </a:rPr>
              <a:t>Spectroscopy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98484" y="4443984"/>
            <a:ext cx="3381146" cy="1417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120" b="0" i="0">
                <a:solidFill>
                  <a:srgbClr val="444E5A"/>
                </a:solidFill>
                <a:latin typeface="Arial"/>
              </a:rPr>
              <a:t>Complex tightness</a:t>
            </a:r>
          </a:p>
          <a:p>
            <a:pPr algn="l"/>
            <a:r>
              <a:rPr sz="1120" b="0" i="0">
                <a:solidFill>
                  <a:srgbClr val="444E5A"/>
                </a:solidFill>
                <a:latin typeface="Arial"/>
              </a:rPr>
              <a:t>PS-PQ: avg 34.25 (tight)</a:t>
            </a:r>
          </a:p>
          <a:p>
            <a:pPr algn="l"/>
            <a:r>
              <a:rPr sz="1120" b="0" i="0">
                <a:solidFill>
                  <a:srgbClr val="444E5A"/>
                </a:solidFill>
                <a:latin typeface="Arial"/>
              </a:rPr>
              <a:t>PA-PQ: avg 43.59 (loose)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02920" cy="6858000"/>
          </a:xfrm>
          <a:prstGeom prst="rect">
            <a:avLst/>
          </a:prstGeom>
          <a:solidFill>
            <a:srgbClr val="077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0"/>
            <a:ext cx="27432" cy="6858000"/>
          </a:xfrm>
          <a:prstGeom prst="rect">
            <a:avLst/>
          </a:prstGeom>
          <a:solidFill>
            <a:srgbClr val="DD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18288"/>
          </a:xfrm>
          <a:prstGeom prst="rect">
            <a:avLst/>
          </a:prstGeom>
          <a:solidFill>
            <a:srgbClr val="D4D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620256"/>
            <a:ext cx="7315200" cy="201168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896" b="0" i="0">
                <a:solidFill>
                  <a:srgbClr val="828E9C"/>
                </a:solidFill>
                <a:latin typeface="Arial"/>
              </a:rPr>
              <a:t>Wang et al. | Biomaterials 331 (2026) 124114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620256"/>
            <a:ext cx="1188720" cy="201168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r"/>
            <a:r>
              <a:rPr sz="896" b="0" i="0">
                <a:solidFill>
                  <a:srgbClr val="828E9C"/>
                </a:solidFill>
                <a:latin typeface="Arial"/>
              </a:rPr>
              <a:t>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77440"/>
            <a:ext cx="9144000" cy="36576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120" b="1" i="0">
                <a:solidFill>
                  <a:srgbClr val="077090"/>
                </a:solidFill>
                <a:latin typeface="Arial"/>
              </a:rPr>
              <a:t>SECTION 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788920"/>
            <a:ext cx="9144000" cy="7315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3808" b="1" i="0">
                <a:solidFill>
                  <a:srgbClr val="1E252E"/>
                </a:solidFill>
                <a:latin typeface="Arial"/>
              </a:rPr>
              <a:t>Solution Interactions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566160"/>
            <a:ext cx="8229600" cy="36576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456" b="0" i="0">
                <a:solidFill>
                  <a:srgbClr val="444E5A"/>
                </a:solidFill>
                <a:latin typeface="Arial"/>
              </a:rPr>
              <a:t>ITC, fluorescence, turbidity, and viscometry — characterizing the co-assembly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64008" cy="731520"/>
          </a:xfrm>
          <a:prstGeom prst="rect">
            <a:avLst/>
          </a:prstGeom>
          <a:solidFill>
            <a:srgbClr val="077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13232"/>
            <a:ext cx="12191695" cy="18288"/>
          </a:xfrm>
          <a:prstGeom prst="rect">
            <a:avLst/>
          </a:prstGeom>
          <a:solidFill>
            <a:srgbClr val="D4D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109728"/>
            <a:ext cx="5486400" cy="237744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008" b="1" i="0">
                <a:solidFill>
                  <a:srgbClr val="077090"/>
                </a:solidFill>
                <a:latin typeface="Arial"/>
              </a:rPr>
              <a:t>03 · SOLUTION INTERACTIONS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347472"/>
            <a:ext cx="11423599" cy="329184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2128" b="1" i="0">
                <a:solidFill>
                  <a:srgbClr val="1E252E"/>
                </a:solidFill>
                <a:latin typeface="Arial"/>
              </a:rPr>
              <a:t>ITC and Turbidity: Thermodynamics of Co-assembly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583680"/>
            <a:ext cx="12191695" cy="18288"/>
          </a:xfrm>
          <a:prstGeom prst="rect">
            <a:avLst/>
          </a:prstGeom>
          <a:solidFill>
            <a:srgbClr val="D4D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048" y="6620256"/>
            <a:ext cx="7315200" cy="201168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896" b="0" i="0">
                <a:solidFill>
                  <a:srgbClr val="828E9C"/>
                </a:solidFill>
                <a:latin typeface="Arial"/>
              </a:rPr>
              <a:t>Wang et al. | Biomaterials 331 (2026) 124114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20095" y="6620256"/>
            <a:ext cx="1188720" cy="201168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r"/>
            <a:r>
              <a:rPr sz="896" b="0" i="0">
                <a:solidFill>
                  <a:srgbClr val="828E9C"/>
                </a:solidFill>
                <a:latin typeface="Arial"/>
              </a:rPr>
              <a:t>13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4048" y="1042416"/>
            <a:ext cx="5486400" cy="5029200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 w="6350">
            <a:solidFill>
              <a:srgbClr val="D4DB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84048" y="1042416"/>
            <a:ext cx="5486400" cy="45720"/>
          </a:xfrm>
          <a:prstGeom prst="rect">
            <a:avLst/>
          </a:prstGeom>
          <a:solidFill>
            <a:srgbClr val="077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1152144"/>
            <a:ext cx="5120640" cy="292608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344" b="1" i="0">
                <a:solidFill>
                  <a:srgbClr val="1E252E"/>
                </a:solidFill>
                <a:latin typeface="Arial"/>
              </a:rPr>
              <a:t>Isothermal Titration Calorimetry (ITC)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1517904"/>
            <a:ext cx="5120640" cy="2560320"/>
          </a:xfrm>
          <a:prstGeom prst="roundRect">
            <a:avLst>
              <a:gd name="adj" fmla="val 4000"/>
            </a:avLst>
          </a:prstGeom>
          <a:solidFill>
            <a:srgbClr val="F0F2F5"/>
          </a:solidFill>
          <a:ln w="6350">
            <a:solidFill>
              <a:srgbClr val="D4DB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6928" y="2286000"/>
            <a:ext cx="5120640" cy="1024128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/>
            <a:r>
              <a:rPr sz="1120" b="0" i="0">
                <a:solidFill>
                  <a:srgbClr val="828E9C"/>
                </a:solidFill>
                <a:latin typeface="Arial"/>
              </a:rPr>
              <a:t>[Figure Placeholder]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3822192"/>
            <a:ext cx="4937760" cy="219456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/>
            <a:r>
              <a:rPr sz="896" b="0" i="1">
                <a:solidFill>
                  <a:srgbClr val="828E9C"/>
                </a:solidFill>
                <a:latin typeface="Arial"/>
              </a:rPr>
              <a:t>ITC thermogram — PA-PQ and PS-PQ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206240"/>
            <a:ext cx="5120640" cy="34747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3810">
            <a:solidFill>
              <a:srgbClr val="D4DB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4242816"/>
            <a:ext cx="1097280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008" b="1" i="0">
                <a:solidFill>
                  <a:srgbClr val="077090"/>
                </a:solidFill>
                <a:latin typeface="Arial"/>
              </a:rPr>
              <a:t>ΔG &lt; 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47088" y="4242816"/>
            <a:ext cx="3749039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008" b="0" i="0">
                <a:solidFill>
                  <a:srgbClr val="444E5A"/>
                </a:solidFill>
                <a:latin typeface="Arial"/>
              </a:rPr>
              <a:t>Both pairs: thermodynamically spontaneous co-assembly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608576"/>
            <a:ext cx="5120640" cy="34747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3810">
            <a:solidFill>
              <a:srgbClr val="D4DB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" y="4645152"/>
            <a:ext cx="1097280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008" b="1" i="0">
                <a:solidFill>
                  <a:srgbClr val="077090"/>
                </a:solidFill>
                <a:latin typeface="Arial"/>
              </a:rPr>
              <a:t>PA-PQ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47088" y="4645152"/>
            <a:ext cx="3749039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008" b="0" i="0">
                <a:solidFill>
                  <a:srgbClr val="444E5A"/>
                </a:solidFill>
                <a:latin typeface="Arial"/>
              </a:rPr>
              <a:t>Weak electrostatic interaction — carboxylate groups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010912"/>
            <a:ext cx="5120640" cy="34747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3810">
            <a:solidFill>
              <a:srgbClr val="D4DB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" y="5047488"/>
            <a:ext cx="1097280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008" b="1" i="0">
                <a:solidFill>
                  <a:srgbClr val="077090"/>
                </a:solidFill>
                <a:latin typeface="Arial"/>
              </a:rPr>
              <a:t>PS-PQ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847088" y="5047488"/>
            <a:ext cx="3749039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008" b="0" i="0">
                <a:solidFill>
                  <a:srgbClr val="444E5A"/>
                </a:solidFill>
                <a:latin typeface="Arial"/>
              </a:rPr>
              <a:t>Relatively stronger hydrophobic/electrostatic interaction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6928" y="5413248"/>
            <a:ext cx="5120640" cy="34747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3810">
            <a:solidFill>
              <a:srgbClr val="D4DB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" y="5449824"/>
            <a:ext cx="1097280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008" b="1" i="0">
                <a:solidFill>
                  <a:srgbClr val="077090"/>
                </a:solidFill>
                <a:latin typeface="Arial"/>
              </a:rPr>
              <a:t>Key difference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47088" y="5449824"/>
            <a:ext cx="3749039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008" b="0" i="0">
                <a:solidFill>
                  <a:srgbClr val="444E5A"/>
                </a:solidFill>
                <a:latin typeface="Arial"/>
              </a:rPr>
              <a:t>PA-PQ weak binding → PQ accessible for antibacterial action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44768" y="1042416"/>
            <a:ext cx="5961888" cy="5029200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 w="6350">
            <a:solidFill>
              <a:srgbClr val="D4DB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144768" y="1042416"/>
            <a:ext cx="5961888" cy="45720"/>
          </a:xfrm>
          <a:prstGeom prst="rect">
            <a:avLst/>
          </a:prstGeom>
          <a:solidFill>
            <a:srgbClr val="C265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27648" y="1152144"/>
            <a:ext cx="5577840" cy="292608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344" b="1" i="0">
                <a:solidFill>
                  <a:srgbClr val="1E252E"/>
                </a:solidFill>
                <a:latin typeface="Arial"/>
              </a:rPr>
              <a:t>Turbidity &amp; Aggregate Formation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327648" y="1517904"/>
            <a:ext cx="5577840" cy="2560320"/>
          </a:xfrm>
          <a:prstGeom prst="roundRect">
            <a:avLst>
              <a:gd name="adj" fmla="val 4000"/>
            </a:avLst>
          </a:prstGeom>
          <a:solidFill>
            <a:srgbClr val="F0F2F5"/>
          </a:solidFill>
          <a:ln w="6350">
            <a:solidFill>
              <a:srgbClr val="D4DB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27648" y="2286000"/>
            <a:ext cx="5577840" cy="1024128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/>
            <a:r>
              <a:rPr sz="1120" b="0" i="0">
                <a:solidFill>
                  <a:srgbClr val="828E9C"/>
                </a:solidFill>
                <a:latin typeface="Arial"/>
              </a:rPr>
              <a:t>[Figure Placeholder]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19088" y="3822192"/>
            <a:ext cx="5394960" cy="219456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/>
            <a:r>
              <a:rPr sz="896" b="0" i="1">
                <a:solidFill>
                  <a:srgbClr val="828E9C"/>
                </a:solidFill>
                <a:latin typeface="Arial"/>
              </a:rPr>
              <a:t>Turbidity vs concentration — aggregate size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27648" y="4206240"/>
            <a:ext cx="164592" cy="292608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120" b="1" i="0">
                <a:solidFill>
                  <a:srgbClr val="C26505"/>
                </a:solidFill>
                <a:latin typeface="Arial"/>
              </a:rPr>
              <a:t>·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10528" y="4206240"/>
            <a:ext cx="5394960" cy="292608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120" b="0" i="0">
                <a:solidFill>
                  <a:srgbClr val="444E5A"/>
                </a:solidFill>
                <a:latin typeface="Arial"/>
              </a:rPr>
              <a:t>PA-PQ: turbidity increases at higher concentrations → larger aggregates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27648" y="4572000"/>
            <a:ext cx="164592" cy="292608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120" b="1" i="0">
                <a:solidFill>
                  <a:srgbClr val="C26505"/>
                </a:solidFill>
                <a:latin typeface="Arial"/>
              </a:rPr>
              <a:t>·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10528" y="4572000"/>
            <a:ext cx="5394960" cy="292608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120" b="0" i="0">
                <a:solidFill>
                  <a:srgbClr val="444E5A"/>
                </a:solidFill>
                <a:latin typeface="Arial"/>
              </a:rPr>
              <a:t>PS-PQ: more compact aggregates (tighter complex)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27648" y="4937760"/>
            <a:ext cx="164592" cy="292608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120" b="1" i="0">
                <a:solidFill>
                  <a:srgbClr val="C26505"/>
                </a:solidFill>
                <a:latin typeface="Arial"/>
              </a:rPr>
              <a:t>·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10528" y="4937760"/>
            <a:ext cx="5394960" cy="292608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120" b="0" i="0">
                <a:solidFill>
                  <a:srgbClr val="444E5A"/>
                </a:solidFill>
                <a:latin typeface="Arial"/>
              </a:rPr>
              <a:t>Loose PA-PQ assembly → functional groups remain exposed on surface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27648" y="5303520"/>
            <a:ext cx="164592" cy="292608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120" b="1" i="0">
                <a:solidFill>
                  <a:srgbClr val="C26505"/>
                </a:solidFill>
                <a:latin typeface="Arial"/>
              </a:rPr>
              <a:t>·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10528" y="5303520"/>
            <a:ext cx="5394960" cy="292608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120" b="0" i="0">
                <a:solidFill>
                  <a:srgbClr val="444E5A"/>
                </a:solidFill>
                <a:latin typeface="Arial"/>
              </a:rPr>
              <a:t>Concentration ratio determines coating properties and performance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64008" cy="731520"/>
          </a:xfrm>
          <a:prstGeom prst="rect">
            <a:avLst/>
          </a:prstGeom>
          <a:solidFill>
            <a:srgbClr val="077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13232"/>
            <a:ext cx="12191695" cy="18288"/>
          </a:xfrm>
          <a:prstGeom prst="rect">
            <a:avLst/>
          </a:prstGeom>
          <a:solidFill>
            <a:srgbClr val="D4D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109728"/>
            <a:ext cx="5486400" cy="237744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008" b="1" i="0">
                <a:solidFill>
                  <a:srgbClr val="077090"/>
                </a:solidFill>
                <a:latin typeface="Arial"/>
              </a:rPr>
              <a:t>03 · SOLUTION INTERACTIONS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347472"/>
            <a:ext cx="11423599" cy="329184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2128" b="1" i="0">
                <a:solidFill>
                  <a:srgbClr val="1E252E"/>
                </a:solidFill>
                <a:latin typeface="Arial"/>
              </a:rPr>
              <a:t>Fluorescence and Viscosity: Complex Tightness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583680"/>
            <a:ext cx="12191695" cy="18288"/>
          </a:xfrm>
          <a:prstGeom prst="rect">
            <a:avLst/>
          </a:prstGeom>
          <a:solidFill>
            <a:srgbClr val="D4D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048" y="6620256"/>
            <a:ext cx="7315200" cy="201168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896" b="0" i="0">
                <a:solidFill>
                  <a:srgbClr val="828E9C"/>
                </a:solidFill>
                <a:latin typeface="Arial"/>
              </a:rPr>
              <a:t>Wang et al. | Biomaterials 331 (2026) 124114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20095" y="6620256"/>
            <a:ext cx="1188720" cy="201168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r"/>
            <a:r>
              <a:rPr sz="896" b="0" i="0">
                <a:solidFill>
                  <a:srgbClr val="828E9C"/>
                </a:solidFill>
                <a:latin typeface="Arial"/>
              </a:rPr>
              <a:t>14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4048" y="1042416"/>
            <a:ext cx="5486400" cy="3200400"/>
          </a:xfrm>
          <a:prstGeom prst="roundRect">
            <a:avLst>
              <a:gd name="adj" fmla="val 4000"/>
            </a:avLst>
          </a:prstGeom>
          <a:solidFill>
            <a:srgbClr val="F0F2F5"/>
          </a:solidFill>
          <a:ln w="6350">
            <a:solidFill>
              <a:srgbClr val="D4DB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4048" y="2002536"/>
            <a:ext cx="5486400" cy="128016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/>
            <a:r>
              <a:rPr sz="1120" b="0" i="0">
                <a:solidFill>
                  <a:srgbClr val="828E9C"/>
                </a:solidFill>
                <a:latin typeface="Arial"/>
              </a:rPr>
              <a:t>[Figure Placeholder]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" y="3986784"/>
            <a:ext cx="5303520" cy="219456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/>
            <a:r>
              <a:rPr sz="896" b="0" i="1">
                <a:solidFill>
                  <a:srgbClr val="828E9C"/>
                </a:solidFill>
                <a:latin typeface="Arial"/>
              </a:rPr>
              <a:t>Fluorescence intensity vs titration ratio — PA-PQ vs PS-PQ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84048" y="4334256"/>
            <a:ext cx="5486400" cy="1828800"/>
          </a:xfrm>
          <a:prstGeom prst="roundRect">
            <a:avLst>
              <a:gd name="adj" fmla="val 4000"/>
            </a:avLst>
          </a:prstGeom>
          <a:solidFill>
            <a:srgbClr val="F0F2F5"/>
          </a:solidFill>
          <a:ln w="6350">
            <a:solidFill>
              <a:srgbClr val="D4DB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4048" y="4882896"/>
            <a:ext cx="5486400" cy="7315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/>
            <a:r>
              <a:rPr sz="1120" b="0" i="0">
                <a:solidFill>
                  <a:srgbClr val="828E9C"/>
                </a:solidFill>
                <a:latin typeface="Arial"/>
              </a:rPr>
              <a:t>[Figure Placeholder]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" y="5907024"/>
            <a:ext cx="5303520" cy="219456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/>
            <a:r>
              <a:rPr sz="896" b="0" i="1">
                <a:solidFill>
                  <a:srgbClr val="828E9C"/>
                </a:solidFill>
                <a:latin typeface="Arial"/>
              </a:rPr>
              <a:t>Viscosity — individual vs co-assembly solutions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44768" y="1042416"/>
            <a:ext cx="5961888" cy="1188720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 w="6350">
            <a:solidFill>
              <a:srgbClr val="D4DB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44768" y="1042416"/>
            <a:ext cx="54864" cy="1188720"/>
          </a:xfrm>
          <a:prstGeom prst="rect">
            <a:avLst/>
          </a:prstGeom>
          <a:solidFill>
            <a:srgbClr val="077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27648" y="1188720"/>
            <a:ext cx="1828800" cy="4572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3136" b="1" i="0">
                <a:solidFill>
                  <a:srgbClr val="077090"/>
                </a:solidFill>
                <a:latin typeface="Arial"/>
              </a:rPr>
              <a:t>34.25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27648" y="1664208"/>
            <a:ext cx="5303520" cy="219456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120" b="0" i="0">
                <a:solidFill>
                  <a:srgbClr val="828E9C"/>
                </a:solidFill>
                <a:latin typeface="Arial"/>
              </a:rPr>
              <a:t>PS-PQ avg intensity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30768" y="1371600"/>
            <a:ext cx="3474720" cy="4572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232" b="0" i="0">
                <a:solidFill>
                  <a:srgbClr val="444E5A"/>
                </a:solidFill>
                <a:latin typeface="Arial"/>
              </a:rPr>
              <a:t>Tighter complex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44768" y="2368296"/>
            <a:ext cx="5961888" cy="1188720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 w="6350">
            <a:solidFill>
              <a:srgbClr val="D4DB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44768" y="2368296"/>
            <a:ext cx="54864" cy="1188720"/>
          </a:xfrm>
          <a:prstGeom prst="rect">
            <a:avLst/>
          </a:prstGeom>
          <a:solidFill>
            <a:srgbClr val="C265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27648" y="2514600"/>
            <a:ext cx="1828800" cy="4572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3136" b="1" i="0">
                <a:solidFill>
                  <a:srgbClr val="C26505"/>
                </a:solidFill>
                <a:latin typeface="Arial"/>
              </a:rPr>
              <a:t>43.59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27648" y="2990088"/>
            <a:ext cx="5303520" cy="219456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120" b="0" i="0">
                <a:solidFill>
                  <a:srgbClr val="828E9C"/>
                </a:solidFill>
                <a:latin typeface="Arial"/>
              </a:rPr>
              <a:t>PA-PQ avg intensity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30768" y="2697480"/>
            <a:ext cx="3474720" cy="4572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232" b="0" i="0">
                <a:solidFill>
                  <a:srgbClr val="444E5A"/>
                </a:solidFill>
                <a:latin typeface="Arial"/>
              </a:rPr>
              <a:t>Looser complex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44768" y="3785616"/>
            <a:ext cx="5961888" cy="2377440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 w="6350">
            <a:solidFill>
              <a:srgbClr val="D4DB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144768" y="3785616"/>
            <a:ext cx="5961888" cy="45720"/>
          </a:xfrm>
          <a:prstGeom prst="rect">
            <a:avLst/>
          </a:prstGeom>
          <a:solidFill>
            <a:srgbClr val="077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27648" y="3931920"/>
            <a:ext cx="5577840" cy="292608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344" b="1" i="0">
                <a:solidFill>
                  <a:srgbClr val="1E252E"/>
                </a:solidFill>
                <a:latin typeface="Arial"/>
              </a:rPr>
              <a:t>Mechanistic Interpretation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27648" y="4297680"/>
            <a:ext cx="5577840" cy="173736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120" b="0" i="0">
                <a:solidFill>
                  <a:srgbClr val="444E5A"/>
                </a:solidFill>
                <a:latin typeface="Arial"/>
              </a:rPr>
              <a:t>PS-PQ forms a tighter complex (lower fluorescence emission, smaller aggregates). PA-PQ forms a looser complex — the carboxylate groups of PA interact weakly with PQ's quaternary ammonium. This weaker interaction is key: it allows PQ functional groups to remain accessible at the coating surface for antibacterial activity, while PA groups maintain the hydration layer for antifouling.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02920" cy="6858000"/>
          </a:xfrm>
          <a:prstGeom prst="rect">
            <a:avLst/>
          </a:prstGeom>
          <a:solidFill>
            <a:srgbClr val="077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0"/>
            <a:ext cx="27432" cy="6858000"/>
          </a:xfrm>
          <a:prstGeom prst="rect">
            <a:avLst/>
          </a:prstGeom>
          <a:solidFill>
            <a:srgbClr val="DD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18288"/>
          </a:xfrm>
          <a:prstGeom prst="rect">
            <a:avLst/>
          </a:prstGeom>
          <a:solidFill>
            <a:srgbClr val="D4D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620256"/>
            <a:ext cx="7315200" cy="201168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896" b="0" i="0">
                <a:solidFill>
                  <a:srgbClr val="828E9C"/>
                </a:solidFill>
                <a:latin typeface="Arial"/>
              </a:rPr>
              <a:t>Wang et al. | Biomaterials 331 (2026) 124114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620256"/>
            <a:ext cx="1188720" cy="201168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r"/>
            <a:r>
              <a:rPr sz="896" b="0" i="0">
                <a:solidFill>
                  <a:srgbClr val="828E9C"/>
                </a:solidFill>
                <a:latin typeface="Arial"/>
              </a:rPr>
              <a:t>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77440"/>
            <a:ext cx="9144000" cy="36576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120" b="1" i="0">
                <a:solidFill>
                  <a:srgbClr val="077090"/>
                </a:solidFill>
                <a:latin typeface="Arial"/>
              </a:rPr>
              <a:t>SECTION 04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788920"/>
            <a:ext cx="9144000" cy="7315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3808" b="1" i="0">
                <a:solidFill>
                  <a:srgbClr val="1E252E"/>
                </a:solidFill>
                <a:latin typeface="Arial"/>
              </a:rPr>
              <a:t>Coating Properties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566160"/>
            <a:ext cx="8229600" cy="36576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456" b="0" i="0">
                <a:solidFill>
                  <a:srgbClr val="444E5A"/>
                </a:solidFill>
                <a:latin typeface="Arial"/>
              </a:rPr>
              <a:t>QCM-d, AFM, XPS, zeta potential, and water contact angle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64008" cy="731520"/>
          </a:xfrm>
          <a:prstGeom prst="rect">
            <a:avLst/>
          </a:prstGeom>
          <a:solidFill>
            <a:srgbClr val="077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13232"/>
            <a:ext cx="12191695" cy="18288"/>
          </a:xfrm>
          <a:prstGeom prst="rect">
            <a:avLst/>
          </a:prstGeom>
          <a:solidFill>
            <a:srgbClr val="D4D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109728"/>
            <a:ext cx="5486400" cy="237744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008" b="1" i="0">
                <a:solidFill>
                  <a:srgbClr val="077090"/>
                </a:solidFill>
                <a:latin typeface="Arial"/>
              </a:rPr>
              <a:t>04 · COATING PROPERTIES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347472"/>
            <a:ext cx="11423599" cy="329184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2128" b="1" i="0">
                <a:solidFill>
                  <a:srgbClr val="1E252E"/>
                </a:solidFill>
                <a:latin typeface="Arial"/>
              </a:rPr>
              <a:t>QCM-d: Real-Time Coating Deposition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583680"/>
            <a:ext cx="12191695" cy="18288"/>
          </a:xfrm>
          <a:prstGeom prst="rect">
            <a:avLst/>
          </a:prstGeom>
          <a:solidFill>
            <a:srgbClr val="D4D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048" y="6620256"/>
            <a:ext cx="7315200" cy="201168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896" b="0" i="0">
                <a:solidFill>
                  <a:srgbClr val="828E9C"/>
                </a:solidFill>
                <a:latin typeface="Arial"/>
              </a:rPr>
              <a:t>Wang et al. | Biomaterials 331 (2026) 124114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20095" y="6620256"/>
            <a:ext cx="1188720" cy="201168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r"/>
            <a:r>
              <a:rPr sz="896" b="0" i="0">
                <a:solidFill>
                  <a:srgbClr val="828E9C"/>
                </a:solidFill>
                <a:latin typeface="Arial"/>
              </a:rPr>
              <a:t>16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4048" y="1042416"/>
            <a:ext cx="7132320" cy="5029200"/>
          </a:xfrm>
          <a:prstGeom prst="roundRect">
            <a:avLst>
              <a:gd name="adj" fmla="val 4000"/>
            </a:avLst>
          </a:prstGeom>
          <a:solidFill>
            <a:srgbClr val="F0F2F5"/>
          </a:solidFill>
          <a:ln w="6350">
            <a:solidFill>
              <a:srgbClr val="D4DB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4048" y="2551176"/>
            <a:ext cx="7132320" cy="201168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/>
            <a:r>
              <a:rPr sz="1120" b="0" i="0">
                <a:solidFill>
                  <a:srgbClr val="828E9C"/>
                </a:solidFill>
                <a:latin typeface="Arial"/>
              </a:rPr>
              <a:t>[Figure Placeholder]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" y="5815584"/>
            <a:ext cx="6949440" cy="219456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/>
            <a:r>
              <a:rPr sz="896" b="0" i="1">
                <a:solidFill>
                  <a:srgbClr val="828E9C"/>
                </a:solidFill>
                <a:latin typeface="Arial"/>
              </a:rPr>
              <a:t>QCM-d frequency (Δf) and dissipation (ΔD) vs time — PA-PQ and PS-PQ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90688" y="1042416"/>
            <a:ext cx="4389120" cy="2468880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 w="6350">
            <a:solidFill>
              <a:srgbClr val="D4DB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90688" y="1042416"/>
            <a:ext cx="54864" cy="2468880"/>
          </a:xfrm>
          <a:prstGeom prst="rect">
            <a:avLst/>
          </a:prstGeom>
          <a:solidFill>
            <a:srgbClr val="077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73568" y="1188720"/>
            <a:ext cx="4023360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344" b="1" i="0">
                <a:solidFill>
                  <a:srgbClr val="1E252E"/>
                </a:solidFill>
                <a:latin typeface="Arial"/>
              </a:rPr>
              <a:t>PA-PQ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73568" y="1517904"/>
            <a:ext cx="4023360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456" b="1" i="0">
                <a:solidFill>
                  <a:srgbClr val="077090"/>
                </a:solidFill>
                <a:latin typeface="Arial"/>
              </a:rPr>
              <a:t>Δf = 156 Hz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73568" y="1828800"/>
            <a:ext cx="4023360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456" b="1" i="0">
                <a:solidFill>
                  <a:srgbClr val="077090"/>
                </a:solidFill>
                <a:latin typeface="Arial"/>
              </a:rPr>
              <a:t>ΔD = 559 × 10⁻⁶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73568" y="2212848"/>
            <a:ext cx="4023360" cy="11887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120" b="0" i="0">
                <a:solidFill>
                  <a:srgbClr val="444E5A"/>
                </a:solidFill>
                <a:latin typeface="Arial"/>
              </a:rPr>
              <a:t>More mass deposited</a:t>
            </a:r>
          </a:p>
          <a:p>
            <a:pPr algn="l"/>
            <a:r>
              <a:rPr sz="1120" b="0" i="0">
                <a:solidFill>
                  <a:srgbClr val="444E5A"/>
                </a:solidFill>
                <a:latin typeface="Arial"/>
              </a:rPr>
              <a:t>Highly hydrated soft film → superior antifouling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90688" y="3694176"/>
            <a:ext cx="4389120" cy="2468880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 w="6350">
            <a:solidFill>
              <a:srgbClr val="D4DB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790688" y="3694176"/>
            <a:ext cx="54864" cy="2468880"/>
          </a:xfrm>
          <a:prstGeom prst="rect">
            <a:avLst/>
          </a:prstGeom>
          <a:solidFill>
            <a:srgbClr val="3A52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73568" y="3840480"/>
            <a:ext cx="4023360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344" b="1" i="0">
                <a:solidFill>
                  <a:srgbClr val="1E252E"/>
                </a:solidFill>
                <a:latin typeface="Arial"/>
              </a:rPr>
              <a:t>PS-PQ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73568" y="4169664"/>
            <a:ext cx="4023360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456" b="1" i="0">
                <a:solidFill>
                  <a:srgbClr val="3A5268"/>
                </a:solidFill>
                <a:latin typeface="Arial"/>
              </a:rPr>
              <a:t>Δf = 89 Hz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73568" y="4480560"/>
            <a:ext cx="4023360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456" b="1" i="0">
                <a:solidFill>
                  <a:srgbClr val="3A5268"/>
                </a:solidFill>
                <a:latin typeface="Arial"/>
              </a:rPr>
              <a:t>ΔD = 225 × 10⁻⁶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73568" y="4864608"/>
            <a:ext cx="4023360" cy="11887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120" b="0" i="0">
                <a:solidFill>
                  <a:srgbClr val="444E5A"/>
                </a:solidFill>
                <a:latin typeface="Arial"/>
              </a:rPr>
              <a:t>Less mass, stiffer film</a:t>
            </a:r>
          </a:p>
          <a:p>
            <a:pPr algn="l"/>
            <a:r>
              <a:rPr sz="1120" b="0" i="0">
                <a:solidFill>
                  <a:srgbClr val="444E5A"/>
                </a:solidFill>
                <a:latin typeface="Arial"/>
              </a:rPr>
              <a:t>Compact, denser coating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64008" cy="731520"/>
          </a:xfrm>
          <a:prstGeom prst="rect">
            <a:avLst/>
          </a:prstGeom>
          <a:solidFill>
            <a:srgbClr val="077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13232"/>
            <a:ext cx="12191695" cy="18288"/>
          </a:xfrm>
          <a:prstGeom prst="rect">
            <a:avLst/>
          </a:prstGeom>
          <a:solidFill>
            <a:srgbClr val="D4D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109728"/>
            <a:ext cx="5486400" cy="237744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008" b="1" i="0">
                <a:solidFill>
                  <a:srgbClr val="077090"/>
                </a:solidFill>
                <a:latin typeface="Arial"/>
              </a:rPr>
              <a:t>04 · COATING PROPERTIES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347472"/>
            <a:ext cx="11423599" cy="329184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2128" b="1" i="0">
                <a:solidFill>
                  <a:srgbClr val="1E252E"/>
                </a:solidFill>
                <a:latin typeface="Arial"/>
              </a:rPr>
              <a:t>Zeta Potential: Surface Charge Analysis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583680"/>
            <a:ext cx="12191695" cy="18288"/>
          </a:xfrm>
          <a:prstGeom prst="rect">
            <a:avLst/>
          </a:prstGeom>
          <a:solidFill>
            <a:srgbClr val="D4D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048" y="6620256"/>
            <a:ext cx="7315200" cy="201168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896" b="0" i="0">
                <a:solidFill>
                  <a:srgbClr val="828E9C"/>
                </a:solidFill>
                <a:latin typeface="Arial"/>
              </a:rPr>
              <a:t>Wang et al. | Biomaterials 331 (2026) 124114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20095" y="6620256"/>
            <a:ext cx="1188720" cy="201168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r"/>
            <a:r>
              <a:rPr sz="896" b="0" i="0">
                <a:solidFill>
                  <a:srgbClr val="828E9C"/>
                </a:solidFill>
                <a:latin typeface="Arial"/>
              </a:rPr>
              <a:t>17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4048" y="1042416"/>
            <a:ext cx="6400800" cy="5029200"/>
          </a:xfrm>
          <a:prstGeom prst="roundRect">
            <a:avLst>
              <a:gd name="adj" fmla="val 4000"/>
            </a:avLst>
          </a:prstGeom>
          <a:solidFill>
            <a:srgbClr val="F0F2F5"/>
          </a:solidFill>
          <a:ln w="6350">
            <a:solidFill>
              <a:srgbClr val="D4DB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4048" y="2551176"/>
            <a:ext cx="6400800" cy="201168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/>
            <a:r>
              <a:rPr sz="1120" b="0" i="0">
                <a:solidFill>
                  <a:srgbClr val="828E9C"/>
                </a:solidFill>
                <a:latin typeface="Arial"/>
              </a:rPr>
              <a:t>[Figure Placeholder]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" y="5815584"/>
            <a:ext cx="6217920" cy="219456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/>
            <a:r>
              <a:rPr sz="896" b="0" i="1">
                <a:solidFill>
                  <a:srgbClr val="828E9C"/>
                </a:solidFill>
                <a:latin typeface="Arial"/>
              </a:rPr>
              <a:t>Zeta potential after each coating layer — PLA, PS-PQ, PA-PQ series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59168" y="1097280"/>
            <a:ext cx="5120640" cy="292608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344" b="1" i="0">
                <a:solidFill>
                  <a:srgbClr val="1E252E"/>
                </a:solidFill>
                <a:latin typeface="Arial"/>
              </a:rPr>
              <a:t>Key Findings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059168" y="1499616"/>
            <a:ext cx="5120640" cy="786384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 w="6350">
            <a:solidFill>
              <a:srgbClr val="D4DB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059168" y="1499616"/>
            <a:ext cx="54864" cy="786384"/>
          </a:xfrm>
          <a:prstGeom prst="rect">
            <a:avLst/>
          </a:prstGeom>
          <a:solidFill>
            <a:srgbClr val="077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23760" y="1609344"/>
            <a:ext cx="4773168" cy="566928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120" b="0" i="0">
                <a:solidFill>
                  <a:srgbClr val="444E5A"/>
                </a:solidFill>
                <a:latin typeface="Arial"/>
              </a:rPr>
              <a:t>Bare PLA substrate: negative zeta potential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059168" y="2377440"/>
            <a:ext cx="5120640" cy="786384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 w="6350">
            <a:solidFill>
              <a:srgbClr val="D4DB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059168" y="2377440"/>
            <a:ext cx="54864" cy="786384"/>
          </a:xfrm>
          <a:prstGeom prst="rect">
            <a:avLst/>
          </a:prstGeom>
          <a:solidFill>
            <a:srgbClr val="077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223760" y="2487168"/>
            <a:ext cx="4773168" cy="566928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120" b="0" i="0">
                <a:solidFill>
                  <a:srgbClr val="444E5A"/>
                </a:solidFill>
                <a:latin typeface="Arial"/>
              </a:rPr>
              <a:t>After PS-PQ coating: shifts toward near-neutral charge balance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059168" y="3255264"/>
            <a:ext cx="5120640" cy="786384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 w="6350">
            <a:solidFill>
              <a:srgbClr val="D4DB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059168" y="3255264"/>
            <a:ext cx="54864" cy="786384"/>
          </a:xfrm>
          <a:prstGeom prst="rect">
            <a:avLst/>
          </a:prstGeom>
          <a:solidFill>
            <a:srgbClr val="077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23760" y="3364992"/>
            <a:ext cx="4773168" cy="566928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120" b="0" i="0">
                <a:solidFill>
                  <a:srgbClr val="444E5A"/>
                </a:solidFill>
                <a:latin typeface="Arial"/>
              </a:rPr>
              <a:t>After PA-PQ coating: slightly negative — favorable for antithrombotic surfaces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059168" y="4133088"/>
            <a:ext cx="5120640" cy="786384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 w="6350">
            <a:solidFill>
              <a:srgbClr val="D4DB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059168" y="4133088"/>
            <a:ext cx="54864" cy="786384"/>
          </a:xfrm>
          <a:prstGeom prst="rect">
            <a:avLst/>
          </a:prstGeom>
          <a:solidFill>
            <a:srgbClr val="077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223760" y="4242816"/>
            <a:ext cx="4773168" cy="566928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120" b="0" i="0">
                <a:solidFill>
                  <a:srgbClr val="444E5A"/>
                </a:solidFill>
                <a:latin typeface="Arial"/>
              </a:rPr>
              <a:t>PA2.5 surface charge reduces electrostatic attraction with blood proteins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059168" y="5010912"/>
            <a:ext cx="5120640" cy="786384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 w="6350">
            <a:solidFill>
              <a:srgbClr val="D4DB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059168" y="5010912"/>
            <a:ext cx="54864" cy="786384"/>
          </a:xfrm>
          <a:prstGeom prst="rect">
            <a:avLst/>
          </a:prstGeom>
          <a:solidFill>
            <a:srgbClr val="077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223760" y="5120640"/>
            <a:ext cx="4773168" cy="566928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120" b="0" i="0">
                <a:solidFill>
                  <a:srgbClr val="444E5A"/>
                </a:solidFill>
                <a:latin typeface="Arial"/>
              </a:rPr>
              <a:t>Charge evolution consistent with layer-by-layer buildup confirmed by QCM-d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64008" cy="731520"/>
          </a:xfrm>
          <a:prstGeom prst="rect">
            <a:avLst/>
          </a:prstGeom>
          <a:solidFill>
            <a:srgbClr val="077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13232"/>
            <a:ext cx="12191695" cy="18288"/>
          </a:xfrm>
          <a:prstGeom prst="rect">
            <a:avLst/>
          </a:prstGeom>
          <a:solidFill>
            <a:srgbClr val="D4D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109728"/>
            <a:ext cx="5486400" cy="237744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008" b="1" i="0">
                <a:solidFill>
                  <a:srgbClr val="077090"/>
                </a:solidFill>
                <a:latin typeface="Arial"/>
              </a:rPr>
              <a:t>04 · COATING PROPERTIES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347472"/>
            <a:ext cx="11423599" cy="329184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2128" b="1" i="0">
                <a:solidFill>
                  <a:srgbClr val="1E252E"/>
                </a:solidFill>
                <a:latin typeface="Arial"/>
              </a:rPr>
              <a:t>AFM: Surface Morphology and Roughness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583680"/>
            <a:ext cx="12191695" cy="18288"/>
          </a:xfrm>
          <a:prstGeom prst="rect">
            <a:avLst/>
          </a:prstGeom>
          <a:solidFill>
            <a:srgbClr val="D4D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048" y="6620256"/>
            <a:ext cx="7315200" cy="201168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896" b="0" i="0">
                <a:solidFill>
                  <a:srgbClr val="828E9C"/>
                </a:solidFill>
                <a:latin typeface="Arial"/>
              </a:rPr>
              <a:t>Wang et al. | Biomaterials 331 (2026) 124114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20095" y="6620256"/>
            <a:ext cx="1188720" cy="201168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r"/>
            <a:r>
              <a:rPr sz="896" b="0" i="0">
                <a:solidFill>
                  <a:srgbClr val="828E9C"/>
                </a:solidFill>
                <a:latin typeface="Arial"/>
              </a:rPr>
              <a:t>18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4048" y="1042416"/>
            <a:ext cx="7132320" cy="3291840"/>
          </a:xfrm>
          <a:prstGeom prst="roundRect">
            <a:avLst>
              <a:gd name="adj" fmla="val 4000"/>
            </a:avLst>
          </a:prstGeom>
          <a:solidFill>
            <a:srgbClr val="F0F2F5"/>
          </a:solidFill>
          <a:ln w="6350">
            <a:solidFill>
              <a:srgbClr val="D4DB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4048" y="2029968"/>
            <a:ext cx="7132320" cy="1316736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/>
            <a:r>
              <a:rPr sz="1120" b="0" i="0">
                <a:solidFill>
                  <a:srgbClr val="828E9C"/>
                </a:solidFill>
                <a:latin typeface="Arial"/>
              </a:rPr>
              <a:t>[Figure Placeholder]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" y="4078224"/>
            <a:ext cx="6949440" cy="219456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/>
            <a:r>
              <a:rPr sz="896" b="0" i="1">
                <a:solidFill>
                  <a:srgbClr val="828E9C"/>
                </a:solidFill>
                <a:latin typeface="Arial"/>
              </a:rPr>
              <a:t>AFM height images — PLA, PA-PQ (layers 1–5), PS-PQ (layers 1–5)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84048" y="4425696"/>
            <a:ext cx="7132320" cy="1645920"/>
          </a:xfrm>
          <a:prstGeom prst="roundRect">
            <a:avLst>
              <a:gd name="adj" fmla="val 4000"/>
            </a:avLst>
          </a:prstGeom>
          <a:solidFill>
            <a:srgbClr val="F0F2F5"/>
          </a:solidFill>
          <a:ln w="6350">
            <a:solidFill>
              <a:srgbClr val="D4DB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4048" y="4919472"/>
            <a:ext cx="7132320" cy="658368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/>
            <a:r>
              <a:rPr sz="1120" b="0" i="0">
                <a:solidFill>
                  <a:srgbClr val="828E9C"/>
                </a:solidFill>
                <a:latin typeface="Arial"/>
              </a:rPr>
              <a:t>[Figure Placeholder]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" y="5815584"/>
            <a:ext cx="6949440" cy="219456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/>
            <a:r>
              <a:rPr sz="896" b="0" i="1">
                <a:solidFill>
                  <a:srgbClr val="828E9C"/>
                </a:solidFill>
                <a:latin typeface="Arial"/>
              </a:rPr>
              <a:t>Rq and Ra vs number of coating layers — PA-PQ vs PS-PQ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90688" y="1042416"/>
            <a:ext cx="4389120" cy="1572768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 w="6350">
            <a:solidFill>
              <a:srgbClr val="D4DB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790688" y="1042416"/>
            <a:ext cx="54864" cy="1572768"/>
          </a:xfrm>
          <a:prstGeom prst="rect">
            <a:avLst/>
          </a:prstGeom>
          <a:solidFill>
            <a:srgbClr val="82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73568" y="1170432"/>
            <a:ext cx="4023360" cy="256032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232" b="1" i="0">
                <a:solidFill>
                  <a:srgbClr val="1E252E"/>
                </a:solidFill>
                <a:latin typeface="Arial"/>
              </a:rPr>
              <a:t>PLA (bare)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73568" y="1481328"/>
            <a:ext cx="1828800" cy="237744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120" b="1" i="0">
                <a:solidFill>
                  <a:srgbClr val="828E9C"/>
                </a:solidFill>
                <a:latin typeface="Arial"/>
              </a:rPr>
              <a:t>Rq = 1.06 nm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93808" y="1481328"/>
            <a:ext cx="1920240" cy="237744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120" b="1" i="0">
                <a:solidFill>
                  <a:srgbClr val="828E9C"/>
                </a:solidFill>
                <a:latin typeface="Arial"/>
              </a:rPr>
              <a:t>Ra = 0.67 nm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73568" y="1792224"/>
            <a:ext cx="4023360" cy="694944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008" b="0" i="0">
                <a:solidFill>
                  <a:srgbClr val="444E5A"/>
                </a:solidFill>
                <a:latin typeface="Arial"/>
              </a:rPr>
              <a:t>Baseline roughness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90688" y="2761488"/>
            <a:ext cx="4389120" cy="1572768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 w="6350">
            <a:solidFill>
              <a:srgbClr val="D4DB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790688" y="2761488"/>
            <a:ext cx="54864" cy="1572768"/>
          </a:xfrm>
          <a:prstGeom prst="rect">
            <a:avLst/>
          </a:prstGeom>
          <a:solidFill>
            <a:srgbClr val="077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73568" y="2889504"/>
            <a:ext cx="4023360" cy="256032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232" b="1" i="0">
                <a:solidFill>
                  <a:srgbClr val="1E252E"/>
                </a:solidFill>
                <a:latin typeface="Arial"/>
              </a:rPr>
              <a:t>PA-PQ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73568" y="3200400"/>
            <a:ext cx="1828800" cy="237744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120" b="1" i="0">
                <a:solidFill>
                  <a:srgbClr val="077090"/>
                </a:solidFill>
                <a:latin typeface="Arial"/>
              </a:rPr>
              <a:t>Rq decreases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93808" y="3200400"/>
            <a:ext cx="1920240" cy="237744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120" b="1" i="0">
                <a:solidFill>
                  <a:srgbClr val="077090"/>
                </a:solidFill>
                <a:latin typeface="Arial"/>
              </a:rPr>
              <a:t>Smoother surface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73568" y="3511296"/>
            <a:ext cx="4023360" cy="694944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008" b="0" i="0">
                <a:solidFill>
                  <a:srgbClr val="444E5A"/>
                </a:solidFill>
                <a:latin typeface="Arial"/>
              </a:rPr>
              <a:t>Each layer fills nanoscale defects → uniform hydration layer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790688" y="4480560"/>
            <a:ext cx="4389120" cy="1572768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 w="6350">
            <a:solidFill>
              <a:srgbClr val="D4DB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790688" y="4480560"/>
            <a:ext cx="54864" cy="1572768"/>
          </a:xfrm>
          <a:prstGeom prst="rect">
            <a:avLst/>
          </a:prstGeom>
          <a:solidFill>
            <a:srgbClr val="3A52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973568" y="4608576"/>
            <a:ext cx="4023360" cy="256032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232" b="1" i="0">
                <a:solidFill>
                  <a:srgbClr val="1E252E"/>
                </a:solidFill>
                <a:latin typeface="Arial"/>
              </a:rPr>
              <a:t>PS-PQ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973568" y="4919472"/>
            <a:ext cx="1828800" cy="237744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120" b="1" i="0">
                <a:solidFill>
                  <a:srgbClr val="3A5268"/>
                </a:solidFill>
                <a:latin typeface="Arial"/>
              </a:rPr>
              <a:t>Rq increases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93808" y="4919472"/>
            <a:ext cx="1920240" cy="237744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120" b="1" i="0">
                <a:solidFill>
                  <a:srgbClr val="3A5268"/>
                </a:solidFill>
                <a:latin typeface="Arial"/>
              </a:rPr>
              <a:t>Rougher surface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973568" y="5230368"/>
            <a:ext cx="4023360" cy="694944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008" b="0" i="0">
                <a:solidFill>
                  <a:srgbClr val="444E5A"/>
                </a:solidFill>
                <a:latin typeface="Arial"/>
              </a:rPr>
              <a:t>Compact aggregates create higher topographic variation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64008" cy="731520"/>
          </a:xfrm>
          <a:prstGeom prst="rect">
            <a:avLst/>
          </a:prstGeom>
          <a:solidFill>
            <a:srgbClr val="077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13232"/>
            <a:ext cx="12191695" cy="18288"/>
          </a:xfrm>
          <a:prstGeom prst="rect">
            <a:avLst/>
          </a:prstGeom>
          <a:solidFill>
            <a:srgbClr val="D4D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109728"/>
            <a:ext cx="5486400" cy="237744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008" b="1" i="0">
                <a:solidFill>
                  <a:srgbClr val="077090"/>
                </a:solidFill>
                <a:latin typeface="Arial"/>
              </a:rPr>
              <a:t>04 · COATING PROPERTIES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347472"/>
            <a:ext cx="11423599" cy="329184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2128" b="1" i="0">
                <a:solidFill>
                  <a:srgbClr val="1E252E"/>
                </a:solidFill>
                <a:latin typeface="Arial"/>
              </a:rPr>
              <a:t>Water Contact Angle: Surface Hydrophilicity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583680"/>
            <a:ext cx="12191695" cy="18288"/>
          </a:xfrm>
          <a:prstGeom prst="rect">
            <a:avLst/>
          </a:prstGeom>
          <a:solidFill>
            <a:srgbClr val="D4D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048" y="6620256"/>
            <a:ext cx="7315200" cy="201168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896" b="0" i="0">
                <a:solidFill>
                  <a:srgbClr val="828E9C"/>
                </a:solidFill>
                <a:latin typeface="Arial"/>
              </a:rPr>
              <a:t>Wang et al. | Biomaterials 331 (2026) 124114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20095" y="6620256"/>
            <a:ext cx="1188720" cy="201168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r"/>
            <a:r>
              <a:rPr sz="896" b="0" i="0">
                <a:solidFill>
                  <a:srgbClr val="828E9C"/>
                </a:solidFill>
                <a:latin typeface="Arial"/>
              </a:rPr>
              <a:t>19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4048" y="1042416"/>
            <a:ext cx="6400800" cy="3657600"/>
          </a:xfrm>
          <a:prstGeom prst="roundRect">
            <a:avLst>
              <a:gd name="adj" fmla="val 4000"/>
            </a:avLst>
          </a:prstGeom>
          <a:solidFill>
            <a:srgbClr val="F0F2F5"/>
          </a:solidFill>
          <a:ln w="6350">
            <a:solidFill>
              <a:srgbClr val="D4DB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4048" y="2139696"/>
            <a:ext cx="6400800" cy="146304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/>
            <a:r>
              <a:rPr sz="1120" b="0" i="0">
                <a:solidFill>
                  <a:srgbClr val="828E9C"/>
                </a:solidFill>
                <a:latin typeface="Arial"/>
              </a:rPr>
              <a:t>[Figure Placeholder]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" y="4443984"/>
            <a:ext cx="6217920" cy="219456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/>
            <a:r>
              <a:rPr sz="896" b="0" i="1">
                <a:solidFill>
                  <a:srgbClr val="828E9C"/>
                </a:solidFill>
                <a:latin typeface="Arial"/>
              </a:rPr>
              <a:t>WCA photographs and values — PLA, PA2.0, PA2.5, PS2.0, PS2.5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059168" y="1042416"/>
            <a:ext cx="5120640" cy="1133856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 w="6350">
            <a:solidFill>
              <a:srgbClr val="D4DB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059168" y="1042416"/>
            <a:ext cx="54864" cy="1133856"/>
          </a:xfrm>
          <a:prstGeom prst="rect">
            <a:avLst/>
          </a:prstGeom>
          <a:solidFill>
            <a:srgbClr val="B5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42048" y="1170432"/>
            <a:ext cx="2377440" cy="256032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232" b="1" i="0">
                <a:solidFill>
                  <a:srgbClr val="1E252E"/>
                </a:solidFill>
                <a:latin typeface="Arial"/>
              </a:rPr>
              <a:t>PLA (control)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42048" y="1499616"/>
            <a:ext cx="1463040" cy="36576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2240" b="1" i="0">
                <a:solidFill>
                  <a:srgbClr val="B52828"/>
                </a:solidFill>
                <a:latin typeface="Arial"/>
              </a:rPr>
              <a:t>88.73°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87968" y="1371600"/>
            <a:ext cx="3108960" cy="54864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120" b="0" i="0">
                <a:solidFill>
                  <a:srgbClr val="444E5A"/>
                </a:solidFill>
                <a:latin typeface="Arial"/>
              </a:rPr>
              <a:t>Moderately hydrophobic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59168" y="2304288"/>
            <a:ext cx="5120640" cy="1133856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 w="6350">
            <a:solidFill>
              <a:srgbClr val="D4DB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059168" y="2304288"/>
            <a:ext cx="54864" cy="1133856"/>
          </a:xfrm>
          <a:prstGeom prst="rect">
            <a:avLst/>
          </a:prstGeom>
          <a:solidFill>
            <a:srgbClr val="077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242048" y="2432304"/>
            <a:ext cx="2377440" cy="256032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232" b="1" i="0">
                <a:solidFill>
                  <a:srgbClr val="1E252E"/>
                </a:solidFill>
                <a:latin typeface="Arial"/>
              </a:rPr>
              <a:t>PA2.0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42048" y="2761488"/>
            <a:ext cx="1463040" cy="36576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2240" b="1" i="0">
                <a:solidFill>
                  <a:srgbClr val="077090"/>
                </a:solidFill>
                <a:latin typeface="Arial"/>
              </a:rPr>
              <a:t>53.3°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87968" y="2633472"/>
            <a:ext cx="3108960" cy="54864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120" b="0" i="0">
                <a:solidFill>
                  <a:srgbClr val="444E5A"/>
                </a:solidFill>
                <a:latin typeface="Arial"/>
              </a:rPr>
              <a:t>Hydrophilic (PA coating)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059168" y="3566160"/>
            <a:ext cx="5120640" cy="1133856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 w="6350">
            <a:solidFill>
              <a:srgbClr val="D4DB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059168" y="3566160"/>
            <a:ext cx="54864" cy="1133856"/>
          </a:xfrm>
          <a:prstGeom prst="rect">
            <a:avLst/>
          </a:prstGeom>
          <a:solidFill>
            <a:srgbClr val="077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242048" y="3694176"/>
            <a:ext cx="2377440" cy="256032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232" b="1" i="0">
                <a:solidFill>
                  <a:srgbClr val="1E252E"/>
                </a:solidFill>
                <a:latin typeface="Arial"/>
              </a:rPr>
              <a:t>PA2.5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42048" y="4023360"/>
            <a:ext cx="1463040" cy="36576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2240" b="1" i="0">
                <a:solidFill>
                  <a:srgbClr val="077090"/>
                </a:solidFill>
                <a:latin typeface="Arial"/>
              </a:rPr>
              <a:t>21.58°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87968" y="3895344"/>
            <a:ext cx="3108960" cy="54864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120" b="0" i="0">
                <a:solidFill>
                  <a:srgbClr val="444E5A"/>
                </a:solidFill>
                <a:latin typeface="Arial"/>
              </a:rPr>
              <a:t>Highly hydrophilic ★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059168" y="4828032"/>
            <a:ext cx="5120640" cy="1133856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 w="6350">
            <a:solidFill>
              <a:srgbClr val="D4DB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059168" y="4828032"/>
            <a:ext cx="54864" cy="1133856"/>
          </a:xfrm>
          <a:prstGeom prst="rect">
            <a:avLst/>
          </a:prstGeom>
          <a:solidFill>
            <a:srgbClr val="3A52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242048" y="4956048"/>
            <a:ext cx="2377440" cy="256032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232" b="1" i="0">
                <a:solidFill>
                  <a:srgbClr val="1E252E"/>
                </a:solidFill>
                <a:latin typeface="Arial"/>
              </a:rPr>
              <a:t>PS series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42048" y="5285232"/>
            <a:ext cx="1463040" cy="36576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2240" b="1" i="0">
                <a:solidFill>
                  <a:srgbClr val="3A5268"/>
                </a:solidFill>
                <a:latin typeface="Arial"/>
              </a:rPr>
              <a:t>&gt;60°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887968" y="5157216"/>
            <a:ext cx="3108960" cy="54864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120" b="0" i="0">
                <a:solidFill>
                  <a:srgbClr val="444E5A"/>
                </a:solidFill>
                <a:latin typeface="Arial"/>
              </a:rPr>
              <a:t>More hydrophobic than PA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84048" y="4846320"/>
            <a:ext cx="6400800" cy="1280160"/>
          </a:xfrm>
          <a:prstGeom prst="roundRect">
            <a:avLst>
              <a:gd name="adj" fmla="val 4000"/>
            </a:avLst>
          </a:prstGeom>
          <a:solidFill>
            <a:srgbClr val="DDF0F7"/>
          </a:solidFill>
          <a:ln w="6350">
            <a:solidFill>
              <a:srgbClr val="077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66928" y="4992624"/>
            <a:ext cx="6035040" cy="950976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120" b="0" i="0">
                <a:solidFill>
                  <a:srgbClr val="055068"/>
                </a:solidFill>
                <a:latin typeface="Arial"/>
              </a:rPr>
              <a:t>Mechanism: The zwitterionic PA groups form a dense hydration shell through hydrogen bonding and electrostatic interaction with water molecules. Higher PQ content (PA2.5) increases surface charge density, further enhancing hydrophilicity.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02920" cy="6858000"/>
          </a:xfrm>
          <a:prstGeom prst="rect">
            <a:avLst/>
          </a:prstGeom>
          <a:solidFill>
            <a:srgbClr val="077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0"/>
            <a:ext cx="27432" cy="6858000"/>
          </a:xfrm>
          <a:prstGeom prst="rect">
            <a:avLst/>
          </a:prstGeom>
          <a:solidFill>
            <a:srgbClr val="DD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18288"/>
          </a:xfrm>
          <a:prstGeom prst="rect">
            <a:avLst/>
          </a:prstGeom>
          <a:solidFill>
            <a:srgbClr val="D4D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620256"/>
            <a:ext cx="7315200" cy="201168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896" b="0" i="0">
                <a:solidFill>
                  <a:srgbClr val="828E9C"/>
                </a:solidFill>
                <a:latin typeface="Arial"/>
              </a:rPr>
              <a:t>Wang et al. | Biomaterials 331 (2026) 124114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620256"/>
            <a:ext cx="1188720" cy="201168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r"/>
            <a:r>
              <a:rPr sz="896" b="0" i="0">
                <a:solidFill>
                  <a:srgbClr val="828E9C"/>
                </a:solidFill>
                <a:latin typeface="Arial"/>
              </a:rPr>
              <a:t>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77440"/>
            <a:ext cx="9144000" cy="36576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120" b="1" i="0">
                <a:solidFill>
                  <a:srgbClr val="077090"/>
                </a:solidFill>
                <a:latin typeface="Arial"/>
              </a:rPr>
              <a:t>SECTION 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788920"/>
            <a:ext cx="9144000" cy="7315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3808" b="1" i="0">
                <a:solidFill>
                  <a:srgbClr val="1E252E"/>
                </a:solidFill>
                <a:latin typeface="Arial"/>
              </a:rPr>
              <a:t>Antifouling &amp; Antithrombotic Performance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566160"/>
            <a:ext cx="8229600" cy="36576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456" b="0" i="0">
                <a:solidFill>
                  <a:srgbClr val="444E5A"/>
                </a:solidFill>
                <a:latin typeface="Arial"/>
              </a:rPr>
              <a:t>Ex vivo whole blood contact — protein, platelet, and thrombus evaluation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64008" cy="731520"/>
          </a:xfrm>
          <a:prstGeom prst="rect">
            <a:avLst/>
          </a:prstGeom>
          <a:solidFill>
            <a:srgbClr val="077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13232"/>
            <a:ext cx="12191695" cy="18288"/>
          </a:xfrm>
          <a:prstGeom prst="rect">
            <a:avLst/>
          </a:prstGeom>
          <a:solidFill>
            <a:srgbClr val="D4D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109728"/>
            <a:ext cx="5486400" cy="237744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008" b="1" i="0">
                <a:solidFill>
                  <a:srgbClr val="077090"/>
                </a:solidFill>
                <a:latin typeface="Arial"/>
              </a:rPr>
              <a:t>05 · PERFORMANCE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347472"/>
            <a:ext cx="11423599" cy="329184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2128" b="1" i="0">
                <a:solidFill>
                  <a:srgbClr val="1E252E"/>
                </a:solidFill>
                <a:latin typeface="Arial"/>
              </a:rPr>
              <a:t>Protein Adsorption and Platelet Adhesion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583680"/>
            <a:ext cx="12191695" cy="18288"/>
          </a:xfrm>
          <a:prstGeom prst="rect">
            <a:avLst/>
          </a:prstGeom>
          <a:solidFill>
            <a:srgbClr val="D4D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048" y="6620256"/>
            <a:ext cx="7315200" cy="201168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896" b="0" i="0">
                <a:solidFill>
                  <a:srgbClr val="828E9C"/>
                </a:solidFill>
                <a:latin typeface="Arial"/>
              </a:rPr>
              <a:t>Wang et al. | Biomaterials 331 (2026) 124114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20095" y="6620256"/>
            <a:ext cx="1188720" cy="201168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r"/>
            <a:r>
              <a:rPr sz="896" b="0" i="0">
                <a:solidFill>
                  <a:srgbClr val="828E9C"/>
                </a:solidFill>
                <a:latin typeface="Arial"/>
              </a:rPr>
              <a:t>21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4048" y="1042416"/>
            <a:ext cx="5669280" cy="2560320"/>
          </a:xfrm>
          <a:prstGeom prst="roundRect">
            <a:avLst>
              <a:gd name="adj" fmla="val 4000"/>
            </a:avLst>
          </a:prstGeom>
          <a:solidFill>
            <a:srgbClr val="F0F2F5"/>
          </a:solidFill>
          <a:ln w="6350">
            <a:solidFill>
              <a:srgbClr val="D4DB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4048" y="1810512"/>
            <a:ext cx="5669280" cy="1024128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/>
            <a:r>
              <a:rPr sz="1120" b="0" i="0">
                <a:solidFill>
                  <a:srgbClr val="828E9C"/>
                </a:solidFill>
                <a:latin typeface="Arial"/>
              </a:rPr>
              <a:t>[Figure Placeholder]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" y="3346704"/>
            <a:ext cx="5486400" cy="219456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/>
            <a:r>
              <a:rPr sz="896" b="0" i="1">
                <a:solidFill>
                  <a:srgbClr val="828E9C"/>
                </a:solidFill>
                <a:latin typeface="Arial"/>
              </a:rPr>
              <a:t>Fluorescence images — protein adsorption (BSA-FITC) on PLA vs PA2.5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84048" y="3749040"/>
            <a:ext cx="5669280" cy="2377440"/>
          </a:xfrm>
          <a:prstGeom prst="roundRect">
            <a:avLst>
              <a:gd name="adj" fmla="val 4000"/>
            </a:avLst>
          </a:prstGeom>
          <a:solidFill>
            <a:srgbClr val="F0F2F5"/>
          </a:solidFill>
          <a:ln w="6350">
            <a:solidFill>
              <a:srgbClr val="D4DB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4048" y="4462272"/>
            <a:ext cx="5669280" cy="950976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/>
            <a:r>
              <a:rPr sz="1120" b="0" i="0">
                <a:solidFill>
                  <a:srgbClr val="828E9C"/>
                </a:solidFill>
                <a:latin typeface="Arial"/>
              </a:rPr>
              <a:t>[Figure Placeholder]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" y="5870448"/>
            <a:ext cx="5486400" cy="219456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/>
            <a:r>
              <a:rPr sz="896" b="0" i="1">
                <a:solidFill>
                  <a:srgbClr val="828E9C"/>
                </a:solidFill>
                <a:latin typeface="Arial"/>
              </a:rPr>
              <a:t>SEM images — platelet adhesion and activation on PLA vs coated surfaces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27648" y="1097280"/>
            <a:ext cx="5797296" cy="292608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344" b="1" i="0">
                <a:solidFill>
                  <a:srgbClr val="1E252E"/>
                </a:solidFill>
                <a:latin typeface="Arial"/>
              </a:rPr>
              <a:t>Antifouling Performance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27648" y="1499616"/>
            <a:ext cx="5797296" cy="1133856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 w="6350">
            <a:solidFill>
              <a:srgbClr val="D4DB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27648" y="1499616"/>
            <a:ext cx="54864" cy="1133856"/>
          </a:xfrm>
          <a:prstGeom prst="rect">
            <a:avLst/>
          </a:prstGeom>
          <a:solidFill>
            <a:srgbClr val="077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10528" y="1627632"/>
            <a:ext cx="5431536" cy="256032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232" b="1" i="0">
                <a:solidFill>
                  <a:srgbClr val="1E252E"/>
                </a:solidFill>
                <a:latin typeface="Arial"/>
              </a:rPr>
              <a:t>Protein adsorption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10528" y="1938528"/>
            <a:ext cx="5431536" cy="621792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120" b="0" i="0">
                <a:solidFill>
                  <a:srgbClr val="444E5A"/>
                </a:solidFill>
                <a:latin typeface="Arial"/>
              </a:rPr>
              <a:t>PA2.5 dramatically reduces BSA adsorption vs bare PLA. The hydration layer acts as a steric/energetic barrier.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27648" y="2724912"/>
            <a:ext cx="5797296" cy="1133856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 w="6350">
            <a:solidFill>
              <a:srgbClr val="D4DB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327648" y="2724912"/>
            <a:ext cx="54864" cy="1133856"/>
          </a:xfrm>
          <a:prstGeom prst="rect">
            <a:avLst/>
          </a:prstGeom>
          <a:solidFill>
            <a:srgbClr val="077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10528" y="2852928"/>
            <a:ext cx="5431536" cy="256032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232" b="1" i="0">
                <a:solidFill>
                  <a:srgbClr val="1E252E"/>
                </a:solidFill>
                <a:latin typeface="Arial"/>
              </a:rPr>
              <a:t>Platelet adhesion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10528" y="3163824"/>
            <a:ext cx="5431536" cy="621792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120" b="0" i="0">
                <a:solidFill>
                  <a:srgbClr val="444E5A"/>
                </a:solidFill>
                <a:latin typeface="Arial"/>
              </a:rPr>
              <a:t>Significantly fewer platelets adhere to PA2.5 surfaces. Adhered platelets show rounded (inactive) morphology vs activated on PLA.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27648" y="3950208"/>
            <a:ext cx="5797296" cy="1133856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 w="6350">
            <a:solidFill>
              <a:srgbClr val="D4DB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27648" y="3950208"/>
            <a:ext cx="54864" cy="1133856"/>
          </a:xfrm>
          <a:prstGeom prst="rect">
            <a:avLst/>
          </a:prstGeom>
          <a:solidFill>
            <a:srgbClr val="077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10528" y="4078224"/>
            <a:ext cx="5431536" cy="256032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232" b="1" i="0">
                <a:solidFill>
                  <a:srgbClr val="1E252E"/>
                </a:solidFill>
                <a:latin typeface="Arial"/>
              </a:rPr>
              <a:t>Mechanism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10528" y="4389120"/>
            <a:ext cx="5431536" cy="621792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120" b="0" i="0">
                <a:solidFill>
                  <a:srgbClr val="444E5A"/>
                </a:solidFill>
                <a:latin typeface="Arial"/>
              </a:rPr>
              <a:t>Highly hydrated PA groups (WCA 21.58°) repel hydrophobic proteins and inhibit platelet integrin engagement with the surface.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327648" y="5175504"/>
            <a:ext cx="5797296" cy="1133856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 w="6350">
            <a:solidFill>
              <a:srgbClr val="D4DB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327648" y="5175504"/>
            <a:ext cx="54864" cy="1133856"/>
          </a:xfrm>
          <a:prstGeom prst="rect">
            <a:avLst/>
          </a:prstGeom>
          <a:solidFill>
            <a:srgbClr val="077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10528" y="5303520"/>
            <a:ext cx="5431536" cy="256032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232" b="1" i="0">
                <a:solidFill>
                  <a:srgbClr val="1E252E"/>
                </a:solidFill>
                <a:latin typeface="Arial"/>
              </a:rPr>
              <a:t>PA vs PS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10528" y="5614416"/>
            <a:ext cx="5431536" cy="621792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120" b="0" i="0">
                <a:solidFill>
                  <a:srgbClr val="444E5A"/>
                </a:solidFill>
                <a:latin typeface="Arial"/>
              </a:rPr>
              <a:t>PA2.5 outperforms PS series due to greater hydrophilicity and more uniform coating morphology (smoother AFM topography).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64008" cy="731520"/>
          </a:xfrm>
          <a:prstGeom prst="rect">
            <a:avLst/>
          </a:prstGeom>
          <a:solidFill>
            <a:srgbClr val="077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13232"/>
            <a:ext cx="12191695" cy="18288"/>
          </a:xfrm>
          <a:prstGeom prst="rect">
            <a:avLst/>
          </a:prstGeom>
          <a:solidFill>
            <a:srgbClr val="D4D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109728"/>
            <a:ext cx="5486400" cy="237744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008" b="1" i="0">
                <a:solidFill>
                  <a:srgbClr val="077090"/>
                </a:solidFill>
                <a:latin typeface="Arial"/>
              </a:rPr>
              <a:t>05 · PERFORMANCE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347472"/>
            <a:ext cx="11423599" cy="329184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2128" b="1" i="0">
                <a:solidFill>
                  <a:srgbClr val="1E252E"/>
                </a:solidFill>
                <a:latin typeface="Arial"/>
              </a:rPr>
              <a:t>Ex Vivo Antithrombotic: Whole Blood Contact Test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583680"/>
            <a:ext cx="12191695" cy="18288"/>
          </a:xfrm>
          <a:prstGeom prst="rect">
            <a:avLst/>
          </a:prstGeom>
          <a:solidFill>
            <a:srgbClr val="D4D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048" y="6620256"/>
            <a:ext cx="7315200" cy="201168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896" b="0" i="0">
                <a:solidFill>
                  <a:srgbClr val="828E9C"/>
                </a:solidFill>
                <a:latin typeface="Arial"/>
              </a:rPr>
              <a:t>Wang et al. | Biomaterials 331 (2026) 124114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20095" y="6620256"/>
            <a:ext cx="1188720" cy="201168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r"/>
            <a:r>
              <a:rPr sz="896" b="0" i="0">
                <a:solidFill>
                  <a:srgbClr val="828E9C"/>
                </a:solidFill>
                <a:latin typeface="Arial"/>
              </a:rPr>
              <a:t>22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4048" y="1042416"/>
            <a:ext cx="5943600" cy="3474720"/>
          </a:xfrm>
          <a:prstGeom prst="roundRect">
            <a:avLst>
              <a:gd name="adj" fmla="val 4000"/>
            </a:avLst>
          </a:prstGeom>
          <a:solidFill>
            <a:srgbClr val="F0F2F5"/>
          </a:solidFill>
          <a:ln w="6350">
            <a:solidFill>
              <a:srgbClr val="D4DB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4048" y="2084832"/>
            <a:ext cx="5943600" cy="1389888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/>
            <a:r>
              <a:rPr sz="1120" b="0" i="0">
                <a:solidFill>
                  <a:srgbClr val="828E9C"/>
                </a:solidFill>
                <a:latin typeface="Arial"/>
              </a:rPr>
              <a:t>[Figure Placeholder]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" y="4261104"/>
            <a:ext cx="5760720" cy="219456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/>
            <a:r>
              <a:rPr sz="896" b="0" i="1">
                <a:solidFill>
                  <a:srgbClr val="828E9C"/>
                </a:solidFill>
                <a:latin typeface="Arial"/>
              </a:rPr>
              <a:t>Photographs and SEM of tube surfaces after whole-blood contact — PLA, PS, PA series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01968" y="1078992"/>
            <a:ext cx="5541264" cy="256032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232" b="1" i="0">
                <a:solidFill>
                  <a:srgbClr val="1E252E"/>
                </a:solidFill>
                <a:latin typeface="Arial"/>
              </a:rPr>
              <a:t>Thrombus Coverage (%)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01968" y="1426464"/>
            <a:ext cx="1280160" cy="493776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1120" b="0" i="0">
                <a:solidFill>
                  <a:srgbClr val="444E5A"/>
                </a:solidFill>
                <a:latin typeface="Arial"/>
              </a:rPr>
              <a:t>PLA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27848" y="1549908"/>
            <a:ext cx="3438144" cy="246888"/>
          </a:xfrm>
          <a:prstGeom prst="rect">
            <a:avLst/>
          </a:prstGeom>
          <a:solidFill>
            <a:srgbClr val="D4D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927848" y="1549908"/>
            <a:ext cx="3403762" cy="246888"/>
          </a:xfrm>
          <a:prstGeom prst="rect">
            <a:avLst/>
          </a:prstGeom>
          <a:solidFill>
            <a:srgbClr val="B5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430000" y="1426464"/>
            <a:ext cx="731520" cy="493776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1120" b="1" i="0">
                <a:solidFill>
                  <a:srgbClr val="B52828"/>
                </a:solidFill>
                <a:latin typeface="Arial"/>
              </a:rPr>
              <a:t>99.0%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1968" y="1975104"/>
            <a:ext cx="1280160" cy="493776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1120" b="0" i="0">
                <a:solidFill>
                  <a:srgbClr val="444E5A"/>
                </a:solidFill>
                <a:latin typeface="Arial"/>
              </a:rPr>
              <a:t>PS2.0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927848" y="2098548"/>
            <a:ext cx="3438144" cy="246888"/>
          </a:xfrm>
          <a:prstGeom prst="rect">
            <a:avLst/>
          </a:prstGeom>
          <a:solidFill>
            <a:srgbClr val="D4D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927848" y="2098548"/>
            <a:ext cx="3338437" cy="246888"/>
          </a:xfrm>
          <a:prstGeom prst="rect">
            <a:avLst/>
          </a:prstGeom>
          <a:solidFill>
            <a:srgbClr val="B5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30000" y="1975104"/>
            <a:ext cx="731520" cy="493776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1120" b="1" i="0">
                <a:solidFill>
                  <a:srgbClr val="B52828"/>
                </a:solidFill>
                <a:latin typeface="Arial"/>
              </a:rPr>
              <a:t>97.1%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01968" y="2523744"/>
            <a:ext cx="1280160" cy="493776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1120" b="0" i="0">
                <a:solidFill>
                  <a:srgbClr val="444E5A"/>
                </a:solidFill>
                <a:latin typeface="Arial"/>
              </a:rPr>
              <a:t>PS2.5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927848" y="2647188"/>
            <a:ext cx="3438144" cy="246888"/>
          </a:xfrm>
          <a:prstGeom prst="rect">
            <a:avLst/>
          </a:prstGeom>
          <a:solidFill>
            <a:srgbClr val="D4D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927848" y="2647188"/>
            <a:ext cx="3084015" cy="246888"/>
          </a:xfrm>
          <a:prstGeom prst="rect">
            <a:avLst/>
          </a:prstGeom>
          <a:solidFill>
            <a:srgbClr val="C265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0" y="2523744"/>
            <a:ext cx="731520" cy="493776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1120" b="1" i="0">
                <a:solidFill>
                  <a:srgbClr val="C26505"/>
                </a:solidFill>
                <a:latin typeface="Arial"/>
              </a:rPr>
              <a:t>89.7%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01968" y="3072384"/>
            <a:ext cx="1280160" cy="493776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1120" b="0" i="0">
                <a:solidFill>
                  <a:srgbClr val="444E5A"/>
                </a:solidFill>
                <a:latin typeface="Arial"/>
              </a:rPr>
              <a:t>PA2.0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927848" y="3195828"/>
            <a:ext cx="3438144" cy="246888"/>
          </a:xfrm>
          <a:prstGeom prst="rect">
            <a:avLst/>
          </a:prstGeom>
          <a:solidFill>
            <a:srgbClr val="D4D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927848" y="3195828"/>
            <a:ext cx="1041757" cy="246888"/>
          </a:xfrm>
          <a:prstGeom prst="rect">
            <a:avLst/>
          </a:prstGeom>
          <a:solidFill>
            <a:srgbClr val="077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430000" y="3072384"/>
            <a:ext cx="731520" cy="493776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1120" b="1" i="0">
                <a:solidFill>
                  <a:srgbClr val="077090"/>
                </a:solidFill>
                <a:latin typeface="Arial"/>
              </a:rPr>
              <a:t>30.3%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01968" y="3621024"/>
            <a:ext cx="1280160" cy="493776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1120" b="0" i="0">
                <a:solidFill>
                  <a:srgbClr val="444E5A"/>
                </a:solidFill>
                <a:latin typeface="Arial"/>
              </a:rPr>
              <a:t>PA2.5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927848" y="3744468"/>
            <a:ext cx="3438144" cy="246888"/>
          </a:xfrm>
          <a:prstGeom prst="rect">
            <a:avLst/>
          </a:prstGeom>
          <a:solidFill>
            <a:srgbClr val="D4D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927848" y="3744468"/>
            <a:ext cx="106582" cy="246888"/>
          </a:xfrm>
          <a:prstGeom prst="rect">
            <a:avLst/>
          </a:prstGeom>
          <a:solidFill>
            <a:srgbClr val="1A88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1430000" y="3621024"/>
            <a:ext cx="731520" cy="493776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1120" b="1" i="0">
                <a:solidFill>
                  <a:srgbClr val="1A8855"/>
                </a:solidFill>
                <a:latin typeface="Arial"/>
              </a:rPr>
              <a:t>3.1%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01968" y="4261104"/>
            <a:ext cx="5541264" cy="256032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232" b="1" i="0">
                <a:solidFill>
                  <a:srgbClr val="1E252E"/>
                </a:solidFill>
                <a:latin typeface="Arial"/>
              </a:rPr>
              <a:t>Thrombus Mass Increase (%)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01968" y="4608576"/>
            <a:ext cx="1280160" cy="384048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1120" b="0" i="0">
                <a:solidFill>
                  <a:srgbClr val="444E5A"/>
                </a:solidFill>
                <a:latin typeface="Arial"/>
              </a:rPr>
              <a:t>PLA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927848" y="4704588"/>
            <a:ext cx="3438144" cy="192024"/>
          </a:xfrm>
          <a:prstGeom prst="rect">
            <a:avLst/>
          </a:prstGeom>
          <a:solidFill>
            <a:srgbClr val="D4D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927848" y="4704588"/>
            <a:ext cx="5256922" cy="192024"/>
          </a:xfrm>
          <a:prstGeom prst="rect">
            <a:avLst/>
          </a:prstGeom>
          <a:solidFill>
            <a:srgbClr val="B5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0" y="4608576"/>
            <a:ext cx="731520" cy="384048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1120" b="1" i="0">
                <a:solidFill>
                  <a:srgbClr val="B52828"/>
                </a:solidFill>
                <a:latin typeface="Arial"/>
              </a:rPr>
              <a:t>152.9%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01968" y="5047488"/>
            <a:ext cx="1280160" cy="384048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1120" b="0" i="0">
                <a:solidFill>
                  <a:srgbClr val="444E5A"/>
                </a:solidFill>
                <a:latin typeface="Arial"/>
              </a:rPr>
              <a:t>PS2.0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927848" y="5143500"/>
            <a:ext cx="3438144" cy="192024"/>
          </a:xfrm>
          <a:prstGeom prst="rect">
            <a:avLst/>
          </a:prstGeom>
          <a:solidFill>
            <a:srgbClr val="D4D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927848" y="5143500"/>
            <a:ext cx="3104644" cy="192024"/>
          </a:xfrm>
          <a:prstGeom prst="rect">
            <a:avLst/>
          </a:prstGeom>
          <a:solidFill>
            <a:srgbClr val="C265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30000" y="5047488"/>
            <a:ext cx="731520" cy="384048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1120" b="1" i="0">
                <a:solidFill>
                  <a:srgbClr val="C26505"/>
                </a:solidFill>
                <a:latin typeface="Arial"/>
              </a:rPr>
              <a:t>90.3%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601968" y="5486400"/>
            <a:ext cx="1280160" cy="384048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1120" b="0" i="0">
                <a:solidFill>
                  <a:srgbClr val="444E5A"/>
                </a:solidFill>
                <a:latin typeface="Arial"/>
              </a:rPr>
              <a:t>PS2.5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927848" y="5582412"/>
            <a:ext cx="3438144" cy="192024"/>
          </a:xfrm>
          <a:prstGeom prst="rect">
            <a:avLst/>
          </a:prstGeom>
          <a:solidFill>
            <a:srgbClr val="D4D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927848" y="5582412"/>
            <a:ext cx="2826154" cy="192024"/>
          </a:xfrm>
          <a:prstGeom prst="rect">
            <a:avLst/>
          </a:prstGeom>
          <a:solidFill>
            <a:srgbClr val="C265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1430000" y="5486400"/>
            <a:ext cx="731520" cy="384048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1120" b="1" i="0">
                <a:solidFill>
                  <a:srgbClr val="C26505"/>
                </a:solidFill>
                <a:latin typeface="Arial"/>
              </a:rPr>
              <a:t>82.2%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601968" y="5925312"/>
            <a:ext cx="1280160" cy="384048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1120" b="0" i="0">
                <a:solidFill>
                  <a:srgbClr val="444E5A"/>
                </a:solidFill>
                <a:latin typeface="Arial"/>
              </a:rPr>
              <a:t>PA2.0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927848" y="6021324"/>
            <a:ext cx="3438144" cy="192024"/>
          </a:xfrm>
          <a:prstGeom prst="rect">
            <a:avLst/>
          </a:prstGeom>
          <a:solidFill>
            <a:srgbClr val="D4D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7927848" y="6021324"/>
            <a:ext cx="1805025" cy="192024"/>
          </a:xfrm>
          <a:prstGeom prst="rect">
            <a:avLst/>
          </a:prstGeom>
          <a:solidFill>
            <a:srgbClr val="077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1430000" y="5925312"/>
            <a:ext cx="731520" cy="384048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1120" b="1" i="0">
                <a:solidFill>
                  <a:srgbClr val="077090"/>
                </a:solidFill>
                <a:latin typeface="Arial"/>
              </a:rPr>
              <a:t>52.5%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601968" y="6364224"/>
            <a:ext cx="1280160" cy="384048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1120" b="0" i="0">
                <a:solidFill>
                  <a:srgbClr val="444E5A"/>
                </a:solidFill>
                <a:latin typeface="Arial"/>
              </a:rPr>
              <a:t>PA2.5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927848" y="6460236"/>
            <a:ext cx="3438144" cy="192024"/>
          </a:xfrm>
          <a:prstGeom prst="rect">
            <a:avLst/>
          </a:prstGeom>
          <a:solidFill>
            <a:srgbClr val="D4D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927848" y="6460236"/>
            <a:ext cx="1777520" cy="192024"/>
          </a:xfrm>
          <a:prstGeom prst="rect">
            <a:avLst/>
          </a:prstGeom>
          <a:solidFill>
            <a:srgbClr val="1A88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1430000" y="6364224"/>
            <a:ext cx="731520" cy="384048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1120" b="1" i="0">
                <a:solidFill>
                  <a:srgbClr val="1A8855"/>
                </a:solidFill>
                <a:latin typeface="Arial"/>
              </a:rPr>
              <a:t>51.7%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02920" cy="6858000"/>
          </a:xfrm>
          <a:prstGeom prst="rect">
            <a:avLst/>
          </a:prstGeom>
          <a:solidFill>
            <a:srgbClr val="077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0"/>
            <a:ext cx="27432" cy="6858000"/>
          </a:xfrm>
          <a:prstGeom prst="rect">
            <a:avLst/>
          </a:prstGeom>
          <a:solidFill>
            <a:srgbClr val="DD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18288"/>
          </a:xfrm>
          <a:prstGeom prst="rect">
            <a:avLst/>
          </a:prstGeom>
          <a:solidFill>
            <a:srgbClr val="D4D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620256"/>
            <a:ext cx="7315200" cy="201168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896" b="0" i="0">
                <a:solidFill>
                  <a:srgbClr val="828E9C"/>
                </a:solidFill>
                <a:latin typeface="Arial"/>
              </a:rPr>
              <a:t>Wang et al. | Biomaterials 331 (2026) 124114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620256"/>
            <a:ext cx="1188720" cy="201168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r"/>
            <a:r>
              <a:rPr sz="896" b="0" i="0">
                <a:solidFill>
                  <a:srgbClr val="828E9C"/>
                </a:solidFill>
                <a:latin typeface="Arial"/>
              </a:rPr>
              <a:t>23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77440"/>
            <a:ext cx="9144000" cy="36576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120" b="1" i="0">
                <a:solidFill>
                  <a:srgbClr val="077090"/>
                </a:solidFill>
                <a:latin typeface="Arial"/>
              </a:rPr>
              <a:t>SECTION 06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788920"/>
            <a:ext cx="9144000" cy="7315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3808" b="1" i="0">
                <a:solidFill>
                  <a:srgbClr val="1E252E"/>
                </a:solidFill>
                <a:latin typeface="Arial"/>
              </a:rPr>
              <a:t>Antibacterial Performance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566160"/>
            <a:ext cx="8229600" cy="36576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456" b="0" i="0">
                <a:solidFill>
                  <a:srgbClr val="444E5A"/>
                </a:solidFill>
                <a:latin typeface="Arial"/>
              </a:rPr>
              <a:t>MIC assay, solution bactericidal efficiency, and contact sterilization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64008" cy="731520"/>
          </a:xfrm>
          <a:prstGeom prst="rect">
            <a:avLst/>
          </a:prstGeom>
          <a:solidFill>
            <a:srgbClr val="077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13232"/>
            <a:ext cx="12191695" cy="18288"/>
          </a:xfrm>
          <a:prstGeom prst="rect">
            <a:avLst/>
          </a:prstGeom>
          <a:solidFill>
            <a:srgbClr val="D4D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109728"/>
            <a:ext cx="5486400" cy="237744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008" b="1" i="0">
                <a:solidFill>
                  <a:srgbClr val="077090"/>
                </a:solidFill>
                <a:latin typeface="Arial"/>
              </a:rPr>
              <a:t>06 · ANTIBACTERIAL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347472"/>
            <a:ext cx="11423599" cy="329184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2128" b="1" i="0">
                <a:solidFill>
                  <a:srgbClr val="1E252E"/>
                </a:solidFill>
                <a:latin typeface="Arial"/>
              </a:rPr>
              <a:t>MIC Assay and Solution Bactericidal Efficiency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583680"/>
            <a:ext cx="12191695" cy="18288"/>
          </a:xfrm>
          <a:prstGeom prst="rect">
            <a:avLst/>
          </a:prstGeom>
          <a:solidFill>
            <a:srgbClr val="D4D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048" y="6620256"/>
            <a:ext cx="7315200" cy="201168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896" b="0" i="0">
                <a:solidFill>
                  <a:srgbClr val="828E9C"/>
                </a:solidFill>
                <a:latin typeface="Arial"/>
              </a:rPr>
              <a:t>Wang et al. | Biomaterials 331 (2026) 124114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20095" y="6620256"/>
            <a:ext cx="1188720" cy="201168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r"/>
            <a:r>
              <a:rPr sz="896" b="0" i="0">
                <a:solidFill>
                  <a:srgbClr val="828E9C"/>
                </a:solidFill>
                <a:latin typeface="Arial"/>
              </a:rPr>
              <a:t>24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4048" y="1042416"/>
            <a:ext cx="5943600" cy="2743200"/>
          </a:xfrm>
          <a:prstGeom prst="roundRect">
            <a:avLst>
              <a:gd name="adj" fmla="val 4000"/>
            </a:avLst>
          </a:prstGeom>
          <a:solidFill>
            <a:srgbClr val="F0F2F5"/>
          </a:solidFill>
          <a:ln w="6350">
            <a:solidFill>
              <a:srgbClr val="D4DB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4048" y="1865376"/>
            <a:ext cx="5943600" cy="109728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/>
            <a:r>
              <a:rPr sz="1120" b="0" i="0">
                <a:solidFill>
                  <a:srgbClr val="828E9C"/>
                </a:solidFill>
                <a:latin typeface="Arial"/>
              </a:rPr>
              <a:t>[Figure Placeholder]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" y="3529584"/>
            <a:ext cx="5760720" cy="219456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/>
            <a:r>
              <a:rPr sz="896" b="0" i="1">
                <a:solidFill>
                  <a:srgbClr val="828E9C"/>
                </a:solidFill>
                <a:latin typeface="Arial"/>
              </a:rPr>
              <a:t>MIC heatmap — PA/PQ concentration ratios vs S. aureus / E. coli growth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84048" y="3877056"/>
            <a:ext cx="5943600" cy="2194560"/>
          </a:xfrm>
          <a:prstGeom prst="roundRect">
            <a:avLst>
              <a:gd name="adj" fmla="val 4000"/>
            </a:avLst>
          </a:prstGeom>
          <a:solidFill>
            <a:srgbClr val="F0F2F5"/>
          </a:solidFill>
          <a:ln w="6350">
            <a:solidFill>
              <a:srgbClr val="D4DB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4048" y="4535424"/>
            <a:ext cx="5943600" cy="877824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/>
            <a:r>
              <a:rPr sz="1120" b="0" i="0">
                <a:solidFill>
                  <a:srgbClr val="828E9C"/>
                </a:solidFill>
                <a:latin typeface="Arial"/>
              </a:rPr>
              <a:t>[Figure Placeholder]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" y="5815584"/>
            <a:ext cx="5760720" cy="219456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/>
            <a:r>
              <a:rPr sz="896" b="0" i="1">
                <a:solidFill>
                  <a:srgbClr val="828E9C"/>
                </a:solidFill>
                <a:latin typeface="Arial"/>
              </a:rPr>
              <a:t>Colony plates — solution bactericidal test PA-PQ vs PS-PQ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01968" y="1078992"/>
            <a:ext cx="5541264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344" b="1" i="0">
                <a:solidFill>
                  <a:srgbClr val="1E252E"/>
                </a:solidFill>
                <a:latin typeface="Arial"/>
              </a:rPr>
              <a:t>MIC Results (PA/PQ mg/mL)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601968" y="1444752"/>
            <a:ext cx="5541264" cy="402336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 w="6350">
            <a:solidFill>
              <a:srgbClr val="D4DB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48272" y="1517904"/>
            <a:ext cx="3108960" cy="256032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120" b="0" i="0">
                <a:solidFill>
                  <a:srgbClr val="444E5A"/>
                </a:solidFill>
                <a:latin typeface="Arial"/>
              </a:rPr>
              <a:t>PA 2 / PQ 0.5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985248" y="1517904"/>
            <a:ext cx="1005840" cy="256032"/>
          </a:xfrm>
          <a:prstGeom prst="roundRect">
            <a:avLst>
              <a:gd name="adj" fmla="val 8000"/>
            </a:avLst>
          </a:prstGeom>
          <a:solidFill>
            <a:srgbClr val="D4F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985248" y="1517904"/>
            <a:ext cx="1005840" cy="256032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1008" b="1" i="0">
                <a:solidFill>
                  <a:srgbClr val="1A8855"/>
                </a:solidFill>
                <a:latin typeface="Arial"/>
              </a:rPr>
              <a:t>Effective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601968" y="1901952"/>
            <a:ext cx="5541264" cy="402336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 w="6350">
            <a:solidFill>
              <a:srgbClr val="D4DB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48272" y="1975104"/>
            <a:ext cx="3108960" cy="256032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120" b="0" i="0">
                <a:solidFill>
                  <a:srgbClr val="444E5A"/>
                </a:solidFill>
                <a:latin typeface="Arial"/>
              </a:rPr>
              <a:t>PA 2 / PQ 1.0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985248" y="1975104"/>
            <a:ext cx="1005840" cy="256032"/>
          </a:xfrm>
          <a:prstGeom prst="roundRect">
            <a:avLst>
              <a:gd name="adj" fmla="val 8000"/>
            </a:avLst>
          </a:prstGeom>
          <a:solidFill>
            <a:srgbClr val="D4F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985248" y="1975104"/>
            <a:ext cx="1005840" cy="256032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1008" b="1" i="0">
                <a:solidFill>
                  <a:srgbClr val="1A8855"/>
                </a:solidFill>
                <a:latin typeface="Arial"/>
              </a:rPr>
              <a:t>Effective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601968" y="2359152"/>
            <a:ext cx="5541264" cy="402336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 w="6350">
            <a:solidFill>
              <a:srgbClr val="D4DB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48272" y="2432304"/>
            <a:ext cx="3108960" cy="256032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120" b="0" i="0">
                <a:solidFill>
                  <a:srgbClr val="444E5A"/>
                </a:solidFill>
                <a:latin typeface="Arial"/>
              </a:rPr>
              <a:t>PA 2 / PQ 2.0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985248" y="2432304"/>
            <a:ext cx="1005840" cy="256032"/>
          </a:xfrm>
          <a:prstGeom prst="roundRect">
            <a:avLst>
              <a:gd name="adj" fmla="val 8000"/>
            </a:avLst>
          </a:prstGeom>
          <a:solidFill>
            <a:srgbClr val="D4F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985248" y="2432304"/>
            <a:ext cx="1005840" cy="256032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1008" b="1" i="0">
                <a:solidFill>
                  <a:srgbClr val="1A8855"/>
                </a:solidFill>
                <a:latin typeface="Arial"/>
              </a:rPr>
              <a:t>Effective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601968" y="2816352"/>
            <a:ext cx="5541264" cy="402336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 w="6350">
            <a:solidFill>
              <a:srgbClr val="D4DB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748272" y="2889504"/>
            <a:ext cx="3108960" cy="256032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120" b="0" i="0">
                <a:solidFill>
                  <a:srgbClr val="444E5A"/>
                </a:solidFill>
                <a:latin typeface="Arial"/>
              </a:rPr>
              <a:t>PA 2 / PQ 3.0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985248" y="2889504"/>
            <a:ext cx="1005840" cy="256032"/>
          </a:xfrm>
          <a:prstGeom prst="roundRect">
            <a:avLst>
              <a:gd name="adj" fmla="val 8000"/>
            </a:avLst>
          </a:prstGeom>
          <a:solidFill>
            <a:srgbClr val="D4F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985248" y="2889504"/>
            <a:ext cx="1005840" cy="256032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1008" b="1" i="0">
                <a:solidFill>
                  <a:srgbClr val="1A8855"/>
                </a:solidFill>
                <a:latin typeface="Arial"/>
              </a:rPr>
              <a:t>Effective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01968" y="3456432"/>
            <a:ext cx="5541264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344" b="1" i="0">
                <a:solidFill>
                  <a:srgbClr val="1E252E"/>
                </a:solidFill>
                <a:latin typeface="Arial"/>
              </a:rPr>
              <a:t>PS-PQ — Formulation-Dependent Efficacy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601968" y="3822192"/>
            <a:ext cx="5541264" cy="457200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 w="6350">
            <a:solidFill>
              <a:srgbClr val="D4DB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601968" y="3822192"/>
            <a:ext cx="54864" cy="457200"/>
          </a:xfrm>
          <a:prstGeom prst="rect">
            <a:avLst/>
          </a:prstGeom>
          <a:solidFill>
            <a:srgbClr val="1A88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784848" y="3913632"/>
            <a:ext cx="914400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120" b="1" i="0">
                <a:solidFill>
                  <a:srgbClr val="1E252E"/>
                </a:solidFill>
                <a:latin typeface="Arial"/>
              </a:rPr>
              <a:t>PS2.0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90688" y="3913632"/>
            <a:ext cx="914400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344" b="1" i="0">
                <a:solidFill>
                  <a:srgbClr val="1A8855"/>
                </a:solidFill>
                <a:latin typeface="Arial"/>
              </a:rPr>
              <a:t>97.41%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887968" y="3913632"/>
            <a:ext cx="3108960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008" b="0" i="0">
                <a:solidFill>
                  <a:srgbClr val="444E5A"/>
                </a:solidFill>
                <a:latin typeface="Arial"/>
              </a:rPr>
              <a:t>Effective — PQ accessible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601968" y="4352544"/>
            <a:ext cx="5541264" cy="457200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 w="6350">
            <a:solidFill>
              <a:srgbClr val="D4DB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601968" y="4352544"/>
            <a:ext cx="54864" cy="457200"/>
          </a:xfrm>
          <a:prstGeom prst="rect">
            <a:avLst/>
          </a:prstGeom>
          <a:solidFill>
            <a:srgbClr val="1A88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784848" y="4443984"/>
            <a:ext cx="914400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120" b="1" i="0">
                <a:solidFill>
                  <a:srgbClr val="1E252E"/>
                </a:solidFill>
                <a:latin typeface="Arial"/>
              </a:rPr>
              <a:t>PS5.0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790688" y="4443984"/>
            <a:ext cx="914400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344" b="1" i="0">
                <a:solidFill>
                  <a:srgbClr val="1A8855"/>
                </a:solidFill>
                <a:latin typeface="Arial"/>
              </a:rPr>
              <a:t>97.04%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887968" y="4443984"/>
            <a:ext cx="3108960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008" b="0" i="0">
                <a:solidFill>
                  <a:srgbClr val="444E5A"/>
                </a:solidFill>
                <a:latin typeface="Arial"/>
              </a:rPr>
              <a:t>Effective — PQ accessible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601968" y="4882896"/>
            <a:ext cx="5541264" cy="457200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 w="6350">
            <a:solidFill>
              <a:srgbClr val="D4DB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601968" y="4882896"/>
            <a:ext cx="54864" cy="457200"/>
          </a:xfrm>
          <a:prstGeom prst="rect">
            <a:avLst/>
          </a:prstGeom>
          <a:solidFill>
            <a:srgbClr val="B5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784848" y="4974336"/>
            <a:ext cx="914400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120" b="1" i="0">
                <a:solidFill>
                  <a:srgbClr val="1E252E"/>
                </a:solidFill>
                <a:latin typeface="Arial"/>
              </a:rPr>
              <a:t>PS2.5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790688" y="4974336"/>
            <a:ext cx="914400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344" b="1" i="0">
                <a:solidFill>
                  <a:srgbClr val="B52828"/>
                </a:solidFill>
                <a:latin typeface="Arial"/>
              </a:rPr>
              <a:t>&lt;10%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887968" y="4974336"/>
            <a:ext cx="3108960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008" b="0" i="0">
                <a:solidFill>
                  <a:srgbClr val="444E5A"/>
                </a:solidFill>
                <a:latin typeface="Arial"/>
              </a:rPr>
              <a:t>Ineffective — PQ shielded by excess PS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601968" y="5413248"/>
            <a:ext cx="5541264" cy="457200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 w="6350">
            <a:solidFill>
              <a:srgbClr val="D4DB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601968" y="5413248"/>
            <a:ext cx="54864" cy="457200"/>
          </a:xfrm>
          <a:prstGeom prst="rect">
            <a:avLst/>
          </a:prstGeom>
          <a:solidFill>
            <a:srgbClr val="B5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784848" y="5504688"/>
            <a:ext cx="914400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120" b="1" i="0">
                <a:solidFill>
                  <a:srgbClr val="1E252E"/>
                </a:solidFill>
                <a:latin typeface="Arial"/>
              </a:rPr>
              <a:t>PS5.5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790688" y="5504688"/>
            <a:ext cx="914400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344" b="1" i="0">
                <a:solidFill>
                  <a:srgbClr val="B52828"/>
                </a:solidFill>
                <a:latin typeface="Arial"/>
              </a:rPr>
              <a:t>&lt;10%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887968" y="5504688"/>
            <a:ext cx="3108960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008" b="0" i="0">
                <a:solidFill>
                  <a:srgbClr val="444E5A"/>
                </a:solidFill>
                <a:latin typeface="Arial"/>
              </a:rPr>
              <a:t>Ineffective — PQ shielded by excess PS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64008" cy="731520"/>
          </a:xfrm>
          <a:prstGeom prst="rect">
            <a:avLst/>
          </a:prstGeom>
          <a:solidFill>
            <a:srgbClr val="077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13232"/>
            <a:ext cx="12191695" cy="18288"/>
          </a:xfrm>
          <a:prstGeom prst="rect">
            <a:avLst/>
          </a:prstGeom>
          <a:solidFill>
            <a:srgbClr val="D4D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109728"/>
            <a:ext cx="5486400" cy="237744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008" b="1" i="0">
                <a:solidFill>
                  <a:srgbClr val="077090"/>
                </a:solidFill>
                <a:latin typeface="Arial"/>
              </a:rPr>
              <a:t>06 · ANTIBACTERIAL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347472"/>
            <a:ext cx="11423599" cy="329184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2128" b="1" i="0">
                <a:solidFill>
                  <a:srgbClr val="1E252E"/>
                </a:solidFill>
                <a:latin typeface="Arial"/>
              </a:rPr>
              <a:t>Contact Sterilization: In Vitro Antibacterial Surface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583680"/>
            <a:ext cx="12191695" cy="18288"/>
          </a:xfrm>
          <a:prstGeom prst="rect">
            <a:avLst/>
          </a:prstGeom>
          <a:solidFill>
            <a:srgbClr val="D4D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048" y="6620256"/>
            <a:ext cx="7315200" cy="201168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896" b="0" i="0">
                <a:solidFill>
                  <a:srgbClr val="828E9C"/>
                </a:solidFill>
                <a:latin typeface="Arial"/>
              </a:rPr>
              <a:t>Wang et al. | Biomaterials 331 (2026) 124114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20095" y="6620256"/>
            <a:ext cx="1188720" cy="201168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r"/>
            <a:r>
              <a:rPr sz="896" b="0" i="0">
                <a:solidFill>
                  <a:srgbClr val="828E9C"/>
                </a:solidFill>
                <a:latin typeface="Arial"/>
              </a:rPr>
              <a:t>25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4048" y="1042416"/>
            <a:ext cx="6400800" cy="3474720"/>
          </a:xfrm>
          <a:prstGeom prst="roundRect">
            <a:avLst>
              <a:gd name="adj" fmla="val 4000"/>
            </a:avLst>
          </a:prstGeom>
          <a:solidFill>
            <a:srgbClr val="F0F2F5"/>
          </a:solidFill>
          <a:ln w="6350">
            <a:solidFill>
              <a:srgbClr val="D4DB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4048" y="2084832"/>
            <a:ext cx="6400800" cy="1389888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/>
            <a:r>
              <a:rPr sz="1120" b="0" i="0">
                <a:solidFill>
                  <a:srgbClr val="828E9C"/>
                </a:solidFill>
                <a:latin typeface="Arial"/>
              </a:rPr>
              <a:t>[Figure Placeholder]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" y="4261104"/>
            <a:ext cx="6217920" cy="219456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/>
            <a:r>
              <a:rPr sz="896" b="0" i="1">
                <a:solidFill>
                  <a:srgbClr val="828E9C"/>
                </a:solidFill>
                <a:latin typeface="Arial"/>
              </a:rPr>
              <a:t>Colony-forming unit (CFU) plates — PLA, PA2.0, PA2.5, PS2.0, PS2.5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84048" y="4681728"/>
            <a:ext cx="2042160" cy="1426464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 w="6350">
            <a:solidFill>
              <a:srgbClr val="D4DB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84048" y="4681728"/>
            <a:ext cx="2042160" cy="45720"/>
          </a:xfrm>
          <a:prstGeom prst="rect">
            <a:avLst/>
          </a:prstGeom>
          <a:solidFill>
            <a:srgbClr val="B5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5488" y="4828032"/>
            <a:ext cx="1859280" cy="438912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/>
            <a:r>
              <a:rPr sz="2464" b="1" i="0">
                <a:solidFill>
                  <a:srgbClr val="B52828"/>
                </a:solidFill>
                <a:latin typeface="Arial"/>
              </a:rPr>
              <a:t>6.87×10³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" y="5303520"/>
            <a:ext cx="1859280" cy="201168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/>
            <a:r>
              <a:rPr sz="1008" b="0" i="0">
                <a:solidFill>
                  <a:srgbClr val="828E9C"/>
                </a:solidFill>
                <a:latin typeface="Arial"/>
              </a:rPr>
              <a:t>CFU/cm²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8" y="5577840"/>
            <a:ext cx="1859280" cy="402336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/>
            <a:r>
              <a:rPr sz="1120" b="1" i="0">
                <a:solidFill>
                  <a:srgbClr val="444E5A"/>
                </a:solidFill>
                <a:latin typeface="Arial"/>
              </a:rPr>
              <a:t>Bare PLA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563368" y="4681728"/>
            <a:ext cx="2042160" cy="1426464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 w="6350">
            <a:solidFill>
              <a:srgbClr val="D4DB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563368" y="4681728"/>
            <a:ext cx="2042160" cy="45720"/>
          </a:xfrm>
          <a:prstGeom prst="rect">
            <a:avLst/>
          </a:prstGeom>
          <a:solidFill>
            <a:srgbClr val="1A88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654808" y="4828032"/>
            <a:ext cx="1859280" cy="438912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/>
            <a:r>
              <a:rPr sz="2464" b="1" i="0">
                <a:solidFill>
                  <a:srgbClr val="1A8855"/>
                </a:solidFill>
                <a:latin typeface="Arial"/>
              </a:rPr>
              <a:t>~0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54808" y="5303520"/>
            <a:ext cx="1859280" cy="201168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/>
            <a:r>
              <a:rPr sz="1008" b="0" i="0">
                <a:solidFill>
                  <a:srgbClr val="828E9C"/>
                </a:solidFill>
                <a:latin typeface="Arial"/>
              </a:rPr>
              <a:t>CFU/cm²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54808" y="5577840"/>
            <a:ext cx="1859280" cy="402336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/>
            <a:r>
              <a:rPr sz="1120" b="1" i="0">
                <a:solidFill>
                  <a:srgbClr val="444E5A"/>
                </a:solidFill>
                <a:latin typeface="Arial"/>
              </a:rPr>
              <a:t>PA2.0 coating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742688" y="4681728"/>
            <a:ext cx="2042160" cy="1426464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 w="6350">
            <a:solidFill>
              <a:srgbClr val="D4DB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742688" y="4681728"/>
            <a:ext cx="2042160" cy="45720"/>
          </a:xfrm>
          <a:prstGeom prst="rect">
            <a:avLst/>
          </a:prstGeom>
          <a:solidFill>
            <a:srgbClr val="1A88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834128" y="4828032"/>
            <a:ext cx="1859280" cy="438912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/>
            <a:r>
              <a:rPr sz="2464" b="1" i="0">
                <a:solidFill>
                  <a:srgbClr val="1A8855"/>
                </a:solidFill>
                <a:latin typeface="Arial"/>
              </a:rPr>
              <a:t>~0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34128" y="5303520"/>
            <a:ext cx="1859280" cy="201168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/>
            <a:r>
              <a:rPr sz="1008" b="0" i="0">
                <a:solidFill>
                  <a:srgbClr val="828E9C"/>
                </a:solidFill>
                <a:latin typeface="Arial"/>
              </a:rPr>
              <a:t>CFU/cm²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34128" y="5577840"/>
            <a:ext cx="1859280" cy="402336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/>
            <a:r>
              <a:rPr sz="1120" b="1" i="0">
                <a:solidFill>
                  <a:srgbClr val="444E5A"/>
                </a:solidFill>
                <a:latin typeface="Arial"/>
              </a:rPr>
              <a:t>PA2.5 coating ★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059168" y="1042416"/>
            <a:ext cx="5120640" cy="5065776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 w="6350">
            <a:solidFill>
              <a:srgbClr val="D4DB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059168" y="1042416"/>
            <a:ext cx="5120640" cy="45720"/>
          </a:xfrm>
          <a:prstGeom prst="rect">
            <a:avLst/>
          </a:prstGeom>
          <a:solidFill>
            <a:srgbClr val="077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242048" y="1152144"/>
            <a:ext cx="4754880" cy="292608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344" b="1" i="0">
                <a:solidFill>
                  <a:srgbClr val="1E252E"/>
                </a:solidFill>
                <a:latin typeface="Arial"/>
              </a:rPr>
              <a:t>Mechanism: Contact-Killing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42048" y="1572768"/>
            <a:ext cx="182880" cy="256032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232" b="1" i="0">
                <a:solidFill>
                  <a:srgbClr val="077090"/>
                </a:solidFill>
                <a:latin typeface="Arial"/>
              </a:rPr>
              <a:t>·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43216" y="1572768"/>
            <a:ext cx="4572000" cy="256032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120" b="0" i="0">
                <a:solidFill>
                  <a:srgbClr val="444E5A"/>
                </a:solidFill>
                <a:latin typeface="Arial"/>
              </a:rPr>
              <a:t>PQ quaternary ammonium groups remain surface-accessible on PA2.5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42048" y="2212848"/>
            <a:ext cx="182880" cy="256032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232" b="1" i="0">
                <a:solidFill>
                  <a:srgbClr val="077090"/>
                </a:solidFill>
                <a:latin typeface="Arial"/>
              </a:rPr>
              <a:t>·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43216" y="2212848"/>
            <a:ext cx="4572000" cy="256032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120" b="0" i="0">
                <a:solidFill>
                  <a:srgbClr val="444E5A"/>
                </a:solidFill>
                <a:latin typeface="Arial"/>
              </a:rPr>
              <a:t>Electrostatic attraction draws negatively-charged bacterial membrane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242048" y="2852928"/>
            <a:ext cx="182880" cy="256032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232" b="1" i="0">
                <a:solidFill>
                  <a:srgbClr val="077090"/>
                </a:solidFill>
                <a:latin typeface="Arial"/>
              </a:rPr>
              <a:t>·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43216" y="2852928"/>
            <a:ext cx="4572000" cy="256032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120" b="0" i="0">
                <a:solidFill>
                  <a:srgbClr val="444E5A"/>
                </a:solidFill>
                <a:latin typeface="Arial"/>
              </a:rPr>
              <a:t>Membrane disruption → intracellular contents leak → cell death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242048" y="3493008"/>
            <a:ext cx="182880" cy="256032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232" b="1" i="0">
                <a:solidFill>
                  <a:srgbClr val="077090"/>
                </a:solidFill>
                <a:latin typeface="Arial"/>
              </a:rPr>
              <a:t>·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43216" y="3493008"/>
            <a:ext cx="4572000" cy="256032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120" b="0" i="0">
                <a:solidFill>
                  <a:srgbClr val="444E5A"/>
                </a:solidFill>
                <a:latin typeface="Arial"/>
              </a:rPr>
              <a:t>PA zwitterionic groups prevent non-specific adhesion of debris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42048" y="4133088"/>
            <a:ext cx="182880" cy="256032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232" b="1" i="0">
                <a:solidFill>
                  <a:srgbClr val="077090"/>
                </a:solidFill>
                <a:latin typeface="Arial"/>
              </a:rPr>
              <a:t>·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443216" y="4133088"/>
            <a:ext cx="4572000" cy="256032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120" b="0" i="0">
                <a:solidFill>
                  <a:srgbClr val="444E5A"/>
                </a:solidFill>
                <a:latin typeface="Arial"/>
              </a:rPr>
              <a:t>No antibiotic released → no resistance pressure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242048" y="4773168"/>
            <a:ext cx="182880" cy="256032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232" b="1" i="0">
                <a:solidFill>
                  <a:srgbClr val="077090"/>
                </a:solidFill>
                <a:latin typeface="Arial"/>
              </a:rPr>
              <a:t>·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443216" y="4773168"/>
            <a:ext cx="4572000" cy="256032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120" b="0" i="0">
                <a:solidFill>
                  <a:srgbClr val="444E5A"/>
                </a:solidFill>
                <a:latin typeface="Arial"/>
              </a:rPr>
              <a:t>PA2.0 and PA2.5 both achieve near-complete (~100%) surface sterilization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77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91695" cy="18288"/>
          </a:xfrm>
          <a:prstGeom prst="rect">
            <a:avLst/>
          </a:prstGeom>
          <a:solidFill>
            <a:srgbClr val="D4D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4048" y="6620256"/>
            <a:ext cx="7315200" cy="201168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896" b="0" i="0">
                <a:solidFill>
                  <a:srgbClr val="828E9C"/>
                </a:solidFill>
                <a:latin typeface="Arial"/>
              </a:rPr>
              <a:t>Wang et al. | Biomaterials 331 (2026) 124114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6620256"/>
            <a:ext cx="1188720" cy="201168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r"/>
            <a:r>
              <a:rPr sz="896" b="0" i="0">
                <a:solidFill>
                  <a:srgbClr val="828E9C"/>
                </a:solidFill>
                <a:latin typeface="Arial"/>
              </a:rPr>
              <a:t>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9456" y="219456"/>
            <a:ext cx="8229600" cy="256032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008" b="1" i="0">
                <a:solidFill>
                  <a:srgbClr val="077090"/>
                </a:solidFill>
                <a:latin typeface="Arial"/>
              </a:rPr>
              <a:t>PA2.5 — OPTIMIZED DUAL-FUNCTION COATING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9456" y="512064"/>
            <a:ext cx="9144000" cy="475488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2912" b="1" i="0">
                <a:solidFill>
                  <a:srgbClr val="1E252E"/>
                </a:solidFill>
                <a:latin typeface="Arial"/>
              </a:rPr>
              <a:t>Key Performance Results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19456" y="1060704"/>
            <a:ext cx="8229600" cy="27432"/>
          </a:xfrm>
          <a:prstGeom prst="rect">
            <a:avLst/>
          </a:prstGeom>
          <a:solidFill>
            <a:srgbClr val="D4D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19456" y="1170432"/>
            <a:ext cx="3777386" cy="2331720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 w="6350">
            <a:solidFill>
              <a:srgbClr val="D4DB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19456" y="1170432"/>
            <a:ext cx="3777386" cy="54864"/>
          </a:xfrm>
          <a:prstGeom prst="rect">
            <a:avLst/>
          </a:prstGeom>
          <a:solidFill>
            <a:srgbClr val="1A88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02336" y="1389888"/>
            <a:ext cx="3411626" cy="7315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4032" b="1" i="0">
                <a:solidFill>
                  <a:srgbClr val="1A8855"/>
                </a:solidFill>
                <a:latin typeface="Arial"/>
              </a:rPr>
              <a:t>3.1%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2336" y="2194560"/>
            <a:ext cx="3411626" cy="11887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232" b="0" i="0">
                <a:solidFill>
                  <a:srgbClr val="444E5A"/>
                </a:solidFill>
                <a:latin typeface="Arial"/>
              </a:rPr>
              <a:t>Thrombus coverage</a:t>
            </a:r>
          </a:p>
          <a:p>
            <a:pPr algn="l"/>
            <a:r>
              <a:rPr sz="1232" b="0" i="0">
                <a:solidFill>
                  <a:srgbClr val="444E5A"/>
                </a:solidFill>
                <a:latin typeface="Arial"/>
              </a:rPr>
              <a:t>(vs PLA 99.0%)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25442" y="1170432"/>
            <a:ext cx="3777386" cy="2331720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 w="6350">
            <a:solidFill>
              <a:srgbClr val="D4DB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25442" y="1170432"/>
            <a:ext cx="3777386" cy="54864"/>
          </a:xfrm>
          <a:prstGeom prst="rect">
            <a:avLst/>
          </a:prstGeom>
          <a:solidFill>
            <a:srgbClr val="077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08322" y="1389888"/>
            <a:ext cx="3411626" cy="7315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4032" b="1" i="0">
                <a:solidFill>
                  <a:srgbClr val="077090"/>
                </a:solidFill>
                <a:latin typeface="Arial"/>
              </a:rPr>
              <a:t>&gt;97.6%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08322" y="2194560"/>
            <a:ext cx="3411626" cy="11887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232" b="0" i="0">
                <a:solidFill>
                  <a:srgbClr val="444E5A"/>
                </a:solidFill>
                <a:latin typeface="Arial"/>
              </a:rPr>
              <a:t>Bactericidal efficiency</a:t>
            </a:r>
          </a:p>
          <a:p>
            <a:pPr algn="l"/>
            <a:r>
              <a:rPr sz="1232" b="0" i="0">
                <a:solidFill>
                  <a:srgbClr val="444E5A"/>
                </a:solidFill>
                <a:latin typeface="Arial"/>
              </a:rPr>
              <a:t>vs S. aureus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31428" y="1170432"/>
            <a:ext cx="3777386" cy="2331720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 w="6350">
            <a:solidFill>
              <a:srgbClr val="D4DB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31428" y="1170432"/>
            <a:ext cx="3777386" cy="54864"/>
          </a:xfrm>
          <a:prstGeom prst="rect">
            <a:avLst/>
          </a:prstGeom>
          <a:solidFill>
            <a:srgbClr val="0550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4308" y="1389888"/>
            <a:ext cx="3411626" cy="7315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4032" b="1" i="0">
                <a:solidFill>
                  <a:srgbClr val="055068"/>
                </a:solidFill>
                <a:latin typeface="Arial"/>
              </a:rPr>
              <a:t>21.58°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4308" y="2194560"/>
            <a:ext cx="3411626" cy="11887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232" b="0" i="0">
                <a:solidFill>
                  <a:srgbClr val="444E5A"/>
                </a:solidFill>
                <a:latin typeface="Arial"/>
              </a:rPr>
              <a:t>Water contact angle</a:t>
            </a:r>
          </a:p>
          <a:p>
            <a:pPr algn="l"/>
            <a:r>
              <a:rPr sz="1232" b="0" i="0">
                <a:solidFill>
                  <a:srgbClr val="444E5A"/>
                </a:solidFill>
                <a:latin typeface="Arial"/>
              </a:rPr>
              <a:t>(highly hydrophilic)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19456" y="3685032"/>
            <a:ext cx="3777386" cy="2331720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 w="6350">
            <a:solidFill>
              <a:srgbClr val="D4DB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19456" y="3685032"/>
            <a:ext cx="3777386" cy="54864"/>
          </a:xfrm>
          <a:prstGeom prst="rect">
            <a:avLst/>
          </a:prstGeom>
          <a:solidFill>
            <a:srgbClr val="1A88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02336" y="3904488"/>
            <a:ext cx="3411626" cy="7315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4032" b="1" i="0">
                <a:solidFill>
                  <a:srgbClr val="1A8855"/>
                </a:solidFill>
                <a:latin typeface="Arial"/>
              </a:rPr>
              <a:t>~0 CFU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02336" y="4709160"/>
            <a:ext cx="3411626" cy="11887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232" b="0" i="0">
                <a:solidFill>
                  <a:srgbClr val="444E5A"/>
                </a:solidFill>
                <a:latin typeface="Arial"/>
              </a:rPr>
              <a:t>CFU/cm² on surface</a:t>
            </a:r>
          </a:p>
          <a:p>
            <a:pPr algn="l"/>
            <a:r>
              <a:rPr sz="1232" b="0" i="0">
                <a:solidFill>
                  <a:srgbClr val="444E5A"/>
                </a:solidFill>
                <a:latin typeface="Arial"/>
              </a:rPr>
              <a:t>(contact sterilization)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225442" y="3685032"/>
            <a:ext cx="3777386" cy="2331720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 w="6350">
            <a:solidFill>
              <a:srgbClr val="D4DB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225442" y="3685032"/>
            <a:ext cx="3777386" cy="54864"/>
          </a:xfrm>
          <a:prstGeom prst="rect">
            <a:avLst/>
          </a:prstGeom>
          <a:solidFill>
            <a:srgbClr val="077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08322" y="3904488"/>
            <a:ext cx="3411626" cy="7315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4032" b="1" i="0">
                <a:solidFill>
                  <a:srgbClr val="077090"/>
                </a:solidFill>
                <a:latin typeface="Arial"/>
              </a:rPr>
              <a:t>&gt;99%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08322" y="4709160"/>
            <a:ext cx="3411626" cy="11887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232" b="0" i="0">
                <a:solidFill>
                  <a:srgbClr val="444E5A"/>
                </a:solidFill>
                <a:latin typeface="Arial"/>
              </a:rPr>
              <a:t>In vivo bacterial</a:t>
            </a:r>
          </a:p>
          <a:p>
            <a:pPr algn="l"/>
            <a:r>
              <a:rPr sz="1232" b="0" i="0">
                <a:solidFill>
                  <a:srgbClr val="444E5A"/>
                </a:solidFill>
                <a:latin typeface="Arial"/>
              </a:rPr>
              <a:t>eradication (rat model)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31428" y="3685032"/>
            <a:ext cx="3777386" cy="2331720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 w="6350">
            <a:solidFill>
              <a:srgbClr val="D4DB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231428" y="3685032"/>
            <a:ext cx="3777386" cy="54864"/>
          </a:xfrm>
          <a:prstGeom prst="rect">
            <a:avLst/>
          </a:prstGeom>
          <a:solidFill>
            <a:srgbClr val="1A88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414308" y="3904488"/>
            <a:ext cx="3411626" cy="7315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4032" b="1" i="0">
                <a:solidFill>
                  <a:srgbClr val="1A8855"/>
                </a:solidFill>
                <a:latin typeface="Arial"/>
              </a:rPr>
              <a:t>&lt;5%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14308" y="4709160"/>
            <a:ext cx="3411626" cy="11887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232" b="0" i="0">
                <a:solidFill>
                  <a:srgbClr val="444E5A"/>
                </a:solidFill>
                <a:latin typeface="Arial"/>
              </a:rPr>
              <a:t>Hemolysis rate</a:t>
            </a:r>
          </a:p>
          <a:p>
            <a:pPr algn="l"/>
            <a:r>
              <a:rPr sz="1232" b="0" i="0">
                <a:solidFill>
                  <a:srgbClr val="444E5A"/>
                </a:solidFill>
                <a:latin typeface="Arial"/>
              </a:rPr>
              <a:t>(non-hemolytic)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2328855" y="1170432"/>
            <a:ext cx="-320040" cy="5486400"/>
          </a:xfrm>
          <a:prstGeom prst="roundRect">
            <a:avLst>
              <a:gd name="adj" fmla="val 4000"/>
            </a:avLst>
          </a:prstGeom>
          <a:solidFill>
            <a:srgbClr val="DDF0F7"/>
          </a:solidFill>
          <a:ln w="8890">
            <a:solidFill>
              <a:srgbClr val="077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2511735" y="1316736"/>
            <a:ext cx="-685800" cy="292608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344" b="1" i="0">
                <a:solidFill>
                  <a:srgbClr val="055068"/>
                </a:solidFill>
                <a:latin typeface="Arial"/>
              </a:rPr>
              <a:t>Why PA2.5?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2511735" y="1700784"/>
            <a:ext cx="182880" cy="256032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232" b="1" i="0">
                <a:solidFill>
                  <a:srgbClr val="055068"/>
                </a:solidFill>
                <a:latin typeface="Arial"/>
              </a:rPr>
              <a:t>✓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2731191" y="1700784"/>
            <a:ext cx="-923544" cy="256032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120" b="0" i="0">
                <a:solidFill>
                  <a:srgbClr val="055068"/>
                </a:solidFill>
                <a:latin typeface="Arial"/>
              </a:rPr>
              <a:t>Weak PA-PQ electrostatic interaction preserves PQ accessibility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2511735" y="2432304"/>
            <a:ext cx="182880" cy="256032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232" b="1" i="0">
                <a:solidFill>
                  <a:srgbClr val="055068"/>
                </a:solidFill>
                <a:latin typeface="Arial"/>
              </a:rPr>
              <a:t>✓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2731191" y="2432304"/>
            <a:ext cx="-923544" cy="256032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120" b="0" i="0">
                <a:solidFill>
                  <a:srgbClr val="055068"/>
                </a:solidFill>
                <a:latin typeface="Arial"/>
              </a:rPr>
              <a:t>Highly hydrated surface (WCA 21.58°) repels blood proteins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2511735" y="3163824"/>
            <a:ext cx="182880" cy="256032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232" b="1" i="0">
                <a:solidFill>
                  <a:srgbClr val="055068"/>
                </a:solidFill>
                <a:latin typeface="Arial"/>
              </a:rPr>
              <a:t>✓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731191" y="3163824"/>
            <a:ext cx="-923544" cy="256032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120" b="0" i="0">
                <a:solidFill>
                  <a:srgbClr val="055068"/>
                </a:solidFill>
                <a:latin typeface="Arial"/>
              </a:rPr>
              <a:t>Smooth morphology (AFM) enables uniform functional coverage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2511735" y="3895344"/>
            <a:ext cx="182880" cy="256032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232" b="1" i="0">
                <a:solidFill>
                  <a:srgbClr val="055068"/>
                </a:solidFill>
                <a:latin typeface="Arial"/>
              </a:rPr>
              <a:t>✓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2731191" y="3895344"/>
            <a:ext cx="-923544" cy="256032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120" b="0" i="0">
                <a:solidFill>
                  <a:srgbClr val="055068"/>
                </a:solidFill>
                <a:latin typeface="Arial"/>
              </a:rPr>
              <a:t>Dual function confirmed in 3 animal models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2511735" y="4626864"/>
            <a:ext cx="182880" cy="256032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232" b="1" i="0">
                <a:solidFill>
                  <a:srgbClr val="055068"/>
                </a:solidFill>
                <a:latin typeface="Arial"/>
              </a:rPr>
              <a:t>✓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2731191" y="4626864"/>
            <a:ext cx="-923544" cy="256032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120" b="0" i="0">
                <a:solidFill>
                  <a:srgbClr val="055068"/>
                </a:solidFill>
                <a:latin typeface="Arial"/>
              </a:rPr>
              <a:t>Biocompatible: hemolysis &lt;5%, L929 viability &gt;80%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02920" cy="6858000"/>
          </a:xfrm>
          <a:prstGeom prst="rect">
            <a:avLst/>
          </a:prstGeom>
          <a:solidFill>
            <a:srgbClr val="077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0"/>
            <a:ext cx="27432" cy="6858000"/>
          </a:xfrm>
          <a:prstGeom prst="rect">
            <a:avLst/>
          </a:prstGeom>
          <a:solidFill>
            <a:srgbClr val="DD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18288"/>
          </a:xfrm>
          <a:prstGeom prst="rect">
            <a:avLst/>
          </a:prstGeom>
          <a:solidFill>
            <a:srgbClr val="D4D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620256"/>
            <a:ext cx="7315200" cy="201168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896" b="0" i="0">
                <a:solidFill>
                  <a:srgbClr val="828E9C"/>
                </a:solidFill>
                <a:latin typeface="Arial"/>
              </a:rPr>
              <a:t>Wang et al. | Biomaterials 331 (2026) 124114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620256"/>
            <a:ext cx="1188720" cy="201168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r"/>
            <a:r>
              <a:rPr sz="896" b="0" i="0">
                <a:solidFill>
                  <a:srgbClr val="828E9C"/>
                </a:solidFill>
                <a:latin typeface="Arial"/>
              </a:rPr>
              <a:t>27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77440"/>
            <a:ext cx="9144000" cy="36576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120" b="1" i="0">
                <a:solidFill>
                  <a:srgbClr val="077090"/>
                </a:solidFill>
                <a:latin typeface="Arial"/>
              </a:rPr>
              <a:t>SECTION 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788920"/>
            <a:ext cx="9144000" cy="7315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3808" b="1" i="0">
                <a:solidFill>
                  <a:srgbClr val="1E252E"/>
                </a:solidFill>
                <a:latin typeface="Arial"/>
              </a:rPr>
              <a:t>Biocompatibility &amp; In Vivo Validation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566160"/>
            <a:ext cx="8229600" cy="36576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456" b="0" i="0">
                <a:solidFill>
                  <a:srgbClr val="444E5A"/>
                </a:solidFill>
                <a:latin typeface="Arial"/>
              </a:rPr>
              <a:t>Hemolysis, cytotoxicity, and three animal model studies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64008" cy="731520"/>
          </a:xfrm>
          <a:prstGeom prst="rect">
            <a:avLst/>
          </a:prstGeom>
          <a:solidFill>
            <a:srgbClr val="077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13232"/>
            <a:ext cx="12191695" cy="18288"/>
          </a:xfrm>
          <a:prstGeom prst="rect">
            <a:avLst/>
          </a:prstGeom>
          <a:solidFill>
            <a:srgbClr val="D4D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109728"/>
            <a:ext cx="5486400" cy="237744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008" b="1" i="0">
                <a:solidFill>
                  <a:srgbClr val="077090"/>
                </a:solidFill>
                <a:latin typeface="Arial"/>
              </a:rPr>
              <a:t>07 · BIOCOMPATIBILITY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347472"/>
            <a:ext cx="11423599" cy="329184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2128" b="1" i="0">
                <a:solidFill>
                  <a:srgbClr val="1E252E"/>
                </a:solidFill>
                <a:latin typeface="Arial"/>
              </a:rPr>
              <a:t>Hemolysis and Cytotoxicity: In Vitro Safety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583680"/>
            <a:ext cx="12191695" cy="18288"/>
          </a:xfrm>
          <a:prstGeom prst="rect">
            <a:avLst/>
          </a:prstGeom>
          <a:solidFill>
            <a:srgbClr val="D4D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048" y="6620256"/>
            <a:ext cx="7315200" cy="201168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896" b="0" i="0">
                <a:solidFill>
                  <a:srgbClr val="828E9C"/>
                </a:solidFill>
                <a:latin typeface="Arial"/>
              </a:rPr>
              <a:t>Wang et al. | Biomaterials 331 (2026) 124114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20095" y="6620256"/>
            <a:ext cx="1188720" cy="201168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r"/>
            <a:r>
              <a:rPr sz="896" b="0" i="0">
                <a:solidFill>
                  <a:srgbClr val="828E9C"/>
                </a:solidFill>
                <a:latin typeface="Arial"/>
              </a:rPr>
              <a:t>28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4048" y="1042416"/>
            <a:ext cx="5486400" cy="2560320"/>
          </a:xfrm>
          <a:prstGeom prst="roundRect">
            <a:avLst>
              <a:gd name="adj" fmla="val 4000"/>
            </a:avLst>
          </a:prstGeom>
          <a:solidFill>
            <a:srgbClr val="F0F2F5"/>
          </a:solidFill>
          <a:ln w="6350">
            <a:solidFill>
              <a:srgbClr val="D4DB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4048" y="1810512"/>
            <a:ext cx="5486400" cy="1024128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/>
            <a:r>
              <a:rPr sz="1120" b="0" i="0">
                <a:solidFill>
                  <a:srgbClr val="828E9C"/>
                </a:solidFill>
                <a:latin typeface="Arial"/>
              </a:rPr>
              <a:t>[Figure Placeholder]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" y="3346704"/>
            <a:ext cx="5303520" cy="219456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/>
            <a:r>
              <a:rPr sz="896" b="0" i="1">
                <a:solidFill>
                  <a:srgbClr val="828E9C"/>
                </a:solidFill>
                <a:latin typeface="Arial"/>
              </a:rPr>
              <a:t>Hemolysis rate (%) — PLA, PA2.0, PA2.5, PS2.0, PS2.5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84048" y="3730752"/>
            <a:ext cx="5486400" cy="2377440"/>
          </a:xfrm>
          <a:prstGeom prst="roundRect">
            <a:avLst>
              <a:gd name="adj" fmla="val 4000"/>
            </a:avLst>
          </a:prstGeom>
          <a:solidFill>
            <a:srgbClr val="F0F2F5"/>
          </a:solidFill>
          <a:ln w="6350">
            <a:solidFill>
              <a:srgbClr val="D4DB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4048" y="4443984"/>
            <a:ext cx="5486400" cy="950976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/>
            <a:r>
              <a:rPr sz="1120" b="0" i="0">
                <a:solidFill>
                  <a:srgbClr val="828E9C"/>
                </a:solidFill>
                <a:latin typeface="Arial"/>
              </a:rPr>
              <a:t>[Figure Placeholder]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" y="5852160"/>
            <a:ext cx="5303520" cy="219456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/>
            <a:r>
              <a:rPr sz="896" b="0" i="1">
                <a:solidFill>
                  <a:srgbClr val="828E9C"/>
                </a:solidFill>
                <a:latin typeface="Arial"/>
              </a:rPr>
              <a:t>L929 cell viability (%) — MTT assay — all formulations at 24/48/72 h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44768" y="1042416"/>
            <a:ext cx="5961888" cy="2468880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 w="6350">
            <a:solidFill>
              <a:srgbClr val="D4DB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44768" y="1042416"/>
            <a:ext cx="5961888" cy="45720"/>
          </a:xfrm>
          <a:prstGeom prst="rect">
            <a:avLst/>
          </a:prstGeom>
          <a:solidFill>
            <a:srgbClr val="1A88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64224" y="1225296"/>
            <a:ext cx="2743200" cy="64008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4480" b="1" i="0">
                <a:solidFill>
                  <a:srgbClr val="1A8855"/>
                </a:solidFill>
                <a:latin typeface="Arial"/>
              </a:rPr>
              <a:t>&lt;5%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64224" y="1901952"/>
            <a:ext cx="5486400" cy="256032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232" b="1" i="0">
                <a:solidFill>
                  <a:srgbClr val="1E252E"/>
                </a:solidFill>
                <a:latin typeface="Arial"/>
              </a:rPr>
              <a:t>Hemolysis rate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64224" y="2231136"/>
            <a:ext cx="5486400" cy="109728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120" b="0" i="0">
                <a:solidFill>
                  <a:srgbClr val="444E5A"/>
                </a:solidFill>
                <a:latin typeface="Arial"/>
              </a:rPr>
              <a:t>All groups non-hemolytic</a:t>
            </a:r>
          </a:p>
          <a:p>
            <a:pPr algn="l"/>
            <a:r>
              <a:rPr sz="1120" b="0" i="0">
                <a:solidFill>
                  <a:srgbClr val="444E5A"/>
                </a:solidFill>
                <a:latin typeface="Arial"/>
              </a:rPr>
              <a:t>(&lt; 5% threshold)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44768" y="3694176"/>
            <a:ext cx="5961888" cy="2468880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 w="6350">
            <a:solidFill>
              <a:srgbClr val="D4DB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44768" y="3694176"/>
            <a:ext cx="5961888" cy="45720"/>
          </a:xfrm>
          <a:prstGeom prst="rect">
            <a:avLst/>
          </a:prstGeom>
          <a:solidFill>
            <a:srgbClr val="1A88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64224" y="3877056"/>
            <a:ext cx="2743200" cy="64008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4480" b="1" i="0">
                <a:solidFill>
                  <a:srgbClr val="1A8855"/>
                </a:solidFill>
                <a:latin typeface="Arial"/>
              </a:rPr>
              <a:t>&gt;80%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64224" y="4553712"/>
            <a:ext cx="5486400" cy="256032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232" b="1" i="0">
                <a:solidFill>
                  <a:srgbClr val="1E252E"/>
                </a:solidFill>
                <a:latin typeface="Arial"/>
              </a:rPr>
              <a:t>L929 cell viability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64224" y="4882896"/>
            <a:ext cx="5486400" cy="109728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120" b="0" i="0">
                <a:solidFill>
                  <a:srgbClr val="444E5A"/>
                </a:solidFill>
                <a:latin typeface="Arial"/>
              </a:rPr>
              <a:t>All groups biocompatible</a:t>
            </a:r>
          </a:p>
          <a:p>
            <a:pPr algn="l"/>
            <a:r>
              <a:rPr sz="1120" b="0" i="0">
                <a:solidFill>
                  <a:srgbClr val="444E5A"/>
                </a:solidFill>
                <a:latin typeface="Arial"/>
              </a:rPr>
              <a:t>at all time points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64008" cy="731520"/>
          </a:xfrm>
          <a:prstGeom prst="rect">
            <a:avLst/>
          </a:prstGeom>
          <a:solidFill>
            <a:srgbClr val="077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13232"/>
            <a:ext cx="12191695" cy="18288"/>
          </a:xfrm>
          <a:prstGeom prst="rect">
            <a:avLst/>
          </a:prstGeom>
          <a:solidFill>
            <a:srgbClr val="D4D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109728"/>
            <a:ext cx="5486400" cy="237744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008" b="1" i="0">
                <a:solidFill>
                  <a:srgbClr val="077090"/>
                </a:solidFill>
                <a:latin typeface="Arial"/>
              </a:rPr>
              <a:t>07 · BIOCOMPATIBILITY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347472"/>
            <a:ext cx="11423599" cy="329184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2128" b="1" i="0">
                <a:solidFill>
                  <a:srgbClr val="1E252E"/>
                </a:solidFill>
                <a:latin typeface="Arial"/>
              </a:rPr>
              <a:t>In Vivo: Rat Subcutaneous Implant Model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583680"/>
            <a:ext cx="12191695" cy="18288"/>
          </a:xfrm>
          <a:prstGeom prst="rect">
            <a:avLst/>
          </a:prstGeom>
          <a:solidFill>
            <a:srgbClr val="D4D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048" y="6620256"/>
            <a:ext cx="7315200" cy="201168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896" b="0" i="0">
                <a:solidFill>
                  <a:srgbClr val="828E9C"/>
                </a:solidFill>
                <a:latin typeface="Arial"/>
              </a:rPr>
              <a:t>Wang et al. | Biomaterials 331 (2026) 124114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20095" y="6620256"/>
            <a:ext cx="1188720" cy="201168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r"/>
            <a:r>
              <a:rPr sz="896" b="0" i="0">
                <a:solidFill>
                  <a:srgbClr val="828E9C"/>
                </a:solidFill>
                <a:latin typeface="Arial"/>
              </a:rPr>
              <a:t>29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4048" y="1042416"/>
            <a:ext cx="7132320" cy="2926080"/>
          </a:xfrm>
          <a:prstGeom prst="roundRect">
            <a:avLst>
              <a:gd name="adj" fmla="val 4000"/>
            </a:avLst>
          </a:prstGeom>
          <a:solidFill>
            <a:srgbClr val="F0F2F5"/>
          </a:solidFill>
          <a:ln w="6350">
            <a:solidFill>
              <a:srgbClr val="D4DB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4048" y="1920240"/>
            <a:ext cx="7132320" cy="1170432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/>
            <a:r>
              <a:rPr sz="1120" b="0" i="0">
                <a:solidFill>
                  <a:srgbClr val="828E9C"/>
                </a:solidFill>
                <a:latin typeface="Arial"/>
              </a:rPr>
              <a:t>[Figure Placeholder]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" y="3712464"/>
            <a:ext cx="6949440" cy="219456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/>
            <a:r>
              <a:rPr sz="896" b="0" i="1">
                <a:solidFill>
                  <a:srgbClr val="828E9C"/>
                </a:solidFill>
                <a:latin typeface="Arial"/>
              </a:rPr>
              <a:t>H&amp;E staining and immunofluorescence (CD3, CD68) — day 1 and day 3 post-implant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84048" y="4059936"/>
            <a:ext cx="7132320" cy="2011680"/>
          </a:xfrm>
          <a:prstGeom prst="roundRect">
            <a:avLst>
              <a:gd name="adj" fmla="val 4000"/>
            </a:avLst>
          </a:prstGeom>
          <a:solidFill>
            <a:srgbClr val="F0F2F5"/>
          </a:solidFill>
          <a:ln w="6350">
            <a:solidFill>
              <a:srgbClr val="D4DB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4048" y="4663440"/>
            <a:ext cx="7132320" cy="804672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/>
            <a:r>
              <a:rPr sz="1120" b="0" i="0">
                <a:solidFill>
                  <a:srgbClr val="828E9C"/>
                </a:solidFill>
                <a:latin typeface="Arial"/>
              </a:rPr>
              <a:t>[Figure Placeholder]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" y="5815584"/>
            <a:ext cx="6949440" cy="219456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/>
            <a:r>
              <a:rPr sz="896" b="0" i="1">
                <a:solidFill>
                  <a:srgbClr val="828E9C"/>
                </a:solidFill>
                <a:latin typeface="Arial"/>
              </a:rPr>
              <a:t>CFU recovered from tissue — PA2.5 vs control day 1 and day 3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90688" y="1042416"/>
            <a:ext cx="4389120" cy="1335024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 w="6350">
            <a:solidFill>
              <a:srgbClr val="D4DB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790688" y="1042416"/>
            <a:ext cx="54864" cy="1335024"/>
          </a:xfrm>
          <a:prstGeom prst="rect">
            <a:avLst/>
          </a:prstGeom>
          <a:solidFill>
            <a:srgbClr val="1A88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73568" y="1188720"/>
            <a:ext cx="1463040" cy="475488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3136" b="1" i="0">
                <a:solidFill>
                  <a:srgbClr val="1A8855"/>
                </a:solidFill>
                <a:latin typeface="Arial"/>
              </a:rPr>
              <a:t>&gt;99%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73568" y="1700784"/>
            <a:ext cx="4023360" cy="256032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120" b="1" i="0">
                <a:solidFill>
                  <a:srgbClr val="1E252E"/>
                </a:solidFill>
                <a:latin typeface="Arial"/>
              </a:rPr>
              <a:t>Bacterial eradication</a:t>
            </a:r>
          </a:p>
          <a:p>
            <a:pPr algn="l"/>
            <a:r>
              <a:rPr sz="1120" b="1" i="0">
                <a:solidFill>
                  <a:srgbClr val="1E252E"/>
                </a:solidFill>
                <a:latin typeface="Arial"/>
              </a:rPr>
              <a:t>at day 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73568" y="1993392"/>
            <a:ext cx="4023360" cy="256032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008" b="0" i="0">
                <a:solidFill>
                  <a:srgbClr val="828E9C"/>
                </a:solidFill>
                <a:latin typeface="Arial"/>
              </a:rPr>
              <a:t>PA2.5 implant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90688" y="2505456"/>
            <a:ext cx="4389120" cy="1335024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 w="6350">
            <a:solidFill>
              <a:srgbClr val="D4DB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790688" y="2505456"/>
            <a:ext cx="54864" cy="1335024"/>
          </a:xfrm>
          <a:prstGeom prst="rect">
            <a:avLst/>
          </a:prstGeom>
          <a:solidFill>
            <a:srgbClr val="1A88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973568" y="2651760"/>
            <a:ext cx="1463040" cy="475488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3136" b="1" i="0">
                <a:solidFill>
                  <a:srgbClr val="1A8855"/>
                </a:solidFill>
                <a:latin typeface="Arial"/>
              </a:rPr>
              <a:t>&gt;99%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73568" y="3163824"/>
            <a:ext cx="4023360" cy="256032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120" b="1" i="0">
                <a:solidFill>
                  <a:srgbClr val="1E252E"/>
                </a:solidFill>
                <a:latin typeface="Arial"/>
              </a:rPr>
              <a:t>Bacterial eradication</a:t>
            </a:r>
          </a:p>
          <a:p>
            <a:pPr algn="l"/>
            <a:r>
              <a:rPr sz="1120" b="1" i="0">
                <a:solidFill>
                  <a:srgbClr val="1E252E"/>
                </a:solidFill>
                <a:latin typeface="Arial"/>
              </a:rPr>
              <a:t>at day 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73568" y="3456432"/>
            <a:ext cx="4023360" cy="256032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008" b="0" i="0">
                <a:solidFill>
                  <a:srgbClr val="828E9C"/>
                </a:solidFill>
                <a:latin typeface="Arial"/>
              </a:rPr>
              <a:t>PA2.5 implant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790688" y="4041648"/>
            <a:ext cx="4389120" cy="2066543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 w="6350">
            <a:solidFill>
              <a:srgbClr val="D4DB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790688" y="4041648"/>
            <a:ext cx="54864" cy="2066543"/>
          </a:xfrm>
          <a:prstGeom prst="rect">
            <a:avLst/>
          </a:prstGeom>
          <a:solidFill>
            <a:srgbClr val="077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973568" y="4187952"/>
            <a:ext cx="4023360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232" b="1" i="0">
                <a:solidFill>
                  <a:srgbClr val="1E252E"/>
                </a:solidFill>
                <a:latin typeface="Arial"/>
              </a:rPr>
              <a:t>Immune Response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73568" y="4535424"/>
            <a:ext cx="182880" cy="237744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120" b="1" i="0">
                <a:solidFill>
                  <a:srgbClr val="077090"/>
                </a:solidFill>
                <a:latin typeface="Arial"/>
              </a:rPr>
              <a:t>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74736" y="4535424"/>
            <a:ext cx="3840480" cy="237744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008" b="0" i="0">
                <a:solidFill>
                  <a:srgbClr val="444E5A"/>
                </a:solidFill>
                <a:latin typeface="Arial"/>
              </a:rPr>
              <a:t>H&amp;E: PA2.5 shows mild tissue reaction vs significant inflammation in control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973568" y="4882896"/>
            <a:ext cx="182880" cy="237744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120" b="1" i="0">
                <a:solidFill>
                  <a:srgbClr val="077090"/>
                </a:solidFill>
                <a:latin typeface="Arial"/>
              </a:rPr>
              <a:t>·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74736" y="4882896"/>
            <a:ext cx="3840480" cy="237744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008" b="0" i="0">
                <a:solidFill>
                  <a:srgbClr val="444E5A"/>
                </a:solidFill>
                <a:latin typeface="Arial"/>
              </a:rPr>
              <a:t>CD3+ T-cell infiltration: significantly reduced around PA2.5 implant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973568" y="5230368"/>
            <a:ext cx="182880" cy="237744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120" b="1" i="0">
                <a:solidFill>
                  <a:srgbClr val="077090"/>
                </a:solidFill>
                <a:latin typeface="Arial"/>
              </a:rPr>
              <a:t>·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74736" y="5230368"/>
            <a:ext cx="3840480" cy="237744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008" b="0" i="0">
                <a:solidFill>
                  <a:srgbClr val="444E5A"/>
                </a:solidFill>
                <a:latin typeface="Arial"/>
              </a:rPr>
              <a:t>CD68+ macrophage infiltration: reduced — low chronic inflammation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973568" y="5577840"/>
            <a:ext cx="182880" cy="237744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120" b="1" i="0">
                <a:solidFill>
                  <a:srgbClr val="077090"/>
                </a:solidFill>
                <a:latin typeface="Arial"/>
              </a:rPr>
              <a:t>·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74736" y="5577840"/>
            <a:ext cx="3840480" cy="237744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008" b="0" i="0">
                <a:solidFill>
                  <a:srgbClr val="444E5A"/>
                </a:solidFill>
                <a:latin typeface="Arial"/>
              </a:rPr>
              <a:t>PA2.5 demonstrates favorable host immune response profile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64008" cy="731520"/>
          </a:xfrm>
          <a:prstGeom prst="rect">
            <a:avLst/>
          </a:prstGeom>
          <a:solidFill>
            <a:srgbClr val="077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13232"/>
            <a:ext cx="12191695" cy="18288"/>
          </a:xfrm>
          <a:prstGeom prst="rect">
            <a:avLst/>
          </a:prstGeom>
          <a:solidFill>
            <a:srgbClr val="D4D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109728"/>
            <a:ext cx="5486400" cy="237744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008" b="1" i="0">
                <a:solidFill>
                  <a:srgbClr val="077090"/>
                </a:solidFill>
                <a:latin typeface="Arial"/>
              </a:rPr>
              <a:t>07 · BIOCOMPATIBILITY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347472"/>
            <a:ext cx="11423599" cy="329184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2128" b="1" i="0">
                <a:solidFill>
                  <a:srgbClr val="1E252E"/>
                </a:solidFill>
                <a:latin typeface="Arial"/>
              </a:rPr>
              <a:t>In Vivo: Rabbit Jugular Vein Antithrombotic Model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583680"/>
            <a:ext cx="12191695" cy="18288"/>
          </a:xfrm>
          <a:prstGeom prst="rect">
            <a:avLst/>
          </a:prstGeom>
          <a:solidFill>
            <a:srgbClr val="D4D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048" y="6620256"/>
            <a:ext cx="7315200" cy="201168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896" b="0" i="0">
                <a:solidFill>
                  <a:srgbClr val="828E9C"/>
                </a:solidFill>
                <a:latin typeface="Arial"/>
              </a:rPr>
              <a:t>Wang et al. | Biomaterials 331 (2026) 124114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20095" y="6620256"/>
            <a:ext cx="1188720" cy="201168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r"/>
            <a:r>
              <a:rPr sz="896" b="0" i="0">
                <a:solidFill>
                  <a:srgbClr val="828E9C"/>
                </a:solidFill>
                <a:latin typeface="Arial"/>
              </a:rPr>
              <a:t>30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4048" y="1042416"/>
            <a:ext cx="11423599" cy="3108960"/>
          </a:xfrm>
          <a:prstGeom prst="roundRect">
            <a:avLst>
              <a:gd name="adj" fmla="val 4000"/>
            </a:avLst>
          </a:prstGeom>
          <a:solidFill>
            <a:srgbClr val="F0F2F5"/>
          </a:solidFill>
          <a:ln w="6350">
            <a:solidFill>
              <a:srgbClr val="D4DB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4048" y="1975104"/>
            <a:ext cx="11423599" cy="1243584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/>
            <a:r>
              <a:rPr sz="1120" b="0" i="0">
                <a:solidFill>
                  <a:srgbClr val="828E9C"/>
                </a:solidFill>
                <a:latin typeface="Arial"/>
              </a:rPr>
              <a:t>[Figure Placeholder]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" y="3895344"/>
            <a:ext cx="11240719" cy="219456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/>
            <a:r>
              <a:rPr sz="896" b="0" i="1">
                <a:solidFill>
                  <a:srgbClr val="828E9C"/>
                </a:solidFill>
                <a:latin typeface="Arial"/>
              </a:rPr>
              <a:t>Photographs and histology of jugular vein sections — PLA, PS2.5, PA2.5 after implantation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84048" y="4261104"/>
            <a:ext cx="3474720" cy="2359152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 w="6350">
            <a:solidFill>
              <a:srgbClr val="D4DB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84048" y="4261104"/>
            <a:ext cx="3474720" cy="54864"/>
          </a:xfrm>
          <a:prstGeom prst="rect">
            <a:avLst/>
          </a:prstGeom>
          <a:solidFill>
            <a:srgbClr val="B5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4425696"/>
            <a:ext cx="3145536" cy="292608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344" b="1" i="0">
                <a:solidFill>
                  <a:srgbClr val="1E252E"/>
                </a:solidFill>
                <a:latin typeface="Arial"/>
              </a:rPr>
              <a:t>PLA (Control)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791456"/>
            <a:ext cx="3145536" cy="1682496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120" b="0" i="0">
                <a:solidFill>
                  <a:srgbClr val="444E5A"/>
                </a:solidFill>
                <a:latin typeface="Arial"/>
              </a:rPr>
              <a:t>Significant thrombus formation</a:t>
            </a:r>
          </a:p>
          <a:p>
            <a:pPr algn="l"/>
            <a:r>
              <a:rPr sz="1120" b="0" i="0">
                <a:solidFill>
                  <a:srgbClr val="444E5A"/>
                </a:solidFill>
                <a:latin typeface="Arial"/>
              </a:rPr>
              <a:t>Lumen markedly narrowed</a:t>
            </a:r>
          </a:p>
          <a:p>
            <a:pPr algn="l"/>
            <a:r>
              <a:rPr sz="1120" b="0" i="0">
                <a:solidFill>
                  <a:srgbClr val="444E5A"/>
                </a:solidFill>
                <a:latin typeface="Arial"/>
              </a:rPr>
              <a:t>Platelet aggregation extensive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24528" y="4261104"/>
            <a:ext cx="3474720" cy="2359152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 w="6350">
            <a:solidFill>
              <a:srgbClr val="D4DB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224528" y="4261104"/>
            <a:ext cx="3474720" cy="54864"/>
          </a:xfrm>
          <a:prstGeom prst="rect">
            <a:avLst/>
          </a:prstGeom>
          <a:solidFill>
            <a:srgbClr val="C265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89120" y="4425696"/>
            <a:ext cx="3145536" cy="292608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344" b="1" i="0">
                <a:solidFill>
                  <a:srgbClr val="1E252E"/>
                </a:solidFill>
                <a:latin typeface="Arial"/>
              </a:rPr>
              <a:t>PS2.5 Coating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9120" y="4791456"/>
            <a:ext cx="3145536" cy="1682496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120" b="0" i="0">
                <a:solidFill>
                  <a:srgbClr val="444E5A"/>
                </a:solidFill>
                <a:latin typeface="Arial"/>
              </a:rPr>
              <a:t>Substantial thrombus</a:t>
            </a:r>
          </a:p>
          <a:p>
            <a:pPr algn="l"/>
            <a:r>
              <a:rPr sz="1120" b="0" i="0">
                <a:solidFill>
                  <a:srgbClr val="444E5A"/>
                </a:solidFill>
                <a:latin typeface="Arial"/>
              </a:rPr>
              <a:t>Some improvement vs PLA</a:t>
            </a:r>
          </a:p>
          <a:p>
            <a:pPr algn="l"/>
            <a:r>
              <a:rPr sz="1120" b="0" i="0">
                <a:solidFill>
                  <a:srgbClr val="444E5A"/>
                </a:solidFill>
                <a:latin typeface="Arial"/>
              </a:rPr>
              <a:t>Cationic charge limits antifouling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65008" y="4261104"/>
            <a:ext cx="3474720" cy="2359152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 w="6350">
            <a:solidFill>
              <a:srgbClr val="D4DB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065008" y="4261104"/>
            <a:ext cx="3474720" cy="54864"/>
          </a:xfrm>
          <a:prstGeom prst="rect">
            <a:avLst/>
          </a:prstGeom>
          <a:solidFill>
            <a:srgbClr val="1A88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0" y="4425696"/>
            <a:ext cx="3145536" cy="292608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344" b="1" i="0">
                <a:solidFill>
                  <a:srgbClr val="1E252E"/>
                </a:solidFill>
                <a:latin typeface="Arial"/>
              </a:rPr>
              <a:t>PA2.5 Coating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0" y="4791456"/>
            <a:ext cx="3145536" cy="1682496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120" b="0" i="0">
                <a:solidFill>
                  <a:srgbClr val="444E5A"/>
                </a:solidFill>
                <a:latin typeface="Arial"/>
              </a:rPr>
              <a:t>Minimal thrombus</a:t>
            </a:r>
          </a:p>
          <a:p>
            <a:pPr algn="l"/>
            <a:r>
              <a:rPr sz="1120" b="0" i="0">
                <a:solidFill>
                  <a:srgbClr val="444E5A"/>
                </a:solidFill>
                <a:latin typeface="Arial"/>
              </a:rPr>
              <a:t>Lumen largely patent</a:t>
            </a:r>
          </a:p>
          <a:p>
            <a:pPr algn="l"/>
            <a:r>
              <a:rPr sz="1120" b="0" i="0">
                <a:solidFill>
                  <a:srgbClr val="444E5A"/>
                </a:solidFill>
                <a:latin typeface="Arial"/>
              </a:rPr>
              <a:t>Confirms ex vivo results in vivo ★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64008" cy="731520"/>
          </a:xfrm>
          <a:prstGeom prst="rect">
            <a:avLst/>
          </a:prstGeom>
          <a:solidFill>
            <a:srgbClr val="077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13232"/>
            <a:ext cx="12191695" cy="18288"/>
          </a:xfrm>
          <a:prstGeom prst="rect">
            <a:avLst/>
          </a:prstGeom>
          <a:solidFill>
            <a:srgbClr val="D4D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109728"/>
            <a:ext cx="5486400" cy="237744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008" b="1" i="0">
                <a:solidFill>
                  <a:srgbClr val="077090"/>
                </a:solidFill>
                <a:latin typeface="Arial"/>
              </a:rPr>
              <a:t>07 · BIOCOMPATIBILITY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347472"/>
            <a:ext cx="11423599" cy="329184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2128" b="1" i="0">
                <a:solidFill>
                  <a:srgbClr val="1E252E"/>
                </a:solidFill>
                <a:latin typeface="Arial"/>
              </a:rPr>
              <a:t>In Vivo: PGLA Suture Antibacterial Model (Rat)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583680"/>
            <a:ext cx="12191695" cy="18288"/>
          </a:xfrm>
          <a:prstGeom prst="rect">
            <a:avLst/>
          </a:prstGeom>
          <a:solidFill>
            <a:srgbClr val="D4D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048" y="6620256"/>
            <a:ext cx="7315200" cy="201168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896" b="0" i="0">
                <a:solidFill>
                  <a:srgbClr val="828E9C"/>
                </a:solidFill>
                <a:latin typeface="Arial"/>
              </a:rPr>
              <a:t>Wang et al. | Biomaterials 331 (2026) 124114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20095" y="6620256"/>
            <a:ext cx="1188720" cy="201168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r"/>
            <a:r>
              <a:rPr sz="896" b="0" i="0">
                <a:solidFill>
                  <a:srgbClr val="828E9C"/>
                </a:solidFill>
                <a:latin typeface="Arial"/>
              </a:rPr>
              <a:t>31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4048" y="1042416"/>
            <a:ext cx="6400800" cy="3474720"/>
          </a:xfrm>
          <a:prstGeom prst="roundRect">
            <a:avLst>
              <a:gd name="adj" fmla="val 4000"/>
            </a:avLst>
          </a:prstGeom>
          <a:solidFill>
            <a:srgbClr val="F0F2F5"/>
          </a:solidFill>
          <a:ln w="6350">
            <a:solidFill>
              <a:srgbClr val="D4DB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4048" y="2084832"/>
            <a:ext cx="6400800" cy="1389888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/>
            <a:r>
              <a:rPr sz="1120" b="0" i="0">
                <a:solidFill>
                  <a:srgbClr val="828E9C"/>
                </a:solidFill>
                <a:latin typeface="Arial"/>
              </a:rPr>
              <a:t>[Figure Placeholder]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" y="4261104"/>
            <a:ext cx="6217920" cy="219456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/>
            <a:r>
              <a:rPr sz="896" b="0" i="1">
                <a:solidFill>
                  <a:srgbClr val="828E9C"/>
                </a:solidFill>
                <a:latin typeface="Arial"/>
              </a:rPr>
              <a:t>CFU from tissue around PGLA sutures — PA2.5-coated vs uncoated — day 1 and day 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84048" y="4626863"/>
            <a:ext cx="6400800" cy="1481328"/>
          </a:xfrm>
          <a:prstGeom prst="roundRect">
            <a:avLst>
              <a:gd name="adj" fmla="val 4000"/>
            </a:avLst>
          </a:prstGeom>
          <a:solidFill>
            <a:srgbClr val="F0F2F5"/>
          </a:solidFill>
          <a:ln w="6350">
            <a:solidFill>
              <a:srgbClr val="D4DB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4048" y="5071261"/>
            <a:ext cx="6400800" cy="592531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/>
            <a:r>
              <a:rPr sz="1120" b="0" i="0">
                <a:solidFill>
                  <a:srgbClr val="828E9C"/>
                </a:solidFill>
                <a:latin typeface="Arial"/>
              </a:rPr>
              <a:t>[Figure Placeholder]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" y="5852159"/>
            <a:ext cx="6217920" cy="219456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/>
            <a:r>
              <a:rPr sz="896" b="0" i="1">
                <a:solidFill>
                  <a:srgbClr val="828E9C"/>
                </a:solidFill>
                <a:latin typeface="Arial"/>
              </a:rPr>
              <a:t>Fluorescence images of bacteria around suture wound — day 1 and day 3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059168" y="1042416"/>
            <a:ext cx="5120640" cy="5065776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 w="6350">
            <a:solidFill>
              <a:srgbClr val="D4DB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059168" y="1042416"/>
            <a:ext cx="54864" cy="5065776"/>
          </a:xfrm>
          <a:prstGeom prst="rect">
            <a:avLst/>
          </a:prstGeom>
          <a:solidFill>
            <a:srgbClr val="077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42048" y="1188720"/>
            <a:ext cx="4754880" cy="292608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344" b="1" i="0">
                <a:solidFill>
                  <a:srgbClr val="1E252E"/>
                </a:solidFill>
                <a:latin typeface="Arial"/>
              </a:rPr>
              <a:t>PGLA Suture Model — Key Findings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242048" y="1609344"/>
            <a:ext cx="731520" cy="347472"/>
          </a:xfrm>
          <a:prstGeom prst="roundRect">
            <a:avLst>
              <a:gd name="adj" fmla="val 4000"/>
            </a:avLst>
          </a:prstGeom>
          <a:solidFill>
            <a:srgbClr val="DD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242048" y="1609344"/>
            <a:ext cx="731520" cy="347472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1008" b="1" i="0">
                <a:solidFill>
                  <a:srgbClr val="055068"/>
                </a:solidFill>
                <a:latin typeface="Arial"/>
              </a:rPr>
              <a:t>&gt;99%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65008" y="1609344"/>
            <a:ext cx="3931920" cy="347472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1008" b="0" i="0">
                <a:solidFill>
                  <a:srgbClr val="444E5A"/>
                </a:solidFill>
                <a:latin typeface="Arial"/>
              </a:rPr>
              <a:t>Bacterial eradication around PA2.5-coated suture at day 1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242048" y="2304288"/>
            <a:ext cx="731520" cy="347472"/>
          </a:xfrm>
          <a:prstGeom prst="roundRect">
            <a:avLst>
              <a:gd name="adj" fmla="val 4000"/>
            </a:avLst>
          </a:prstGeom>
          <a:solidFill>
            <a:srgbClr val="DD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242048" y="2304288"/>
            <a:ext cx="731520" cy="347472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1008" b="1" i="0">
                <a:solidFill>
                  <a:srgbClr val="055068"/>
                </a:solidFill>
                <a:latin typeface="Arial"/>
              </a:rPr>
              <a:t>&gt;99%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65008" y="2304288"/>
            <a:ext cx="3931920" cy="347472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1008" b="0" i="0">
                <a:solidFill>
                  <a:srgbClr val="444E5A"/>
                </a:solidFill>
                <a:latin typeface="Arial"/>
              </a:rPr>
              <a:t>Bacterial eradication around PA2.5-coated suture at day 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42048" y="2999232"/>
            <a:ext cx="182880" cy="347472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120" b="1" i="0">
                <a:solidFill>
                  <a:srgbClr val="077090"/>
                </a:solidFill>
                <a:latin typeface="Arial"/>
              </a:rPr>
              <a:t>·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43216" y="2999232"/>
            <a:ext cx="4553712" cy="347472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008" b="0" i="0">
                <a:solidFill>
                  <a:srgbClr val="444E5A"/>
                </a:solidFill>
                <a:latin typeface="Arial"/>
              </a:rPr>
              <a:t>Demonstrates practical applicability: biodegradable suture material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42048" y="3694176"/>
            <a:ext cx="182880" cy="347472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120" b="1" i="0">
                <a:solidFill>
                  <a:srgbClr val="077090"/>
                </a:solidFill>
                <a:latin typeface="Arial"/>
              </a:rPr>
              <a:t>·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43216" y="3694176"/>
            <a:ext cx="4553712" cy="347472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008" b="0" i="0">
                <a:solidFill>
                  <a:srgbClr val="444E5A"/>
                </a:solidFill>
                <a:latin typeface="Arial"/>
              </a:rPr>
              <a:t>Coating persists through early wound healing period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42048" y="4389120"/>
            <a:ext cx="182880" cy="347472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120" b="1" i="0">
                <a:solidFill>
                  <a:srgbClr val="077090"/>
                </a:solidFill>
                <a:latin typeface="Arial"/>
              </a:rPr>
              <a:t>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43216" y="4389120"/>
            <a:ext cx="4553712" cy="347472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008" b="0" i="0">
                <a:solidFill>
                  <a:srgbClr val="444E5A"/>
                </a:solidFill>
                <a:latin typeface="Arial"/>
              </a:rPr>
              <a:t>Reduced immune cell infiltration vs uncoated suture control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42048" y="5084064"/>
            <a:ext cx="182880" cy="347472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120" b="1" i="0">
                <a:solidFill>
                  <a:srgbClr val="077090"/>
                </a:solidFill>
                <a:latin typeface="Arial"/>
              </a:rPr>
              <a:t>·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43216" y="5084064"/>
            <a:ext cx="4553712" cy="347472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008" b="0" i="0">
                <a:solidFill>
                  <a:srgbClr val="444E5A"/>
                </a:solidFill>
                <a:latin typeface="Arial"/>
              </a:rPr>
              <a:t>Supports translation to clinical suture and implant applications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02920" cy="6858000"/>
          </a:xfrm>
          <a:prstGeom prst="rect">
            <a:avLst/>
          </a:prstGeom>
          <a:solidFill>
            <a:srgbClr val="077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0"/>
            <a:ext cx="27432" cy="6858000"/>
          </a:xfrm>
          <a:prstGeom prst="rect">
            <a:avLst/>
          </a:prstGeom>
          <a:solidFill>
            <a:srgbClr val="DD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18288"/>
          </a:xfrm>
          <a:prstGeom prst="rect">
            <a:avLst/>
          </a:prstGeom>
          <a:solidFill>
            <a:srgbClr val="D4D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620256"/>
            <a:ext cx="7315200" cy="201168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896" b="0" i="0">
                <a:solidFill>
                  <a:srgbClr val="828E9C"/>
                </a:solidFill>
                <a:latin typeface="Arial"/>
              </a:rPr>
              <a:t>Wang et al. | Biomaterials 331 (2026) 124114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620256"/>
            <a:ext cx="1188720" cy="201168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r"/>
            <a:r>
              <a:rPr sz="896" b="0" i="0">
                <a:solidFill>
                  <a:srgbClr val="828E9C"/>
                </a:solidFill>
                <a:latin typeface="Arial"/>
              </a:rPr>
              <a:t>32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77440"/>
            <a:ext cx="9144000" cy="36576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120" b="1" i="0">
                <a:solidFill>
                  <a:srgbClr val="077090"/>
                </a:solidFill>
                <a:latin typeface="Arial"/>
              </a:rPr>
              <a:t>SECTION 08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788920"/>
            <a:ext cx="9144000" cy="7315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3808" b="1" i="0">
                <a:solidFill>
                  <a:srgbClr val="1E252E"/>
                </a:solidFill>
                <a:latin typeface="Arial"/>
              </a:rPr>
              <a:t>Conclusions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566160"/>
            <a:ext cx="8229600" cy="36576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456" b="0" i="0">
                <a:solidFill>
                  <a:srgbClr val="444E5A"/>
                </a:solidFill>
                <a:latin typeface="Arial"/>
              </a:rPr>
              <a:t>Mechanism, comparative summary, and future outlook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64008" cy="731520"/>
          </a:xfrm>
          <a:prstGeom prst="rect">
            <a:avLst/>
          </a:prstGeom>
          <a:solidFill>
            <a:srgbClr val="077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13232"/>
            <a:ext cx="12191695" cy="18288"/>
          </a:xfrm>
          <a:prstGeom prst="rect">
            <a:avLst/>
          </a:prstGeom>
          <a:solidFill>
            <a:srgbClr val="D4D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109728"/>
            <a:ext cx="5486400" cy="237744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008" b="1" i="0">
                <a:solidFill>
                  <a:srgbClr val="077090"/>
                </a:solidFill>
                <a:latin typeface="Arial"/>
              </a:rPr>
              <a:t>08 · CONCLUSIONS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347472"/>
            <a:ext cx="11423599" cy="329184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2128" b="1" i="0">
                <a:solidFill>
                  <a:srgbClr val="1E252E"/>
                </a:solidFill>
                <a:latin typeface="Arial"/>
              </a:rPr>
              <a:t>Proposed Mechanism: Weak Co-assembly Enables Dual Function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583680"/>
            <a:ext cx="12191695" cy="18288"/>
          </a:xfrm>
          <a:prstGeom prst="rect">
            <a:avLst/>
          </a:prstGeom>
          <a:solidFill>
            <a:srgbClr val="D4D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048" y="6620256"/>
            <a:ext cx="7315200" cy="201168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896" b="0" i="0">
                <a:solidFill>
                  <a:srgbClr val="828E9C"/>
                </a:solidFill>
                <a:latin typeface="Arial"/>
              </a:rPr>
              <a:t>Wang et al. | Biomaterials 331 (2026) 124114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20095" y="6620256"/>
            <a:ext cx="1188720" cy="201168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r"/>
            <a:r>
              <a:rPr sz="896" b="0" i="0">
                <a:solidFill>
                  <a:srgbClr val="828E9C"/>
                </a:solidFill>
                <a:latin typeface="Arial"/>
              </a:rPr>
              <a:t>33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4048" y="1042416"/>
            <a:ext cx="5303520" cy="5065776"/>
          </a:xfrm>
          <a:prstGeom prst="roundRect">
            <a:avLst>
              <a:gd name="adj" fmla="val 4000"/>
            </a:avLst>
          </a:prstGeom>
          <a:solidFill>
            <a:srgbClr val="F0F2F5"/>
          </a:solidFill>
          <a:ln w="6350">
            <a:solidFill>
              <a:srgbClr val="D4DB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4048" y="2562148"/>
            <a:ext cx="5303520" cy="202631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/>
            <a:r>
              <a:rPr sz="1120" b="0" i="0">
                <a:solidFill>
                  <a:srgbClr val="828E9C"/>
                </a:solidFill>
                <a:latin typeface="Arial"/>
              </a:rPr>
              <a:t>[Figure Placeholder]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" y="5852160"/>
            <a:ext cx="5120640" cy="219456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/>
            <a:r>
              <a:rPr sz="896" b="0" i="1">
                <a:solidFill>
                  <a:srgbClr val="828E9C"/>
                </a:solidFill>
                <a:latin typeface="Arial"/>
              </a:rPr>
              <a:t>Schematic: weak PA-PQ interaction → exposed PQ (antibacterial) + hydrated PA (antifouling)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61888" y="1042416"/>
            <a:ext cx="6455664" cy="958291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 w="6350">
            <a:solidFill>
              <a:srgbClr val="D4DB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961888" y="1042416"/>
            <a:ext cx="54864" cy="958291"/>
          </a:xfrm>
          <a:prstGeom prst="rect">
            <a:avLst/>
          </a:prstGeom>
          <a:solidFill>
            <a:srgbClr val="077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44768" y="1133856"/>
            <a:ext cx="1828800" cy="256032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232" b="1" i="0">
                <a:solidFill>
                  <a:srgbClr val="1E252E"/>
                </a:solidFill>
                <a:latin typeface="Arial"/>
              </a:rPr>
              <a:t>Co-assembly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44768" y="1408176"/>
            <a:ext cx="6089904" cy="501091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008" b="0" i="0">
                <a:solidFill>
                  <a:srgbClr val="444E5A"/>
                </a:solidFill>
                <a:latin typeface="Arial"/>
              </a:rPr>
              <a:t>PA and PQ co-assemble spontaneously (ΔG &lt; 0) via weak electrostatic interactions between carboxylate and quaternary ammonium groups.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61888" y="2055571"/>
            <a:ext cx="6455664" cy="958291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 w="6350">
            <a:solidFill>
              <a:srgbClr val="D4DB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961888" y="2055571"/>
            <a:ext cx="54864" cy="958291"/>
          </a:xfrm>
          <a:prstGeom prst="rect">
            <a:avLst/>
          </a:prstGeom>
          <a:solidFill>
            <a:srgbClr val="3A52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44768" y="2147011"/>
            <a:ext cx="1828800" cy="256032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232" b="1" i="0">
                <a:solidFill>
                  <a:srgbClr val="1E252E"/>
                </a:solidFill>
                <a:latin typeface="Arial"/>
              </a:rPr>
              <a:t>Coating formation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44768" y="2421331"/>
            <a:ext cx="6089904" cy="501091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008" b="0" i="0">
                <a:solidFill>
                  <a:srgbClr val="444E5A"/>
                </a:solidFill>
                <a:latin typeface="Arial"/>
              </a:rPr>
              <a:t>LbL deposition creates a stable, smooth, hydrated film on PLA. PA2.5 produces the most uniform and hydrophilic coating (WCA 21.58°).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61888" y="3068726"/>
            <a:ext cx="6455664" cy="958291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 w="6350">
            <a:solidFill>
              <a:srgbClr val="D4DB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961888" y="3068726"/>
            <a:ext cx="54864" cy="958291"/>
          </a:xfrm>
          <a:prstGeom prst="rect">
            <a:avLst/>
          </a:prstGeom>
          <a:solidFill>
            <a:srgbClr val="077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44768" y="3160166"/>
            <a:ext cx="1828800" cy="256032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232" b="1" i="0">
                <a:solidFill>
                  <a:srgbClr val="1E252E"/>
                </a:solidFill>
                <a:latin typeface="Arial"/>
              </a:rPr>
              <a:t>Antifouling/Antithrombotic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44768" y="3434486"/>
            <a:ext cx="6089904" cy="501091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008" b="0" i="0">
                <a:solidFill>
                  <a:srgbClr val="444E5A"/>
                </a:solidFill>
                <a:latin typeface="Arial"/>
              </a:rPr>
              <a:t>Dense hydration layer from PA zwitterionic groups repels proteins and platelets. Low surface energy prevents thrombus initiation (3.1% coverage).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961888" y="4081881"/>
            <a:ext cx="6455664" cy="958291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 w="6350">
            <a:solidFill>
              <a:srgbClr val="D4DB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961888" y="4081881"/>
            <a:ext cx="54864" cy="958291"/>
          </a:xfrm>
          <a:prstGeom prst="rect">
            <a:avLst/>
          </a:prstGeom>
          <a:solidFill>
            <a:srgbClr val="1A88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144768" y="4173321"/>
            <a:ext cx="1828800" cy="256032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232" b="1" i="0">
                <a:solidFill>
                  <a:srgbClr val="1E252E"/>
                </a:solidFill>
                <a:latin typeface="Arial"/>
              </a:rPr>
              <a:t>Antibacterial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44768" y="4447641"/>
            <a:ext cx="6089904" cy="501091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008" b="0" i="0">
                <a:solidFill>
                  <a:srgbClr val="444E5A"/>
                </a:solidFill>
                <a:latin typeface="Arial"/>
              </a:rPr>
              <a:t>Weak interaction leaves PQ functional groups surface-accessible. Membrane disruption kills bacteria on contact (&gt;97.6% efficiency) without antibiotic release.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961888" y="5095036"/>
            <a:ext cx="6455664" cy="958291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 w="6350">
            <a:solidFill>
              <a:srgbClr val="D4DB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961888" y="5095036"/>
            <a:ext cx="54864" cy="958291"/>
          </a:xfrm>
          <a:prstGeom prst="rect">
            <a:avLst/>
          </a:prstGeom>
          <a:solidFill>
            <a:srgbClr val="1A88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44768" y="5186476"/>
            <a:ext cx="1828800" cy="256032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232" b="1" i="0">
                <a:solidFill>
                  <a:srgbClr val="1E252E"/>
                </a:solidFill>
                <a:latin typeface="Arial"/>
              </a:rPr>
              <a:t>Biocompatibility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44768" y="5460796"/>
            <a:ext cx="6089904" cy="501091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008" b="0" i="0">
                <a:solidFill>
                  <a:srgbClr val="444E5A"/>
                </a:solidFill>
                <a:latin typeface="Arial"/>
              </a:rPr>
              <a:t>Zwitterionic character minimizes non-specific interactions. Hemolysis &lt;5%, cell viability &gt;80% at all tested concentrations.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64008" cy="731520"/>
          </a:xfrm>
          <a:prstGeom prst="rect">
            <a:avLst/>
          </a:prstGeom>
          <a:solidFill>
            <a:srgbClr val="077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13232"/>
            <a:ext cx="12191695" cy="18288"/>
          </a:xfrm>
          <a:prstGeom prst="rect">
            <a:avLst/>
          </a:prstGeom>
          <a:solidFill>
            <a:srgbClr val="D4D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109728"/>
            <a:ext cx="5486400" cy="237744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008" b="1" i="0">
                <a:solidFill>
                  <a:srgbClr val="077090"/>
                </a:solidFill>
                <a:latin typeface="Arial"/>
              </a:rPr>
              <a:t>08 · CONCLUSIONS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347472"/>
            <a:ext cx="11423599" cy="329184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2128" b="1" i="0">
                <a:solidFill>
                  <a:srgbClr val="1E252E"/>
                </a:solidFill>
                <a:latin typeface="Arial"/>
              </a:rPr>
              <a:t>Performance Comparison: PA2.5 vs Controls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583680"/>
            <a:ext cx="12191695" cy="18288"/>
          </a:xfrm>
          <a:prstGeom prst="rect">
            <a:avLst/>
          </a:prstGeom>
          <a:solidFill>
            <a:srgbClr val="D4D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048" y="6620256"/>
            <a:ext cx="7315200" cy="201168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896" b="0" i="0">
                <a:solidFill>
                  <a:srgbClr val="828E9C"/>
                </a:solidFill>
                <a:latin typeface="Arial"/>
              </a:rPr>
              <a:t>Wang et al. | Biomaterials 331 (2026) 124114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20095" y="6620256"/>
            <a:ext cx="1188720" cy="201168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r"/>
            <a:r>
              <a:rPr sz="896" b="0" i="0">
                <a:solidFill>
                  <a:srgbClr val="828E9C"/>
                </a:solidFill>
                <a:latin typeface="Arial"/>
              </a:rPr>
              <a:t>34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84048" y="1042416"/>
            <a:ext cx="11423599" cy="475488"/>
          </a:xfrm>
          <a:prstGeom prst="rect">
            <a:avLst/>
          </a:prstGeom>
          <a:solidFill>
            <a:srgbClr val="077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1042416"/>
            <a:ext cx="2121408" cy="475488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1120" b="1" i="0">
                <a:solidFill>
                  <a:srgbClr val="FFFFFF"/>
                </a:solidFill>
                <a:latin typeface="Arial"/>
              </a:rPr>
              <a:t>Metric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70048" y="1042416"/>
            <a:ext cx="1298448" cy="475488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1120" b="1" i="0">
                <a:solidFill>
                  <a:srgbClr val="FFFFFF"/>
                </a:solidFill>
                <a:latin typeface="Arial"/>
              </a:rPr>
              <a:t>PLA (bare)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59936" y="1042416"/>
            <a:ext cx="1298448" cy="475488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1120" b="1" i="0">
                <a:solidFill>
                  <a:srgbClr val="FFFFFF"/>
                </a:solidFill>
                <a:latin typeface="Arial"/>
              </a:rPr>
              <a:t>PS2.0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49824" y="1042416"/>
            <a:ext cx="1298448" cy="475488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1120" b="1" i="0">
                <a:solidFill>
                  <a:srgbClr val="FFFFFF"/>
                </a:solidFill>
                <a:latin typeface="Arial"/>
              </a:rPr>
              <a:t>PS2.5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39712" y="1042416"/>
            <a:ext cx="1298448" cy="475488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1120" b="1" i="0">
                <a:solidFill>
                  <a:srgbClr val="FFFFFF"/>
                </a:solidFill>
                <a:latin typeface="Arial"/>
              </a:rPr>
              <a:t>PA2.0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1042416"/>
            <a:ext cx="1755648" cy="475488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1120" b="1" i="0">
                <a:solidFill>
                  <a:srgbClr val="FBF0D8"/>
                </a:solidFill>
                <a:latin typeface="Arial"/>
              </a:rPr>
              <a:t>PA2.5 ★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84048" y="1517904"/>
            <a:ext cx="11423599" cy="475488"/>
          </a:xfrm>
          <a:prstGeom prst="rect">
            <a:avLst/>
          </a:prstGeom>
          <a:solidFill>
            <a:srgbClr val="ED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84048" y="1517904"/>
            <a:ext cx="11423599" cy="9144"/>
          </a:xfrm>
          <a:prstGeom prst="rect">
            <a:avLst/>
          </a:prstGeom>
          <a:solidFill>
            <a:srgbClr val="D4D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1517904"/>
            <a:ext cx="2121408" cy="475488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1120" b="0" i="0">
                <a:solidFill>
                  <a:srgbClr val="444E5A"/>
                </a:solidFill>
                <a:latin typeface="Arial"/>
              </a:rPr>
              <a:t>Thrombus coverage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70048" y="1517904"/>
            <a:ext cx="1298448" cy="475488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1120" b="0" i="0">
                <a:solidFill>
                  <a:srgbClr val="B52828"/>
                </a:solidFill>
                <a:latin typeface="Arial"/>
              </a:rPr>
              <a:t>99.0%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59936" y="1517904"/>
            <a:ext cx="1298448" cy="475488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1120" b="0" i="0">
                <a:solidFill>
                  <a:srgbClr val="444E5A"/>
                </a:solidFill>
                <a:latin typeface="Arial"/>
              </a:rPr>
              <a:t>97.1%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49824" y="1517904"/>
            <a:ext cx="1298448" cy="475488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1120" b="0" i="0">
                <a:solidFill>
                  <a:srgbClr val="444E5A"/>
                </a:solidFill>
                <a:latin typeface="Arial"/>
              </a:rPr>
              <a:t>89.7%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39712" y="1517904"/>
            <a:ext cx="1298448" cy="475488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1120" b="0" i="0">
                <a:solidFill>
                  <a:srgbClr val="444E5A"/>
                </a:solidFill>
                <a:latin typeface="Arial"/>
              </a:rPr>
              <a:t>30.3%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156448" y="1517904"/>
            <a:ext cx="1828800" cy="475488"/>
          </a:xfrm>
          <a:prstGeom prst="rect">
            <a:avLst/>
          </a:prstGeom>
          <a:solidFill>
            <a:srgbClr val="DD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0" y="1517904"/>
            <a:ext cx="1755648" cy="475488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1120" b="1" i="0">
                <a:solidFill>
                  <a:srgbClr val="055068"/>
                </a:solidFill>
                <a:latin typeface="Arial"/>
              </a:rPr>
              <a:t>3.1%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84048" y="1993392"/>
            <a:ext cx="11423599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84048" y="1993392"/>
            <a:ext cx="11423599" cy="9144"/>
          </a:xfrm>
          <a:prstGeom prst="rect">
            <a:avLst/>
          </a:prstGeom>
          <a:solidFill>
            <a:srgbClr val="D4D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1993392"/>
            <a:ext cx="2121408" cy="475488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1120" b="0" i="0">
                <a:solidFill>
                  <a:srgbClr val="444E5A"/>
                </a:solidFill>
                <a:latin typeface="Arial"/>
              </a:rPr>
              <a:t>Thrombus mass incr.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70048" y="1993392"/>
            <a:ext cx="1298448" cy="475488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1120" b="0" i="0">
                <a:solidFill>
                  <a:srgbClr val="B52828"/>
                </a:solidFill>
                <a:latin typeface="Arial"/>
              </a:rPr>
              <a:t>152.9%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059936" y="1993392"/>
            <a:ext cx="1298448" cy="475488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1120" b="0" i="0">
                <a:solidFill>
                  <a:srgbClr val="444E5A"/>
                </a:solidFill>
                <a:latin typeface="Arial"/>
              </a:rPr>
              <a:t>90.3%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49824" y="1993392"/>
            <a:ext cx="1298448" cy="475488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1120" b="0" i="0">
                <a:solidFill>
                  <a:srgbClr val="444E5A"/>
                </a:solidFill>
                <a:latin typeface="Arial"/>
              </a:rPr>
              <a:t>82.2%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39712" y="1993392"/>
            <a:ext cx="1298448" cy="475488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1120" b="0" i="0">
                <a:solidFill>
                  <a:srgbClr val="444E5A"/>
                </a:solidFill>
                <a:latin typeface="Arial"/>
              </a:rPr>
              <a:t>52.5%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156448" y="1993392"/>
            <a:ext cx="1828800" cy="475488"/>
          </a:xfrm>
          <a:prstGeom prst="rect">
            <a:avLst/>
          </a:prstGeom>
          <a:solidFill>
            <a:srgbClr val="DD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29600" y="1993392"/>
            <a:ext cx="1755648" cy="475488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1120" b="1" i="0">
                <a:solidFill>
                  <a:srgbClr val="055068"/>
                </a:solidFill>
                <a:latin typeface="Arial"/>
              </a:rPr>
              <a:t>51.7%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84048" y="2468880"/>
            <a:ext cx="11423599" cy="475488"/>
          </a:xfrm>
          <a:prstGeom prst="rect">
            <a:avLst/>
          </a:prstGeom>
          <a:solidFill>
            <a:srgbClr val="ED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84048" y="2468880"/>
            <a:ext cx="11423599" cy="9144"/>
          </a:xfrm>
          <a:prstGeom prst="rect">
            <a:avLst/>
          </a:prstGeom>
          <a:solidFill>
            <a:srgbClr val="D4D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7200" y="2468880"/>
            <a:ext cx="2121408" cy="475488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1120" b="0" i="0">
                <a:solidFill>
                  <a:srgbClr val="444E5A"/>
                </a:solidFill>
                <a:latin typeface="Arial"/>
              </a:rPr>
              <a:t>WCA (°)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670048" y="2468880"/>
            <a:ext cx="1298448" cy="475488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1120" b="0" i="0">
                <a:solidFill>
                  <a:srgbClr val="444E5A"/>
                </a:solidFill>
                <a:latin typeface="Arial"/>
              </a:rPr>
              <a:t>88.73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059936" y="2468880"/>
            <a:ext cx="1298448" cy="475488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1120" b="0" i="0">
                <a:solidFill>
                  <a:srgbClr val="444E5A"/>
                </a:solidFill>
                <a:latin typeface="Arial"/>
              </a:rPr>
              <a:t>~70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49824" y="2468880"/>
            <a:ext cx="1298448" cy="475488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1120" b="0" i="0">
                <a:solidFill>
                  <a:srgbClr val="444E5A"/>
                </a:solidFill>
                <a:latin typeface="Arial"/>
              </a:rPr>
              <a:t>~65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39712" y="2468880"/>
            <a:ext cx="1298448" cy="475488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1120" b="0" i="0">
                <a:solidFill>
                  <a:srgbClr val="444E5A"/>
                </a:solidFill>
                <a:latin typeface="Arial"/>
              </a:rPr>
              <a:t>53.3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156448" y="2468880"/>
            <a:ext cx="1828800" cy="475488"/>
          </a:xfrm>
          <a:prstGeom prst="rect">
            <a:avLst/>
          </a:prstGeom>
          <a:solidFill>
            <a:srgbClr val="DD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229600" y="2468880"/>
            <a:ext cx="1755648" cy="475488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1120" b="1" i="0">
                <a:solidFill>
                  <a:srgbClr val="055068"/>
                </a:solidFill>
                <a:latin typeface="Arial"/>
              </a:rPr>
              <a:t>21.58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84048" y="2944368"/>
            <a:ext cx="11423599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384048" y="2944368"/>
            <a:ext cx="11423599" cy="9144"/>
          </a:xfrm>
          <a:prstGeom prst="rect">
            <a:avLst/>
          </a:prstGeom>
          <a:solidFill>
            <a:srgbClr val="D4D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57200" y="2944368"/>
            <a:ext cx="2121408" cy="475488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1120" b="0" i="0">
                <a:solidFill>
                  <a:srgbClr val="444E5A"/>
                </a:solidFill>
                <a:latin typeface="Arial"/>
              </a:rPr>
              <a:t>Solution bactericidal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670048" y="2944368"/>
            <a:ext cx="1298448" cy="475488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1120" b="0" i="0">
                <a:solidFill>
                  <a:srgbClr val="444E5A"/>
                </a:solidFill>
                <a:latin typeface="Arial"/>
              </a:rPr>
              <a:t>—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059936" y="2944368"/>
            <a:ext cx="1298448" cy="475488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1120" b="0" i="0">
                <a:solidFill>
                  <a:srgbClr val="444E5A"/>
                </a:solidFill>
                <a:latin typeface="Arial"/>
              </a:rPr>
              <a:t>97.41%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449824" y="2944368"/>
            <a:ext cx="1298448" cy="475488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1120" b="0" i="0">
                <a:solidFill>
                  <a:srgbClr val="444E5A"/>
                </a:solidFill>
                <a:latin typeface="Arial"/>
              </a:rPr>
              <a:t>&lt;10%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839712" y="2944368"/>
            <a:ext cx="1298448" cy="475488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1120" b="0" i="0">
                <a:solidFill>
                  <a:srgbClr val="444E5A"/>
                </a:solidFill>
                <a:latin typeface="Arial"/>
              </a:rPr>
              <a:t>&gt;97%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156448" y="2944368"/>
            <a:ext cx="1828800" cy="475488"/>
          </a:xfrm>
          <a:prstGeom prst="rect">
            <a:avLst/>
          </a:prstGeom>
          <a:solidFill>
            <a:srgbClr val="DD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229600" y="2944368"/>
            <a:ext cx="1755648" cy="475488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1120" b="1" i="0">
                <a:solidFill>
                  <a:srgbClr val="055068"/>
                </a:solidFill>
                <a:latin typeface="Arial"/>
              </a:rPr>
              <a:t>&gt;97.6%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84048" y="3419856"/>
            <a:ext cx="11423599" cy="475488"/>
          </a:xfrm>
          <a:prstGeom prst="rect">
            <a:avLst/>
          </a:prstGeom>
          <a:solidFill>
            <a:srgbClr val="ED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384048" y="3419856"/>
            <a:ext cx="11423599" cy="9144"/>
          </a:xfrm>
          <a:prstGeom prst="rect">
            <a:avLst/>
          </a:prstGeom>
          <a:solidFill>
            <a:srgbClr val="D4D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57200" y="3419856"/>
            <a:ext cx="2121408" cy="475488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1120" b="0" i="0">
                <a:solidFill>
                  <a:srgbClr val="444E5A"/>
                </a:solidFill>
                <a:latin typeface="Arial"/>
              </a:rPr>
              <a:t>Surface CFU/cm²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670048" y="3419856"/>
            <a:ext cx="1298448" cy="475488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1120" b="0" i="0">
                <a:solidFill>
                  <a:srgbClr val="444E5A"/>
                </a:solidFill>
                <a:latin typeface="Arial"/>
              </a:rPr>
              <a:t>6870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059936" y="3419856"/>
            <a:ext cx="1298448" cy="475488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1120" b="0" i="0">
                <a:solidFill>
                  <a:srgbClr val="444E5A"/>
                </a:solidFill>
                <a:latin typeface="Arial"/>
              </a:rPr>
              <a:t>~high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449824" y="3419856"/>
            <a:ext cx="1298448" cy="475488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1120" b="0" i="0">
                <a:solidFill>
                  <a:srgbClr val="444E5A"/>
                </a:solidFill>
                <a:latin typeface="Arial"/>
              </a:rPr>
              <a:t>—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839712" y="3419856"/>
            <a:ext cx="1298448" cy="475488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1120" b="0" i="0">
                <a:solidFill>
                  <a:srgbClr val="444E5A"/>
                </a:solidFill>
                <a:latin typeface="Arial"/>
              </a:rPr>
              <a:t>~0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156448" y="3419856"/>
            <a:ext cx="1828800" cy="475488"/>
          </a:xfrm>
          <a:prstGeom prst="rect">
            <a:avLst/>
          </a:prstGeom>
          <a:solidFill>
            <a:srgbClr val="DD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229600" y="3419856"/>
            <a:ext cx="1755648" cy="475488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1120" b="1" i="0">
                <a:solidFill>
                  <a:srgbClr val="055068"/>
                </a:solidFill>
                <a:latin typeface="Arial"/>
              </a:rPr>
              <a:t>~0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84048" y="3895344"/>
            <a:ext cx="11423599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384048" y="3895344"/>
            <a:ext cx="11423599" cy="9144"/>
          </a:xfrm>
          <a:prstGeom prst="rect">
            <a:avLst/>
          </a:prstGeom>
          <a:solidFill>
            <a:srgbClr val="D4D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57200" y="3895344"/>
            <a:ext cx="2121408" cy="475488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1120" b="0" i="0">
                <a:solidFill>
                  <a:srgbClr val="444E5A"/>
                </a:solidFill>
                <a:latin typeface="Arial"/>
              </a:rPr>
              <a:t>Hemolysis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670048" y="3895344"/>
            <a:ext cx="1298448" cy="475488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1120" b="0" i="0">
                <a:solidFill>
                  <a:srgbClr val="444E5A"/>
                </a:solidFill>
                <a:latin typeface="Arial"/>
              </a:rPr>
              <a:t>&lt;5%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059936" y="3895344"/>
            <a:ext cx="1298448" cy="475488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1120" b="0" i="0">
                <a:solidFill>
                  <a:srgbClr val="444E5A"/>
                </a:solidFill>
                <a:latin typeface="Arial"/>
              </a:rPr>
              <a:t>&lt;5%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449824" y="3895344"/>
            <a:ext cx="1298448" cy="475488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1120" b="0" i="0">
                <a:solidFill>
                  <a:srgbClr val="444E5A"/>
                </a:solidFill>
                <a:latin typeface="Arial"/>
              </a:rPr>
              <a:t>&lt;5%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839712" y="3895344"/>
            <a:ext cx="1298448" cy="475488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1120" b="0" i="0">
                <a:solidFill>
                  <a:srgbClr val="444E5A"/>
                </a:solidFill>
                <a:latin typeface="Arial"/>
              </a:rPr>
              <a:t>&lt;5%</a:t>
            </a:r>
          </a:p>
        </p:txBody>
      </p:sp>
      <p:sp>
        <p:nvSpPr>
          <p:cNvPr id="71" name="Rectangle 70"/>
          <p:cNvSpPr/>
          <p:nvPr/>
        </p:nvSpPr>
        <p:spPr>
          <a:xfrm>
            <a:off x="8156448" y="3895344"/>
            <a:ext cx="1828800" cy="475488"/>
          </a:xfrm>
          <a:prstGeom prst="rect">
            <a:avLst/>
          </a:prstGeom>
          <a:solidFill>
            <a:srgbClr val="DD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8229600" y="3895344"/>
            <a:ext cx="1755648" cy="475488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1120" b="1" i="0">
                <a:solidFill>
                  <a:srgbClr val="055068"/>
                </a:solidFill>
                <a:latin typeface="Arial"/>
              </a:rPr>
              <a:t>&lt;5%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84048" y="4370832"/>
            <a:ext cx="11423599" cy="475488"/>
          </a:xfrm>
          <a:prstGeom prst="rect">
            <a:avLst/>
          </a:prstGeom>
          <a:solidFill>
            <a:srgbClr val="ED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384048" y="4370832"/>
            <a:ext cx="11423599" cy="9144"/>
          </a:xfrm>
          <a:prstGeom prst="rect">
            <a:avLst/>
          </a:prstGeom>
          <a:solidFill>
            <a:srgbClr val="D4D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457200" y="4370832"/>
            <a:ext cx="2121408" cy="475488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1120" b="0" i="0">
                <a:solidFill>
                  <a:srgbClr val="444E5A"/>
                </a:solidFill>
                <a:latin typeface="Arial"/>
              </a:rPr>
              <a:t>Cell viability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2670048" y="4370832"/>
            <a:ext cx="1298448" cy="475488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1120" b="0" i="0">
                <a:solidFill>
                  <a:srgbClr val="444E5A"/>
                </a:solidFill>
                <a:latin typeface="Arial"/>
              </a:rPr>
              <a:t>&gt;80%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059936" y="4370832"/>
            <a:ext cx="1298448" cy="475488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1120" b="0" i="0">
                <a:solidFill>
                  <a:srgbClr val="444E5A"/>
                </a:solidFill>
                <a:latin typeface="Arial"/>
              </a:rPr>
              <a:t>&gt;80%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449824" y="4370832"/>
            <a:ext cx="1298448" cy="475488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1120" b="0" i="0">
                <a:solidFill>
                  <a:srgbClr val="444E5A"/>
                </a:solidFill>
                <a:latin typeface="Arial"/>
              </a:rPr>
              <a:t>&gt;80%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839712" y="4370832"/>
            <a:ext cx="1298448" cy="475488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1120" b="0" i="0">
                <a:solidFill>
                  <a:srgbClr val="444E5A"/>
                </a:solidFill>
                <a:latin typeface="Arial"/>
              </a:rPr>
              <a:t>&gt;80%</a:t>
            </a:r>
          </a:p>
        </p:txBody>
      </p:sp>
      <p:sp>
        <p:nvSpPr>
          <p:cNvPr id="80" name="Rectangle 79"/>
          <p:cNvSpPr/>
          <p:nvPr/>
        </p:nvSpPr>
        <p:spPr>
          <a:xfrm>
            <a:off x="8156448" y="4370832"/>
            <a:ext cx="1828800" cy="475488"/>
          </a:xfrm>
          <a:prstGeom prst="rect">
            <a:avLst/>
          </a:prstGeom>
          <a:solidFill>
            <a:srgbClr val="DD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8229600" y="4370832"/>
            <a:ext cx="1755648" cy="475488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1120" b="1" i="0">
                <a:solidFill>
                  <a:srgbClr val="055068"/>
                </a:solidFill>
                <a:latin typeface="Arial"/>
              </a:rPr>
              <a:t>&gt;80%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84048" y="4846320"/>
            <a:ext cx="11423599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384048" y="4846320"/>
            <a:ext cx="11423599" cy="9144"/>
          </a:xfrm>
          <a:prstGeom prst="rect">
            <a:avLst/>
          </a:prstGeom>
          <a:solidFill>
            <a:srgbClr val="D4D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457200" y="4846320"/>
            <a:ext cx="2121408" cy="475488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1120" b="0" i="0">
                <a:solidFill>
                  <a:srgbClr val="444E5A"/>
                </a:solidFill>
                <a:latin typeface="Arial"/>
              </a:rPr>
              <a:t>In vivo bacterial kill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2670048" y="4846320"/>
            <a:ext cx="1298448" cy="475488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1120" b="0" i="0">
                <a:solidFill>
                  <a:srgbClr val="444E5A"/>
                </a:solidFill>
                <a:latin typeface="Arial"/>
              </a:rPr>
              <a:t>—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059936" y="4846320"/>
            <a:ext cx="1298448" cy="475488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1120" b="0" i="0">
                <a:solidFill>
                  <a:srgbClr val="444E5A"/>
                </a:solidFill>
                <a:latin typeface="Arial"/>
              </a:rPr>
              <a:t>—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5449824" y="4846320"/>
            <a:ext cx="1298448" cy="475488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1120" b="0" i="0">
                <a:solidFill>
                  <a:srgbClr val="444E5A"/>
                </a:solidFill>
                <a:latin typeface="Arial"/>
              </a:rPr>
              <a:t>—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839712" y="4846320"/>
            <a:ext cx="1298448" cy="475488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1120" b="0" i="0">
                <a:solidFill>
                  <a:srgbClr val="444E5A"/>
                </a:solidFill>
                <a:latin typeface="Arial"/>
              </a:rPr>
              <a:t>—</a:t>
            </a:r>
          </a:p>
        </p:txBody>
      </p:sp>
      <p:sp>
        <p:nvSpPr>
          <p:cNvPr id="89" name="Rectangle 88"/>
          <p:cNvSpPr/>
          <p:nvPr/>
        </p:nvSpPr>
        <p:spPr>
          <a:xfrm>
            <a:off x="8156448" y="4846320"/>
            <a:ext cx="1828800" cy="475488"/>
          </a:xfrm>
          <a:prstGeom prst="rect">
            <a:avLst/>
          </a:prstGeom>
          <a:solidFill>
            <a:srgbClr val="DD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8229600" y="4846320"/>
            <a:ext cx="1755648" cy="475488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1120" b="1" i="0">
                <a:solidFill>
                  <a:srgbClr val="055068"/>
                </a:solidFill>
                <a:latin typeface="Arial"/>
              </a:rPr>
              <a:t>&gt;99%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77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91695" cy="18288"/>
          </a:xfrm>
          <a:prstGeom prst="rect">
            <a:avLst/>
          </a:prstGeom>
          <a:solidFill>
            <a:srgbClr val="D4D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4048" y="6620256"/>
            <a:ext cx="7315200" cy="201168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896" b="0" i="0">
                <a:solidFill>
                  <a:srgbClr val="828E9C"/>
                </a:solidFill>
                <a:latin typeface="Arial"/>
              </a:rPr>
              <a:t>Wang et al. | Biomaterials 331 (2026) 124114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6620256"/>
            <a:ext cx="1188720" cy="201168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r"/>
            <a:r>
              <a:rPr sz="896" b="0" i="0">
                <a:solidFill>
                  <a:srgbClr val="828E9C"/>
                </a:solidFill>
                <a:latin typeface="Arial"/>
              </a:rPr>
              <a:t>35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9456" y="219456"/>
            <a:ext cx="8229600" cy="256032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008" b="1" i="0">
                <a:solidFill>
                  <a:srgbClr val="077090"/>
                </a:solidFill>
                <a:latin typeface="Arial"/>
              </a:rPr>
              <a:t>CONCLUSIONS &amp; IMPACT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9456" y="512064"/>
            <a:ext cx="9144000" cy="475488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2912" b="1" i="0">
                <a:solidFill>
                  <a:srgbClr val="1E252E"/>
                </a:solidFill>
                <a:latin typeface="Arial"/>
              </a:rPr>
              <a:t>Conclusions and Future Outlook</a:t>
            </a:r>
          </a:p>
        </p:txBody>
      </p:sp>
      <p:sp>
        <p:nvSpPr>
          <p:cNvPr id="10" name="Rectangle 9"/>
          <p:cNvSpPr/>
          <p:nvPr/>
        </p:nvSpPr>
        <p:spPr>
          <a:xfrm>
            <a:off x="219456" y="1060704"/>
            <a:ext cx="8229600" cy="27432"/>
          </a:xfrm>
          <a:prstGeom prst="rect">
            <a:avLst/>
          </a:prstGeom>
          <a:solidFill>
            <a:srgbClr val="D4D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19456" y="1170432"/>
            <a:ext cx="5688939" cy="1335024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 w="6350">
            <a:solidFill>
              <a:srgbClr val="D4DB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19456" y="1170432"/>
            <a:ext cx="54864" cy="1335024"/>
          </a:xfrm>
          <a:prstGeom prst="rect">
            <a:avLst/>
          </a:prstGeom>
          <a:solidFill>
            <a:srgbClr val="077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02336" y="1316736"/>
            <a:ext cx="5414619" cy="292608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344" b="1" i="0">
                <a:solidFill>
                  <a:srgbClr val="1E252E"/>
                </a:solidFill>
                <a:latin typeface="Arial"/>
              </a:rPr>
              <a:t>First demonstration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2336" y="1664208"/>
            <a:ext cx="5414619" cy="768096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120" b="0" i="0">
                <a:solidFill>
                  <a:srgbClr val="444E5A"/>
                </a:solidFill>
                <a:latin typeface="Arial"/>
              </a:rPr>
              <a:t>PA-PQ co-assembly via weak electrostatic interactions achieves genuine dual antibacterial and antithrombotic function from a single coating system.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82715" y="1170432"/>
            <a:ext cx="5688939" cy="1335024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 w="6350">
            <a:solidFill>
              <a:srgbClr val="D4DB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82715" y="1170432"/>
            <a:ext cx="54864" cy="1335024"/>
          </a:xfrm>
          <a:prstGeom prst="rect">
            <a:avLst/>
          </a:prstGeom>
          <a:solidFill>
            <a:srgbClr val="1A88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65595" y="1316736"/>
            <a:ext cx="5414619" cy="292608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344" b="1" i="0">
                <a:solidFill>
                  <a:srgbClr val="1E252E"/>
                </a:solidFill>
                <a:latin typeface="Arial"/>
              </a:rPr>
              <a:t>Key quantitative outcomes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65595" y="1664208"/>
            <a:ext cx="5414619" cy="768096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120" b="0" i="0">
                <a:solidFill>
                  <a:srgbClr val="444E5A"/>
                </a:solidFill>
                <a:latin typeface="Arial"/>
              </a:rPr>
              <a:t>PA2.5 coating: thrombus coverage 3.1% (vs PLA 99.0%), bactericidal efficiency &gt;97.6%, in vivo bacterial eradication &gt;99%, hemolysis &lt;5%.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19456" y="2688336"/>
            <a:ext cx="5688939" cy="1335024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 w="6350">
            <a:solidFill>
              <a:srgbClr val="D4DB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19456" y="2688336"/>
            <a:ext cx="54864" cy="1335024"/>
          </a:xfrm>
          <a:prstGeom prst="rect">
            <a:avLst/>
          </a:prstGeom>
          <a:solidFill>
            <a:srgbClr val="3A52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02336" y="2834640"/>
            <a:ext cx="5414619" cy="292608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344" b="1" i="0">
                <a:solidFill>
                  <a:srgbClr val="1E252E"/>
                </a:solidFill>
                <a:latin typeface="Arial"/>
              </a:rPr>
              <a:t>Mechanism validated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2336" y="3182112"/>
            <a:ext cx="5414619" cy="768096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120" b="0" i="0">
                <a:solidFill>
                  <a:srgbClr val="444E5A"/>
                </a:solidFill>
                <a:latin typeface="Arial"/>
              </a:rPr>
              <a:t>The weak PA-PQ interaction is essential: strong interaction (as in PS-PQ) shields PQ groups and compromises antibacterial activity. Weak interaction preserves both functions.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82715" y="2688336"/>
            <a:ext cx="5688939" cy="1335024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 w="6350">
            <a:solidFill>
              <a:srgbClr val="D4DB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82715" y="2688336"/>
            <a:ext cx="54864" cy="1335024"/>
          </a:xfrm>
          <a:prstGeom prst="rect">
            <a:avLst/>
          </a:prstGeom>
          <a:solidFill>
            <a:srgbClr val="C265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65595" y="2834640"/>
            <a:ext cx="5414619" cy="292608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344" b="1" i="0">
                <a:solidFill>
                  <a:srgbClr val="1E252E"/>
                </a:solidFill>
                <a:latin typeface="Arial"/>
              </a:rPr>
              <a:t>Translational potential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65595" y="3182112"/>
            <a:ext cx="5414619" cy="768096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120" b="0" i="0">
                <a:solidFill>
                  <a:srgbClr val="444E5A"/>
                </a:solidFill>
                <a:latin typeface="Arial"/>
              </a:rPr>
              <a:t>Demonstrated on PLA films and PGLA sutures. Applicable to catheters, orthopedic implants, cardiovascular devices. LbL process is substrate-agnostic and scalable.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19456" y="4206240"/>
            <a:ext cx="11789359" cy="1536192"/>
          </a:xfrm>
          <a:prstGeom prst="roundRect">
            <a:avLst>
              <a:gd name="adj" fmla="val 4000"/>
            </a:avLst>
          </a:prstGeom>
          <a:solidFill>
            <a:srgbClr val="DDF0F7"/>
          </a:solidFill>
          <a:ln w="8890">
            <a:solidFill>
              <a:srgbClr val="077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02336" y="4352544"/>
            <a:ext cx="3657600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344" b="1" i="0">
                <a:solidFill>
                  <a:srgbClr val="055068"/>
                </a:solidFill>
                <a:latin typeface="Arial"/>
              </a:rPr>
              <a:t>Future Directions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02336" y="4736592"/>
            <a:ext cx="201168" cy="329184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232" b="1" i="0">
                <a:solidFill>
                  <a:srgbClr val="055068"/>
                </a:solidFill>
                <a:latin typeface="Arial"/>
              </a:rPr>
              <a:t>→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792" y="4736592"/>
            <a:ext cx="5437479" cy="329184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120" b="0" i="0">
                <a:solidFill>
                  <a:srgbClr val="055068"/>
                </a:solidFill>
                <a:latin typeface="Arial"/>
              </a:rPr>
              <a:t>Long-term stability and durability studies under physiological conditions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78727" y="4736592"/>
            <a:ext cx="201168" cy="329184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232" b="1" i="0">
                <a:solidFill>
                  <a:srgbClr val="055068"/>
                </a:solidFill>
                <a:latin typeface="Arial"/>
              </a:rPr>
              <a:t>→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98183" y="4736592"/>
            <a:ext cx="5437479" cy="329184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120" b="0" i="0">
                <a:solidFill>
                  <a:srgbClr val="055068"/>
                </a:solidFill>
                <a:latin typeface="Arial"/>
              </a:rPr>
              <a:t>Clinical translation: catheter and cardiovascular device coating trials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02336" y="5138928"/>
            <a:ext cx="201168" cy="329184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232" b="1" i="0">
                <a:solidFill>
                  <a:srgbClr val="055068"/>
                </a:solidFill>
                <a:latin typeface="Arial"/>
              </a:rPr>
              <a:t>→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1792" y="5138928"/>
            <a:ext cx="5437479" cy="329184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120" b="0" i="0">
                <a:solidFill>
                  <a:srgbClr val="055068"/>
                </a:solidFill>
                <a:latin typeface="Arial"/>
              </a:rPr>
              <a:t>Expanded pathogen spectrum: Gram-negative bacteria, fungi, viruses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78727" y="5138928"/>
            <a:ext cx="201168" cy="329184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232" b="1" i="0">
                <a:solidFill>
                  <a:srgbClr val="055068"/>
                </a:solidFill>
                <a:latin typeface="Arial"/>
              </a:rPr>
              <a:t>→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98183" y="5138928"/>
            <a:ext cx="5437479" cy="329184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120" b="0" i="0">
                <a:solidFill>
                  <a:srgbClr val="055068"/>
                </a:solidFill>
                <a:latin typeface="Arial"/>
              </a:rPr>
              <a:t>Biodegradable formulations for transient implant applications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