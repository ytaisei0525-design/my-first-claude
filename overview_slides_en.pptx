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Overview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Material Composition: Sustainable &amp; High-Performance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9 /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11460175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68" b="0" i="0">
                <a:solidFill>
                  <a:srgbClr val="334155"/>
                </a:solidFill>
                <a:latin typeface="Arial"/>
              </a:rPr>
              <a:t>Three building blocks — skeleton, function, and bonding — combine biodegradability with high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3637178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360" b="0" i="0">
                <a:solidFill>
                  <a:srgbClr val="3B5174"/>
                </a:solidFill>
                <a:latin typeface="Arial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1E293B"/>
                </a:solidFill>
                <a:latin typeface="Arial"/>
              </a:rPr>
              <a:t>Cellulose Derivatives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Plant-based biopolymers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127248"/>
            <a:ext cx="3198266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475569"/>
                </a:solidFill>
                <a:latin typeface="Arial"/>
              </a:rPr>
              <a:t>Plant-derived biopolymers that form the backbone of the gel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2793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279392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3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36776" y="4242816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HEC, MC, MHEC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9560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956048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Bio.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6776" y="4919472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Highly biodegradable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563270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5632704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6776" y="5596128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Viscosity &amp;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7258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7258" y="1444752"/>
            <a:ext cx="3637178" cy="54864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7258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360" b="0" i="0">
                <a:solidFill>
                  <a:srgbClr val="4A7C8C"/>
                </a:solidFill>
                <a:latin typeface="Arial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6714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1E293B"/>
                </a:solidFill>
                <a:latin typeface="Arial"/>
              </a:rPr>
              <a:t>Colloidal Silica (CSP)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6714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Colloidal Silica Particles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69866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6714" y="3127248"/>
            <a:ext cx="3198266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475569"/>
                </a:solidFill>
                <a:latin typeface="Arial"/>
              </a:rPr>
              <a:t>The key component that interacts dynamically with polymers and forms aerogel under heat.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96714" y="42793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6714" y="4279392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A7C8C"/>
                </a:solidFill>
                <a:latin typeface="Arial"/>
              </a:rPr>
              <a:t>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8274" y="4242816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~22 nm monodisperse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6714" y="49560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6714" y="4956048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A7C8C"/>
                </a:solidFill>
                <a:latin typeface="Arial"/>
              </a:rPr>
              <a:t>Sinter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8274" y="4919472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Forms silica skeleton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6714" y="563270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6714" y="5632704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A7C8C"/>
                </a:solidFill>
                <a:latin typeface="Arial"/>
              </a:rPr>
              <a:t>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48274" y="5596128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Source of aerogel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8756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8756" y="1444752"/>
            <a:ext cx="3637178" cy="54864"/>
          </a:xfrm>
          <a:prstGeom prst="rect">
            <a:avLst/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8756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360" b="0" i="0">
                <a:solidFill>
                  <a:srgbClr val="9F7639"/>
                </a:solidFill>
                <a:latin typeface="Arial"/>
              </a:rPr>
              <a:t>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8212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92" b="1" i="0">
                <a:solidFill>
                  <a:srgbClr val="1E293B"/>
                </a:solidFill>
                <a:latin typeface="Arial"/>
              </a:rPr>
              <a:t>PP Interaction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8212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20" b="0" i="1">
                <a:solidFill>
                  <a:srgbClr val="64748B"/>
                </a:solidFill>
                <a:latin typeface="Arial"/>
              </a:rPr>
              <a:t>Polymer–Particle Interaction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81364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8212" y="3127248"/>
            <a:ext cx="3198266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344" b="0" i="0">
                <a:solidFill>
                  <a:srgbClr val="475569"/>
                </a:solidFill>
                <a:latin typeface="Arial"/>
              </a:rPr>
              <a:t>Builds the network via dynamic, multivalent hydrogen bonds — no covalent bonds required.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8212" y="42793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8212" y="4279392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9F7639"/>
                </a:solidFill>
                <a:latin typeface="Arial"/>
              </a:rPr>
              <a:t>Bonds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59772" y="4242816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Dynamic H-bonds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08212" y="49560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8212" y="4956048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9F7639"/>
                </a:solidFill>
                <a:latin typeface="Arial"/>
              </a:rPr>
              <a:t>Self-heal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59772" y="4919472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Gel recovers after strain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08212" y="563270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8212" y="5632704"/>
            <a:ext cx="960120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9F7639"/>
                </a:solidFill>
                <a:latin typeface="Arial"/>
              </a:rPr>
              <a:t>Sprayable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59772" y="5596128"/>
            <a:ext cx="2146706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0" i="0">
                <a:solidFill>
                  <a:srgbClr val="334155"/>
                </a:solidFill>
                <a:latin typeface="Arial"/>
              </a:rPr>
              <a:t>Easy spray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32" b="1" i="0">
                <a:solidFill>
                  <a:srgbClr val="88A4C4"/>
                </a:solidFill>
                <a:latin typeface="Arial"/>
              </a:rPr>
              <a:t>Materials Overview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688" b="1" i="0">
                <a:solidFill>
                  <a:srgbClr val="FFFFFF"/>
                </a:solidFill>
                <a:latin typeface="Arial"/>
              </a:rPr>
              <a:t>Mechanism: Spray, Adhesion, and Flame Protection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120" b="0" i="0">
                <a:solidFill>
                  <a:srgbClr val="64748B"/>
                </a:solidFill>
                <a:latin typeface="Arial"/>
              </a:rPr>
              <a:t>10 /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11460175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80" b="1" i="0">
                <a:solidFill>
                  <a:srgbClr val="1E293B"/>
                </a:solidFill>
                <a:latin typeface="Arial"/>
              </a:rPr>
              <a:t>Not temperature, but shear and self-healing govern the spray-to-adhesion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2659303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3B5174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At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1E293B"/>
                </a:solidFill>
                <a:latin typeface="Arial"/>
              </a:rPr>
              <a:t>Gel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High-viscosity elastic gel. G' &gt; G'' holds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3B5174"/>
                </a:solidFill>
                <a:latin typeface="Arial"/>
              </a:rPr>
              <a:t>Yield stress ~33 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5063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40" b="0" i="0">
                <a:solidFill>
                  <a:srgbClr val="AAB4C0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9383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9383" y="1463040"/>
            <a:ext cx="2659303" cy="54864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2263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4A7C8C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2263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Spraying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2263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1E293B"/>
                </a:solidFill>
                <a:latin typeface="Arial"/>
              </a:rPr>
              <a:t>Sol-like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2263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2263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Shear strain lowers viscosity; the gel flows.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2263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2263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4A7C8C"/>
                </a:solidFill>
                <a:latin typeface="Arial"/>
              </a:rPr>
              <a:t>Shear-thinning n &lt;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8687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40" b="0" i="0">
                <a:solidFill>
                  <a:srgbClr val="AAB4C0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1463040"/>
            <a:ext cx="2659303" cy="54864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5887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5B8C5A"/>
                </a:solidFill>
                <a:latin typeface="Arial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On wall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887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1E293B"/>
                </a:solidFill>
                <a:latin typeface="Arial"/>
              </a:rPr>
              <a:t>Self-healing gel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5887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5887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Strain release instantly restores the gel network.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5887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5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5B8C5A"/>
                </a:solidFill>
                <a:latin typeface="Arial"/>
              </a:rPr>
              <a:t>G' recovery ~90%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2311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40" b="0" i="0">
                <a:solidFill>
                  <a:srgbClr val="AAB4C0"/>
                </a:solidFill>
                <a:latin typeface="Arial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6631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66631" y="1463040"/>
            <a:ext cx="2659303" cy="54864"/>
          </a:xfrm>
          <a:prstGeom prst="rect">
            <a:avLst/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9511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9F7639"/>
                </a:solidFill>
                <a:latin typeface="Arial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9511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1" i="0">
                <a:solidFill>
                  <a:srgbClr val="64748B"/>
                </a:solidFill>
                <a:latin typeface="Arial"/>
              </a:rPr>
              <a:t>Flame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9511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40" b="1" i="0">
                <a:solidFill>
                  <a:srgbClr val="1E293B"/>
                </a:solidFill>
                <a:latin typeface="Arial"/>
              </a:rPr>
              <a:t>Aerogel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49511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9511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44" b="0" i="0">
                <a:solidFill>
                  <a:srgbClr val="475569"/>
                </a:solidFill>
                <a:latin typeface="Arial"/>
              </a:rPr>
              <a:t>CSP sinters into a porous silica layer.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49511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49511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20" b="1" i="0">
                <a:solidFill>
                  <a:srgbClr val="9F7639"/>
                </a:solidFill>
                <a:latin typeface="Arial"/>
              </a:rPr>
              <a:t>Acts as thermal barrier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46320"/>
            <a:ext cx="11460175" cy="17556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846320"/>
            <a:ext cx="73152" cy="1755648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846320"/>
            <a:ext cx="2194560" cy="17556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1" i="0">
                <a:solidFill>
                  <a:srgbClr val="D4A574"/>
                </a:solidFill>
                <a:latin typeface="Arial"/>
              </a:rPr>
              <a:t>POINT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4846320"/>
            <a:ext cx="9357055" cy="17556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56" b="0" i="0">
                <a:solidFill>
                  <a:srgbClr val="FFFFFF"/>
                </a:solidFill>
                <a:latin typeface="Arial"/>
              </a:rPr>
              <a:t>Rather than relying on MC's thermal response (LCST), rheology alone achieves "spray → stick → set" — the core of this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